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46"/>
  </p:notesMasterIdLst>
  <p:sldIdLst>
    <p:sldId id="256" r:id="rId2"/>
    <p:sldId id="257" r:id="rId3"/>
    <p:sldId id="771" r:id="rId4"/>
    <p:sldId id="1036" r:id="rId5"/>
    <p:sldId id="773" r:id="rId6"/>
    <p:sldId id="878" r:id="rId7"/>
    <p:sldId id="879" r:id="rId8"/>
    <p:sldId id="774" r:id="rId9"/>
    <p:sldId id="886" r:id="rId10"/>
    <p:sldId id="278" r:id="rId11"/>
    <p:sldId id="312" r:id="rId12"/>
    <p:sldId id="309" r:id="rId13"/>
    <p:sldId id="279" r:id="rId14"/>
    <p:sldId id="280" r:id="rId15"/>
    <p:sldId id="282" r:id="rId16"/>
    <p:sldId id="283" r:id="rId17"/>
    <p:sldId id="310" r:id="rId18"/>
    <p:sldId id="386" r:id="rId19"/>
    <p:sldId id="385"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1058" r:id="rId39"/>
    <p:sldId id="1037" r:id="rId40"/>
    <p:sldId id="405" r:id="rId41"/>
    <p:sldId id="407" r:id="rId42"/>
    <p:sldId id="433" r:id="rId43"/>
    <p:sldId id="434" r:id="rId44"/>
    <p:sldId id="435" r:id="rId45"/>
    <p:sldId id="436" r:id="rId46"/>
    <p:sldId id="444" r:id="rId47"/>
    <p:sldId id="445" r:id="rId48"/>
    <p:sldId id="446" r:id="rId49"/>
    <p:sldId id="447" r:id="rId50"/>
    <p:sldId id="437" r:id="rId51"/>
    <p:sldId id="438" r:id="rId52"/>
    <p:sldId id="439" r:id="rId53"/>
    <p:sldId id="890" r:id="rId54"/>
    <p:sldId id="440" r:id="rId55"/>
    <p:sldId id="441" r:id="rId56"/>
    <p:sldId id="1038" r:id="rId57"/>
    <p:sldId id="1039" r:id="rId58"/>
    <p:sldId id="408" r:id="rId59"/>
    <p:sldId id="1048" r:id="rId60"/>
    <p:sldId id="1047" r:id="rId61"/>
    <p:sldId id="409" r:id="rId62"/>
    <p:sldId id="410" r:id="rId63"/>
    <p:sldId id="411" r:id="rId64"/>
    <p:sldId id="412" r:id="rId65"/>
    <p:sldId id="413" r:id="rId66"/>
    <p:sldId id="415" r:id="rId67"/>
    <p:sldId id="416" r:id="rId68"/>
    <p:sldId id="417" r:id="rId69"/>
    <p:sldId id="418" r:id="rId70"/>
    <p:sldId id="419" r:id="rId71"/>
    <p:sldId id="420" r:id="rId72"/>
    <p:sldId id="1062" r:id="rId73"/>
    <p:sldId id="421" r:id="rId74"/>
    <p:sldId id="1056" r:id="rId75"/>
    <p:sldId id="422" r:id="rId76"/>
    <p:sldId id="423" r:id="rId77"/>
    <p:sldId id="424" r:id="rId78"/>
    <p:sldId id="431" r:id="rId79"/>
    <p:sldId id="432" r:id="rId80"/>
    <p:sldId id="425" r:id="rId81"/>
    <p:sldId id="426" r:id="rId82"/>
    <p:sldId id="427" r:id="rId83"/>
    <p:sldId id="428" r:id="rId84"/>
    <p:sldId id="429" r:id="rId85"/>
    <p:sldId id="1040" r:id="rId86"/>
    <p:sldId id="1042" r:id="rId87"/>
    <p:sldId id="1043" r:id="rId88"/>
    <p:sldId id="1044" r:id="rId89"/>
    <p:sldId id="1046" r:id="rId90"/>
    <p:sldId id="361" r:id="rId91"/>
    <p:sldId id="365" r:id="rId92"/>
    <p:sldId id="366" r:id="rId93"/>
    <p:sldId id="367" r:id="rId94"/>
    <p:sldId id="368" r:id="rId95"/>
    <p:sldId id="369" r:id="rId96"/>
    <p:sldId id="370" r:id="rId97"/>
    <p:sldId id="371" r:id="rId98"/>
    <p:sldId id="372" r:id="rId99"/>
    <p:sldId id="373" r:id="rId100"/>
    <p:sldId id="374" r:id="rId101"/>
    <p:sldId id="375" r:id="rId102"/>
    <p:sldId id="1057" r:id="rId103"/>
    <p:sldId id="776" r:id="rId104"/>
    <p:sldId id="777" r:id="rId105"/>
    <p:sldId id="778" r:id="rId106"/>
    <p:sldId id="779" r:id="rId107"/>
    <p:sldId id="858" r:id="rId108"/>
    <p:sldId id="780" r:id="rId109"/>
    <p:sldId id="781" r:id="rId110"/>
    <p:sldId id="905" r:id="rId111"/>
    <p:sldId id="782" r:id="rId112"/>
    <p:sldId id="904" r:id="rId113"/>
    <p:sldId id="895" r:id="rId114"/>
    <p:sldId id="859" r:id="rId115"/>
    <p:sldId id="571" r:id="rId116"/>
    <p:sldId id="912" r:id="rId117"/>
    <p:sldId id="982" r:id="rId118"/>
    <p:sldId id="623" r:id="rId119"/>
    <p:sldId id="981" r:id="rId120"/>
    <p:sldId id="992" r:id="rId121"/>
    <p:sldId id="993" r:id="rId122"/>
    <p:sldId id="1021" r:id="rId123"/>
    <p:sldId id="1059" r:id="rId124"/>
    <p:sldId id="1060" r:id="rId125"/>
    <p:sldId id="1049" r:id="rId126"/>
    <p:sldId id="1061" r:id="rId127"/>
    <p:sldId id="1050" r:id="rId128"/>
    <p:sldId id="1025" r:id="rId129"/>
    <p:sldId id="1026" r:id="rId130"/>
    <p:sldId id="1014" r:id="rId131"/>
    <p:sldId id="1024" r:id="rId132"/>
    <p:sldId id="994" r:id="rId133"/>
    <p:sldId id="984" r:id="rId134"/>
    <p:sldId id="1027" r:id="rId135"/>
    <p:sldId id="1052" r:id="rId136"/>
    <p:sldId id="1054" r:id="rId137"/>
    <p:sldId id="1055" r:id="rId138"/>
    <p:sldId id="811" r:id="rId139"/>
    <p:sldId id="812" r:id="rId140"/>
    <p:sldId id="1028" r:id="rId141"/>
    <p:sldId id="860" r:id="rId142"/>
    <p:sldId id="1030" r:id="rId143"/>
    <p:sldId id="1029" r:id="rId144"/>
    <p:sldId id="292" r:id="rId145"/>
  </p:sldIdLst>
  <p:sldSz cx="9144000" cy="6858000" type="screen4x3"/>
  <p:notesSz cx="6858000" cy="9144000"/>
  <p:defaultTextStyle>
    <a:defPPr>
      <a:defRPr lang="zh-CN"/>
    </a:defPPr>
    <a:lvl1pPr algn="l" rtl="0" eaLnBrk="0" fontAlgn="base" hangingPunct="0">
      <a:spcBef>
        <a:spcPct val="0"/>
      </a:spcBef>
      <a:spcAft>
        <a:spcPct val="0"/>
      </a:spcAft>
      <a:defRPr sz="2000" kern="1200">
        <a:solidFill>
          <a:schemeClr val="hlink"/>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hlink"/>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hlink"/>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hlink"/>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hlink"/>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hlink"/>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hlink"/>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hlink"/>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hlink"/>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88" autoAdjust="0"/>
    <p:restoredTop sz="84272" autoAdjust="0"/>
  </p:normalViewPr>
  <p:slideViewPr>
    <p:cSldViewPr>
      <p:cViewPr varScale="1">
        <p:scale>
          <a:sx n="80" d="100"/>
          <a:sy n="80" d="100"/>
        </p:scale>
        <p:origin x="248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 Id="rId4"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png"/><Relationship Id="rId1" Type="http://schemas.openxmlformats.org/officeDocument/2006/relationships/image" Target="../media/image265.png"/><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8.png"/></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9.wmf"/><Relationship Id="rId3" Type="http://schemas.openxmlformats.org/officeDocument/2006/relationships/image" Target="../media/image274.wmf"/><Relationship Id="rId7" Type="http://schemas.openxmlformats.org/officeDocument/2006/relationships/image" Target="../media/image278.wmf"/><Relationship Id="rId2" Type="http://schemas.openxmlformats.org/officeDocument/2006/relationships/image" Target="../media/image273.wmf"/><Relationship Id="rId1" Type="http://schemas.openxmlformats.org/officeDocument/2006/relationships/image" Target="../media/image272.wmf"/><Relationship Id="rId6" Type="http://schemas.openxmlformats.org/officeDocument/2006/relationships/image" Target="../media/image277.wmf"/><Relationship Id="rId5" Type="http://schemas.openxmlformats.org/officeDocument/2006/relationships/image" Target="../media/image276.wmf"/><Relationship Id="rId4" Type="http://schemas.openxmlformats.org/officeDocument/2006/relationships/image" Target="../media/image27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3.emf"/><Relationship Id="rId2" Type="http://schemas.openxmlformats.org/officeDocument/2006/relationships/image" Target="../media/image282.emf"/><Relationship Id="rId1" Type="http://schemas.openxmlformats.org/officeDocument/2006/relationships/image" Target="../media/image281.emf"/><Relationship Id="rId6" Type="http://schemas.openxmlformats.org/officeDocument/2006/relationships/image" Target="../media/image286.emf"/><Relationship Id="rId5" Type="http://schemas.openxmlformats.org/officeDocument/2006/relationships/image" Target="../media/image285.emf"/><Relationship Id="rId4" Type="http://schemas.openxmlformats.org/officeDocument/2006/relationships/image" Target="../media/image28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image" Target="../media/image29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E03CF60-87EA-441D-98A3-34137EF922B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22" tIns="45712" rIns="91422" bIns="45712" numCol="1" anchor="t" anchorCtr="0" compatLnSpc="1">
            <a:prstTxWarp prst="textNoShape">
              <a:avLst/>
            </a:prstTxWarp>
          </a:bodyPr>
          <a:lstStyle>
            <a:lvl1pPr eaLnBrk="1" hangingPunct="1">
              <a:spcBef>
                <a:spcPct val="0"/>
              </a:spcBef>
              <a:defRPr sz="1200">
                <a:solidFill>
                  <a:schemeClr val="tx1"/>
                </a:solidFill>
              </a:defRPr>
            </a:lvl1pPr>
          </a:lstStyle>
          <a:p>
            <a:pPr>
              <a:defRPr/>
            </a:pPr>
            <a:endParaRPr lang="en-US" altLang="zh-CN"/>
          </a:p>
        </p:txBody>
      </p:sp>
      <p:sp>
        <p:nvSpPr>
          <p:cNvPr id="62467" name="Rectangle 3">
            <a:extLst>
              <a:ext uri="{FF2B5EF4-FFF2-40B4-BE49-F238E27FC236}">
                <a16:creationId xmlns:a16="http://schemas.microsoft.com/office/drawing/2014/main" id="{5D42E498-53DE-43B7-8765-8D078C04092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22" tIns="45712" rIns="91422" bIns="45712" numCol="1" anchor="t" anchorCtr="0" compatLnSpc="1">
            <a:prstTxWarp prst="textNoShape">
              <a:avLst/>
            </a:prstTxWarp>
          </a:bodyPr>
          <a:lstStyle>
            <a:lvl1pPr algn="r" eaLnBrk="1" hangingPunct="1">
              <a:spcBef>
                <a:spcPct val="0"/>
              </a:spcBef>
              <a:defRPr sz="1200">
                <a:solidFill>
                  <a:schemeClr val="tx1"/>
                </a:solidFill>
              </a:defRPr>
            </a:lvl1pPr>
          </a:lstStyle>
          <a:p>
            <a:pPr>
              <a:defRPr/>
            </a:pPr>
            <a:endParaRPr lang="en-US" altLang="zh-CN"/>
          </a:p>
        </p:txBody>
      </p:sp>
      <p:sp>
        <p:nvSpPr>
          <p:cNvPr id="14340" name="Rectangle 4">
            <a:extLst>
              <a:ext uri="{FF2B5EF4-FFF2-40B4-BE49-F238E27FC236}">
                <a16:creationId xmlns:a16="http://schemas.microsoft.com/office/drawing/2014/main" id="{BB96D6FC-5E8B-40FE-B2D3-9302365BD2B8}"/>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9" name="Rectangle 5">
            <a:extLst>
              <a:ext uri="{FF2B5EF4-FFF2-40B4-BE49-F238E27FC236}">
                <a16:creationId xmlns:a16="http://schemas.microsoft.com/office/drawing/2014/main" id="{1425CB7A-14A0-4E7C-B3FF-ECF20023507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22" tIns="45712" rIns="91422" bIns="45712"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2470" name="Rectangle 6">
            <a:extLst>
              <a:ext uri="{FF2B5EF4-FFF2-40B4-BE49-F238E27FC236}">
                <a16:creationId xmlns:a16="http://schemas.microsoft.com/office/drawing/2014/main" id="{F454C7A3-88E7-49DC-A902-2348760E034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22" tIns="45712" rIns="91422" bIns="45712" numCol="1" anchor="b" anchorCtr="0" compatLnSpc="1">
            <a:prstTxWarp prst="textNoShape">
              <a:avLst/>
            </a:prstTxWarp>
          </a:bodyPr>
          <a:lstStyle>
            <a:lvl1pPr eaLnBrk="1" hangingPunct="1">
              <a:spcBef>
                <a:spcPct val="0"/>
              </a:spcBef>
              <a:defRPr sz="1200">
                <a:solidFill>
                  <a:schemeClr val="tx1"/>
                </a:solidFill>
              </a:defRPr>
            </a:lvl1pPr>
          </a:lstStyle>
          <a:p>
            <a:pPr>
              <a:defRPr/>
            </a:pPr>
            <a:endParaRPr lang="en-US" altLang="zh-CN"/>
          </a:p>
        </p:txBody>
      </p:sp>
      <p:sp>
        <p:nvSpPr>
          <p:cNvPr id="62471" name="Rectangle 7">
            <a:extLst>
              <a:ext uri="{FF2B5EF4-FFF2-40B4-BE49-F238E27FC236}">
                <a16:creationId xmlns:a16="http://schemas.microsoft.com/office/drawing/2014/main" id="{8F371BA8-0010-46A9-926B-B2A01F894FB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22" tIns="45712" rIns="91422" bIns="45712" numCol="1" anchor="b" anchorCtr="0" compatLnSpc="1">
            <a:prstTxWarp prst="textNoShape">
              <a:avLst/>
            </a:prstTxWarp>
          </a:bodyPr>
          <a:lstStyle>
            <a:lvl1pPr algn="r" eaLnBrk="1" hangingPunct="1">
              <a:defRPr sz="1200">
                <a:solidFill>
                  <a:schemeClr val="tx1"/>
                </a:solidFill>
              </a:defRPr>
            </a:lvl1pPr>
          </a:lstStyle>
          <a:p>
            <a:pPr>
              <a:defRPr/>
            </a:pPr>
            <a:fld id="{CDC519DB-18FA-4CDD-83FA-94A9289059A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Symmetric_matrix"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en.wikipedia.org/wiki/Vector_(mathematics)" TargetMode="External"/><Relationship Id="rId5" Type="http://schemas.openxmlformats.org/officeDocument/2006/relationships/hyperlink" Target="https://en.wikipedia.org/wiki/Matrix_(mathematics)" TargetMode="External"/><Relationship Id="rId4" Type="http://schemas.openxmlformats.org/officeDocument/2006/relationships/hyperlink" Target="https://en.wikipedia.org/wiki/Real_number"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1">
            <a:extLst>
              <a:ext uri="{FF2B5EF4-FFF2-40B4-BE49-F238E27FC236}">
                <a16:creationId xmlns:a16="http://schemas.microsoft.com/office/drawing/2014/main" id="{0A8B77E0-D44F-48AA-BB64-AA739BB4C824}"/>
              </a:ext>
            </a:extLst>
          </p:cNvPr>
          <p:cNvSpPr>
            <a:spLocks noGrp="1" noRot="1" noChangeAspect="1" noChangeArrowheads="1" noTextEdit="1"/>
          </p:cNvSpPr>
          <p:nvPr>
            <p:ph type="sldImg"/>
          </p:nvPr>
        </p:nvSpPr>
        <p:spPr>
          <a:ln/>
        </p:spPr>
      </p:sp>
      <p:sp>
        <p:nvSpPr>
          <p:cNvPr id="20482" name="备注占位符 2">
            <a:extLst>
              <a:ext uri="{FF2B5EF4-FFF2-40B4-BE49-F238E27FC236}">
                <a16:creationId xmlns:a16="http://schemas.microsoft.com/office/drawing/2014/main" id="{ECE4323F-043D-4DA0-B34C-3A00D39766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20483" name="灯片编号占位符 3">
            <a:extLst>
              <a:ext uri="{FF2B5EF4-FFF2-40B4-BE49-F238E27FC236}">
                <a16:creationId xmlns:a16="http://schemas.microsoft.com/office/drawing/2014/main" id="{B752820B-59BD-4626-B7EC-2CA86AD14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02F7BCD8-582F-488D-B4BF-85F20471D21E}" type="slidenum">
              <a:rPr lang="en-US" altLang="zh-CN" sz="1200" smtClean="0">
                <a:solidFill>
                  <a:schemeClr val="tx1"/>
                </a:solidFill>
              </a:rPr>
              <a:pPr/>
              <a:t>5</a:t>
            </a:fld>
            <a:endParaRPr lang="en-US" altLang="zh-CN" sz="1200">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投影片影像版面配置區 1">
            <a:extLst>
              <a:ext uri="{FF2B5EF4-FFF2-40B4-BE49-F238E27FC236}">
                <a16:creationId xmlns:a16="http://schemas.microsoft.com/office/drawing/2014/main" id="{FA303998-8C5F-4031-B96C-A5A17D05B5DB}"/>
              </a:ext>
            </a:extLst>
          </p:cNvPr>
          <p:cNvSpPr>
            <a:spLocks noGrp="1" noRot="1" noChangeAspect="1" noChangeArrowheads="1" noTextEdit="1"/>
          </p:cNvSpPr>
          <p:nvPr>
            <p:ph type="sldImg"/>
          </p:nvPr>
        </p:nvSpPr>
        <p:spPr>
          <a:ln/>
        </p:spPr>
      </p:sp>
      <p:sp>
        <p:nvSpPr>
          <p:cNvPr id="3" name="備忘稿版面配置區 2">
            <a:extLst>
              <a:ext uri="{FF2B5EF4-FFF2-40B4-BE49-F238E27FC236}">
                <a16:creationId xmlns:a16="http://schemas.microsoft.com/office/drawing/2014/main" id="{0B87FD12-599B-4D1F-923B-8C598DEA36B5}"/>
              </a:ext>
            </a:extLst>
          </p:cNvPr>
          <p:cNvSpPr>
            <a:spLocks noGrp="1"/>
          </p:cNvSpPr>
          <p:nvPr>
            <p:ph type="body" idx="1"/>
          </p:nvPr>
        </p:nvSpPr>
        <p:spPr/>
        <p:txBody>
          <a:bodyPr/>
          <a:lstStyle/>
          <a:p>
            <a:pPr eaLnBrk="1" hangingPunct="1">
              <a:spcBef>
                <a:spcPct val="0"/>
              </a:spcBef>
            </a:pPr>
            <a:r>
              <a:rPr lang="en-US" altLang="zh-TW"/>
              <a:t>• The eigenvalues for symmetric matrices are always real.</a:t>
            </a:r>
            <a:endParaRPr lang="en-US" altLang="zh-TW">
              <a:latin typeface="Calibri" panose="020F0502020204030204" pitchFamily="34" charset="0"/>
              <a:ea typeface="PMingLiU" panose="02020500000000000000" pitchFamily="18" charset="-120"/>
            </a:endParaRPr>
          </a:p>
          <a:p>
            <a:pPr eaLnBrk="1" hangingPunct="1">
              <a:spcBef>
                <a:spcPct val="0"/>
              </a:spcBef>
            </a:pPr>
            <a:endParaRPr lang="en-US" altLang="zh-TW">
              <a:latin typeface="Calibri" panose="020F0502020204030204" pitchFamily="34" charset="0"/>
              <a:ea typeface="PMingLiU" panose="02020500000000000000" pitchFamily="18" charset="-120"/>
            </a:endParaRPr>
          </a:p>
          <a:p>
            <a:pPr eaLnBrk="1" hangingPunct="1">
              <a:spcBef>
                <a:spcPct val="0"/>
              </a:spcBef>
            </a:pPr>
            <a:r>
              <a:rPr lang="en-US" altLang="zh-TW">
                <a:latin typeface="Calibri" panose="020F0502020204030204" pitchFamily="34" charset="0"/>
                <a:ea typeface="PMingLiU" panose="02020500000000000000" pitchFamily="18" charset="-120"/>
              </a:rPr>
              <a:t>a </a:t>
            </a:r>
            <a:r>
              <a:rPr lang="en-US" altLang="zh-TW">
                <a:latin typeface="Calibri" panose="020F0502020204030204" pitchFamily="34" charset="0"/>
                <a:ea typeface="PMingLiU" panose="02020500000000000000" pitchFamily="18" charset="-120"/>
                <a:hlinkClick r:id="rId3" tooltip="Symmetric matrix"/>
              </a:rPr>
              <a:t>symmetric</a:t>
            </a:r>
            <a:r>
              <a:rPr lang="en-US" altLang="zh-TW">
                <a:latin typeface="Calibri" panose="020F0502020204030204" pitchFamily="34" charset="0"/>
                <a:ea typeface="PMingLiU" panose="02020500000000000000" pitchFamily="18" charset="-120"/>
              </a:rPr>
              <a:t> {\displaystyle n} × {\displaystyle n} </a:t>
            </a:r>
            <a:r>
              <a:rPr lang="en-US" altLang="zh-TW">
                <a:latin typeface="Calibri" panose="020F0502020204030204" pitchFamily="34" charset="0"/>
                <a:ea typeface="PMingLiU" panose="02020500000000000000" pitchFamily="18" charset="-120"/>
                <a:hlinkClick r:id="rId4" tooltip="Real number"/>
              </a:rPr>
              <a:t>real</a:t>
            </a:r>
            <a:r>
              <a:rPr lang="en-US" altLang="zh-TW">
                <a:latin typeface="Calibri" panose="020F0502020204030204" pitchFamily="34" charset="0"/>
                <a:ea typeface="PMingLiU" panose="02020500000000000000" pitchFamily="18" charset="-120"/>
              </a:rPr>
              <a:t> </a:t>
            </a:r>
            <a:r>
              <a:rPr lang="en-US" altLang="zh-TW">
                <a:latin typeface="Calibri" panose="020F0502020204030204" pitchFamily="34" charset="0"/>
                <a:ea typeface="PMingLiU" panose="02020500000000000000" pitchFamily="18" charset="-120"/>
                <a:hlinkClick r:id="rId5" tooltip="Matrix (mathematics)"/>
              </a:rPr>
              <a:t>matrix</a:t>
            </a:r>
            <a:r>
              <a:rPr lang="en-US" altLang="zh-TW">
                <a:latin typeface="Calibri" panose="020F0502020204030204" pitchFamily="34" charset="0"/>
                <a:ea typeface="PMingLiU" panose="02020500000000000000" pitchFamily="18" charset="-120"/>
              </a:rPr>
              <a:t> {\displaystyle M} is said to be </a:t>
            </a:r>
            <a:r>
              <a:rPr lang="en-US" altLang="zh-TW" b="1">
                <a:latin typeface="Calibri" panose="020F0502020204030204" pitchFamily="34" charset="0"/>
                <a:ea typeface="PMingLiU" panose="02020500000000000000" pitchFamily="18" charset="-120"/>
              </a:rPr>
              <a:t>positive definite</a:t>
            </a:r>
            <a:r>
              <a:rPr lang="en-US" altLang="zh-TW">
                <a:latin typeface="Calibri" panose="020F0502020204030204" pitchFamily="34" charset="0"/>
                <a:ea typeface="PMingLiU" panose="02020500000000000000" pitchFamily="18" charset="-120"/>
              </a:rPr>
              <a:t> if the scalar {\displaystyle z^{\mathrm {T} }Mz} is positive for every non-zero column </a:t>
            </a:r>
            <a:r>
              <a:rPr lang="en-US" altLang="zh-TW">
                <a:latin typeface="Calibri" panose="020F0502020204030204" pitchFamily="34" charset="0"/>
                <a:ea typeface="PMingLiU" panose="02020500000000000000" pitchFamily="18" charset="-120"/>
                <a:hlinkClick r:id="rId6" tooltip="Vector (mathematics)"/>
              </a:rPr>
              <a:t>vector</a:t>
            </a:r>
            <a:r>
              <a:rPr lang="en-US" altLang="zh-TW">
                <a:latin typeface="Calibri" panose="020F0502020204030204" pitchFamily="34" charset="0"/>
                <a:ea typeface="PMingLiU" panose="02020500000000000000" pitchFamily="18" charset="-120"/>
              </a:rPr>
              <a:t> {\displaystyle z} of {\displaystyle n} real numbers</a:t>
            </a:r>
          </a:p>
          <a:p>
            <a:pPr eaLnBrk="1" hangingPunct="1">
              <a:spcBef>
                <a:spcPct val="0"/>
              </a:spcBef>
            </a:pPr>
            <a:r>
              <a:rPr lang="en-US" altLang="zh-TW">
                <a:latin typeface="Calibri" panose="020F0502020204030204" pitchFamily="34" charset="0"/>
                <a:ea typeface="PMingLiU" panose="02020500000000000000" pitchFamily="18" charset="-120"/>
              </a:rPr>
              <a:t>zTMz&gt;=0</a:t>
            </a:r>
            <a:endParaRPr lang="en-US" altLang="zh-TW"/>
          </a:p>
          <a:p>
            <a:pPr eaLnBrk="1" hangingPunct="1">
              <a:spcBef>
                <a:spcPct val="0"/>
              </a:spcBef>
            </a:pPr>
            <a:endParaRPr lang="en-US" altLang="zh-TW"/>
          </a:p>
          <a:p>
            <a:pPr eaLnBrk="1" hangingPunct="1">
              <a:spcBef>
                <a:spcPct val="0"/>
              </a:spcBef>
            </a:pPr>
            <a:r>
              <a:rPr lang="en-US" altLang="zh-TW"/>
              <a:t>Ref: </a:t>
            </a:r>
            <a:r>
              <a:rPr lang="zh-TW" altLang="en-US"/>
              <a:t>http://speech.ee.ntu.edu.tw/~tlkagk/courses/LA_2016/Lecture/special%20matrix%20(v2).ecm.mp4/index.html</a:t>
            </a:r>
          </a:p>
          <a:p>
            <a:endParaRPr lang="zh-TW" altLang="en-US"/>
          </a:p>
        </p:txBody>
      </p:sp>
      <p:sp>
        <p:nvSpPr>
          <p:cNvPr id="30723" name="投影片編號版面配置區 3">
            <a:extLst>
              <a:ext uri="{FF2B5EF4-FFF2-40B4-BE49-F238E27FC236}">
                <a16:creationId xmlns:a16="http://schemas.microsoft.com/office/drawing/2014/main" id="{2C841FD5-44FB-49B6-9C66-B416C3BBB5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BECBCD8A-83A2-4E93-9944-F65A1EA04806}" type="slidenum">
              <a:rPr lang="zh-TW" altLang="en-US" sz="1200" smtClean="0">
                <a:solidFill>
                  <a:schemeClr val="tx1"/>
                </a:solidFill>
              </a:rPr>
              <a:pPr/>
              <a:t>14</a:t>
            </a:fld>
            <a:endParaRPr lang="zh-TW" altLang="en-US" sz="1200">
              <a:solidFill>
                <a:schemeClr val="tx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a:extLst>
              <a:ext uri="{FF2B5EF4-FFF2-40B4-BE49-F238E27FC236}">
                <a16:creationId xmlns:a16="http://schemas.microsoft.com/office/drawing/2014/main" id="{A34328FB-6608-4875-A4F9-D6C8E307EC19}"/>
              </a:ext>
            </a:extLst>
          </p:cNvPr>
          <p:cNvSpPr>
            <a:spLocks noGrp="1" noRot="1" noChangeAspect="1" noChangeArrowheads="1" noTextEdit="1"/>
          </p:cNvSpPr>
          <p:nvPr>
            <p:ph type="sldImg"/>
          </p:nvPr>
        </p:nvSpPr>
        <p:spPr>
          <a:ln/>
        </p:spPr>
      </p:sp>
      <p:sp>
        <p:nvSpPr>
          <p:cNvPr id="32770" name="备注占位符 2">
            <a:extLst>
              <a:ext uri="{FF2B5EF4-FFF2-40B4-BE49-F238E27FC236}">
                <a16:creationId xmlns:a16="http://schemas.microsoft.com/office/drawing/2014/main" id="{298EDED8-3978-4740-8902-34FF9BE569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2771" name="灯片编号占位符 3">
            <a:extLst>
              <a:ext uri="{FF2B5EF4-FFF2-40B4-BE49-F238E27FC236}">
                <a16:creationId xmlns:a16="http://schemas.microsoft.com/office/drawing/2014/main" id="{E119E7E2-CBCE-4E53-8608-F2B81730B9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FD64D35-D4DF-4C8E-8499-F7DC073B71B7}" type="slidenum">
              <a:rPr lang="en-US" altLang="zh-CN" sz="1200" smtClean="0">
                <a:solidFill>
                  <a:schemeClr val="tx1"/>
                </a:solidFill>
              </a:rPr>
              <a:pPr/>
              <a:t>15</a:t>
            </a:fld>
            <a:endParaRPr lang="en-US" altLang="zh-CN" sz="120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投影片影像版面配置區 1">
            <a:extLst>
              <a:ext uri="{FF2B5EF4-FFF2-40B4-BE49-F238E27FC236}">
                <a16:creationId xmlns:a16="http://schemas.microsoft.com/office/drawing/2014/main" id="{D8D25B71-4B5A-4982-AB6B-E1788D007670}"/>
              </a:ext>
            </a:extLst>
          </p:cNvPr>
          <p:cNvSpPr>
            <a:spLocks noGrp="1" noRot="1" noChangeAspect="1" noChangeArrowheads="1" noTextEdit="1"/>
          </p:cNvSpPr>
          <p:nvPr>
            <p:ph type="sldImg"/>
          </p:nvPr>
        </p:nvSpPr>
        <p:spPr>
          <a:ln/>
        </p:spPr>
      </p:sp>
      <p:sp>
        <p:nvSpPr>
          <p:cNvPr id="35842" name="備忘稿版面配置區 2">
            <a:extLst>
              <a:ext uri="{FF2B5EF4-FFF2-40B4-BE49-F238E27FC236}">
                <a16:creationId xmlns:a16="http://schemas.microsoft.com/office/drawing/2014/main" id="{586EF8F1-1B5D-440B-A73C-01FF2DB094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So many good explaination !!!!!!!!!!!!!!!!!</a:t>
            </a:r>
          </a:p>
          <a:p>
            <a:endParaRPr lang="en-US" altLang="zh-TW"/>
          </a:p>
          <a:p>
            <a:endParaRPr lang="en-US" altLang="zh-TW"/>
          </a:p>
          <a:p>
            <a:r>
              <a:rPr lang="en-US" altLang="zh-TW"/>
              <a:t>http://stats.stackexchange.com/questions/2691/making-sense-of-principal-component-analysis-eigenvectors-eigenvalues</a:t>
            </a:r>
            <a:endParaRPr lang="zh-TW" altLang="en-US"/>
          </a:p>
        </p:txBody>
      </p:sp>
      <p:sp>
        <p:nvSpPr>
          <p:cNvPr id="35843" name="投影片編號版面配置區 3">
            <a:extLst>
              <a:ext uri="{FF2B5EF4-FFF2-40B4-BE49-F238E27FC236}">
                <a16:creationId xmlns:a16="http://schemas.microsoft.com/office/drawing/2014/main" id="{6F9F05D4-AFAE-46F2-A814-D959323DD2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99D0180-56DA-40A0-A5CB-AD4362838AA0}" type="slidenum">
              <a:rPr lang="zh-TW" altLang="en-US" sz="1200" smtClean="0">
                <a:solidFill>
                  <a:schemeClr val="tx1"/>
                </a:solidFill>
              </a:rPr>
              <a:pPr/>
              <a:t>17</a:t>
            </a:fld>
            <a:endParaRPr lang="zh-TW" altLang="en-US" sz="120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投影片影像版面配置區 1">
            <a:extLst>
              <a:ext uri="{FF2B5EF4-FFF2-40B4-BE49-F238E27FC236}">
                <a16:creationId xmlns:a16="http://schemas.microsoft.com/office/drawing/2014/main" id="{DF544C48-20A3-4C92-A1A8-F7BE1D50B567}"/>
              </a:ext>
            </a:extLst>
          </p:cNvPr>
          <p:cNvSpPr>
            <a:spLocks noGrp="1" noRot="1" noChangeAspect="1" noChangeArrowheads="1" noTextEdit="1"/>
          </p:cNvSpPr>
          <p:nvPr>
            <p:ph type="sldImg"/>
          </p:nvPr>
        </p:nvSpPr>
        <p:spPr>
          <a:ln/>
        </p:spPr>
      </p:sp>
      <p:sp>
        <p:nvSpPr>
          <p:cNvPr id="37890" name="備忘稿版面配置區 2">
            <a:extLst>
              <a:ext uri="{FF2B5EF4-FFF2-40B4-BE49-F238E27FC236}">
                <a16:creationId xmlns:a16="http://schemas.microsoft.com/office/drawing/2014/main" id="{86D49529-2838-4669-91AF-C5293886E2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So many good explaination !!!!!!!!!!!!!!!!!</a:t>
            </a:r>
          </a:p>
          <a:p>
            <a:endParaRPr lang="en-US" altLang="zh-TW"/>
          </a:p>
          <a:p>
            <a:endParaRPr lang="en-US" altLang="zh-TW"/>
          </a:p>
          <a:p>
            <a:r>
              <a:rPr lang="en-US" altLang="zh-TW"/>
              <a:t>http://stats.stackexchange.com/questions/2691/making-sense-of-principal-component-analysis-eigenvectors-eigenvalues</a:t>
            </a:r>
            <a:endParaRPr lang="zh-TW" altLang="en-US"/>
          </a:p>
        </p:txBody>
      </p:sp>
      <p:sp>
        <p:nvSpPr>
          <p:cNvPr id="37891" name="投影片編號版面配置區 3">
            <a:extLst>
              <a:ext uri="{FF2B5EF4-FFF2-40B4-BE49-F238E27FC236}">
                <a16:creationId xmlns:a16="http://schemas.microsoft.com/office/drawing/2014/main" id="{357B25EA-23D3-4E0B-A978-8874326B06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C1051A9-1924-45E5-81E5-BEE7A829D4A3}" type="slidenum">
              <a:rPr lang="zh-TW" altLang="en-US" sz="1200" smtClean="0">
                <a:solidFill>
                  <a:schemeClr val="tx1"/>
                </a:solidFill>
              </a:rPr>
              <a:pPr/>
              <a:t>18</a:t>
            </a:fld>
            <a:endParaRPr lang="zh-TW" altLang="en-US" sz="120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7BF819A4-093B-4EE3-841D-00A3BC0D5BD4}"/>
              </a:ext>
            </a:extLst>
          </p:cNvPr>
          <p:cNvSpPr>
            <a:spLocks noGrp="1" noRot="1" noChangeAspect="1" noChangeArrowheads="1" noTextEdit="1"/>
          </p:cNvSpPr>
          <p:nvPr>
            <p:ph type="sldImg"/>
          </p:nvPr>
        </p:nvSpPr>
        <p:spPr>
          <a:ln/>
        </p:spPr>
      </p:sp>
      <p:sp>
        <p:nvSpPr>
          <p:cNvPr id="39938" name="备注占位符 2">
            <a:extLst>
              <a:ext uri="{FF2B5EF4-FFF2-40B4-BE49-F238E27FC236}">
                <a16:creationId xmlns:a16="http://schemas.microsoft.com/office/drawing/2014/main" id="{0ED7FEA3-C1B3-48E3-9DDB-1502FFAD31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9939" name="幻灯片编号占位符 3">
            <a:extLst>
              <a:ext uri="{FF2B5EF4-FFF2-40B4-BE49-F238E27FC236}">
                <a16:creationId xmlns:a16="http://schemas.microsoft.com/office/drawing/2014/main" id="{AA53DE49-26A6-4083-B51A-671FF472D2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C0D72E56-0FAA-4BE3-B0F9-D8D8C565C6C7}" type="slidenum">
              <a:rPr lang="zh-TW" altLang="en-US" sz="1200" smtClean="0">
                <a:solidFill>
                  <a:schemeClr val="tx1"/>
                </a:solidFill>
              </a:rPr>
              <a:pPr/>
              <a:t>19</a:t>
            </a:fld>
            <a:endParaRPr lang="zh-TW" altLang="en-US" sz="120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DFDA0B18-00EB-4A89-98B3-CAB101000FB1}"/>
              </a:ext>
            </a:extLst>
          </p:cNvPr>
          <p:cNvSpPr>
            <a:spLocks noGrp="1" noRot="1" noChangeAspect="1" noChangeArrowheads="1" noTextEdit="1"/>
          </p:cNvSpPr>
          <p:nvPr>
            <p:ph type="sldImg"/>
          </p:nvPr>
        </p:nvSpPr>
        <p:spPr>
          <a:ln/>
        </p:spPr>
      </p:sp>
      <p:sp>
        <p:nvSpPr>
          <p:cNvPr id="43010" name="备注占位符 2">
            <a:extLst>
              <a:ext uri="{FF2B5EF4-FFF2-40B4-BE49-F238E27FC236}">
                <a16:creationId xmlns:a16="http://schemas.microsoft.com/office/drawing/2014/main" id="{BFA665C2-22C3-4BDE-A13C-BAAC0B4975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43011" name="幻灯片编号占位符 3">
            <a:extLst>
              <a:ext uri="{FF2B5EF4-FFF2-40B4-BE49-F238E27FC236}">
                <a16:creationId xmlns:a16="http://schemas.microsoft.com/office/drawing/2014/main" id="{4CA7E0F2-EF22-4E6E-87B5-9A97EA09A9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9E002B5F-69D5-49EC-89FB-FE3682353874}" type="slidenum">
              <a:rPr lang="zh-TW" altLang="en-US" sz="1200" smtClean="0">
                <a:solidFill>
                  <a:schemeClr val="tx1"/>
                </a:solidFill>
              </a:rPr>
              <a:pPr/>
              <a:t>21</a:t>
            </a:fld>
            <a:endParaRPr lang="zh-TW" altLang="en-US" sz="1200">
              <a:solidFill>
                <a:schemeClr val="tx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a:extLst>
              <a:ext uri="{FF2B5EF4-FFF2-40B4-BE49-F238E27FC236}">
                <a16:creationId xmlns:a16="http://schemas.microsoft.com/office/drawing/2014/main" id="{33B0BBAC-84F5-4A07-97FC-3013FB839017}"/>
              </a:ext>
            </a:extLst>
          </p:cNvPr>
          <p:cNvSpPr>
            <a:spLocks noGrp="1" noRot="1" noChangeAspect="1" noChangeArrowheads="1" noTextEdit="1"/>
          </p:cNvSpPr>
          <p:nvPr>
            <p:ph type="sldImg"/>
          </p:nvPr>
        </p:nvSpPr>
        <p:spPr>
          <a:ln/>
        </p:spPr>
      </p:sp>
      <p:sp>
        <p:nvSpPr>
          <p:cNvPr id="45058" name="备注占位符 2">
            <a:extLst>
              <a:ext uri="{FF2B5EF4-FFF2-40B4-BE49-F238E27FC236}">
                <a16:creationId xmlns:a16="http://schemas.microsoft.com/office/drawing/2014/main" id="{DABC8108-8D4B-4FCE-BEF3-945D8A1828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45059" name="幻灯片编号占位符 3">
            <a:extLst>
              <a:ext uri="{FF2B5EF4-FFF2-40B4-BE49-F238E27FC236}">
                <a16:creationId xmlns:a16="http://schemas.microsoft.com/office/drawing/2014/main" id="{0BA0AED0-5F71-44D7-AD3F-7845BEAD5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196D21D-FE4F-487F-BE66-5D9150C4F02E}" type="slidenum">
              <a:rPr lang="zh-TW" altLang="en-US" sz="1200" smtClean="0">
                <a:solidFill>
                  <a:schemeClr val="tx1"/>
                </a:solidFill>
              </a:rPr>
              <a:pPr/>
              <a:t>22</a:t>
            </a:fld>
            <a:endParaRPr lang="zh-TW" altLang="en-US" sz="120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a:extLst>
              <a:ext uri="{FF2B5EF4-FFF2-40B4-BE49-F238E27FC236}">
                <a16:creationId xmlns:a16="http://schemas.microsoft.com/office/drawing/2014/main" id="{5ED41762-BA64-411A-9563-8FFD1A06EE95}"/>
              </a:ext>
            </a:extLst>
          </p:cNvPr>
          <p:cNvSpPr>
            <a:spLocks noGrp="1" noRot="1" noChangeAspect="1" noChangeArrowheads="1" noTextEdit="1"/>
          </p:cNvSpPr>
          <p:nvPr>
            <p:ph type="sldImg"/>
          </p:nvPr>
        </p:nvSpPr>
        <p:spPr>
          <a:ln/>
        </p:spPr>
      </p:sp>
      <p:sp>
        <p:nvSpPr>
          <p:cNvPr id="47106" name="备注占位符 2">
            <a:extLst>
              <a:ext uri="{FF2B5EF4-FFF2-40B4-BE49-F238E27FC236}">
                <a16:creationId xmlns:a16="http://schemas.microsoft.com/office/drawing/2014/main" id="{316A96F9-27CF-41BB-A424-B007C820F3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47107" name="幻灯片编号占位符 3">
            <a:extLst>
              <a:ext uri="{FF2B5EF4-FFF2-40B4-BE49-F238E27FC236}">
                <a16:creationId xmlns:a16="http://schemas.microsoft.com/office/drawing/2014/main" id="{19F5D1BF-C4F4-4877-94E0-5D2A06C614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5F58E39-D7E8-4D78-81D9-5AD83FDB6D4F}" type="slidenum">
              <a:rPr lang="zh-TW" altLang="en-US" sz="1200" smtClean="0">
                <a:solidFill>
                  <a:schemeClr val="tx1"/>
                </a:solidFill>
              </a:rPr>
              <a:pPr/>
              <a:t>23</a:t>
            </a:fld>
            <a:endParaRPr lang="zh-TW" altLang="en-US" sz="1200">
              <a:solidFill>
                <a:schemeClr val="tx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a:extLst>
              <a:ext uri="{FF2B5EF4-FFF2-40B4-BE49-F238E27FC236}">
                <a16:creationId xmlns:a16="http://schemas.microsoft.com/office/drawing/2014/main" id="{BE22A290-7396-48F0-979D-DB81AB53639D}"/>
              </a:ext>
            </a:extLst>
          </p:cNvPr>
          <p:cNvSpPr>
            <a:spLocks noGrp="1" noRot="1" noChangeAspect="1" noChangeArrowheads="1" noTextEdit="1"/>
          </p:cNvSpPr>
          <p:nvPr>
            <p:ph type="sldImg"/>
          </p:nvPr>
        </p:nvSpPr>
        <p:spPr>
          <a:ln/>
        </p:spPr>
      </p:sp>
      <p:sp>
        <p:nvSpPr>
          <p:cNvPr id="49154" name="备注占位符 2">
            <a:extLst>
              <a:ext uri="{FF2B5EF4-FFF2-40B4-BE49-F238E27FC236}">
                <a16:creationId xmlns:a16="http://schemas.microsoft.com/office/drawing/2014/main" id="{B7C00F70-26A6-4B76-8CA5-01892BABB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49155" name="幻灯片编号占位符 3">
            <a:extLst>
              <a:ext uri="{FF2B5EF4-FFF2-40B4-BE49-F238E27FC236}">
                <a16:creationId xmlns:a16="http://schemas.microsoft.com/office/drawing/2014/main" id="{BDFDE560-2211-4346-9DF5-1ECEDE0774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2F38D195-5462-4A01-A1B1-0C43158437CF}" type="slidenum">
              <a:rPr lang="zh-TW" altLang="en-US" sz="1200" smtClean="0">
                <a:solidFill>
                  <a:schemeClr val="tx1"/>
                </a:solidFill>
              </a:rPr>
              <a:pPr/>
              <a:t>24</a:t>
            </a:fld>
            <a:endParaRPr lang="zh-TW" altLang="en-US" sz="1200">
              <a:solidFill>
                <a:schemeClr val="tx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a:extLst>
              <a:ext uri="{FF2B5EF4-FFF2-40B4-BE49-F238E27FC236}">
                <a16:creationId xmlns:a16="http://schemas.microsoft.com/office/drawing/2014/main" id="{C2E8A8C3-61F1-4147-8DD5-68E1685C8708}"/>
              </a:ext>
            </a:extLst>
          </p:cNvPr>
          <p:cNvSpPr>
            <a:spLocks noGrp="1" noRot="1" noChangeAspect="1" noChangeArrowheads="1" noTextEdit="1"/>
          </p:cNvSpPr>
          <p:nvPr>
            <p:ph type="sldImg"/>
          </p:nvPr>
        </p:nvSpPr>
        <p:spPr>
          <a:ln/>
        </p:spPr>
      </p:sp>
      <p:sp>
        <p:nvSpPr>
          <p:cNvPr id="56322" name="备注占位符 2">
            <a:extLst>
              <a:ext uri="{FF2B5EF4-FFF2-40B4-BE49-F238E27FC236}">
                <a16:creationId xmlns:a16="http://schemas.microsoft.com/office/drawing/2014/main" id="{4FADABF0-E803-4D44-8B48-6DBD65F41B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56323" name="灯片编号占位符 3">
            <a:extLst>
              <a:ext uri="{FF2B5EF4-FFF2-40B4-BE49-F238E27FC236}">
                <a16:creationId xmlns:a16="http://schemas.microsoft.com/office/drawing/2014/main" id="{1A594D66-962D-46F6-905A-A32F8070F6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F89A7EE-9747-40FD-9FAA-4A2383E548DC}" type="slidenum">
              <a:rPr lang="en-US" altLang="zh-CN" sz="1200" smtClean="0">
                <a:solidFill>
                  <a:schemeClr val="tx1"/>
                </a:solidFill>
              </a:rPr>
              <a:pPr/>
              <a:t>30</a:t>
            </a:fld>
            <a:endParaRPr lang="en-US" altLang="zh-CN" sz="1200">
              <a:solidFill>
                <a:schemeClr val="tx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a:extLst>
              <a:ext uri="{FF2B5EF4-FFF2-40B4-BE49-F238E27FC236}">
                <a16:creationId xmlns:a16="http://schemas.microsoft.com/office/drawing/2014/main" id="{0D7C521F-F569-4C8D-888F-D418911EDF46}"/>
              </a:ext>
            </a:extLst>
          </p:cNvPr>
          <p:cNvSpPr>
            <a:spLocks noGrp="1" noRot="1" noChangeAspect="1" noChangeArrowheads="1" noTextEdit="1"/>
          </p:cNvSpPr>
          <p:nvPr>
            <p:ph type="sldImg"/>
          </p:nvPr>
        </p:nvSpPr>
        <p:spPr>
          <a:ln/>
        </p:spPr>
      </p:sp>
      <p:sp>
        <p:nvSpPr>
          <p:cNvPr id="60418" name="备注占位符 2">
            <a:extLst>
              <a:ext uri="{FF2B5EF4-FFF2-40B4-BE49-F238E27FC236}">
                <a16:creationId xmlns:a16="http://schemas.microsoft.com/office/drawing/2014/main" id="{A21368D7-DB35-430B-8087-E773F6DC10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60419" name="灯片编号占位符 3">
            <a:extLst>
              <a:ext uri="{FF2B5EF4-FFF2-40B4-BE49-F238E27FC236}">
                <a16:creationId xmlns:a16="http://schemas.microsoft.com/office/drawing/2014/main" id="{080D067D-4BA0-43A1-9229-3066F1301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658B5BAB-904C-4218-8472-049310B685C0}" type="slidenum">
              <a:rPr lang="en-US" altLang="zh-CN" sz="1200" smtClean="0">
                <a:solidFill>
                  <a:schemeClr val="tx1"/>
                </a:solidFill>
              </a:rPr>
              <a:pPr/>
              <a:t>33</a:t>
            </a:fld>
            <a:endParaRPr lang="en-US" altLang="zh-CN" sz="1200">
              <a:solidFill>
                <a:schemeClr val="tx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a:extLst>
              <a:ext uri="{FF2B5EF4-FFF2-40B4-BE49-F238E27FC236}">
                <a16:creationId xmlns:a16="http://schemas.microsoft.com/office/drawing/2014/main" id="{F5599075-43A3-4BD3-935B-38F7B1CD1332}"/>
              </a:ext>
            </a:extLst>
          </p:cNvPr>
          <p:cNvSpPr>
            <a:spLocks noGrp="1" noRot="1" noChangeAspect="1" noChangeArrowheads="1" noTextEdit="1"/>
          </p:cNvSpPr>
          <p:nvPr>
            <p:ph type="sldImg"/>
          </p:nvPr>
        </p:nvSpPr>
        <p:spPr>
          <a:ln/>
        </p:spPr>
      </p:sp>
      <p:sp>
        <p:nvSpPr>
          <p:cNvPr id="62466" name="备注占位符 2">
            <a:extLst>
              <a:ext uri="{FF2B5EF4-FFF2-40B4-BE49-F238E27FC236}">
                <a16:creationId xmlns:a16="http://schemas.microsoft.com/office/drawing/2014/main" id="{53619B73-DB6E-42D3-8FBB-67585A61FB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62467" name="灯片编号占位符 3">
            <a:extLst>
              <a:ext uri="{FF2B5EF4-FFF2-40B4-BE49-F238E27FC236}">
                <a16:creationId xmlns:a16="http://schemas.microsoft.com/office/drawing/2014/main" id="{EE0797C0-5D74-4C59-88D9-2C6B1B9865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975F646E-7A9F-4898-85C6-702B3B5C6DAC}" type="slidenum">
              <a:rPr lang="en-US" altLang="zh-CN" sz="1200" smtClean="0">
                <a:solidFill>
                  <a:schemeClr val="tx1"/>
                </a:solidFill>
              </a:rPr>
              <a:pPr/>
              <a:t>34</a:t>
            </a:fld>
            <a:endParaRPr lang="en-US" altLang="zh-CN" sz="1200">
              <a:solidFill>
                <a:schemeClr val="tx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a:extLst>
              <a:ext uri="{FF2B5EF4-FFF2-40B4-BE49-F238E27FC236}">
                <a16:creationId xmlns:a16="http://schemas.microsoft.com/office/drawing/2014/main" id="{12664A57-481B-4357-921E-C7B7EE414DD9}"/>
              </a:ext>
            </a:extLst>
          </p:cNvPr>
          <p:cNvSpPr>
            <a:spLocks noGrp="1" noRot="1" noChangeAspect="1" noChangeArrowheads="1" noTextEdit="1"/>
          </p:cNvSpPr>
          <p:nvPr>
            <p:ph type="sldImg"/>
          </p:nvPr>
        </p:nvSpPr>
        <p:spPr>
          <a:ln/>
        </p:spPr>
      </p:sp>
      <p:sp>
        <p:nvSpPr>
          <p:cNvPr id="66562" name="备注占位符 2">
            <a:extLst>
              <a:ext uri="{FF2B5EF4-FFF2-40B4-BE49-F238E27FC236}">
                <a16:creationId xmlns:a16="http://schemas.microsoft.com/office/drawing/2014/main" id="{365BC0EB-9BB9-4969-BD67-BD7E26B70F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66563" name="灯片编号占位符 3">
            <a:extLst>
              <a:ext uri="{FF2B5EF4-FFF2-40B4-BE49-F238E27FC236}">
                <a16:creationId xmlns:a16="http://schemas.microsoft.com/office/drawing/2014/main" id="{CCB2D68B-6253-4629-9164-573BABDB80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7C5E10BD-30FA-4475-BD6E-F76CD270F3E9}" type="slidenum">
              <a:rPr lang="en-US" altLang="zh-CN" sz="1200" smtClean="0">
                <a:solidFill>
                  <a:schemeClr val="tx1"/>
                </a:solidFill>
              </a:rPr>
              <a:pPr/>
              <a:t>37</a:t>
            </a:fld>
            <a:endParaRPr lang="en-US" altLang="zh-CN" sz="1200">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投影片影像版面配置區 1">
            <a:extLst>
              <a:ext uri="{FF2B5EF4-FFF2-40B4-BE49-F238E27FC236}">
                <a16:creationId xmlns:a16="http://schemas.microsoft.com/office/drawing/2014/main" id="{C1662FD8-1373-4E41-8488-C30B9B07B2AF}"/>
              </a:ext>
            </a:extLst>
          </p:cNvPr>
          <p:cNvSpPr>
            <a:spLocks noGrp="1" noRot="1" noChangeAspect="1" noChangeArrowheads="1" noTextEdit="1"/>
          </p:cNvSpPr>
          <p:nvPr>
            <p:ph type="sldImg"/>
          </p:nvPr>
        </p:nvSpPr>
        <p:spPr>
          <a:ln/>
        </p:spPr>
      </p:sp>
      <p:sp>
        <p:nvSpPr>
          <p:cNvPr id="72706" name="備忘稿版面配置區 2">
            <a:extLst>
              <a:ext uri="{FF2B5EF4-FFF2-40B4-BE49-F238E27FC236}">
                <a16:creationId xmlns:a16="http://schemas.microsoft.com/office/drawing/2014/main" id="{29F172A6-F6AB-45E4-8229-59A711053C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dirty="0"/>
              <a:t>https://pvirie.wordpress.com/2016/03/29/linear-autoencoders-do-pca/</a:t>
            </a:r>
          </a:p>
          <a:p>
            <a:endParaRPr lang="en-US" altLang="zh-TW" dirty="0"/>
          </a:p>
          <a:p>
            <a:r>
              <a:rPr lang="en-US" altLang="zh-TW" dirty="0"/>
              <a:t>https://pvirie.wordpress.com/2013/10/01/pattern-covariance-analysis-of-components/</a:t>
            </a:r>
          </a:p>
          <a:p>
            <a:endParaRPr lang="zh-TW" altLang="en-US" dirty="0"/>
          </a:p>
        </p:txBody>
      </p:sp>
      <p:sp>
        <p:nvSpPr>
          <p:cNvPr id="72707" name="投影片編號版面配置區 3">
            <a:extLst>
              <a:ext uri="{FF2B5EF4-FFF2-40B4-BE49-F238E27FC236}">
                <a16:creationId xmlns:a16="http://schemas.microsoft.com/office/drawing/2014/main" id="{07FB930E-72A0-4CEA-8B4E-B49069A3FA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FC404430-34D7-445D-B062-616469F053B6}" type="slidenum">
              <a:rPr lang="zh-TW" altLang="en-US" sz="1200" smtClean="0">
                <a:solidFill>
                  <a:schemeClr val="tx1"/>
                </a:solidFill>
              </a:rPr>
              <a:pPr/>
              <a:t>42</a:t>
            </a:fld>
            <a:endParaRPr lang="zh-TW" altLang="en-US" sz="1200">
              <a:solidFill>
                <a:schemeClr val="tx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投影片影像版面配置區 1">
            <a:extLst>
              <a:ext uri="{FF2B5EF4-FFF2-40B4-BE49-F238E27FC236}">
                <a16:creationId xmlns:a16="http://schemas.microsoft.com/office/drawing/2014/main" id="{ACA760A0-5572-45EA-AC19-19A738673092}"/>
              </a:ext>
            </a:extLst>
          </p:cNvPr>
          <p:cNvSpPr>
            <a:spLocks noGrp="1" noRot="1" noChangeAspect="1" noChangeArrowheads="1" noTextEdit="1"/>
          </p:cNvSpPr>
          <p:nvPr>
            <p:ph type="sldImg"/>
          </p:nvPr>
        </p:nvSpPr>
        <p:spPr>
          <a:ln/>
        </p:spPr>
      </p:sp>
      <p:sp>
        <p:nvSpPr>
          <p:cNvPr id="75778" name="備忘稿版面配置區 2">
            <a:extLst>
              <a:ext uri="{FF2B5EF4-FFF2-40B4-BE49-F238E27FC236}">
                <a16:creationId xmlns:a16="http://schemas.microsoft.com/office/drawing/2014/main" id="{7EE46286-6040-4687-8491-8F5E78221E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TW"/>
              <a:t>Link PCA with MDS</a:t>
            </a:r>
            <a:endParaRPr lang="zh-TW" altLang="en-US"/>
          </a:p>
          <a:p>
            <a:pPr eaLnBrk="1" hangingPunct="1">
              <a:spcBef>
                <a:spcPct val="0"/>
              </a:spcBef>
            </a:pPr>
            <a:r>
              <a:rPr lang="en-US" altLang="zh-TW"/>
              <a:t>[1] T. Cox and M. Cox. </a:t>
            </a:r>
            <a:r>
              <a:rPr lang="en-US" altLang="zh-TW" i="1"/>
              <a:t>Multidimensional Scaling</a:t>
            </a:r>
            <a:r>
              <a:rPr lang="en-US" altLang="zh-TW"/>
              <a:t>. Chapman Hall, Boca Raton, 2nd edition,</a:t>
            </a:r>
            <a:br>
              <a:rPr lang="en-US" altLang="zh-TW"/>
            </a:br>
            <a:r>
              <a:rPr lang="en-US" altLang="zh-TW"/>
              <a:t>2001.</a:t>
            </a:r>
            <a:endParaRPr lang="zh-TW" altLang="en-US"/>
          </a:p>
          <a:p>
            <a:endParaRPr lang="zh-TW" altLang="en-US"/>
          </a:p>
        </p:txBody>
      </p:sp>
      <p:sp>
        <p:nvSpPr>
          <p:cNvPr id="75779" name="投影片編號版面配置區 3">
            <a:extLst>
              <a:ext uri="{FF2B5EF4-FFF2-40B4-BE49-F238E27FC236}">
                <a16:creationId xmlns:a16="http://schemas.microsoft.com/office/drawing/2014/main" id="{B6869C37-7604-4FE1-9FC9-B835E5F9A0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50F6665A-6A0C-437E-A186-561921281858}" type="slidenum">
              <a:rPr lang="zh-TW" altLang="en-US" sz="1200" smtClean="0">
                <a:solidFill>
                  <a:schemeClr val="tx1"/>
                </a:solidFill>
              </a:rPr>
              <a:pPr/>
              <a:t>44</a:t>
            </a:fld>
            <a:endParaRPr lang="zh-TW" altLang="en-US" sz="1200">
              <a:solidFill>
                <a:schemeClr val="tx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投影片影像版面配置區 1">
            <a:extLst>
              <a:ext uri="{FF2B5EF4-FFF2-40B4-BE49-F238E27FC236}">
                <a16:creationId xmlns:a16="http://schemas.microsoft.com/office/drawing/2014/main" id="{7A93D0D4-AD38-47BB-8971-2B077D7864F9}"/>
              </a:ext>
            </a:extLst>
          </p:cNvPr>
          <p:cNvSpPr>
            <a:spLocks noGrp="1" noRot="1" noChangeAspect="1" noChangeArrowheads="1" noTextEdit="1"/>
          </p:cNvSpPr>
          <p:nvPr>
            <p:ph type="sldImg"/>
          </p:nvPr>
        </p:nvSpPr>
        <p:spPr>
          <a:ln/>
        </p:spPr>
      </p:sp>
      <p:sp>
        <p:nvSpPr>
          <p:cNvPr id="78850" name="備忘稿版面配置區 2">
            <a:extLst>
              <a:ext uri="{FF2B5EF4-FFF2-40B4-BE49-F238E27FC236}">
                <a16:creationId xmlns:a16="http://schemas.microsoft.com/office/drawing/2014/main" id="{CB474C33-3089-46AF-9FE0-FDE6ED2B4C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TW">
                <a:latin typeface="Cambria Math" panose="02040503050406030204" pitchFamily="18" charset="0"/>
              </a:rPr>
              <a:t>𝐾=2</a:t>
            </a:r>
            <a:endParaRPr lang="zh-TW" altLang="en-US"/>
          </a:p>
          <a:p>
            <a:endParaRPr lang="zh-TW" altLang="en-US"/>
          </a:p>
        </p:txBody>
      </p:sp>
      <p:sp>
        <p:nvSpPr>
          <p:cNvPr id="78851" name="投影片編號版面配置區 3">
            <a:extLst>
              <a:ext uri="{FF2B5EF4-FFF2-40B4-BE49-F238E27FC236}">
                <a16:creationId xmlns:a16="http://schemas.microsoft.com/office/drawing/2014/main" id="{B2FB27AA-3F17-4606-AA97-4B6B96C8AB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C552031F-84DE-4634-AB2A-EA7005495894}" type="slidenum">
              <a:rPr lang="zh-TW" altLang="en-US" sz="1200" smtClean="0">
                <a:solidFill>
                  <a:schemeClr val="tx1"/>
                </a:solidFill>
              </a:rPr>
              <a:pPr/>
              <a:t>46</a:t>
            </a:fld>
            <a:endParaRPr lang="zh-TW" altLang="en-US" sz="1200">
              <a:solidFill>
                <a:schemeClr val="tx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投影片影像版面配置區 1">
            <a:extLst>
              <a:ext uri="{FF2B5EF4-FFF2-40B4-BE49-F238E27FC236}">
                <a16:creationId xmlns:a16="http://schemas.microsoft.com/office/drawing/2014/main" id="{353C117A-19AF-4D1E-B3C3-E28D85756F25}"/>
              </a:ext>
            </a:extLst>
          </p:cNvPr>
          <p:cNvSpPr>
            <a:spLocks noGrp="1" noRot="1" noChangeAspect="1" noChangeArrowheads="1" noTextEdit="1"/>
          </p:cNvSpPr>
          <p:nvPr>
            <p:ph type="sldImg"/>
          </p:nvPr>
        </p:nvSpPr>
        <p:spPr>
          <a:ln/>
        </p:spPr>
      </p:sp>
      <p:sp>
        <p:nvSpPr>
          <p:cNvPr id="80898" name="備忘稿版面配置區 2">
            <a:extLst>
              <a:ext uri="{FF2B5EF4-FFF2-40B4-BE49-F238E27FC236}">
                <a16:creationId xmlns:a16="http://schemas.microsoft.com/office/drawing/2014/main" id="{A372918B-F5A8-484B-9984-3294D01450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TW">
                <a:latin typeface="Cambria Math" panose="02040503050406030204" pitchFamily="18" charset="0"/>
              </a:rPr>
              <a:t>𝐾=2</a:t>
            </a:r>
            <a:endParaRPr lang="zh-TW" altLang="en-US"/>
          </a:p>
          <a:p>
            <a:endParaRPr lang="zh-TW" altLang="en-US"/>
          </a:p>
        </p:txBody>
      </p:sp>
      <p:sp>
        <p:nvSpPr>
          <p:cNvPr id="80899" name="投影片編號版面配置區 3">
            <a:extLst>
              <a:ext uri="{FF2B5EF4-FFF2-40B4-BE49-F238E27FC236}">
                <a16:creationId xmlns:a16="http://schemas.microsoft.com/office/drawing/2014/main" id="{B2A68F33-31F0-434B-9B99-CB14BF522B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1A5FBBC1-3858-45D0-A030-DF6F49B483B0}" type="slidenum">
              <a:rPr lang="zh-TW" altLang="en-US" sz="1200" smtClean="0">
                <a:solidFill>
                  <a:schemeClr val="tx1"/>
                </a:solidFill>
              </a:rPr>
              <a:pPr/>
              <a:t>47</a:t>
            </a:fld>
            <a:endParaRPr lang="zh-TW" altLang="en-US" sz="1200">
              <a:solidFill>
                <a:schemeClr val="tx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投影片影像版面配置區 1">
            <a:extLst>
              <a:ext uri="{FF2B5EF4-FFF2-40B4-BE49-F238E27FC236}">
                <a16:creationId xmlns:a16="http://schemas.microsoft.com/office/drawing/2014/main" id="{FEE65484-AA5E-41D2-B26F-907ECE8CCEE9}"/>
              </a:ext>
            </a:extLst>
          </p:cNvPr>
          <p:cNvSpPr>
            <a:spLocks noGrp="1" noRot="1" noChangeAspect="1" noChangeArrowheads="1" noTextEdit="1"/>
          </p:cNvSpPr>
          <p:nvPr>
            <p:ph type="sldImg"/>
          </p:nvPr>
        </p:nvSpPr>
        <p:spPr>
          <a:ln/>
        </p:spPr>
      </p:sp>
      <p:sp>
        <p:nvSpPr>
          <p:cNvPr id="82946" name="備忘稿版面配置區 2">
            <a:extLst>
              <a:ext uri="{FF2B5EF4-FFF2-40B4-BE49-F238E27FC236}">
                <a16:creationId xmlns:a16="http://schemas.microsoft.com/office/drawing/2014/main" id="{E200E0F4-8FDA-489F-BA2F-EDF94403C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TW">
                <a:latin typeface="Cambria Math" panose="02040503050406030204" pitchFamily="18" charset="0"/>
              </a:rPr>
              <a:t>𝐾=2</a:t>
            </a:r>
            <a:endParaRPr lang="zh-TW" altLang="en-US"/>
          </a:p>
          <a:p>
            <a:endParaRPr lang="zh-TW" altLang="en-US"/>
          </a:p>
        </p:txBody>
      </p:sp>
      <p:sp>
        <p:nvSpPr>
          <p:cNvPr id="82947" name="投影片編號版面配置區 3">
            <a:extLst>
              <a:ext uri="{FF2B5EF4-FFF2-40B4-BE49-F238E27FC236}">
                <a16:creationId xmlns:a16="http://schemas.microsoft.com/office/drawing/2014/main" id="{BF87FD68-F64C-4C27-925D-9BCD96338C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50D30F3A-EA6D-4A65-BD5B-1ADF6C3278C7}" type="slidenum">
              <a:rPr lang="zh-TW" altLang="en-US" sz="1200" smtClean="0">
                <a:solidFill>
                  <a:schemeClr val="tx1"/>
                </a:solidFill>
              </a:rPr>
              <a:pPr/>
              <a:t>48</a:t>
            </a:fld>
            <a:endParaRPr lang="zh-TW" altLang="en-US" sz="1200">
              <a:solidFill>
                <a:schemeClr val="tx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投影片影像版面配置區 1">
            <a:extLst>
              <a:ext uri="{FF2B5EF4-FFF2-40B4-BE49-F238E27FC236}">
                <a16:creationId xmlns:a16="http://schemas.microsoft.com/office/drawing/2014/main" id="{2679A6CF-3989-4C20-88C3-4BA3E9214856}"/>
              </a:ext>
            </a:extLst>
          </p:cNvPr>
          <p:cNvSpPr>
            <a:spLocks noGrp="1" noRot="1" noChangeAspect="1" noChangeArrowheads="1" noTextEdit="1"/>
          </p:cNvSpPr>
          <p:nvPr>
            <p:ph type="sldImg"/>
          </p:nvPr>
        </p:nvSpPr>
        <p:spPr>
          <a:ln/>
        </p:spPr>
      </p:sp>
      <p:sp>
        <p:nvSpPr>
          <p:cNvPr id="84994" name="備忘稿版面配置區 2">
            <a:extLst>
              <a:ext uri="{FF2B5EF4-FFF2-40B4-BE49-F238E27FC236}">
                <a16:creationId xmlns:a16="http://schemas.microsoft.com/office/drawing/2014/main" id="{90DA7B1B-C4EE-4B30-BE2D-06B449E5E5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TW">
                <a:latin typeface="Cambria Math" panose="02040503050406030204" pitchFamily="18" charset="0"/>
              </a:rPr>
              <a:t>𝐾=2</a:t>
            </a:r>
            <a:endParaRPr lang="zh-TW" altLang="en-US"/>
          </a:p>
          <a:p>
            <a:endParaRPr lang="zh-TW" altLang="en-US"/>
          </a:p>
        </p:txBody>
      </p:sp>
      <p:sp>
        <p:nvSpPr>
          <p:cNvPr id="84995" name="投影片編號版面配置區 3">
            <a:extLst>
              <a:ext uri="{FF2B5EF4-FFF2-40B4-BE49-F238E27FC236}">
                <a16:creationId xmlns:a16="http://schemas.microsoft.com/office/drawing/2014/main" id="{6B4B8F3F-3602-480E-8DF3-171EE5ED85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05D01F07-9431-4577-9032-55E0E531A6B8}" type="slidenum">
              <a:rPr lang="zh-TW" altLang="en-US" sz="1200" smtClean="0">
                <a:solidFill>
                  <a:schemeClr val="tx1"/>
                </a:solidFill>
              </a:rPr>
              <a:pPr/>
              <a:t>49</a:t>
            </a:fld>
            <a:endParaRPr lang="zh-TW" altLang="en-US" sz="1200">
              <a:solidFill>
                <a:schemeClr val="tx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投影片影像版面配置區 1">
            <a:extLst>
              <a:ext uri="{FF2B5EF4-FFF2-40B4-BE49-F238E27FC236}">
                <a16:creationId xmlns:a16="http://schemas.microsoft.com/office/drawing/2014/main" id="{90988F6E-31A4-41C6-B3DA-DA4488DF5EE3}"/>
              </a:ext>
            </a:extLst>
          </p:cNvPr>
          <p:cNvSpPr>
            <a:spLocks noGrp="1" noRot="1" noChangeAspect="1" noChangeArrowheads="1" noTextEdit="1"/>
          </p:cNvSpPr>
          <p:nvPr>
            <p:ph type="sldImg"/>
          </p:nvPr>
        </p:nvSpPr>
        <p:spPr>
          <a:ln/>
        </p:spPr>
      </p:sp>
      <p:sp>
        <p:nvSpPr>
          <p:cNvPr id="87042" name="備忘稿版面配置區 2">
            <a:extLst>
              <a:ext uri="{FF2B5EF4-FFF2-40B4-BE49-F238E27FC236}">
                <a16:creationId xmlns:a16="http://schemas.microsoft.com/office/drawing/2014/main" id="{400AD89E-5F1E-44F2-9A0C-ACB5907197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[ 0.45190665 0.18225358 0.12979086 0.12011089 0.07142337 0.04451466]</a:t>
            </a:r>
            <a:endParaRPr lang="zh-TW" altLang="en-US"/>
          </a:p>
        </p:txBody>
      </p:sp>
      <p:sp>
        <p:nvSpPr>
          <p:cNvPr id="87043" name="投影片編號版面配置區 3">
            <a:extLst>
              <a:ext uri="{FF2B5EF4-FFF2-40B4-BE49-F238E27FC236}">
                <a16:creationId xmlns:a16="http://schemas.microsoft.com/office/drawing/2014/main" id="{7BB80F05-16F4-4FED-BE0B-6D3503BDEA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925F21A2-7079-4B79-AB3F-F601AC312258}" type="slidenum">
              <a:rPr lang="zh-TW" altLang="en-US" sz="1200" smtClean="0">
                <a:solidFill>
                  <a:schemeClr val="tx1"/>
                </a:solidFill>
              </a:rPr>
              <a:pPr/>
              <a:t>50</a:t>
            </a:fld>
            <a:endParaRPr lang="zh-TW" altLang="en-US" sz="1200">
              <a:solidFill>
                <a:schemeClr val="tx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投影片影像版面配置區 1">
            <a:extLst>
              <a:ext uri="{FF2B5EF4-FFF2-40B4-BE49-F238E27FC236}">
                <a16:creationId xmlns:a16="http://schemas.microsoft.com/office/drawing/2014/main" id="{1B2FC20C-2269-4AEB-9E83-CC664FC23AE2}"/>
              </a:ext>
            </a:extLst>
          </p:cNvPr>
          <p:cNvSpPr>
            <a:spLocks noGrp="1" noRot="1" noChangeAspect="1" noChangeArrowheads="1" noTextEdit="1"/>
          </p:cNvSpPr>
          <p:nvPr>
            <p:ph type="sldImg"/>
          </p:nvPr>
        </p:nvSpPr>
        <p:spPr>
          <a:ln/>
        </p:spPr>
      </p:sp>
      <p:sp>
        <p:nvSpPr>
          <p:cNvPr id="3" name="備忘稿版面配置區 2">
            <a:extLst>
              <a:ext uri="{FF2B5EF4-FFF2-40B4-BE49-F238E27FC236}">
                <a16:creationId xmlns:a16="http://schemas.microsoft.com/office/drawing/2014/main" id="{BE054391-D4B6-4195-8D9B-7740349D3072}"/>
              </a:ext>
            </a:extLst>
          </p:cNvPr>
          <p:cNvSpPr>
            <a:spLocks noGrp="1"/>
          </p:cNvSpPr>
          <p:nvPr>
            <p:ph type="body" idx="1"/>
          </p:nvPr>
        </p:nvSpPr>
        <p:spPr/>
        <p:txBody>
          <a:bodyPr/>
          <a:lstStyle/>
          <a:p>
            <a:pPr eaLnBrk="1" fontAlgn="auto" hangingPunct="1">
              <a:spcBef>
                <a:spcPts val="0"/>
              </a:spcBef>
              <a:spcAft>
                <a:spcPts val="0"/>
              </a:spcAft>
              <a:defRPr/>
            </a:pPr>
            <a:r>
              <a:rPr lang="en-US" altLang="zh-TW" dirty="0">
                <a:latin typeface="+mn-lt"/>
                <a:ea typeface="+mn-ea"/>
              </a:rPr>
              <a:t>Example of an original image of ORL face database</a:t>
            </a:r>
          </a:p>
        </p:txBody>
      </p:sp>
      <p:sp>
        <p:nvSpPr>
          <p:cNvPr id="90115" name="投影片編號版面配置區 3">
            <a:extLst>
              <a:ext uri="{FF2B5EF4-FFF2-40B4-BE49-F238E27FC236}">
                <a16:creationId xmlns:a16="http://schemas.microsoft.com/office/drawing/2014/main" id="{D1BD31E4-997B-430E-A25F-7754D8E391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C738A836-A230-4973-A23C-5DAF73C3DC0A}" type="slidenum">
              <a:rPr lang="zh-TW" altLang="en-US" sz="1200" smtClean="0">
                <a:solidFill>
                  <a:schemeClr val="tx1"/>
                </a:solidFill>
              </a:rPr>
              <a:pPr/>
              <a:t>52</a:t>
            </a:fld>
            <a:endParaRPr lang="zh-TW" altLang="en-US" sz="1200">
              <a:solidFill>
                <a:schemeClr val="tx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投影片影像版面配置區 1">
            <a:extLst>
              <a:ext uri="{FF2B5EF4-FFF2-40B4-BE49-F238E27FC236}">
                <a16:creationId xmlns:a16="http://schemas.microsoft.com/office/drawing/2014/main" id="{9B2994CC-AB44-4065-A3C5-22B7E641F789}"/>
              </a:ext>
            </a:extLst>
          </p:cNvPr>
          <p:cNvSpPr>
            <a:spLocks noGrp="1" noRot="1" noChangeAspect="1" noChangeArrowheads="1" noTextEdit="1"/>
          </p:cNvSpPr>
          <p:nvPr>
            <p:ph type="sldImg"/>
          </p:nvPr>
        </p:nvSpPr>
        <p:spPr>
          <a:ln/>
        </p:spPr>
      </p:sp>
      <p:sp>
        <p:nvSpPr>
          <p:cNvPr id="97282" name="備忘稿版面配置區 2">
            <a:extLst>
              <a:ext uri="{FF2B5EF4-FFF2-40B4-BE49-F238E27FC236}">
                <a16:creationId xmlns:a16="http://schemas.microsoft.com/office/drawing/2014/main" id="{94EF3677-E1BE-41E7-8B5C-40A6A0640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So many good explaination !!!!!!!!!!!!!!!!!</a:t>
            </a:r>
          </a:p>
          <a:p>
            <a:endParaRPr lang="en-US" altLang="zh-TW"/>
          </a:p>
          <a:p>
            <a:endParaRPr lang="en-US" altLang="zh-TW"/>
          </a:p>
          <a:p>
            <a:r>
              <a:rPr lang="en-US" altLang="zh-TW"/>
              <a:t>http://stats.stackexchange.com/questions/2691/making-sense-of-principal-component-analysis-eigenvectors-eigenvalues</a:t>
            </a:r>
            <a:endParaRPr lang="zh-TW" altLang="en-US"/>
          </a:p>
        </p:txBody>
      </p:sp>
      <p:sp>
        <p:nvSpPr>
          <p:cNvPr id="97283" name="投影片編號版面配置區 3">
            <a:extLst>
              <a:ext uri="{FF2B5EF4-FFF2-40B4-BE49-F238E27FC236}">
                <a16:creationId xmlns:a16="http://schemas.microsoft.com/office/drawing/2014/main" id="{E000E8D8-C36D-48B0-9D02-4368BAA908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78BDA38D-3A4B-43B9-AC12-60C62E2271DF}" type="slidenum">
              <a:rPr lang="zh-TW" altLang="en-US" sz="1200" smtClean="0">
                <a:solidFill>
                  <a:schemeClr val="tx1"/>
                </a:solidFill>
              </a:rPr>
              <a:pPr/>
              <a:t>58</a:t>
            </a:fld>
            <a:endParaRPr lang="zh-TW" altLang="en-US" sz="1200">
              <a:solidFill>
                <a:schemeClr val="tx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a:extLst>
              <a:ext uri="{FF2B5EF4-FFF2-40B4-BE49-F238E27FC236}">
                <a16:creationId xmlns:a16="http://schemas.microsoft.com/office/drawing/2014/main" id="{37E78DE8-FDCA-4F60-B536-6847B92E609F}"/>
              </a:ext>
            </a:extLst>
          </p:cNvPr>
          <p:cNvSpPr>
            <a:spLocks noGrp="1" noRot="1" noChangeAspect="1" noChangeArrowheads="1" noTextEdit="1"/>
          </p:cNvSpPr>
          <p:nvPr>
            <p:ph type="sldImg"/>
          </p:nvPr>
        </p:nvSpPr>
        <p:spPr>
          <a:ln/>
        </p:spPr>
      </p:sp>
      <p:sp>
        <p:nvSpPr>
          <p:cNvPr id="105474" name="备注占位符 2">
            <a:extLst>
              <a:ext uri="{FF2B5EF4-FFF2-40B4-BE49-F238E27FC236}">
                <a16:creationId xmlns:a16="http://schemas.microsoft.com/office/drawing/2014/main" id="{E9F05FB4-D9E2-4E87-97A3-12E4C454C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05475" name="灯片编号占位符 3">
            <a:extLst>
              <a:ext uri="{FF2B5EF4-FFF2-40B4-BE49-F238E27FC236}">
                <a16:creationId xmlns:a16="http://schemas.microsoft.com/office/drawing/2014/main" id="{B527F7A1-630B-49C1-AF67-7648B6C5F5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A0829699-69C6-449C-BE38-AE0512DB70A7}" type="slidenum">
              <a:rPr lang="en-US" altLang="zh-CN" sz="1200" smtClean="0">
                <a:solidFill>
                  <a:schemeClr val="tx1"/>
                </a:solidFill>
              </a:rPr>
              <a:pPr/>
              <a:t>65</a:t>
            </a:fld>
            <a:endParaRPr lang="en-US" altLang="zh-CN" sz="1200">
              <a:solidFill>
                <a:schemeClr val="tx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a:extLst>
              <a:ext uri="{FF2B5EF4-FFF2-40B4-BE49-F238E27FC236}">
                <a16:creationId xmlns:a16="http://schemas.microsoft.com/office/drawing/2014/main" id="{C6DD3F02-8727-40F8-A2B5-1FEDC38ABE7A}"/>
              </a:ext>
            </a:extLst>
          </p:cNvPr>
          <p:cNvSpPr>
            <a:spLocks noGrp="1" noRot="1" noChangeAspect="1" noChangeArrowheads="1" noTextEdit="1"/>
          </p:cNvSpPr>
          <p:nvPr>
            <p:ph type="sldImg"/>
          </p:nvPr>
        </p:nvSpPr>
        <p:spPr>
          <a:ln/>
        </p:spPr>
      </p:sp>
      <p:sp>
        <p:nvSpPr>
          <p:cNvPr id="110594" name="备注占位符 2">
            <a:extLst>
              <a:ext uri="{FF2B5EF4-FFF2-40B4-BE49-F238E27FC236}">
                <a16:creationId xmlns:a16="http://schemas.microsoft.com/office/drawing/2014/main" id="{0C190876-8D36-45CF-8E02-C7DCB3F6DA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10595" name="幻灯片编号占位符 3">
            <a:extLst>
              <a:ext uri="{FF2B5EF4-FFF2-40B4-BE49-F238E27FC236}">
                <a16:creationId xmlns:a16="http://schemas.microsoft.com/office/drawing/2014/main" id="{DF9B57BF-6A31-4F33-A042-449139CF3E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9F9884F9-5FA3-48E1-92CD-AEC8DFBAF077}" type="slidenum">
              <a:rPr lang="zh-TW" altLang="en-US" sz="1200" smtClean="0">
                <a:solidFill>
                  <a:schemeClr val="tx1"/>
                </a:solidFill>
              </a:rPr>
              <a:pPr/>
              <a:t>69</a:t>
            </a:fld>
            <a:endParaRPr lang="zh-TW" altLang="en-US" sz="1200">
              <a:solidFill>
                <a:schemeClr val="tx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a:extLst>
              <a:ext uri="{FF2B5EF4-FFF2-40B4-BE49-F238E27FC236}">
                <a16:creationId xmlns:a16="http://schemas.microsoft.com/office/drawing/2014/main" id="{A3D0EFD1-8657-44EA-8152-E769153FC1EB}"/>
              </a:ext>
            </a:extLst>
          </p:cNvPr>
          <p:cNvSpPr>
            <a:spLocks noGrp="1" noRot="1" noChangeAspect="1" noChangeArrowheads="1" noTextEdit="1"/>
          </p:cNvSpPr>
          <p:nvPr>
            <p:ph type="sldImg"/>
          </p:nvPr>
        </p:nvSpPr>
        <p:spPr>
          <a:ln/>
        </p:spPr>
      </p:sp>
      <p:sp>
        <p:nvSpPr>
          <p:cNvPr id="114690" name="备注占位符 2">
            <a:extLst>
              <a:ext uri="{FF2B5EF4-FFF2-40B4-BE49-F238E27FC236}">
                <a16:creationId xmlns:a16="http://schemas.microsoft.com/office/drawing/2014/main" id="{BA750F0B-17BD-40A2-B386-B3F40E0579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14691" name="灯片编号占位符 3">
            <a:extLst>
              <a:ext uri="{FF2B5EF4-FFF2-40B4-BE49-F238E27FC236}">
                <a16:creationId xmlns:a16="http://schemas.microsoft.com/office/drawing/2014/main" id="{46155815-221C-41D9-B974-81DFACFDC3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7F62C62-3772-4425-B882-ECE4678DDC1C}" type="slidenum">
              <a:rPr lang="en-US" altLang="zh-CN" sz="1200" smtClean="0">
                <a:solidFill>
                  <a:schemeClr val="tx1"/>
                </a:solidFill>
              </a:rPr>
              <a:pPr/>
              <a:t>72</a:t>
            </a:fld>
            <a:endParaRPr lang="en-US" altLang="zh-CN" sz="1200">
              <a:solidFill>
                <a:schemeClr val="tx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a:extLst>
              <a:ext uri="{FF2B5EF4-FFF2-40B4-BE49-F238E27FC236}">
                <a16:creationId xmlns:a16="http://schemas.microsoft.com/office/drawing/2014/main" id="{621BB2A1-4552-4076-8839-8BF69EE91E10}"/>
              </a:ext>
            </a:extLst>
          </p:cNvPr>
          <p:cNvSpPr>
            <a:spLocks noGrp="1" noRot="1" noChangeAspect="1" noChangeArrowheads="1" noTextEdit="1"/>
          </p:cNvSpPr>
          <p:nvPr>
            <p:ph type="sldImg"/>
          </p:nvPr>
        </p:nvSpPr>
        <p:spPr>
          <a:ln/>
        </p:spPr>
      </p:sp>
      <p:sp>
        <p:nvSpPr>
          <p:cNvPr id="116738" name="备注占位符 2">
            <a:extLst>
              <a:ext uri="{FF2B5EF4-FFF2-40B4-BE49-F238E27FC236}">
                <a16:creationId xmlns:a16="http://schemas.microsoft.com/office/drawing/2014/main" id="{B7E5F4EB-1C6F-4E5E-ADD1-FA51220214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16739" name="灯片编号占位符 3">
            <a:extLst>
              <a:ext uri="{FF2B5EF4-FFF2-40B4-BE49-F238E27FC236}">
                <a16:creationId xmlns:a16="http://schemas.microsoft.com/office/drawing/2014/main" id="{E81FF4D0-E925-4670-82A2-31DF4FCC25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DA65A94-FB7F-4925-8297-498C0E5DAE9E}" type="slidenum">
              <a:rPr lang="en-US" altLang="zh-CN" sz="1200" smtClean="0">
                <a:solidFill>
                  <a:schemeClr val="tx1"/>
                </a:solidFill>
              </a:rPr>
              <a:pPr/>
              <a:t>73</a:t>
            </a:fld>
            <a:endParaRPr lang="en-US" altLang="zh-CN" sz="1200">
              <a:solidFill>
                <a:schemeClr val="tx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a:extLst>
              <a:ext uri="{FF2B5EF4-FFF2-40B4-BE49-F238E27FC236}">
                <a16:creationId xmlns:a16="http://schemas.microsoft.com/office/drawing/2014/main" id="{14B24E9A-4CF3-48B7-88B2-2C512B41E98C}"/>
              </a:ext>
            </a:extLst>
          </p:cNvPr>
          <p:cNvSpPr>
            <a:spLocks noGrp="1" noRot="1" noChangeAspect="1" noChangeArrowheads="1" noTextEdit="1"/>
          </p:cNvSpPr>
          <p:nvPr>
            <p:ph type="sldImg"/>
          </p:nvPr>
        </p:nvSpPr>
        <p:spPr>
          <a:ln/>
        </p:spPr>
      </p:sp>
      <p:sp>
        <p:nvSpPr>
          <p:cNvPr id="118786" name="备注占位符 2">
            <a:extLst>
              <a:ext uri="{FF2B5EF4-FFF2-40B4-BE49-F238E27FC236}">
                <a16:creationId xmlns:a16="http://schemas.microsoft.com/office/drawing/2014/main" id="{B7828BB2-7967-43E0-A6AA-BFD7E31878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18787" name="灯片编号占位符 3">
            <a:extLst>
              <a:ext uri="{FF2B5EF4-FFF2-40B4-BE49-F238E27FC236}">
                <a16:creationId xmlns:a16="http://schemas.microsoft.com/office/drawing/2014/main" id="{51688186-9E11-4EDA-B2FA-164A501FE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A0236BA7-1D45-46EA-974F-76B28187C3F7}" type="slidenum">
              <a:rPr lang="en-US" altLang="zh-CN" sz="1200" smtClean="0">
                <a:solidFill>
                  <a:schemeClr val="tx1"/>
                </a:solidFill>
              </a:rPr>
              <a:pPr/>
              <a:t>74</a:t>
            </a:fld>
            <a:endParaRPr lang="en-US" altLang="zh-CN" sz="1200">
              <a:solidFill>
                <a:schemeClr val="tx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1">
            <a:extLst>
              <a:ext uri="{FF2B5EF4-FFF2-40B4-BE49-F238E27FC236}">
                <a16:creationId xmlns:a16="http://schemas.microsoft.com/office/drawing/2014/main" id="{689A23DF-A101-4BF4-9AED-50EF213112F8}"/>
              </a:ext>
            </a:extLst>
          </p:cNvPr>
          <p:cNvSpPr>
            <a:spLocks noGrp="1" noRot="1" noChangeAspect="1" noChangeArrowheads="1" noTextEdit="1"/>
          </p:cNvSpPr>
          <p:nvPr>
            <p:ph type="sldImg"/>
          </p:nvPr>
        </p:nvSpPr>
        <p:spPr>
          <a:ln/>
        </p:spPr>
      </p:sp>
      <p:sp>
        <p:nvSpPr>
          <p:cNvPr id="124930" name="备注占位符 2">
            <a:extLst>
              <a:ext uri="{FF2B5EF4-FFF2-40B4-BE49-F238E27FC236}">
                <a16:creationId xmlns:a16="http://schemas.microsoft.com/office/drawing/2014/main" id="{A0E5795A-304D-4448-9A93-275D46A9FE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24931" name="灯片编号占位符 3">
            <a:extLst>
              <a:ext uri="{FF2B5EF4-FFF2-40B4-BE49-F238E27FC236}">
                <a16:creationId xmlns:a16="http://schemas.microsoft.com/office/drawing/2014/main" id="{15A7EEB5-408A-4B08-952A-9BAA6FE098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F03F7641-A58B-4F71-98E8-34C319348251}" type="slidenum">
              <a:rPr lang="en-US" altLang="zh-CN" sz="1200" smtClean="0">
                <a:solidFill>
                  <a:schemeClr val="tx1"/>
                </a:solidFill>
              </a:rPr>
              <a:pPr/>
              <a:t>79</a:t>
            </a:fld>
            <a:endParaRPr lang="en-US" altLang="zh-CN" sz="1200">
              <a:solidFill>
                <a:schemeClr val="tx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幻灯片图像占位符 1">
            <a:extLst>
              <a:ext uri="{FF2B5EF4-FFF2-40B4-BE49-F238E27FC236}">
                <a16:creationId xmlns:a16="http://schemas.microsoft.com/office/drawing/2014/main" id="{3D35EBD9-A7B8-45BB-B868-16382666695C}"/>
              </a:ext>
            </a:extLst>
          </p:cNvPr>
          <p:cNvSpPr>
            <a:spLocks noGrp="1" noRot="1" noChangeAspect="1" noChangeArrowheads="1" noTextEdit="1"/>
          </p:cNvSpPr>
          <p:nvPr>
            <p:ph type="sldImg"/>
          </p:nvPr>
        </p:nvSpPr>
        <p:spPr>
          <a:ln/>
        </p:spPr>
      </p:sp>
      <p:sp>
        <p:nvSpPr>
          <p:cNvPr id="133122" name="备注占位符 2">
            <a:extLst>
              <a:ext uri="{FF2B5EF4-FFF2-40B4-BE49-F238E27FC236}">
                <a16:creationId xmlns:a16="http://schemas.microsoft.com/office/drawing/2014/main" id="{9B40532F-E6EC-4F0F-AA16-4156FA6EFB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33123" name="灯片编号占位符 3">
            <a:extLst>
              <a:ext uri="{FF2B5EF4-FFF2-40B4-BE49-F238E27FC236}">
                <a16:creationId xmlns:a16="http://schemas.microsoft.com/office/drawing/2014/main" id="{41676B49-7444-49D6-8A49-2F4A1AE2B1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1C1FD777-24A3-46DE-B41F-94DD37CB812E}" type="slidenum">
              <a:rPr lang="en-US" altLang="zh-CN" sz="1200" smtClean="0">
                <a:solidFill>
                  <a:schemeClr val="tx1"/>
                </a:solidFill>
              </a:rPr>
              <a:pPr/>
              <a:t>86</a:t>
            </a:fld>
            <a:endParaRPr lang="en-US" altLang="zh-CN" sz="1200">
              <a:solidFill>
                <a:schemeClr val="tx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幻灯片图像占位符 1">
            <a:extLst>
              <a:ext uri="{FF2B5EF4-FFF2-40B4-BE49-F238E27FC236}">
                <a16:creationId xmlns:a16="http://schemas.microsoft.com/office/drawing/2014/main" id="{55749A7D-B4CA-4713-AACA-71C106667011}"/>
              </a:ext>
            </a:extLst>
          </p:cNvPr>
          <p:cNvSpPr>
            <a:spLocks noGrp="1" noRot="1" noChangeAspect="1" noChangeArrowheads="1" noTextEdit="1"/>
          </p:cNvSpPr>
          <p:nvPr>
            <p:ph type="sldImg"/>
          </p:nvPr>
        </p:nvSpPr>
        <p:spPr>
          <a:ln/>
        </p:spPr>
      </p:sp>
      <p:sp>
        <p:nvSpPr>
          <p:cNvPr id="135170" name="备注占位符 2">
            <a:extLst>
              <a:ext uri="{FF2B5EF4-FFF2-40B4-BE49-F238E27FC236}">
                <a16:creationId xmlns:a16="http://schemas.microsoft.com/office/drawing/2014/main" id="{894B9CC7-B4A1-46D3-ADC7-5D82C18A2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35171" name="灯片编号占位符 3">
            <a:extLst>
              <a:ext uri="{FF2B5EF4-FFF2-40B4-BE49-F238E27FC236}">
                <a16:creationId xmlns:a16="http://schemas.microsoft.com/office/drawing/2014/main" id="{0857352C-3B47-4E38-81B5-D1F3CF096F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CA20FAEF-1E29-47D1-89C4-E6583D9DC7F0}" type="slidenum">
              <a:rPr lang="en-US" altLang="zh-CN" sz="1200" smtClean="0">
                <a:solidFill>
                  <a:schemeClr val="tx1"/>
                </a:solidFill>
              </a:rPr>
              <a:pPr/>
              <a:t>87</a:t>
            </a:fld>
            <a:endParaRPr lang="en-US" altLang="zh-CN" sz="1200">
              <a:solidFill>
                <a:schemeClr val="tx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幻灯片图像占位符 1">
            <a:extLst>
              <a:ext uri="{FF2B5EF4-FFF2-40B4-BE49-F238E27FC236}">
                <a16:creationId xmlns:a16="http://schemas.microsoft.com/office/drawing/2014/main" id="{B9BC1051-F473-4EAC-9BE9-E745DE2BB8F0}"/>
              </a:ext>
            </a:extLst>
          </p:cNvPr>
          <p:cNvSpPr>
            <a:spLocks noGrp="1" noRot="1" noChangeAspect="1" noChangeArrowheads="1" noTextEdit="1"/>
          </p:cNvSpPr>
          <p:nvPr>
            <p:ph type="sldImg"/>
          </p:nvPr>
        </p:nvSpPr>
        <p:spPr>
          <a:ln/>
        </p:spPr>
      </p:sp>
      <p:sp>
        <p:nvSpPr>
          <p:cNvPr id="137218" name="备注占位符 2">
            <a:extLst>
              <a:ext uri="{FF2B5EF4-FFF2-40B4-BE49-F238E27FC236}">
                <a16:creationId xmlns:a16="http://schemas.microsoft.com/office/drawing/2014/main" id="{52E2AB88-3278-42CA-A19B-B2AD8A0D77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37219" name="灯片编号占位符 3">
            <a:extLst>
              <a:ext uri="{FF2B5EF4-FFF2-40B4-BE49-F238E27FC236}">
                <a16:creationId xmlns:a16="http://schemas.microsoft.com/office/drawing/2014/main" id="{E74D08E3-C2B0-4F1F-A7E1-5B3CF6A39D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9463DB8E-740C-496D-B170-F47B4EBE3481}" type="slidenum">
              <a:rPr lang="en-US" altLang="zh-CN" sz="1200" smtClean="0">
                <a:solidFill>
                  <a:schemeClr val="tx1"/>
                </a:solidFill>
              </a:rPr>
              <a:pPr/>
              <a:t>88</a:t>
            </a:fld>
            <a:endParaRPr lang="en-US" altLang="zh-CN" sz="1200">
              <a:solidFill>
                <a:schemeClr val="tx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幻灯片图像占位符 1">
            <a:extLst>
              <a:ext uri="{FF2B5EF4-FFF2-40B4-BE49-F238E27FC236}">
                <a16:creationId xmlns:a16="http://schemas.microsoft.com/office/drawing/2014/main" id="{52350555-51E7-4E38-A080-CD9729E635AE}"/>
              </a:ext>
            </a:extLst>
          </p:cNvPr>
          <p:cNvSpPr>
            <a:spLocks noGrp="1" noRot="1" noChangeAspect="1" noChangeArrowheads="1" noTextEdit="1"/>
          </p:cNvSpPr>
          <p:nvPr>
            <p:ph type="sldImg"/>
          </p:nvPr>
        </p:nvSpPr>
        <p:spPr>
          <a:ln/>
        </p:spPr>
      </p:sp>
      <p:sp>
        <p:nvSpPr>
          <p:cNvPr id="139266" name="备注占位符 2">
            <a:extLst>
              <a:ext uri="{FF2B5EF4-FFF2-40B4-BE49-F238E27FC236}">
                <a16:creationId xmlns:a16="http://schemas.microsoft.com/office/drawing/2014/main" id="{4D72EAAB-D049-43B9-AF86-0FCD805BEC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39267" name="灯片编号占位符 3">
            <a:extLst>
              <a:ext uri="{FF2B5EF4-FFF2-40B4-BE49-F238E27FC236}">
                <a16:creationId xmlns:a16="http://schemas.microsoft.com/office/drawing/2014/main" id="{4C78D2AD-BFE3-437E-A112-47B74CF0A1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87676E7-AF73-45A6-AED6-431B7FFA5ABA}" type="slidenum">
              <a:rPr lang="en-US" altLang="zh-CN" sz="1200" smtClean="0">
                <a:solidFill>
                  <a:schemeClr val="tx1"/>
                </a:solidFill>
              </a:rPr>
              <a:pPr/>
              <a:t>89</a:t>
            </a:fld>
            <a:endParaRPr lang="en-US" altLang="zh-CN" sz="1200">
              <a:solidFill>
                <a:schemeClr val="tx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a:extLst>
              <a:ext uri="{FF2B5EF4-FFF2-40B4-BE49-F238E27FC236}">
                <a16:creationId xmlns:a16="http://schemas.microsoft.com/office/drawing/2014/main" id="{5BC3DE01-3752-44FA-AFF2-9034FF8C690F}"/>
              </a:ext>
            </a:extLst>
          </p:cNvPr>
          <p:cNvSpPr>
            <a:spLocks noGrp="1" noRot="1" noChangeAspect="1" noChangeArrowheads="1" noTextEdit="1"/>
          </p:cNvSpPr>
          <p:nvPr>
            <p:ph type="sldImg"/>
          </p:nvPr>
        </p:nvSpPr>
        <p:spPr>
          <a:ln/>
        </p:spPr>
      </p:sp>
      <p:sp>
        <p:nvSpPr>
          <p:cNvPr id="145410" name="备注占位符 2">
            <a:extLst>
              <a:ext uri="{FF2B5EF4-FFF2-40B4-BE49-F238E27FC236}">
                <a16:creationId xmlns:a16="http://schemas.microsoft.com/office/drawing/2014/main" id="{7952B357-3027-4B6A-8671-DE54519606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45411" name="幻灯片编号占位符 3">
            <a:extLst>
              <a:ext uri="{FF2B5EF4-FFF2-40B4-BE49-F238E27FC236}">
                <a16:creationId xmlns:a16="http://schemas.microsoft.com/office/drawing/2014/main" id="{B8A0FC80-D4F9-4E32-81D5-9E66D837CE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E9A23EF0-3A66-4389-8015-1B6C451CDF39}" type="slidenum">
              <a:rPr lang="en-US" altLang="zh-CN" sz="1200" smtClean="0">
                <a:solidFill>
                  <a:schemeClr val="tx1"/>
                </a:solidFill>
              </a:rPr>
              <a:pPr/>
              <a:t>94</a:t>
            </a:fld>
            <a:endParaRPr lang="en-US" altLang="zh-CN" sz="1200">
              <a:solidFill>
                <a:schemeClr val="tx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幻灯片图像占位符 1">
            <a:extLst>
              <a:ext uri="{FF2B5EF4-FFF2-40B4-BE49-F238E27FC236}">
                <a16:creationId xmlns:a16="http://schemas.microsoft.com/office/drawing/2014/main" id="{6CF7C7F3-1978-4F2A-89D2-5454EFDFC379}"/>
              </a:ext>
            </a:extLst>
          </p:cNvPr>
          <p:cNvSpPr>
            <a:spLocks noGrp="1" noRot="1" noChangeAspect="1" noChangeArrowheads="1" noTextEdit="1"/>
          </p:cNvSpPr>
          <p:nvPr>
            <p:ph type="sldImg"/>
          </p:nvPr>
        </p:nvSpPr>
        <p:spPr>
          <a:ln/>
        </p:spPr>
      </p:sp>
      <p:sp>
        <p:nvSpPr>
          <p:cNvPr id="150530" name="备注占位符 2">
            <a:extLst>
              <a:ext uri="{FF2B5EF4-FFF2-40B4-BE49-F238E27FC236}">
                <a16:creationId xmlns:a16="http://schemas.microsoft.com/office/drawing/2014/main" id="{9CEDDC99-DF6B-44C8-943A-3EA91C593F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50531" name="灯片编号占位符 3">
            <a:extLst>
              <a:ext uri="{FF2B5EF4-FFF2-40B4-BE49-F238E27FC236}">
                <a16:creationId xmlns:a16="http://schemas.microsoft.com/office/drawing/2014/main" id="{ACC02CA4-F9A1-4816-938A-2C41FD7DC9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EAD3B4C9-8898-44CD-B687-57ED6594A414}" type="slidenum">
              <a:rPr lang="en-US" altLang="zh-CN" sz="1200" smtClean="0">
                <a:solidFill>
                  <a:schemeClr val="tx1"/>
                </a:solidFill>
              </a:rPr>
              <a:pPr/>
              <a:t>98</a:t>
            </a:fld>
            <a:endParaRPr lang="en-US" altLang="zh-CN" sz="1200">
              <a:solidFill>
                <a:schemeClr val="tx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幻灯片图像占位符 1">
            <a:extLst>
              <a:ext uri="{FF2B5EF4-FFF2-40B4-BE49-F238E27FC236}">
                <a16:creationId xmlns:a16="http://schemas.microsoft.com/office/drawing/2014/main" id="{57DB7ACC-42C6-4EEC-91D3-6C8C4F08808C}"/>
              </a:ext>
            </a:extLst>
          </p:cNvPr>
          <p:cNvSpPr>
            <a:spLocks noGrp="1" noRot="1" noChangeAspect="1" noChangeArrowheads="1" noTextEdit="1"/>
          </p:cNvSpPr>
          <p:nvPr>
            <p:ph type="sldImg"/>
          </p:nvPr>
        </p:nvSpPr>
        <p:spPr>
          <a:ln/>
        </p:spPr>
      </p:sp>
      <p:sp>
        <p:nvSpPr>
          <p:cNvPr id="153602" name="备注占位符 2">
            <a:extLst>
              <a:ext uri="{FF2B5EF4-FFF2-40B4-BE49-F238E27FC236}">
                <a16:creationId xmlns:a16="http://schemas.microsoft.com/office/drawing/2014/main" id="{2605DF77-ED10-4ADD-8C94-1A51FF57A8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53603" name="幻灯片编号占位符 3">
            <a:extLst>
              <a:ext uri="{FF2B5EF4-FFF2-40B4-BE49-F238E27FC236}">
                <a16:creationId xmlns:a16="http://schemas.microsoft.com/office/drawing/2014/main" id="{E3374BF9-3660-4689-B6E7-2CDD4AC9C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0D971EFB-1411-4F15-BE3B-DF74237E407E}" type="slidenum">
              <a:rPr lang="zh-TW" altLang="en-US" sz="1200" smtClean="0">
                <a:solidFill>
                  <a:schemeClr val="tx1"/>
                </a:solidFill>
              </a:rPr>
              <a:pPr/>
              <a:t>100</a:t>
            </a:fld>
            <a:endParaRPr lang="zh-TW" altLang="en-US" sz="1200">
              <a:solidFill>
                <a:schemeClr val="tx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幻灯片图像占位符 1">
            <a:extLst>
              <a:ext uri="{FF2B5EF4-FFF2-40B4-BE49-F238E27FC236}">
                <a16:creationId xmlns:a16="http://schemas.microsoft.com/office/drawing/2014/main" id="{BC092191-7F9B-429E-8442-38C2EABA94B1}"/>
              </a:ext>
            </a:extLst>
          </p:cNvPr>
          <p:cNvSpPr>
            <a:spLocks noGrp="1" noRot="1" noChangeAspect="1" noChangeArrowheads="1" noTextEdit="1"/>
          </p:cNvSpPr>
          <p:nvPr>
            <p:ph type="sldImg"/>
          </p:nvPr>
        </p:nvSpPr>
        <p:spPr>
          <a:ln/>
        </p:spPr>
      </p:sp>
      <p:sp>
        <p:nvSpPr>
          <p:cNvPr id="162818" name="备注占位符 2">
            <a:extLst>
              <a:ext uri="{FF2B5EF4-FFF2-40B4-BE49-F238E27FC236}">
                <a16:creationId xmlns:a16="http://schemas.microsoft.com/office/drawing/2014/main" id="{CC3C03B3-AFAD-4551-8DA8-AE189D27F8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62819" name="灯片编号占位符 3">
            <a:extLst>
              <a:ext uri="{FF2B5EF4-FFF2-40B4-BE49-F238E27FC236}">
                <a16:creationId xmlns:a16="http://schemas.microsoft.com/office/drawing/2014/main" id="{1B6150EE-9D2A-4A5F-B8AA-A7B5BE1051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7C61C866-C234-429A-B19E-F26622C12D8A}" type="slidenum">
              <a:rPr lang="en-US" altLang="zh-CN" sz="1200" smtClean="0">
                <a:solidFill>
                  <a:schemeClr val="tx1"/>
                </a:solidFill>
              </a:rPr>
              <a:pPr/>
              <a:t>108</a:t>
            </a:fld>
            <a:endParaRPr lang="en-US" altLang="zh-CN" sz="1200">
              <a:solidFill>
                <a:schemeClr val="tx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a:extLst>
              <a:ext uri="{FF2B5EF4-FFF2-40B4-BE49-F238E27FC236}">
                <a16:creationId xmlns:a16="http://schemas.microsoft.com/office/drawing/2014/main" id="{7B84FA83-7423-42DA-8561-548A2454A9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C2C555D-0822-4975-A256-AF549BC588A4}" type="slidenum">
              <a:rPr lang="en-US" altLang="zh-CN" smtClean="0"/>
              <a:pPr>
                <a:spcBef>
                  <a:spcPct val="0"/>
                </a:spcBef>
              </a:pPr>
              <a:t>113</a:t>
            </a:fld>
            <a:endParaRPr lang="en-US" altLang="zh-CN"/>
          </a:p>
        </p:txBody>
      </p:sp>
      <p:sp>
        <p:nvSpPr>
          <p:cNvPr id="168962" name="Rectangle 2">
            <a:extLst>
              <a:ext uri="{FF2B5EF4-FFF2-40B4-BE49-F238E27FC236}">
                <a16:creationId xmlns:a16="http://schemas.microsoft.com/office/drawing/2014/main" id="{FC52BDFF-3F42-45C7-A2E5-8D4E2E36AE23}"/>
              </a:ext>
            </a:extLst>
          </p:cNvPr>
          <p:cNvSpPr>
            <a:spLocks noRot="1" noChangeArrowheads="1" noTextEdit="1"/>
          </p:cNvSpPr>
          <p:nvPr>
            <p:ph type="sldImg"/>
          </p:nvPr>
        </p:nvSpPr>
        <p:spPr>
          <a:ln/>
        </p:spPr>
      </p:sp>
      <p:sp>
        <p:nvSpPr>
          <p:cNvPr id="168963" name="Rectangle 3">
            <a:extLst>
              <a:ext uri="{FF2B5EF4-FFF2-40B4-BE49-F238E27FC236}">
                <a16:creationId xmlns:a16="http://schemas.microsoft.com/office/drawing/2014/main" id="{36C667F1-3381-4BF5-A67E-4D2A46FC2EE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a:extLst>
              <a:ext uri="{FF2B5EF4-FFF2-40B4-BE49-F238E27FC236}">
                <a16:creationId xmlns:a16="http://schemas.microsoft.com/office/drawing/2014/main" id="{C71A81AE-935C-402B-B290-CCE59155F0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E1EE5BA-D379-4A48-9049-D476E187BD0C}" type="slidenum">
              <a:rPr lang="en-US" altLang="zh-CN" smtClean="0"/>
              <a:pPr>
                <a:spcBef>
                  <a:spcPct val="0"/>
                </a:spcBef>
              </a:pPr>
              <a:t>122</a:t>
            </a:fld>
            <a:endParaRPr lang="en-US" altLang="zh-CN"/>
          </a:p>
        </p:txBody>
      </p:sp>
      <p:sp>
        <p:nvSpPr>
          <p:cNvPr id="179202" name="Rectangle 2">
            <a:extLst>
              <a:ext uri="{FF2B5EF4-FFF2-40B4-BE49-F238E27FC236}">
                <a16:creationId xmlns:a16="http://schemas.microsoft.com/office/drawing/2014/main" id="{BA6E5A56-23FD-46F4-ACB7-E438EB9C6433}"/>
              </a:ext>
            </a:extLst>
          </p:cNvPr>
          <p:cNvSpPr>
            <a:spLocks noRot="1" noChangeArrowheads="1" noTextEdit="1"/>
          </p:cNvSpPr>
          <p:nvPr>
            <p:ph type="sldImg"/>
          </p:nvPr>
        </p:nvSpPr>
        <p:spPr>
          <a:ln/>
        </p:spPr>
      </p:sp>
      <p:sp>
        <p:nvSpPr>
          <p:cNvPr id="179203" name="Rectangle 3">
            <a:extLst>
              <a:ext uri="{FF2B5EF4-FFF2-40B4-BE49-F238E27FC236}">
                <a16:creationId xmlns:a16="http://schemas.microsoft.com/office/drawing/2014/main" id="{E12B8B28-99A6-40C9-AFE7-380046B1B3D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幻灯片图像占位符 1">
            <a:extLst>
              <a:ext uri="{FF2B5EF4-FFF2-40B4-BE49-F238E27FC236}">
                <a16:creationId xmlns:a16="http://schemas.microsoft.com/office/drawing/2014/main" id="{21A457D5-8998-401B-8253-16A7AD2EA736}"/>
              </a:ext>
            </a:extLst>
          </p:cNvPr>
          <p:cNvSpPr>
            <a:spLocks noGrp="1" noRot="1" noChangeAspect="1" noChangeArrowheads="1" noTextEdit="1"/>
          </p:cNvSpPr>
          <p:nvPr>
            <p:ph type="sldImg"/>
          </p:nvPr>
        </p:nvSpPr>
        <p:spPr>
          <a:ln/>
        </p:spPr>
      </p:sp>
      <p:sp>
        <p:nvSpPr>
          <p:cNvPr id="182274" name="备注占位符 2">
            <a:extLst>
              <a:ext uri="{FF2B5EF4-FFF2-40B4-BE49-F238E27FC236}">
                <a16:creationId xmlns:a16="http://schemas.microsoft.com/office/drawing/2014/main" id="{C6F65D4B-5366-4B4F-B7CF-A7B9E004A0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82275" name="灯片编号占位符 3">
            <a:extLst>
              <a:ext uri="{FF2B5EF4-FFF2-40B4-BE49-F238E27FC236}">
                <a16:creationId xmlns:a16="http://schemas.microsoft.com/office/drawing/2014/main" id="{BE31BBE3-568A-4558-B459-BA4A93E03D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3DC5EA59-CBF1-4E31-9C8E-F88904CF7EDD}" type="slidenum">
              <a:rPr lang="en-US" altLang="zh-CN" sz="1200" smtClean="0">
                <a:solidFill>
                  <a:schemeClr val="tx1"/>
                </a:solidFill>
              </a:rPr>
              <a:pPr/>
              <a:t>124</a:t>
            </a:fld>
            <a:endParaRPr lang="en-US" altLang="zh-CN" sz="1200">
              <a:solidFill>
                <a:schemeClr val="tx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幻灯片图像占位符 1">
            <a:extLst>
              <a:ext uri="{FF2B5EF4-FFF2-40B4-BE49-F238E27FC236}">
                <a16:creationId xmlns:a16="http://schemas.microsoft.com/office/drawing/2014/main" id="{45D5EAE7-8A76-46F7-B331-13B2975B0AFE}"/>
              </a:ext>
            </a:extLst>
          </p:cNvPr>
          <p:cNvSpPr>
            <a:spLocks noGrp="1" noRot="1" noChangeAspect="1" noChangeArrowheads="1" noTextEdit="1"/>
          </p:cNvSpPr>
          <p:nvPr>
            <p:ph type="sldImg"/>
          </p:nvPr>
        </p:nvSpPr>
        <p:spPr>
          <a:ln/>
        </p:spPr>
      </p:sp>
      <p:sp>
        <p:nvSpPr>
          <p:cNvPr id="185346" name="备注占位符 2">
            <a:extLst>
              <a:ext uri="{FF2B5EF4-FFF2-40B4-BE49-F238E27FC236}">
                <a16:creationId xmlns:a16="http://schemas.microsoft.com/office/drawing/2014/main" id="{DD91ACB1-0FF6-4BE5-A39D-7C70C3684B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85347" name="灯片编号占位符 3">
            <a:extLst>
              <a:ext uri="{FF2B5EF4-FFF2-40B4-BE49-F238E27FC236}">
                <a16:creationId xmlns:a16="http://schemas.microsoft.com/office/drawing/2014/main" id="{D5D9AA47-3825-43A7-9D54-97FBA14932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0E0C447-17D1-4043-A16F-3BDECF1CB582}" type="slidenum">
              <a:rPr lang="en-US" altLang="zh-CN" sz="1200" smtClean="0">
                <a:solidFill>
                  <a:schemeClr val="tx1"/>
                </a:solidFill>
              </a:rPr>
              <a:pPr/>
              <a:t>126</a:t>
            </a:fld>
            <a:endParaRPr lang="en-US" altLang="zh-CN" sz="1200">
              <a:solidFill>
                <a:schemeClr val="tx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幻灯片图像占位符 1">
            <a:extLst>
              <a:ext uri="{FF2B5EF4-FFF2-40B4-BE49-F238E27FC236}">
                <a16:creationId xmlns:a16="http://schemas.microsoft.com/office/drawing/2014/main" id="{480DFAAC-5B62-4DA8-8283-E98300CC1BF5}"/>
              </a:ext>
            </a:extLst>
          </p:cNvPr>
          <p:cNvSpPr>
            <a:spLocks noGrp="1" noRot="1" noChangeAspect="1" noChangeArrowheads="1" noTextEdit="1"/>
          </p:cNvSpPr>
          <p:nvPr>
            <p:ph type="sldImg"/>
          </p:nvPr>
        </p:nvSpPr>
        <p:spPr>
          <a:ln/>
        </p:spPr>
      </p:sp>
      <p:sp>
        <p:nvSpPr>
          <p:cNvPr id="195586" name="备注占位符 2">
            <a:extLst>
              <a:ext uri="{FF2B5EF4-FFF2-40B4-BE49-F238E27FC236}">
                <a16:creationId xmlns:a16="http://schemas.microsoft.com/office/drawing/2014/main" id="{A9056A77-96D8-4302-8BFF-1DBA619A46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95587" name="灯片编号占位符 3">
            <a:extLst>
              <a:ext uri="{FF2B5EF4-FFF2-40B4-BE49-F238E27FC236}">
                <a16:creationId xmlns:a16="http://schemas.microsoft.com/office/drawing/2014/main" id="{D3D1FAB1-AFA3-4073-95B7-CB215A1D22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410F9A6-ABD2-48EF-8998-7152BB661B9F}" type="slidenum">
              <a:rPr lang="en-US" altLang="zh-CN" sz="1200" smtClean="0">
                <a:solidFill>
                  <a:schemeClr val="tx1"/>
                </a:solidFill>
              </a:rPr>
              <a:pPr/>
              <a:t>135</a:t>
            </a:fld>
            <a:endParaRPr lang="en-US" altLang="zh-CN" sz="1200">
              <a:solidFill>
                <a:schemeClr val="tx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幻灯片图像占位符 1">
            <a:extLst>
              <a:ext uri="{FF2B5EF4-FFF2-40B4-BE49-F238E27FC236}">
                <a16:creationId xmlns:a16="http://schemas.microsoft.com/office/drawing/2014/main" id="{2944D22F-64C0-4339-AD4D-BE92DB9D44F8}"/>
              </a:ext>
            </a:extLst>
          </p:cNvPr>
          <p:cNvSpPr>
            <a:spLocks noGrp="1" noRot="1" noChangeAspect="1" noChangeArrowheads="1" noTextEdit="1"/>
          </p:cNvSpPr>
          <p:nvPr>
            <p:ph type="sldImg"/>
          </p:nvPr>
        </p:nvSpPr>
        <p:spPr>
          <a:ln/>
        </p:spPr>
      </p:sp>
      <p:sp>
        <p:nvSpPr>
          <p:cNvPr id="197634" name="备注占位符 2">
            <a:extLst>
              <a:ext uri="{FF2B5EF4-FFF2-40B4-BE49-F238E27FC236}">
                <a16:creationId xmlns:a16="http://schemas.microsoft.com/office/drawing/2014/main" id="{17C75E28-AEF9-42A7-8925-D9E8D33944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97635" name="灯片编号占位符 3">
            <a:extLst>
              <a:ext uri="{FF2B5EF4-FFF2-40B4-BE49-F238E27FC236}">
                <a16:creationId xmlns:a16="http://schemas.microsoft.com/office/drawing/2014/main" id="{D3C72746-CEDB-4E45-9178-8009B79772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4DF4F520-01A3-4739-B2C8-2F13E376538F}" type="slidenum">
              <a:rPr lang="en-US" altLang="zh-CN" sz="1200" smtClean="0">
                <a:solidFill>
                  <a:schemeClr val="tx1"/>
                </a:solidFill>
              </a:rPr>
              <a:pPr/>
              <a:t>136</a:t>
            </a:fld>
            <a:endParaRPr lang="en-US" altLang="zh-CN" sz="1200">
              <a:solidFill>
                <a:schemeClr val="tx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幻灯片图像占位符 1">
            <a:extLst>
              <a:ext uri="{FF2B5EF4-FFF2-40B4-BE49-F238E27FC236}">
                <a16:creationId xmlns:a16="http://schemas.microsoft.com/office/drawing/2014/main" id="{26C4853D-8524-46AC-9159-55E43573615E}"/>
              </a:ext>
            </a:extLst>
          </p:cNvPr>
          <p:cNvSpPr>
            <a:spLocks noGrp="1" noRot="1" noChangeAspect="1" noChangeArrowheads="1" noTextEdit="1"/>
          </p:cNvSpPr>
          <p:nvPr>
            <p:ph type="sldImg"/>
          </p:nvPr>
        </p:nvSpPr>
        <p:spPr>
          <a:ln/>
        </p:spPr>
      </p:sp>
      <p:sp>
        <p:nvSpPr>
          <p:cNvPr id="199682" name="备注占位符 2">
            <a:extLst>
              <a:ext uri="{FF2B5EF4-FFF2-40B4-BE49-F238E27FC236}">
                <a16:creationId xmlns:a16="http://schemas.microsoft.com/office/drawing/2014/main" id="{FB6A4A23-7477-4035-98F7-8D0322C9E7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199683" name="灯片编号占位符 3">
            <a:extLst>
              <a:ext uri="{FF2B5EF4-FFF2-40B4-BE49-F238E27FC236}">
                <a16:creationId xmlns:a16="http://schemas.microsoft.com/office/drawing/2014/main" id="{18579B15-6101-435A-A8C0-042C37F2EA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fld id="{BC2457BA-27AA-4279-9557-026324F6B116}" type="slidenum">
              <a:rPr lang="en-US" altLang="zh-CN" sz="1200" smtClean="0">
                <a:solidFill>
                  <a:schemeClr val="tx1"/>
                </a:solidFill>
              </a:rPr>
              <a:pPr/>
              <a:t>137</a:t>
            </a:fld>
            <a:endParaRPr lang="en-US" altLang="zh-CN" sz="120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5E69D7E4-F71C-4658-A5F7-2F097727CDBC}"/>
              </a:ext>
            </a:extLst>
          </p:cNvPr>
          <p:cNvGrpSpPr>
            <a:grpSpLocks/>
          </p:cNvGrpSpPr>
          <p:nvPr/>
        </p:nvGrpSpPr>
        <p:grpSpPr bwMode="auto">
          <a:xfrm>
            <a:off x="1658938" y="1600200"/>
            <a:ext cx="6837362" cy="3200400"/>
            <a:chOff x="1045" y="1008"/>
            <a:chExt cx="4307" cy="2016"/>
          </a:xfrm>
        </p:grpSpPr>
        <p:sp>
          <p:nvSpPr>
            <p:cNvPr id="5" name="Oval 3">
              <a:extLst>
                <a:ext uri="{FF2B5EF4-FFF2-40B4-BE49-F238E27FC236}">
                  <a16:creationId xmlns:a16="http://schemas.microsoft.com/office/drawing/2014/main" id="{679CD396-CB2D-46F9-B91C-550AC06A15C7}"/>
                </a:ext>
              </a:extLst>
            </p:cNvPr>
            <p:cNvSpPr>
              <a:spLocks noChangeArrowheads="1"/>
            </p:cNvSpPr>
            <p:nvPr/>
          </p:nvSpPr>
          <p:spPr bwMode="hidden">
            <a:xfrm flipH="1">
              <a:off x="4392" y="1008"/>
              <a:ext cx="960" cy="960"/>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6" name="Oval 4">
              <a:extLst>
                <a:ext uri="{FF2B5EF4-FFF2-40B4-BE49-F238E27FC236}">
                  <a16:creationId xmlns:a16="http://schemas.microsoft.com/office/drawing/2014/main" id="{D1DEAFDB-7367-4896-9609-73D79BE30B9A}"/>
                </a:ext>
              </a:extLst>
            </p:cNvPr>
            <p:cNvSpPr>
              <a:spLocks noChangeArrowheads="1"/>
            </p:cNvSpPr>
            <p:nvPr/>
          </p:nvSpPr>
          <p:spPr bwMode="hidden">
            <a:xfrm flipH="1">
              <a:off x="3264" y="1008"/>
              <a:ext cx="960" cy="960"/>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7" name="Oval 5">
              <a:extLst>
                <a:ext uri="{FF2B5EF4-FFF2-40B4-BE49-F238E27FC236}">
                  <a16:creationId xmlns:a16="http://schemas.microsoft.com/office/drawing/2014/main" id="{504A5035-185D-491F-9498-E3A7E0464250}"/>
                </a:ext>
              </a:extLst>
            </p:cNvPr>
            <p:cNvSpPr>
              <a:spLocks noChangeArrowheads="1"/>
            </p:cNvSpPr>
            <p:nvPr/>
          </p:nvSpPr>
          <p:spPr bwMode="hidden">
            <a:xfrm flipH="1">
              <a:off x="2136" y="1008"/>
              <a:ext cx="960" cy="960"/>
            </a:xfrm>
            <a:prstGeom prst="ellipse">
              <a:avLst/>
            </a:prstGeom>
            <a:noFill/>
            <a:ln w="28575">
              <a:solidFill>
                <a:schemeClr val="accent2"/>
              </a:solidFill>
              <a:round/>
              <a:headEnd/>
              <a:tailEnd/>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8" name="Oval 6">
              <a:extLst>
                <a:ext uri="{FF2B5EF4-FFF2-40B4-BE49-F238E27FC236}">
                  <a16:creationId xmlns:a16="http://schemas.microsoft.com/office/drawing/2014/main" id="{81451E30-FFF0-4AE0-B2F7-28D4960F3FFB}"/>
                </a:ext>
              </a:extLst>
            </p:cNvPr>
            <p:cNvSpPr>
              <a:spLocks noChangeArrowheads="1"/>
            </p:cNvSpPr>
            <p:nvPr/>
          </p:nvSpPr>
          <p:spPr bwMode="hidden">
            <a:xfrm flipH="1">
              <a:off x="2136" y="2064"/>
              <a:ext cx="960" cy="960"/>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9" name="Oval 7">
              <a:extLst>
                <a:ext uri="{FF2B5EF4-FFF2-40B4-BE49-F238E27FC236}">
                  <a16:creationId xmlns:a16="http://schemas.microsoft.com/office/drawing/2014/main" id="{FF5741BA-1EC7-482F-8690-8C51AFBA8D06}"/>
                </a:ext>
              </a:extLst>
            </p:cNvPr>
            <p:cNvSpPr>
              <a:spLocks noChangeArrowheads="1"/>
            </p:cNvSpPr>
            <p:nvPr/>
          </p:nvSpPr>
          <p:spPr bwMode="hidden">
            <a:xfrm flipH="1">
              <a:off x="1045" y="2064"/>
              <a:ext cx="960" cy="960"/>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10" name="Oval 8">
              <a:extLst>
                <a:ext uri="{FF2B5EF4-FFF2-40B4-BE49-F238E27FC236}">
                  <a16:creationId xmlns:a16="http://schemas.microsoft.com/office/drawing/2014/main" id="{3D17180E-DB73-4458-AAF0-21095379F641}"/>
                </a:ext>
              </a:extLst>
            </p:cNvPr>
            <p:cNvSpPr>
              <a:spLocks noChangeArrowheads="1"/>
            </p:cNvSpPr>
            <p:nvPr/>
          </p:nvSpPr>
          <p:spPr bwMode="hidden">
            <a:xfrm flipH="1">
              <a:off x="4392" y="2064"/>
              <a:ext cx="960" cy="960"/>
            </a:xfrm>
            <a:prstGeom prst="ellipse">
              <a:avLst/>
            </a:prstGeom>
            <a:noFill/>
            <a:ln w="28575">
              <a:solidFill>
                <a:schemeClr val="accent2"/>
              </a:solidFill>
              <a:round/>
              <a:headEnd/>
              <a:tailEnd/>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grpSp>
      <p:sp>
        <p:nvSpPr>
          <p:cNvPr id="5132" name="Rectangle 12"/>
          <p:cNvSpPr>
            <a:spLocks noGrp="1" noChangeArrowheads="1"/>
          </p:cNvSpPr>
          <p:nvPr>
            <p:ph type="ctrTitle"/>
          </p:nvPr>
        </p:nvSpPr>
        <p:spPr>
          <a:xfrm>
            <a:off x="685800" y="1219200"/>
            <a:ext cx="7772400" cy="1933575"/>
          </a:xfrm>
        </p:spPr>
        <p:txBody>
          <a:bodyPr anchor="b"/>
          <a:lstStyle>
            <a:lvl1pPr algn="r">
              <a:defRPr sz="4400"/>
            </a:lvl1pPr>
          </a:lstStyle>
          <a:p>
            <a:r>
              <a:rPr lang="zh-CN" altLang="en-US"/>
              <a:t>单击此处编辑母版标题样式</a:t>
            </a:r>
          </a:p>
        </p:txBody>
      </p:sp>
      <p:sp>
        <p:nvSpPr>
          <p:cNvPr id="5133" name="Rectangle 13"/>
          <p:cNvSpPr>
            <a:spLocks noGrp="1" noChangeArrowheads="1"/>
          </p:cNvSpPr>
          <p:nvPr>
            <p:ph type="subTitle" idx="1"/>
          </p:nvPr>
        </p:nvSpPr>
        <p:spPr>
          <a:xfrm>
            <a:off x="2057400" y="3505200"/>
            <a:ext cx="6400800" cy="1752600"/>
          </a:xfrm>
        </p:spPr>
        <p:txBody>
          <a:bodyPr/>
          <a:lstStyle>
            <a:lvl1pPr marL="0" indent="0" algn="r">
              <a:buFont typeface="Wingdings" pitchFamily="2" charset="2"/>
              <a:buNone/>
              <a:defRPr/>
            </a:lvl1pPr>
          </a:lstStyle>
          <a:p>
            <a:r>
              <a:rPr lang="zh-CN" altLang="en-US"/>
              <a:t>单击此处编辑母版副标题样式</a:t>
            </a:r>
          </a:p>
        </p:txBody>
      </p:sp>
      <p:sp>
        <p:nvSpPr>
          <p:cNvPr id="11" name="Rectangle 9">
            <a:extLst>
              <a:ext uri="{FF2B5EF4-FFF2-40B4-BE49-F238E27FC236}">
                <a16:creationId xmlns:a16="http://schemas.microsoft.com/office/drawing/2014/main" id="{E7485D4E-A130-416A-B682-2543DDDA2315}"/>
              </a:ext>
            </a:extLst>
          </p:cNvPr>
          <p:cNvSpPr>
            <a:spLocks noGrp="1" noChangeArrowheads="1"/>
          </p:cNvSpPr>
          <p:nvPr>
            <p:ph type="dt" sz="half" idx="10"/>
          </p:nvPr>
        </p:nvSpPr>
        <p:spPr/>
        <p:txBody>
          <a:bodyPr/>
          <a:lstStyle>
            <a:lvl1pPr>
              <a:defRPr/>
            </a:lvl1pPr>
          </a:lstStyle>
          <a:p>
            <a:pPr>
              <a:defRPr/>
            </a:pPr>
            <a:fld id="{BAC031A3-E55C-427A-8F88-8225EB15EC63}" type="datetime1">
              <a:rPr lang="zh-CN" altLang="en-US"/>
              <a:pPr>
                <a:defRPr/>
              </a:pPr>
              <a:t>2026/3/30</a:t>
            </a:fld>
            <a:endParaRPr lang="en-US" altLang="zh-CN"/>
          </a:p>
        </p:txBody>
      </p:sp>
      <p:sp>
        <p:nvSpPr>
          <p:cNvPr id="12" name="Rectangle 10">
            <a:extLst>
              <a:ext uri="{FF2B5EF4-FFF2-40B4-BE49-F238E27FC236}">
                <a16:creationId xmlns:a16="http://schemas.microsoft.com/office/drawing/2014/main" id="{E6E30EDA-933D-4AB5-84EA-F1875D94CB03}"/>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3" name="Rectangle 11">
            <a:extLst>
              <a:ext uri="{FF2B5EF4-FFF2-40B4-BE49-F238E27FC236}">
                <a16:creationId xmlns:a16="http://schemas.microsoft.com/office/drawing/2014/main" id="{6CC7A7D9-9DBF-41E2-80A1-3702099EA216}"/>
              </a:ext>
            </a:extLst>
          </p:cNvPr>
          <p:cNvSpPr>
            <a:spLocks noGrp="1" noChangeArrowheads="1"/>
          </p:cNvSpPr>
          <p:nvPr>
            <p:ph type="sldNum" sz="quarter" idx="12"/>
          </p:nvPr>
        </p:nvSpPr>
        <p:spPr/>
        <p:txBody>
          <a:bodyPr/>
          <a:lstStyle>
            <a:lvl1pPr>
              <a:defRPr/>
            </a:lvl1pPr>
          </a:lstStyle>
          <a:p>
            <a:pPr>
              <a:defRPr/>
            </a:pPr>
            <a:fld id="{5D18C57D-99EB-4D5E-8FE2-BD78E9CCADA4}" type="slidenum">
              <a:rPr lang="en-US" altLang="zh-CN"/>
              <a:pPr>
                <a:defRPr/>
              </a:pPr>
              <a:t>‹#›</a:t>
            </a:fld>
            <a:endParaRPr lang="en-US" altLang="zh-CN"/>
          </a:p>
        </p:txBody>
      </p:sp>
    </p:spTree>
    <p:extLst>
      <p:ext uri="{BB962C8B-B14F-4D97-AF65-F5344CB8AC3E}">
        <p14:creationId xmlns:p14="http://schemas.microsoft.com/office/powerpoint/2010/main" val="1171031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a:extLst>
              <a:ext uri="{FF2B5EF4-FFF2-40B4-BE49-F238E27FC236}">
                <a16:creationId xmlns:a16="http://schemas.microsoft.com/office/drawing/2014/main" id="{5DB4E6B1-8199-497E-A000-10BB2CC9624B}"/>
              </a:ext>
            </a:extLst>
          </p:cNvPr>
          <p:cNvSpPr>
            <a:spLocks noGrp="1" noChangeArrowheads="1"/>
          </p:cNvSpPr>
          <p:nvPr>
            <p:ph type="dt" sz="half" idx="10"/>
          </p:nvPr>
        </p:nvSpPr>
        <p:spPr>
          <a:ln/>
        </p:spPr>
        <p:txBody>
          <a:bodyPr/>
          <a:lstStyle>
            <a:lvl1pPr>
              <a:defRPr/>
            </a:lvl1pPr>
          </a:lstStyle>
          <a:p>
            <a:pPr>
              <a:defRPr/>
            </a:pPr>
            <a:fld id="{479ACD30-C48A-4796-8790-A302CC4B3213}" type="datetime1">
              <a:rPr lang="zh-CN" altLang="en-US"/>
              <a:pPr>
                <a:defRPr/>
              </a:pPr>
              <a:t>2026/3/30</a:t>
            </a:fld>
            <a:endParaRPr lang="en-US" altLang="zh-CN"/>
          </a:p>
        </p:txBody>
      </p:sp>
      <p:sp>
        <p:nvSpPr>
          <p:cNvPr id="5" name="Rectangle 10">
            <a:extLst>
              <a:ext uri="{FF2B5EF4-FFF2-40B4-BE49-F238E27FC236}">
                <a16:creationId xmlns:a16="http://schemas.microsoft.com/office/drawing/2014/main" id="{1922F027-2917-476E-9BA8-D0437F7B042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a:extLst>
              <a:ext uri="{FF2B5EF4-FFF2-40B4-BE49-F238E27FC236}">
                <a16:creationId xmlns:a16="http://schemas.microsoft.com/office/drawing/2014/main" id="{58535650-B585-4034-968D-7E90BF92A0BB}"/>
              </a:ext>
            </a:extLst>
          </p:cNvPr>
          <p:cNvSpPr>
            <a:spLocks noGrp="1" noChangeArrowheads="1"/>
          </p:cNvSpPr>
          <p:nvPr>
            <p:ph type="sldNum" sz="quarter" idx="12"/>
          </p:nvPr>
        </p:nvSpPr>
        <p:spPr>
          <a:ln/>
        </p:spPr>
        <p:txBody>
          <a:bodyPr/>
          <a:lstStyle>
            <a:lvl1pPr>
              <a:defRPr/>
            </a:lvl1pPr>
          </a:lstStyle>
          <a:p>
            <a:pPr>
              <a:defRPr/>
            </a:pPr>
            <a:fld id="{FF2C9D06-2E4C-4CE4-BE39-36000880EB51}" type="slidenum">
              <a:rPr lang="en-US" altLang="zh-CN"/>
              <a:pPr>
                <a:defRPr/>
              </a:pPr>
              <a:t>‹#›</a:t>
            </a:fld>
            <a:endParaRPr lang="en-US" altLang="zh-CN"/>
          </a:p>
        </p:txBody>
      </p:sp>
    </p:spTree>
    <p:extLst>
      <p:ext uri="{BB962C8B-B14F-4D97-AF65-F5344CB8AC3E}">
        <p14:creationId xmlns:p14="http://schemas.microsoft.com/office/powerpoint/2010/main" val="157582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9">
            <a:extLst>
              <a:ext uri="{FF2B5EF4-FFF2-40B4-BE49-F238E27FC236}">
                <a16:creationId xmlns:a16="http://schemas.microsoft.com/office/drawing/2014/main" id="{7D19D092-E938-4063-B67D-B81A4A81892B}"/>
              </a:ext>
            </a:extLst>
          </p:cNvPr>
          <p:cNvSpPr>
            <a:spLocks noGrp="1" noChangeArrowheads="1"/>
          </p:cNvSpPr>
          <p:nvPr>
            <p:ph type="dt" sz="half" idx="10"/>
          </p:nvPr>
        </p:nvSpPr>
        <p:spPr>
          <a:ln/>
        </p:spPr>
        <p:txBody>
          <a:bodyPr/>
          <a:lstStyle>
            <a:lvl1pPr>
              <a:defRPr/>
            </a:lvl1pPr>
          </a:lstStyle>
          <a:p>
            <a:pPr>
              <a:defRPr/>
            </a:pPr>
            <a:fld id="{803314BA-D247-40D7-A2DD-4DDA9A4C4BB0}" type="datetime1">
              <a:rPr lang="zh-CN" altLang="en-US"/>
              <a:pPr>
                <a:defRPr/>
              </a:pPr>
              <a:t>2026/3/30</a:t>
            </a:fld>
            <a:endParaRPr lang="en-US" altLang="zh-CN"/>
          </a:p>
        </p:txBody>
      </p:sp>
      <p:sp>
        <p:nvSpPr>
          <p:cNvPr id="5" name="Rectangle 10">
            <a:extLst>
              <a:ext uri="{FF2B5EF4-FFF2-40B4-BE49-F238E27FC236}">
                <a16:creationId xmlns:a16="http://schemas.microsoft.com/office/drawing/2014/main" id="{B9523B34-564A-4488-8050-BB0297FF7B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a:extLst>
              <a:ext uri="{FF2B5EF4-FFF2-40B4-BE49-F238E27FC236}">
                <a16:creationId xmlns:a16="http://schemas.microsoft.com/office/drawing/2014/main" id="{CEDD27BD-8393-4AF5-8630-CE4CF5DA0CC5}"/>
              </a:ext>
            </a:extLst>
          </p:cNvPr>
          <p:cNvSpPr>
            <a:spLocks noGrp="1" noChangeArrowheads="1"/>
          </p:cNvSpPr>
          <p:nvPr>
            <p:ph type="sldNum" sz="quarter" idx="12"/>
          </p:nvPr>
        </p:nvSpPr>
        <p:spPr>
          <a:ln/>
        </p:spPr>
        <p:txBody>
          <a:bodyPr/>
          <a:lstStyle>
            <a:lvl1pPr>
              <a:defRPr/>
            </a:lvl1pPr>
          </a:lstStyle>
          <a:p>
            <a:pPr>
              <a:defRPr/>
            </a:pPr>
            <a:fld id="{25091ECA-D1A5-4C6F-89C2-1F321897493C}" type="slidenum">
              <a:rPr lang="en-US" altLang="zh-CN"/>
              <a:pPr>
                <a:defRPr/>
              </a:pPr>
              <a:t>‹#›</a:t>
            </a:fld>
            <a:endParaRPr lang="en-US" altLang="zh-CN"/>
          </a:p>
        </p:txBody>
      </p:sp>
    </p:spTree>
    <p:extLst>
      <p:ext uri="{BB962C8B-B14F-4D97-AF65-F5344CB8AC3E}">
        <p14:creationId xmlns:p14="http://schemas.microsoft.com/office/powerpoint/2010/main" val="1830393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a:extLst>
              <a:ext uri="{FF2B5EF4-FFF2-40B4-BE49-F238E27FC236}">
                <a16:creationId xmlns:a16="http://schemas.microsoft.com/office/drawing/2014/main" id="{0387DD49-4EE1-4D54-A7F9-09208F539320}"/>
              </a:ext>
            </a:extLst>
          </p:cNvPr>
          <p:cNvSpPr>
            <a:spLocks noGrp="1" noChangeArrowheads="1"/>
          </p:cNvSpPr>
          <p:nvPr>
            <p:ph type="dt" sz="half" idx="10"/>
          </p:nvPr>
        </p:nvSpPr>
        <p:spPr>
          <a:ln/>
        </p:spPr>
        <p:txBody>
          <a:bodyPr/>
          <a:lstStyle>
            <a:lvl1pPr>
              <a:defRPr/>
            </a:lvl1pPr>
          </a:lstStyle>
          <a:p>
            <a:pPr>
              <a:defRPr/>
            </a:pPr>
            <a:fld id="{CBB93BA6-6C55-4E0E-A38A-BC8DCEEE0E12}" type="datetime1">
              <a:rPr lang="zh-CN" altLang="en-US"/>
              <a:pPr>
                <a:defRPr/>
              </a:pPr>
              <a:t>2026/3/30</a:t>
            </a:fld>
            <a:endParaRPr lang="en-US" altLang="zh-CN"/>
          </a:p>
        </p:txBody>
      </p:sp>
      <p:sp>
        <p:nvSpPr>
          <p:cNvPr id="6" name="Rectangle 10">
            <a:extLst>
              <a:ext uri="{FF2B5EF4-FFF2-40B4-BE49-F238E27FC236}">
                <a16:creationId xmlns:a16="http://schemas.microsoft.com/office/drawing/2014/main" id="{9C93DD19-3279-415A-B7F6-E22C9789A8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a:extLst>
              <a:ext uri="{FF2B5EF4-FFF2-40B4-BE49-F238E27FC236}">
                <a16:creationId xmlns:a16="http://schemas.microsoft.com/office/drawing/2014/main" id="{29865911-7FFD-44F2-B8D3-19D361782AA5}"/>
              </a:ext>
            </a:extLst>
          </p:cNvPr>
          <p:cNvSpPr>
            <a:spLocks noGrp="1" noChangeArrowheads="1"/>
          </p:cNvSpPr>
          <p:nvPr>
            <p:ph type="sldNum" sz="quarter" idx="12"/>
          </p:nvPr>
        </p:nvSpPr>
        <p:spPr>
          <a:ln/>
        </p:spPr>
        <p:txBody>
          <a:bodyPr/>
          <a:lstStyle>
            <a:lvl1pPr>
              <a:defRPr/>
            </a:lvl1pPr>
          </a:lstStyle>
          <a:p>
            <a:pPr>
              <a:defRPr/>
            </a:pPr>
            <a:fld id="{D03ADA89-3366-47FA-AA1C-B68E944AE4DC}" type="slidenum">
              <a:rPr lang="en-US" altLang="zh-CN"/>
              <a:pPr>
                <a:defRPr/>
              </a:pPr>
              <a:t>‹#›</a:t>
            </a:fld>
            <a:endParaRPr lang="en-US" altLang="zh-CN"/>
          </a:p>
        </p:txBody>
      </p:sp>
    </p:spTree>
    <p:extLst>
      <p:ext uri="{BB962C8B-B14F-4D97-AF65-F5344CB8AC3E}">
        <p14:creationId xmlns:p14="http://schemas.microsoft.com/office/powerpoint/2010/main" val="380711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9">
            <a:extLst>
              <a:ext uri="{FF2B5EF4-FFF2-40B4-BE49-F238E27FC236}">
                <a16:creationId xmlns:a16="http://schemas.microsoft.com/office/drawing/2014/main" id="{2696D0F9-A3F5-4719-9188-8BB0C8ACEC47}"/>
              </a:ext>
            </a:extLst>
          </p:cNvPr>
          <p:cNvSpPr>
            <a:spLocks noGrp="1" noChangeArrowheads="1"/>
          </p:cNvSpPr>
          <p:nvPr>
            <p:ph type="dt" sz="half" idx="10"/>
          </p:nvPr>
        </p:nvSpPr>
        <p:spPr>
          <a:ln/>
        </p:spPr>
        <p:txBody>
          <a:bodyPr/>
          <a:lstStyle>
            <a:lvl1pPr>
              <a:defRPr/>
            </a:lvl1pPr>
          </a:lstStyle>
          <a:p>
            <a:pPr>
              <a:defRPr/>
            </a:pPr>
            <a:fld id="{09D6CBEF-67B8-4219-9924-8C352656D6B5}" type="datetime1">
              <a:rPr lang="zh-CN" altLang="en-US"/>
              <a:pPr>
                <a:defRPr/>
              </a:pPr>
              <a:t>2026/3/30</a:t>
            </a:fld>
            <a:endParaRPr lang="en-US" altLang="zh-CN"/>
          </a:p>
        </p:txBody>
      </p:sp>
      <p:sp>
        <p:nvSpPr>
          <p:cNvPr id="8" name="Rectangle 10">
            <a:extLst>
              <a:ext uri="{FF2B5EF4-FFF2-40B4-BE49-F238E27FC236}">
                <a16:creationId xmlns:a16="http://schemas.microsoft.com/office/drawing/2014/main" id="{9A6B4E75-E4B9-45D3-AFC4-C09263F968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
            <a:extLst>
              <a:ext uri="{FF2B5EF4-FFF2-40B4-BE49-F238E27FC236}">
                <a16:creationId xmlns:a16="http://schemas.microsoft.com/office/drawing/2014/main" id="{F9052CAC-11D2-4F4D-B369-AAFE3E152A05}"/>
              </a:ext>
            </a:extLst>
          </p:cNvPr>
          <p:cNvSpPr>
            <a:spLocks noGrp="1" noChangeArrowheads="1"/>
          </p:cNvSpPr>
          <p:nvPr>
            <p:ph type="sldNum" sz="quarter" idx="12"/>
          </p:nvPr>
        </p:nvSpPr>
        <p:spPr>
          <a:ln/>
        </p:spPr>
        <p:txBody>
          <a:bodyPr/>
          <a:lstStyle>
            <a:lvl1pPr>
              <a:defRPr/>
            </a:lvl1pPr>
          </a:lstStyle>
          <a:p>
            <a:pPr>
              <a:defRPr/>
            </a:pPr>
            <a:fld id="{FE4362BF-ACF3-47FB-8831-793717899E1C}" type="slidenum">
              <a:rPr lang="en-US" altLang="zh-CN"/>
              <a:pPr>
                <a:defRPr/>
              </a:pPr>
              <a:t>‹#›</a:t>
            </a:fld>
            <a:endParaRPr lang="en-US" altLang="zh-CN"/>
          </a:p>
        </p:txBody>
      </p:sp>
    </p:spTree>
    <p:extLst>
      <p:ext uri="{BB962C8B-B14F-4D97-AF65-F5344CB8AC3E}">
        <p14:creationId xmlns:p14="http://schemas.microsoft.com/office/powerpoint/2010/main" val="1622861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9">
            <a:extLst>
              <a:ext uri="{FF2B5EF4-FFF2-40B4-BE49-F238E27FC236}">
                <a16:creationId xmlns:a16="http://schemas.microsoft.com/office/drawing/2014/main" id="{5390DB85-4295-406A-9F2C-BC7FDA5B86A7}"/>
              </a:ext>
            </a:extLst>
          </p:cNvPr>
          <p:cNvSpPr>
            <a:spLocks noGrp="1" noChangeArrowheads="1"/>
          </p:cNvSpPr>
          <p:nvPr>
            <p:ph type="dt" sz="half" idx="10"/>
          </p:nvPr>
        </p:nvSpPr>
        <p:spPr>
          <a:ln/>
        </p:spPr>
        <p:txBody>
          <a:bodyPr/>
          <a:lstStyle>
            <a:lvl1pPr>
              <a:defRPr/>
            </a:lvl1pPr>
          </a:lstStyle>
          <a:p>
            <a:pPr>
              <a:defRPr/>
            </a:pPr>
            <a:fld id="{0B8F0342-65FF-4A89-BFC5-A9DCDB618639}" type="datetime1">
              <a:rPr lang="zh-CN" altLang="en-US"/>
              <a:pPr>
                <a:defRPr/>
              </a:pPr>
              <a:t>2026/3/30</a:t>
            </a:fld>
            <a:endParaRPr lang="en-US" altLang="zh-CN"/>
          </a:p>
        </p:txBody>
      </p:sp>
      <p:sp>
        <p:nvSpPr>
          <p:cNvPr id="4" name="Rectangle 10">
            <a:extLst>
              <a:ext uri="{FF2B5EF4-FFF2-40B4-BE49-F238E27FC236}">
                <a16:creationId xmlns:a16="http://schemas.microsoft.com/office/drawing/2014/main" id="{CE851673-E3D6-42AF-BD19-A342DE083DE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a:extLst>
              <a:ext uri="{FF2B5EF4-FFF2-40B4-BE49-F238E27FC236}">
                <a16:creationId xmlns:a16="http://schemas.microsoft.com/office/drawing/2014/main" id="{98432EB7-28E6-4A17-B155-A1378ADDFB40}"/>
              </a:ext>
            </a:extLst>
          </p:cNvPr>
          <p:cNvSpPr>
            <a:spLocks noGrp="1" noChangeArrowheads="1"/>
          </p:cNvSpPr>
          <p:nvPr>
            <p:ph type="sldNum" sz="quarter" idx="12"/>
          </p:nvPr>
        </p:nvSpPr>
        <p:spPr>
          <a:ln/>
        </p:spPr>
        <p:txBody>
          <a:bodyPr/>
          <a:lstStyle>
            <a:lvl1pPr>
              <a:defRPr/>
            </a:lvl1pPr>
          </a:lstStyle>
          <a:p>
            <a:pPr>
              <a:defRPr/>
            </a:pPr>
            <a:fld id="{BFBE9967-5771-4331-A810-741D149105CE}" type="slidenum">
              <a:rPr lang="en-US" altLang="zh-CN"/>
              <a:pPr>
                <a:defRPr/>
              </a:pPr>
              <a:t>‹#›</a:t>
            </a:fld>
            <a:endParaRPr lang="en-US" altLang="zh-CN"/>
          </a:p>
        </p:txBody>
      </p:sp>
    </p:spTree>
    <p:extLst>
      <p:ext uri="{BB962C8B-B14F-4D97-AF65-F5344CB8AC3E}">
        <p14:creationId xmlns:p14="http://schemas.microsoft.com/office/powerpoint/2010/main" val="119103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8079365-6CD0-4F08-8E77-604FF6AC3A22}"/>
              </a:ext>
            </a:extLst>
          </p:cNvPr>
          <p:cNvSpPr>
            <a:spLocks noGrp="1" noChangeArrowheads="1"/>
          </p:cNvSpPr>
          <p:nvPr>
            <p:ph type="dt" sz="half" idx="10"/>
          </p:nvPr>
        </p:nvSpPr>
        <p:spPr>
          <a:ln/>
        </p:spPr>
        <p:txBody>
          <a:bodyPr/>
          <a:lstStyle>
            <a:lvl1pPr>
              <a:defRPr/>
            </a:lvl1pPr>
          </a:lstStyle>
          <a:p>
            <a:pPr>
              <a:defRPr/>
            </a:pPr>
            <a:fld id="{D4EF6BB6-90CB-4656-9111-53D19D866CDD}" type="datetime1">
              <a:rPr lang="zh-CN" altLang="en-US"/>
              <a:pPr>
                <a:defRPr/>
              </a:pPr>
              <a:t>2026/3/30</a:t>
            </a:fld>
            <a:endParaRPr lang="en-US" altLang="zh-CN"/>
          </a:p>
        </p:txBody>
      </p:sp>
      <p:sp>
        <p:nvSpPr>
          <p:cNvPr id="3" name="Rectangle 10">
            <a:extLst>
              <a:ext uri="{FF2B5EF4-FFF2-40B4-BE49-F238E27FC236}">
                <a16:creationId xmlns:a16="http://schemas.microsoft.com/office/drawing/2014/main" id="{AA6547CB-1111-4E49-8C54-3595BAACFD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1">
            <a:extLst>
              <a:ext uri="{FF2B5EF4-FFF2-40B4-BE49-F238E27FC236}">
                <a16:creationId xmlns:a16="http://schemas.microsoft.com/office/drawing/2014/main" id="{BC1F24CF-B3B2-44B5-B456-AC1A39A0F23D}"/>
              </a:ext>
            </a:extLst>
          </p:cNvPr>
          <p:cNvSpPr>
            <a:spLocks noGrp="1" noChangeArrowheads="1"/>
          </p:cNvSpPr>
          <p:nvPr>
            <p:ph type="sldNum" sz="quarter" idx="12"/>
          </p:nvPr>
        </p:nvSpPr>
        <p:spPr>
          <a:ln/>
        </p:spPr>
        <p:txBody>
          <a:bodyPr/>
          <a:lstStyle>
            <a:lvl1pPr>
              <a:defRPr/>
            </a:lvl1pPr>
          </a:lstStyle>
          <a:p>
            <a:pPr>
              <a:defRPr/>
            </a:pPr>
            <a:fld id="{25F9EEC5-99C9-4DDF-98C1-A0954D08C5C1}" type="slidenum">
              <a:rPr lang="en-US" altLang="zh-CN"/>
              <a:pPr>
                <a:defRPr/>
              </a:pPr>
              <a:t>‹#›</a:t>
            </a:fld>
            <a:endParaRPr lang="en-US" altLang="zh-CN"/>
          </a:p>
        </p:txBody>
      </p:sp>
    </p:spTree>
    <p:extLst>
      <p:ext uri="{BB962C8B-B14F-4D97-AF65-F5344CB8AC3E}">
        <p14:creationId xmlns:p14="http://schemas.microsoft.com/office/powerpoint/2010/main" val="273238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a:extLst>
              <a:ext uri="{FF2B5EF4-FFF2-40B4-BE49-F238E27FC236}">
                <a16:creationId xmlns:a16="http://schemas.microsoft.com/office/drawing/2014/main" id="{54ADBD6C-3AAB-434D-9D91-58DA4B7B77FA}"/>
              </a:ext>
            </a:extLst>
          </p:cNvPr>
          <p:cNvSpPr>
            <a:spLocks noGrp="1" noChangeArrowheads="1"/>
          </p:cNvSpPr>
          <p:nvPr>
            <p:ph type="dt" sz="half" idx="10"/>
          </p:nvPr>
        </p:nvSpPr>
        <p:spPr>
          <a:ln/>
        </p:spPr>
        <p:txBody>
          <a:bodyPr/>
          <a:lstStyle>
            <a:lvl1pPr>
              <a:defRPr/>
            </a:lvl1pPr>
          </a:lstStyle>
          <a:p>
            <a:pPr>
              <a:defRPr/>
            </a:pPr>
            <a:fld id="{C8315608-D1C1-491A-BA85-F0B812924AD3}" type="datetime1">
              <a:rPr lang="zh-CN" altLang="en-US"/>
              <a:pPr>
                <a:defRPr/>
              </a:pPr>
              <a:t>2026/3/30</a:t>
            </a:fld>
            <a:endParaRPr lang="en-US" altLang="zh-CN"/>
          </a:p>
        </p:txBody>
      </p:sp>
      <p:sp>
        <p:nvSpPr>
          <p:cNvPr id="6" name="Rectangle 10">
            <a:extLst>
              <a:ext uri="{FF2B5EF4-FFF2-40B4-BE49-F238E27FC236}">
                <a16:creationId xmlns:a16="http://schemas.microsoft.com/office/drawing/2014/main" id="{026AE138-7687-469A-BD96-F986481B4F9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a:extLst>
              <a:ext uri="{FF2B5EF4-FFF2-40B4-BE49-F238E27FC236}">
                <a16:creationId xmlns:a16="http://schemas.microsoft.com/office/drawing/2014/main" id="{7DC85DCD-5B3F-47E6-841A-244E713DF611}"/>
              </a:ext>
            </a:extLst>
          </p:cNvPr>
          <p:cNvSpPr>
            <a:spLocks noGrp="1" noChangeArrowheads="1"/>
          </p:cNvSpPr>
          <p:nvPr>
            <p:ph type="sldNum" sz="quarter" idx="12"/>
          </p:nvPr>
        </p:nvSpPr>
        <p:spPr>
          <a:ln/>
        </p:spPr>
        <p:txBody>
          <a:bodyPr/>
          <a:lstStyle>
            <a:lvl1pPr>
              <a:defRPr/>
            </a:lvl1pPr>
          </a:lstStyle>
          <a:p>
            <a:pPr>
              <a:defRPr/>
            </a:pPr>
            <a:fld id="{BEF0AD85-2A38-4723-89C9-EF0FF9F22D18}" type="slidenum">
              <a:rPr lang="en-US" altLang="zh-CN"/>
              <a:pPr>
                <a:defRPr/>
              </a:pPr>
              <a:t>‹#›</a:t>
            </a:fld>
            <a:endParaRPr lang="en-US" altLang="zh-CN"/>
          </a:p>
        </p:txBody>
      </p:sp>
    </p:spTree>
    <p:extLst>
      <p:ext uri="{BB962C8B-B14F-4D97-AF65-F5344CB8AC3E}">
        <p14:creationId xmlns:p14="http://schemas.microsoft.com/office/powerpoint/2010/main" val="936796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a:extLst>
              <a:ext uri="{FF2B5EF4-FFF2-40B4-BE49-F238E27FC236}">
                <a16:creationId xmlns:a16="http://schemas.microsoft.com/office/drawing/2014/main" id="{3F2B20F0-FB3A-4AAF-A053-1F6B4D123D13}"/>
              </a:ext>
            </a:extLst>
          </p:cNvPr>
          <p:cNvSpPr>
            <a:spLocks noGrp="1" noChangeArrowheads="1"/>
          </p:cNvSpPr>
          <p:nvPr>
            <p:ph type="dt" sz="half" idx="10"/>
          </p:nvPr>
        </p:nvSpPr>
        <p:spPr>
          <a:ln/>
        </p:spPr>
        <p:txBody>
          <a:bodyPr/>
          <a:lstStyle>
            <a:lvl1pPr>
              <a:defRPr/>
            </a:lvl1pPr>
          </a:lstStyle>
          <a:p>
            <a:pPr>
              <a:defRPr/>
            </a:pPr>
            <a:fld id="{D21CC804-E6F5-45C5-A304-622AFD07A24C}" type="datetime1">
              <a:rPr lang="zh-CN" altLang="en-US"/>
              <a:pPr>
                <a:defRPr/>
              </a:pPr>
              <a:t>2026/3/30</a:t>
            </a:fld>
            <a:endParaRPr lang="en-US" altLang="zh-CN"/>
          </a:p>
        </p:txBody>
      </p:sp>
      <p:sp>
        <p:nvSpPr>
          <p:cNvPr id="6" name="Rectangle 10">
            <a:extLst>
              <a:ext uri="{FF2B5EF4-FFF2-40B4-BE49-F238E27FC236}">
                <a16:creationId xmlns:a16="http://schemas.microsoft.com/office/drawing/2014/main" id="{B6E75D53-79B9-415C-91A2-57B8914724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a:extLst>
              <a:ext uri="{FF2B5EF4-FFF2-40B4-BE49-F238E27FC236}">
                <a16:creationId xmlns:a16="http://schemas.microsoft.com/office/drawing/2014/main" id="{EA50E125-7E4A-4F03-B54E-43459045BDA9}"/>
              </a:ext>
            </a:extLst>
          </p:cNvPr>
          <p:cNvSpPr>
            <a:spLocks noGrp="1" noChangeArrowheads="1"/>
          </p:cNvSpPr>
          <p:nvPr>
            <p:ph type="sldNum" sz="quarter" idx="12"/>
          </p:nvPr>
        </p:nvSpPr>
        <p:spPr>
          <a:ln/>
        </p:spPr>
        <p:txBody>
          <a:bodyPr/>
          <a:lstStyle>
            <a:lvl1pPr>
              <a:defRPr/>
            </a:lvl1pPr>
          </a:lstStyle>
          <a:p>
            <a:pPr>
              <a:defRPr/>
            </a:pPr>
            <a:fld id="{215E03DE-79BC-48C1-B9C1-1DFC6E7D9C2A}" type="slidenum">
              <a:rPr lang="en-US" altLang="zh-CN"/>
              <a:pPr>
                <a:defRPr/>
              </a:pPr>
              <a:t>‹#›</a:t>
            </a:fld>
            <a:endParaRPr lang="en-US" altLang="zh-CN"/>
          </a:p>
        </p:txBody>
      </p:sp>
    </p:spTree>
    <p:extLst>
      <p:ext uri="{BB962C8B-B14F-4D97-AF65-F5344CB8AC3E}">
        <p14:creationId xmlns:p14="http://schemas.microsoft.com/office/powerpoint/2010/main" val="2520274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a:extLst>
              <a:ext uri="{FF2B5EF4-FFF2-40B4-BE49-F238E27FC236}">
                <a16:creationId xmlns:a16="http://schemas.microsoft.com/office/drawing/2014/main" id="{3A3C9234-36B2-44F5-98EE-65967C90FEF3}"/>
              </a:ext>
            </a:extLst>
          </p:cNvPr>
          <p:cNvSpPr>
            <a:spLocks noGrp="1" noChangeArrowheads="1"/>
          </p:cNvSpPr>
          <p:nvPr>
            <p:ph type="dt" sz="half" idx="10"/>
          </p:nvPr>
        </p:nvSpPr>
        <p:spPr>
          <a:ln/>
        </p:spPr>
        <p:txBody>
          <a:bodyPr/>
          <a:lstStyle>
            <a:lvl1pPr>
              <a:defRPr/>
            </a:lvl1pPr>
          </a:lstStyle>
          <a:p>
            <a:pPr>
              <a:defRPr/>
            </a:pPr>
            <a:fld id="{B062B513-9DAC-4E97-90E1-E8C584A0B77B}" type="datetime1">
              <a:rPr lang="zh-CN" altLang="en-US"/>
              <a:pPr>
                <a:defRPr/>
              </a:pPr>
              <a:t>2026/3/30</a:t>
            </a:fld>
            <a:endParaRPr lang="en-US" altLang="zh-CN"/>
          </a:p>
        </p:txBody>
      </p:sp>
      <p:sp>
        <p:nvSpPr>
          <p:cNvPr id="5" name="Rectangle 10">
            <a:extLst>
              <a:ext uri="{FF2B5EF4-FFF2-40B4-BE49-F238E27FC236}">
                <a16:creationId xmlns:a16="http://schemas.microsoft.com/office/drawing/2014/main" id="{BE03C3DF-E5FC-4118-876A-4AB7905482D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a:extLst>
              <a:ext uri="{FF2B5EF4-FFF2-40B4-BE49-F238E27FC236}">
                <a16:creationId xmlns:a16="http://schemas.microsoft.com/office/drawing/2014/main" id="{360652B1-3109-4ECD-B25C-87ECBCEC3236}"/>
              </a:ext>
            </a:extLst>
          </p:cNvPr>
          <p:cNvSpPr>
            <a:spLocks noGrp="1" noChangeArrowheads="1"/>
          </p:cNvSpPr>
          <p:nvPr>
            <p:ph type="sldNum" sz="quarter" idx="12"/>
          </p:nvPr>
        </p:nvSpPr>
        <p:spPr>
          <a:ln/>
        </p:spPr>
        <p:txBody>
          <a:bodyPr/>
          <a:lstStyle>
            <a:lvl1pPr>
              <a:defRPr/>
            </a:lvl1pPr>
          </a:lstStyle>
          <a:p>
            <a:pPr>
              <a:defRPr/>
            </a:pPr>
            <a:fld id="{34F31CB2-4701-4F1A-9671-576B7F1BDC90}" type="slidenum">
              <a:rPr lang="en-US" altLang="zh-CN"/>
              <a:pPr>
                <a:defRPr/>
              </a:pPr>
              <a:t>‹#›</a:t>
            </a:fld>
            <a:endParaRPr lang="en-US" altLang="zh-CN"/>
          </a:p>
        </p:txBody>
      </p:sp>
    </p:spTree>
    <p:extLst>
      <p:ext uri="{BB962C8B-B14F-4D97-AF65-F5344CB8AC3E}">
        <p14:creationId xmlns:p14="http://schemas.microsoft.com/office/powerpoint/2010/main" val="4165325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62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62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a:extLst>
              <a:ext uri="{FF2B5EF4-FFF2-40B4-BE49-F238E27FC236}">
                <a16:creationId xmlns:a16="http://schemas.microsoft.com/office/drawing/2014/main" id="{D2EC8225-50DF-4051-A8C3-B82A1D346ED0}"/>
              </a:ext>
            </a:extLst>
          </p:cNvPr>
          <p:cNvSpPr>
            <a:spLocks noGrp="1" noChangeArrowheads="1"/>
          </p:cNvSpPr>
          <p:nvPr>
            <p:ph type="dt" sz="half" idx="10"/>
          </p:nvPr>
        </p:nvSpPr>
        <p:spPr>
          <a:ln/>
        </p:spPr>
        <p:txBody>
          <a:bodyPr/>
          <a:lstStyle>
            <a:lvl1pPr>
              <a:defRPr/>
            </a:lvl1pPr>
          </a:lstStyle>
          <a:p>
            <a:pPr>
              <a:defRPr/>
            </a:pPr>
            <a:fld id="{C5F5E33F-E545-4BBB-920F-3E5EEA0FE62A}" type="datetime1">
              <a:rPr lang="zh-CN" altLang="en-US"/>
              <a:pPr>
                <a:defRPr/>
              </a:pPr>
              <a:t>2026/3/30</a:t>
            </a:fld>
            <a:endParaRPr lang="en-US" altLang="zh-CN"/>
          </a:p>
        </p:txBody>
      </p:sp>
      <p:sp>
        <p:nvSpPr>
          <p:cNvPr id="5" name="Rectangle 10">
            <a:extLst>
              <a:ext uri="{FF2B5EF4-FFF2-40B4-BE49-F238E27FC236}">
                <a16:creationId xmlns:a16="http://schemas.microsoft.com/office/drawing/2014/main" id="{8A758181-E878-4364-8B36-8C6AE5A774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a:extLst>
              <a:ext uri="{FF2B5EF4-FFF2-40B4-BE49-F238E27FC236}">
                <a16:creationId xmlns:a16="http://schemas.microsoft.com/office/drawing/2014/main" id="{51AE0ECA-AAC5-442C-B2BB-4427FD81D481}"/>
              </a:ext>
            </a:extLst>
          </p:cNvPr>
          <p:cNvSpPr>
            <a:spLocks noGrp="1" noChangeArrowheads="1"/>
          </p:cNvSpPr>
          <p:nvPr>
            <p:ph type="sldNum" sz="quarter" idx="12"/>
          </p:nvPr>
        </p:nvSpPr>
        <p:spPr>
          <a:ln/>
        </p:spPr>
        <p:txBody>
          <a:bodyPr/>
          <a:lstStyle>
            <a:lvl1pPr>
              <a:defRPr/>
            </a:lvl1pPr>
          </a:lstStyle>
          <a:p>
            <a:pPr>
              <a:defRPr/>
            </a:pPr>
            <a:fld id="{A58763E1-56D9-48F2-B383-E8B5AAED4E78}" type="slidenum">
              <a:rPr lang="en-US" altLang="zh-CN"/>
              <a:pPr>
                <a:defRPr/>
              </a:pPr>
              <a:t>‹#›</a:t>
            </a:fld>
            <a:endParaRPr lang="en-US" altLang="zh-CN"/>
          </a:p>
        </p:txBody>
      </p:sp>
    </p:spTree>
    <p:extLst>
      <p:ext uri="{BB962C8B-B14F-4D97-AF65-F5344CB8AC3E}">
        <p14:creationId xmlns:p14="http://schemas.microsoft.com/office/powerpoint/2010/main" val="3143596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a:extLst>
              <a:ext uri="{FF2B5EF4-FFF2-40B4-BE49-F238E27FC236}">
                <a16:creationId xmlns:a16="http://schemas.microsoft.com/office/drawing/2014/main" id="{A6548CE6-125D-431B-BA88-CD66635AAB1C}"/>
              </a:ext>
            </a:extLst>
          </p:cNvPr>
          <p:cNvSpPr>
            <a:spLocks noGrp="1" noChangeArrowheads="1"/>
          </p:cNvSpPr>
          <p:nvPr>
            <p:ph type="dt" sz="half" idx="10"/>
          </p:nvPr>
        </p:nvSpPr>
        <p:spPr>
          <a:ln/>
        </p:spPr>
        <p:txBody>
          <a:bodyPr/>
          <a:lstStyle>
            <a:lvl1pPr>
              <a:defRPr/>
            </a:lvl1pPr>
          </a:lstStyle>
          <a:p>
            <a:pPr>
              <a:defRPr/>
            </a:pPr>
            <a:fld id="{86C28A0D-E4EA-4CA5-A2ED-D6F25250E4CF}" type="datetime1">
              <a:rPr lang="zh-CN" altLang="en-US"/>
              <a:pPr>
                <a:defRPr/>
              </a:pPr>
              <a:t>2026/3/30</a:t>
            </a:fld>
            <a:endParaRPr lang="en-US" altLang="zh-CN"/>
          </a:p>
        </p:txBody>
      </p:sp>
      <p:sp>
        <p:nvSpPr>
          <p:cNvPr id="6" name="Rectangle 10">
            <a:extLst>
              <a:ext uri="{FF2B5EF4-FFF2-40B4-BE49-F238E27FC236}">
                <a16:creationId xmlns:a16="http://schemas.microsoft.com/office/drawing/2014/main" id="{1B24EB72-3178-4556-B2EA-BE4E668E298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a:extLst>
              <a:ext uri="{FF2B5EF4-FFF2-40B4-BE49-F238E27FC236}">
                <a16:creationId xmlns:a16="http://schemas.microsoft.com/office/drawing/2014/main" id="{39947C9B-12C6-4FB3-9027-F4ADE53151EF}"/>
              </a:ext>
            </a:extLst>
          </p:cNvPr>
          <p:cNvSpPr>
            <a:spLocks noGrp="1" noChangeArrowheads="1"/>
          </p:cNvSpPr>
          <p:nvPr>
            <p:ph type="sldNum" sz="quarter" idx="12"/>
          </p:nvPr>
        </p:nvSpPr>
        <p:spPr>
          <a:ln/>
        </p:spPr>
        <p:txBody>
          <a:bodyPr/>
          <a:lstStyle>
            <a:lvl1pPr>
              <a:defRPr/>
            </a:lvl1pPr>
          </a:lstStyle>
          <a:p>
            <a:pPr>
              <a:defRPr/>
            </a:pPr>
            <a:fld id="{45420358-0BF0-4411-855F-2F9702E4656B}" type="slidenum">
              <a:rPr lang="en-US" altLang="zh-CN"/>
              <a:pPr>
                <a:defRPr/>
              </a:pPr>
              <a:t>‹#›</a:t>
            </a:fld>
            <a:endParaRPr lang="en-US" altLang="zh-CN"/>
          </a:p>
        </p:txBody>
      </p:sp>
    </p:spTree>
    <p:extLst>
      <p:ext uri="{BB962C8B-B14F-4D97-AF65-F5344CB8AC3E}">
        <p14:creationId xmlns:p14="http://schemas.microsoft.com/office/powerpoint/2010/main" val="4094438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44E3204A-017C-4742-958F-8886C5822330}"/>
              </a:ext>
            </a:extLst>
          </p:cNvPr>
          <p:cNvGrpSpPr>
            <a:grpSpLocks/>
          </p:cNvGrpSpPr>
          <p:nvPr/>
        </p:nvGrpSpPr>
        <p:grpSpPr bwMode="auto">
          <a:xfrm>
            <a:off x="1071563" y="304800"/>
            <a:ext cx="7615237" cy="1106488"/>
            <a:chOff x="675" y="192"/>
            <a:chExt cx="4797" cy="697"/>
          </a:xfrm>
        </p:grpSpPr>
        <p:sp>
          <p:nvSpPr>
            <p:cNvPr id="1032" name="Oval 3">
              <a:extLst>
                <a:ext uri="{FF2B5EF4-FFF2-40B4-BE49-F238E27FC236}">
                  <a16:creationId xmlns:a16="http://schemas.microsoft.com/office/drawing/2014/main" id="{89609671-2A08-46AF-9652-E5A9041511AC}"/>
                </a:ext>
              </a:extLst>
            </p:cNvPr>
            <p:cNvSpPr>
              <a:spLocks noChangeArrowheads="1"/>
            </p:cNvSpPr>
            <p:nvPr/>
          </p:nvSpPr>
          <p:spPr bwMode="hidden">
            <a:xfrm flipH="1">
              <a:off x="3067" y="192"/>
              <a:ext cx="696" cy="696"/>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1033" name="Oval 4">
              <a:extLst>
                <a:ext uri="{FF2B5EF4-FFF2-40B4-BE49-F238E27FC236}">
                  <a16:creationId xmlns:a16="http://schemas.microsoft.com/office/drawing/2014/main" id="{8A5CE1FB-8588-43C9-AF95-160D91EDAD91}"/>
                </a:ext>
              </a:extLst>
            </p:cNvPr>
            <p:cNvSpPr>
              <a:spLocks noChangeArrowheads="1"/>
            </p:cNvSpPr>
            <p:nvPr/>
          </p:nvSpPr>
          <p:spPr bwMode="hidden">
            <a:xfrm flipH="1">
              <a:off x="4777" y="192"/>
              <a:ext cx="695" cy="696"/>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1034" name="Oval 5">
              <a:extLst>
                <a:ext uri="{FF2B5EF4-FFF2-40B4-BE49-F238E27FC236}">
                  <a16:creationId xmlns:a16="http://schemas.microsoft.com/office/drawing/2014/main" id="{44ADDA36-0405-4B6C-BF33-F7940E755B9B}"/>
                </a:ext>
              </a:extLst>
            </p:cNvPr>
            <p:cNvSpPr>
              <a:spLocks noChangeArrowheads="1"/>
            </p:cNvSpPr>
            <p:nvPr/>
          </p:nvSpPr>
          <p:spPr bwMode="hidden">
            <a:xfrm flipH="1">
              <a:off x="675" y="193"/>
              <a:ext cx="695" cy="696"/>
            </a:xfrm>
            <a:prstGeom prst="ellipse">
              <a:avLst/>
            </a:prstGeom>
            <a:solidFill>
              <a:schemeClr val="accent2"/>
            </a:solidFill>
            <a:ln>
              <a:noFill/>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1035" name="Oval 6">
              <a:extLst>
                <a:ext uri="{FF2B5EF4-FFF2-40B4-BE49-F238E27FC236}">
                  <a16:creationId xmlns:a16="http://schemas.microsoft.com/office/drawing/2014/main" id="{E031DA3D-808B-4B9A-8D0D-FFF2993BC7EA}"/>
                </a:ext>
              </a:extLst>
            </p:cNvPr>
            <p:cNvSpPr>
              <a:spLocks noChangeArrowheads="1"/>
            </p:cNvSpPr>
            <p:nvPr/>
          </p:nvSpPr>
          <p:spPr bwMode="hidden">
            <a:xfrm flipH="1">
              <a:off x="3984" y="192"/>
              <a:ext cx="695" cy="696"/>
            </a:xfrm>
            <a:prstGeom prst="ellipse">
              <a:avLst/>
            </a:prstGeom>
            <a:noFill/>
            <a:ln w="28575">
              <a:solidFill>
                <a:schemeClr val="accent2"/>
              </a:solidFill>
              <a:round/>
              <a:headEnd/>
              <a:tailEnd/>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sp>
          <p:nvSpPr>
            <p:cNvPr id="1036" name="Oval 7">
              <a:extLst>
                <a:ext uri="{FF2B5EF4-FFF2-40B4-BE49-F238E27FC236}">
                  <a16:creationId xmlns:a16="http://schemas.microsoft.com/office/drawing/2014/main" id="{0753A057-1A9D-4ADF-8C39-5C30F2F9FC5D}"/>
                </a:ext>
              </a:extLst>
            </p:cNvPr>
            <p:cNvSpPr>
              <a:spLocks noChangeArrowheads="1"/>
            </p:cNvSpPr>
            <p:nvPr/>
          </p:nvSpPr>
          <p:spPr bwMode="hidden">
            <a:xfrm flipH="1">
              <a:off x="1486" y="192"/>
              <a:ext cx="695" cy="696"/>
            </a:xfrm>
            <a:prstGeom prst="ellipse">
              <a:avLst/>
            </a:prstGeom>
            <a:noFill/>
            <a:ln w="28575">
              <a:solidFill>
                <a:schemeClr val="accent2"/>
              </a:solidFill>
              <a:round/>
              <a:headEnd/>
              <a:tailEnd/>
            </a:ln>
          </p:spPr>
          <p:txBody>
            <a:bodyPr wrap="none" anchor="ctr"/>
            <a:lstStyle>
              <a:lvl1pPr>
                <a:spcBef>
                  <a:spcPct val="50000"/>
                </a:spcBef>
                <a:defRPr sz="2000">
                  <a:solidFill>
                    <a:schemeClr val="hlink"/>
                  </a:solidFill>
                  <a:latin typeface="Arial" panose="020B0604020202020204" pitchFamily="34" charset="0"/>
                  <a:ea typeface="宋体" panose="02010600030101010101" pitchFamily="2" charset="-122"/>
                </a:defRPr>
              </a:lvl1pPr>
              <a:lvl2pPr marL="742950" indent="-285750">
                <a:spcBef>
                  <a:spcPct val="50000"/>
                </a:spcBef>
                <a:defRPr sz="2000">
                  <a:solidFill>
                    <a:schemeClr val="hlink"/>
                  </a:solidFill>
                  <a:latin typeface="Arial" panose="020B0604020202020204" pitchFamily="34" charset="0"/>
                  <a:ea typeface="宋体" panose="02010600030101010101" pitchFamily="2" charset="-122"/>
                </a:defRPr>
              </a:lvl2pPr>
              <a:lvl3pPr marL="1143000" indent="-228600">
                <a:spcBef>
                  <a:spcPct val="50000"/>
                </a:spcBef>
                <a:defRPr sz="2000">
                  <a:solidFill>
                    <a:schemeClr val="hlink"/>
                  </a:solidFill>
                  <a:latin typeface="Arial" panose="020B0604020202020204" pitchFamily="34" charset="0"/>
                  <a:ea typeface="宋体" panose="02010600030101010101" pitchFamily="2" charset="-122"/>
                </a:defRPr>
              </a:lvl3pPr>
              <a:lvl4pPr marL="1600200" indent="-228600">
                <a:spcBef>
                  <a:spcPct val="50000"/>
                </a:spcBef>
                <a:defRPr sz="2000">
                  <a:solidFill>
                    <a:schemeClr val="hlink"/>
                  </a:solidFill>
                  <a:latin typeface="Arial" panose="020B0604020202020204" pitchFamily="34" charset="0"/>
                  <a:ea typeface="宋体" panose="02010600030101010101" pitchFamily="2" charset="-122"/>
                </a:defRPr>
              </a:lvl4pPr>
              <a:lvl5pPr marL="2057400" indent="-228600">
                <a:spcBef>
                  <a:spcPct val="50000"/>
                </a:spcBef>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0"/>
                </a:spcBef>
                <a:defRPr/>
              </a:pPr>
              <a:endParaRPr lang="zh-CN" altLang="zh-CN" sz="2400">
                <a:solidFill>
                  <a:schemeClr val="tx1"/>
                </a:solidFill>
                <a:latin typeface="Times New Roman" panose="02020603050405020304" pitchFamily="18" charset="0"/>
              </a:endParaRPr>
            </a:p>
          </p:txBody>
        </p:sp>
      </p:grpSp>
      <p:sp>
        <p:nvSpPr>
          <p:cNvPr id="1027" name="Rectangle 8">
            <a:extLst>
              <a:ext uri="{FF2B5EF4-FFF2-40B4-BE49-F238E27FC236}">
                <a16:creationId xmlns:a16="http://schemas.microsoft.com/office/drawing/2014/main" id="{21F2FDA7-C932-4874-A9EB-959EEB5BD12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5" name="Rectangle 9">
            <a:extLst>
              <a:ext uri="{FF2B5EF4-FFF2-40B4-BE49-F238E27FC236}">
                <a16:creationId xmlns:a16="http://schemas.microsoft.com/office/drawing/2014/main" id="{B09D2712-A7AD-4311-B3CF-7AE6A944F9C0}"/>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000">
                <a:solidFill>
                  <a:schemeClr val="tx1"/>
                </a:solidFill>
              </a:defRPr>
            </a:lvl1pPr>
          </a:lstStyle>
          <a:p>
            <a:pPr>
              <a:defRPr/>
            </a:pPr>
            <a:fld id="{7715B887-D946-483C-AA5F-3129A289D7CF}" type="datetime1">
              <a:rPr lang="zh-CN" altLang="en-US"/>
              <a:pPr>
                <a:defRPr/>
              </a:pPr>
              <a:t>2026/3/30</a:t>
            </a:fld>
            <a:endParaRPr lang="en-US" altLang="zh-CN"/>
          </a:p>
        </p:txBody>
      </p:sp>
      <p:sp>
        <p:nvSpPr>
          <p:cNvPr id="4106" name="Rectangle 10">
            <a:extLst>
              <a:ext uri="{FF2B5EF4-FFF2-40B4-BE49-F238E27FC236}">
                <a16:creationId xmlns:a16="http://schemas.microsoft.com/office/drawing/2014/main" id="{AD9C300D-E402-4D47-87B2-487B022809A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000">
                <a:solidFill>
                  <a:schemeClr val="tx1"/>
                </a:solidFill>
              </a:defRPr>
            </a:lvl1pPr>
          </a:lstStyle>
          <a:p>
            <a:pPr>
              <a:defRPr/>
            </a:pPr>
            <a:endParaRPr lang="en-US" altLang="zh-CN"/>
          </a:p>
        </p:txBody>
      </p:sp>
      <p:sp>
        <p:nvSpPr>
          <p:cNvPr id="4107" name="Rectangle 11">
            <a:extLst>
              <a:ext uri="{FF2B5EF4-FFF2-40B4-BE49-F238E27FC236}">
                <a16:creationId xmlns:a16="http://schemas.microsoft.com/office/drawing/2014/main" id="{9C9F83F5-3DCA-48E6-B9B0-EEC6BF481C42}"/>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defRPr>
            </a:lvl1pPr>
          </a:lstStyle>
          <a:p>
            <a:pPr>
              <a:defRPr/>
            </a:pPr>
            <a:fld id="{F62322B3-37B2-4223-B69C-1BFDA3C04528}" type="slidenum">
              <a:rPr lang="en-US" altLang="zh-CN"/>
              <a:pPr>
                <a:defRPr/>
              </a:pPr>
              <a:t>‹#›</a:t>
            </a:fld>
            <a:endParaRPr lang="en-US" altLang="zh-CN"/>
          </a:p>
        </p:txBody>
      </p:sp>
      <p:sp>
        <p:nvSpPr>
          <p:cNvPr id="1031" name="Rectangle 12">
            <a:extLst>
              <a:ext uri="{FF2B5EF4-FFF2-40B4-BE49-F238E27FC236}">
                <a16:creationId xmlns:a16="http://schemas.microsoft.com/office/drawing/2014/main" id="{3D327346-3B79-493E-8506-A083FB4C5E2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882"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hf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pitchFamily="34" charset="0"/>
          <a:ea typeface="黑体" pitchFamily="49" charset="-122"/>
        </a:defRPr>
      </a:lvl2pPr>
      <a:lvl3pPr algn="l" rtl="0" eaLnBrk="0" fontAlgn="base" hangingPunct="0">
        <a:spcBef>
          <a:spcPct val="0"/>
        </a:spcBef>
        <a:spcAft>
          <a:spcPct val="0"/>
        </a:spcAft>
        <a:defRPr sz="3800">
          <a:solidFill>
            <a:schemeClr val="tx2"/>
          </a:solidFill>
          <a:latin typeface="Arial" pitchFamily="34" charset="0"/>
          <a:ea typeface="黑体" pitchFamily="49" charset="-122"/>
        </a:defRPr>
      </a:lvl3pPr>
      <a:lvl4pPr algn="l" rtl="0" eaLnBrk="0" fontAlgn="base" hangingPunct="0">
        <a:spcBef>
          <a:spcPct val="0"/>
        </a:spcBef>
        <a:spcAft>
          <a:spcPct val="0"/>
        </a:spcAft>
        <a:defRPr sz="3800">
          <a:solidFill>
            <a:schemeClr val="tx2"/>
          </a:solidFill>
          <a:latin typeface="Arial" pitchFamily="34" charset="0"/>
          <a:ea typeface="黑体" pitchFamily="49" charset="-122"/>
        </a:defRPr>
      </a:lvl4pPr>
      <a:lvl5pPr algn="l" rtl="0" eaLnBrk="0" fontAlgn="base" hangingPunct="0">
        <a:spcBef>
          <a:spcPct val="0"/>
        </a:spcBef>
        <a:spcAft>
          <a:spcPct val="0"/>
        </a:spcAft>
        <a:defRPr sz="3800">
          <a:solidFill>
            <a:schemeClr val="tx2"/>
          </a:solidFill>
          <a:latin typeface="Arial" pitchFamily="34" charset="0"/>
          <a:ea typeface="黑体" pitchFamily="49" charset="-122"/>
        </a:defRPr>
      </a:lvl5pPr>
      <a:lvl6pPr marL="457200" algn="l" rtl="0" fontAlgn="base">
        <a:spcBef>
          <a:spcPct val="0"/>
        </a:spcBef>
        <a:spcAft>
          <a:spcPct val="0"/>
        </a:spcAft>
        <a:defRPr sz="3800">
          <a:solidFill>
            <a:schemeClr val="tx2"/>
          </a:solidFill>
          <a:latin typeface="Arial" pitchFamily="34" charset="0"/>
          <a:ea typeface="黑体" pitchFamily="49" charset="-122"/>
        </a:defRPr>
      </a:lvl6pPr>
      <a:lvl7pPr marL="914400" algn="l" rtl="0" fontAlgn="base">
        <a:spcBef>
          <a:spcPct val="0"/>
        </a:spcBef>
        <a:spcAft>
          <a:spcPct val="0"/>
        </a:spcAft>
        <a:defRPr sz="3800">
          <a:solidFill>
            <a:schemeClr val="tx2"/>
          </a:solidFill>
          <a:latin typeface="Arial" pitchFamily="34" charset="0"/>
          <a:ea typeface="黑体" pitchFamily="49" charset="-122"/>
        </a:defRPr>
      </a:lvl7pPr>
      <a:lvl8pPr marL="1371600" algn="l" rtl="0" fontAlgn="base">
        <a:spcBef>
          <a:spcPct val="0"/>
        </a:spcBef>
        <a:spcAft>
          <a:spcPct val="0"/>
        </a:spcAft>
        <a:defRPr sz="3800">
          <a:solidFill>
            <a:schemeClr val="tx2"/>
          </a:solidFill>
          <a:latin typeface="Arial" pitchFamily="34" charset="0"/>
          <a:ea typeface="黑体" pitchFamily="49" charset="-122"/>
        </a:defRPr>
      </a:lvl8pPr>
      <a:lvl9pPr marL="1828800" algn="l" rtl="0" fontAlgn="base">
        <a:spcBef>
          <a:spcPct val="0"/>
        </a:spcBef>
        <a:spcAft>
          <a:spcPct val="0"/>
        </a:spcAft>
        <a:defRPr sz="3800">
          <a:solidFill>
            <a:schemeClr val="tx2"/>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700">
          <a:solidFill>
            <a:schemeClr val="tx1"/>
          </a:solidFill>
          <a:latin typeface="+mn-lt"/>
          <a:ea typeface="+mn-ea"/>
        </a:defRPr>
      </a:lvl2pPr>
      <a:lvl3pPr marL="1143000" indent="-228600" algn="l" rtl="0" eaLnBrk="0" fontAlgn="base" hangingPunct="0">
        <a:spcBef>
          <a:spcPct val="20000"/>
        </a:spcBef>
        <a:spcAft>
          <a:spcPct val="0"/>
        </a:spcAft>
        <a:buClr>
          <a:schemeClr val="accent1"/>
        </a:buClr>
        <a:buFont typeface="Wingdings" panose="05000000000000000000" pitchFamily="2" charset="2"/>
        <a:buChar char="l"/>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2.e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emf"/><Relationship Id="rId5" Type="http://schemas.openxmlformats.org/officeDocument/2006/relationships/image" Target="../media/image1.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7.png"/><Relationship Id="rId7" Type="http://schemas.openxmlformats.org/officeDocument/2006/relationships/image" Target="../media/image13.png"/><Relationship Id="rId12"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2.xml"/><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3.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23" Type="http://schemas.openxmlformats.org/officeDocument/2006/relationships/image" Target="../media/image78.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s>
</file>

<file path=ppt/slides/_rels/slide16.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image" Target="../media/image79.png"/><Relationship Id="rId16"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9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2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24.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2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2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3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3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43.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s>
</file>

<file path=ppt/slides/_rels/slide44.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3" Type="http://schemas.openxmlformats.org/officeDocument/2006/relationships/image" Target="../media/image152.png"/><Relationship Id="rId7" Type="http://schemas.openxmlformats.org/officeDocument/2006/relationships/image" Target="../media/image156.png"/><Relationship Id="rId12" Type="http://schemas.openxmlformats.org/officeDocument/2006/relationships/image" Target="../media/image161.png"/><Relationship Id="rId2" Type="http://schemas.openxmlformats.org/officeDocument/2006/relationships/notesSlide" Target="../notesSlides/notesSlide16.xml"/><Relationship Id="rId16"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s>
</file>

<file path=ppt/slides/_rels/slide45.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166.png"/><Relationship Id="rId7" Type="http://schemas.openxmlformats.org/officeDocument/2006/relationships/image" Target="../media/image170.png"/><Relationship Id="rId2"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s>
</file>

<file path=ppt/slides/_rels/slide46.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74.png"/><Relationship Id="rId7" Type="http://schemas.openxmlformats.org/officeDocument/2006/relationships/image" Target="../media/image178.png"/><Relationship Id="rId12" Type="http://schemas.openxmlformats.org/officeDocument/2006/relationships/image" Target="../media/image18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0" Type="http://schemas.openxmlformats.org/officeDocument/2006/relationships/image" Target="../media/image181.png"/><Relationship Id="rId4" Type="http://schemas.openxmlformats.org/officeDocument/2006/relationships/image" Target="../media/image175.png"/><Relationship Id="rId9" Type="http://schemas.openxmlformats.org/officeDocument/2006/relationships/image" Target="../media/image180.png"/></Relationships>
</file>

<file path=ppt/slides/_rels/slide47.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2.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8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7.png"/><Relationship Id="rId11" Type="http://schemas.openxmlformats.org/officeDocument/2006/relationships/image" Target="../media/image175.png"/><Relationship Id="rId5" Type="http://schemas.openxmlformats.org/officeDocument/2006/relationships/image" Target="../media/image186.png"/><Relationship Id="rId10" Type="http://schemas.openxmlformats.org/officeDocument/2006/relationships/image" Target="../media/image174.png"/><Relationship Id="rId4" Type="http://schemas.openxmlformats.org/officeDocument/2006/relationships/image" Target="../media/image185.png"/><Relationship Id="rId9" Type="http://schemas.openxmlformats.org/officeDocument/2006/relationships/image" Target="../media/image183.png"/></Relationships>
</file>

<file path=ppt/slides/_rels/slide48.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2.png"/><Relationship Id="rId18" Type="http://schemas.openxmlformats.org/officeDocument/2006/relationships/image" Target="../media/image193.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81.png"/><Relationship Id="rId17" Type="http://schemas.openxmlformats.org/officeDocument/2006/relationships/image" Target="../media/image192.png"/><Relationship Id="rId2" Type="http://schemas.openxmlformats.org/officeDocument/2006/relationships/notesSlide" Target="../notesSlides/notesSlide19.xml"/><Relationship Id="rId16"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7.png"/><Relationship Id="rId11" Type="http://schemas.openxmlformats.org/officeDocument/2006/relationships/image" Target="../media/image175.png"/><Relationship Id="rId5" Type="http://schemas.openxmlformats.org/officeDocument/2006/relationships/image" Target="../media/image186.png"/><Relationship Id="rId15" Type="http://schemas.openxmlformats.org/officeDocument/2006/relationships/image" Target="../media/image190.png"/><Relationship Id="rId10" Type="http://schemas.openxmlformats.org/officeDocument/2006/relationships/image" Target="../media/image174.png"/><Relationship Id="rId19" Type="http://schemas.openxmlformats.org/officeDocument/2006/relationships/image" Target="../media/image194.png"/><Relationship Id="rId4" Type="http://schemas.openxmlformats.org/officeDocument/2006/relationships/image" Target="../media/image185.png"/><Relationship Id="rId9" Type="http://schemas.openxmlformats.org/officeDocument/2006/relationships/image" Target="../media/image183.png"/><Relationship Id="rId14" Type="http://schemas.openxmlformats.org/officeDocument/2006/relationships/image" Target="../media/image189.png"/></Relationships>
</file>

<file path=ppt/slides/_rels/slide49.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2.png"/><Relationship Id="rId18" Type="http://schemas.openxmlformats.org/officeDocument/2006/relationships/image" Target="../media/image196.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81.png"/><Relationship Id="rId17" Type="http://schemas.openxmlformats.org/officeDocument/2006/relationships/image" Target="../media/image195.png"/><Relationship Id="rId2" Type="http://schemas.openxmlformats.org/officeDocument/2006/relationships/notesSlide" Target="../notesSlides/notesSlide20.xml"/><Relationship Id="rId16" Type="http://schemas.openxmlformats.org/officeDocument/2006/relationships/image" Target="../media/image191.png"/><Relationship Id="rId20" Type="http://schemas.openxmlformats.org/officeDocument/2006/relationships/image" Target="../media/image198.png"/><Relationship Id="rId1" Type="http://schemas.openxmlformats.org/officeDocument/2006/relationships/slideLayout" Target="../slideLayouts/slideLayout2.xml"/><Relationship Id="rId6" Type="http://schemas.openxmlformats.org/officeDocument/2006/relationships/image" Target="../media/image187.png"/><Relationship Id="rId11" Type="http://schemas.openxmlformats.org/officeDocument/2006/relationships/image" Target="../media/image175.png"/><Relationship Id="rId5" Type="http://schemas.openxmlformats.org/officeDocument/2006/relationships/image" Target="../media/image186.png"/><Relationship Id="rId15" Type="http://schemas.openxmlformats.org/officeDocument/2006/relationships/image" Target="../media/image190.png"/><Relationship Id="rId10" Type="http://schemas.openxmlformats.org/officeDocument/2006/relationships/image" Target="../media/image174.png"/><Relationship Id="rId19" Type="http://schemas.openxmlformats.org/officeDocument/2006/relationships/image" Target="../media/image197.png"/><Relationship Id="rId4" Type="http://schemas.openxmlformats.org/officeDocument/2006/relationships/image" Target="../media/image185.png"/><Relationship Id="rId9" Type="http://schemas.openxmlformats.org/officeDocument/2006/relationships/image" Target="../media/image183.png"/><Relationship Id="rId14" Type="http://schemas.openxmlformats.org/officeDocument/2006/relationships/image" Target="../media/image189.png"/></Relationships>
</file>

<file path=ppt/slides/_rels/slide50.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51.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2.xml"/><Relationship Id="rId4" Type="http://schemas.openxmlformats.org/officeDocument/2006/relationships/image" Target="../media/image203.png"/></Relationships>
</file>

<file path=ppt/slides/_rels/slide52.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5.png"/></Relationships>
</file>

<file path=ppt/slides/_rels/slide53.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2.gif"/><Relationship Id="rId2" Type="http://schemas.openxmlformats.org/officeDocument/2006/relationships/image" Target="../media/image211.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image" Target="../media/image217.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0.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image" Target="../media/image223.png"/><Relationship Id="rId1" Type="http://schemas.openxmlformats.org/officeDocument/2006/relationships/slideLayout" Target="../slideLayouts/slideLayout2.xml"/><Relationship Id="rId4" Type="http://schemas.openxmlformats.org/officeDocument/2006/relationships/image" Target="../media/image225.png"/></Relationships>
</file>

<file path=ppt/slides/_rels/slide72.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28.png"/><Relationship Id="rId4" Type="http://schemas.openxmlformats.org/officeDocument/2006/relationships/image" Target="../media/image227.png"/></Relationships>
</file>

<file path=ppt/slides/_rels/slide73.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74.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23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75.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35.png"/><Relationship Id="rId7" Type="http://schemas.openxmlformats.org/officeDocument/2006/relationships/image" Target="../media/image23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38.gif"/><Relationship Id="rId5" Type="http://schemas.openxmlformats.org/officeDocument/2006/relationships/image" Target="../media/image237.jpeg"/><Relationship Id="rId4" Type="http://schemas.openxmlformats.org/officeDocument/2006/relationships/image" Target="../media/image236.gif"/></Relationships>
</file>

<file path=ppt/slides/_rels/slide80.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jpeg"/><Relationship Id="rId1" Type="http://schemas.openxmlformats.org/officeDocument/2006/relationships/slideLayout" Target="../slideLayouts/slideLayout2.xml"/><Relationship Id="rId4" Type="http://schemas.openxmlformats.org/officeDocument/2006/relationships/image" Target="../media/image244.png"/></Relationships>
</file>

<file path=ppt/slides/_rels/slide82.xml.rels><?xml version="1.0" encoding="UTF-8" standalone="yes"?>
<Relationships xmlns="http://schemas.openxmlformats.org/package/2006/relationships"><Relationship Id="rId3" Type="http://schemas.openxmlformats.org/officeDocument/2006/relationships/image" Target="../media/image245.gif"/><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9.tif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49.tif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87.xml.rels><?xml version="1.0" encoding="UTF-8" standalone="yes"?>
<Relationships xmlns="http://schemas.openxmlformats.org/package/2006/relationships"><Relationship Id="rId3" Type="http://schemas.openxmlformats.org/officeDocument/2006/relationships/image" Target="../media/image249.tif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51.png"/></Relationships>
</file>

<file path=ppt/slides/_rels/slide88.xml.rels><?xml version="1.0" encoding="UTF-8" standalone="yes"?>
<Relationships xmlns="http://schemas.openxmlformats.org/package/2006/relationships"><Relationship Id="rId3" Type="http://schemas.openxmlformats.org/officeDocument/2006/relationships/image" Target="../media/image249.tif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2.png"/></Relationships>
</file>

<file path=ppt/slides/_rels/slide89.xml.rels><?xml version="1.0" encoding="UTF-8" standalone="yes"?>
<Relationships xmlns="http://schemas.openxmlformats.org/package/2006/relationships"><Relationship Id="rId3" Type="http://schemas.openxmlformats.org/officeDocument/2006/relationships/image" Target="../media/image249.tif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5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hyperlink" Target="http://arxiv.org/pdf/1510.08532.pdf"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64.w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image" Target="../media/image267.png"/><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269.pn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266.png"/><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268.png"/><Relationship Id="rId4" Type="http://schemas.openxmlformats.org/officeDocument/2006/relationships/image" Target="../media/image265.png"/><Relationship Id="rId9" Type="http://schemas.openxmlformats.org/officeDocument/2006/relationships/oleObject" Target="../embeddings/oleObject9.bin"/><Relationship Id="rId14" Type="http://schemas.openxmlformats.org/officeDocument/2006/relationships/image" Target="../media/image27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8" Type="http://schemas.openxmlformats.org/officeDocument/2006/relationships/image" Target="../media/image274.wmf"/><Relationship Id="rId13" Type="http://schemas.openxmlformats.org/officeDocument/2006/relationships/oleObject" Target="../embeddings/oleObject17.bin"/><Relationship Id="rId18" Type="http://schemas.openxmlformats.org/officeDocument/2006/relationships/image" Target="../media/image279.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76.wmf"/><Relationship Id="rId17" Type="http://schemas.openxmlformats.org/officeDocument/2006/relationships/oleObject" Target="../embeddings/oleObject19.bin"/><Relationship Id="rId2" Type="http://schemas.openxmlformats.org/officeDocument/2006/relationships/slideLayout" Target="../slideLayouts/slideLayout12.xml"/><Relationship Id="rId16" Type="http://schemas.openxmlformats.org/officeDocument/2006/relationships/image" Target="../media/image278.wmf"/><Relationship Id="rId1" Type="http://schemas.openxmlformats.org/officeDocument/2006/relationships/vmlDrawing" Target="../drawings/vmlDrawing4.vml"/><Relationship Id="rId6" Type="http://schemas.openxmlformats.org/officeDocument/2006/relationships/image" Target="../media/image273.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275.wmf"/><Relationship Id="rId4" Type="http://schemas.openxmlformats.org/officeDocument/2006/relationships/image" Target="../media/image272.wmf"/><Relationship Id="rId9" Type="http://schemas.openxmlformats.org/officeDocument/2006/relationships/oleObject" Target="../embeddings/oleObject15.bin"/><Relationship Id="rId14" Type="http://schemas.openxmlformats.org/officeDocument/2006/relationships/image" Target="../media/image277.wm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280.wmf"/><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8" Type="http://schemas.openxmlformats.org/officeDocument/2006/relationships/image" Target="../media/image283.e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85.emf"/><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282.e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284.emf"/><Relationship Id="rId4" Type="http://schemas.openxmlformats.org/officeDocument/2006/relationships/image" Target="../media/image281.emf"/><Relationship Id="rId9" Type="http://schemas.openxmlformats.org/officeDocument/2006/relationships/oleObject" Target="../embeddings/oleObject23.bin"/><Relationship Id="rId14" Type="http://schemas.openxmlformats.org/officeDocument/2006/relationships/image" Target="../media/image286.emf"/></Relationships>
</file>

<file path=ppt/slides/_rels/slide11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8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image" Target="../media/image289.wmf"/><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8" Type="http://schemas.openxmlformats.org/officeDocument/2006/relationships/image" Target="../media/image292.png"/><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91.png"/><Relationship Id="rId5" Type="http://schemas.openxmlformats.org/officeDocument/2006/relationships/oleObject" Target="../embeddings/oleObject27.bin"/><Relationship Id="rId4" Type="http://schemas.openxmlformats.org/officeDocument/2006/relationships/image" Target="../media/image29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296.png"/><Relationship Id="rId7" Type="http://schemas.openxmlformats.org/officeDocument/2006/relationships/image" Target="../media/image300.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299.png"/><Relationship Id="rId5" Type="http://schemas.openxmlformats.org/officeDocument/2006/relationships/image" Target="../media/image298.png"/><Relationship Id="rId4" Type="http://schemas.openxmlformats.org/officeDocument/2006/relationships/image" Target="../media/image297.png"/></Relationships>
</file>

<file path=ppt/slides/_rels/slide125.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2.png"/><Relationship Id="rId1" Type="http://schemas.openxmlformats.org/officeDocument/2006/relationships/slideLayout" Target="../slideLayouts/slideLayout7.xml"/><Relationship Id="rId4" Type="http://schemas.openxmlformats.org/officeDocument/2006/relationships/image" Target="../media/image303.png"/></Relationships>
</file>

<file path=ppt/slides/_rels/slide126.xml.rels><?xml version="1.0" encoding="UTF-8" standalone="yes"?>
<Relationships xmlns="http://schemas.openxmlformats.org/package/2006/relationships"><Relationship Id="rId3" Type="http://schemas.openxmlformats.org/officeDocument/2006/relationships/image" Target="../media/image304.png"/><Relationship Id="rId7" Type="http://schemas.openxmlformats.org/officeDocument/2006/relationships/image" Target="../media/image308.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5.png"/></Relationships>
</file>

<file path=ppt/slides/_rels/slide127.xml.rels><?xml version="1.0" encoding="UTF-8" standalone="yes"?>
<Relationships xmlns="http://schemas.openxmlformats.org/package/2006/relationships"><Relationship Id="rId2" Type="http://schemas.openxmlformats.org/officeDocument/2006/relationships/image" Target="../media/image309.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12.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image" Target="../media/image31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8" Type="http://schemas.openxmlformats.org/officeDocument/2006/relationships/image" Target="../media/image318.png"/><Relationship Id="rId3" Type="http://schemas.openxmlformats.org/officeDocument/2006/relationships/notesSlide" Target="../notesSlides/notesSlide42.xml"/><Relationship Id="rId7" Type="http://schemas.openxmlformats.org/officeDocument/2006/relationships/image" Target="../media/image317.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15.emf"/><Relationship Id="rId5" Type="http://schemas.openxmlformats.org/officeDocument/2006/relationships/oleObject" Target="../embeddings/oleObject29.bin"/><Relationship Id="rId10" Type="http://schemas.openxmlformats.org/officeDocument/2006/relationships/image" Target="../media/image320.png"/><Relationship Id="rId4" Type="http://schemas.openxmlformats.org/officeDocument/2006/relationships/image" Target="../media/image316.png"/><Relationship Id="rId9" Type="http://schemas.openxmlformats.org/officeDocument/2006/relationships/image" Target="../media/image319.png"/></Relationships>
</file>

<file path=ppt/slides/_rels/slide136.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3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324.png"/><Relationship Id="rId4" Type="http://schemas.openxmlformats.org/officeDocument/2006/relationships/image" Target="../media/image323.png"/></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25.png"/></Relationships>
</file>

<file path=ppt/slides/_rels/slide139.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1">
            <a:extLst>
              <a:ext uri="{FF2B5EF4-FFF2-40B4-BE49-F238E27FC236}">
                <a16:creationId xmlns:a16="http://schemas.microsoft.com/office/drawing/2014/main" id="{18FBE1BF-C3AE-4FB6-A560-2FC27F1770C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B609F7E6-1780-4397-BA1E-A9E6772DAC0E}" type="slidenum">
              <a:rPr lang="en-US" altLang="zh-CN" sz="1000" smtClean="0">
                <a:ea typeface="宋体" panose="02010600030101010101" pitchFamily="2" charset="-122"/>
              </a:rPr>
              <a:pPr>
                <a:spcBef>
                  <a:spcPct val="0"/>
                </a:spcBef>
                <a:buClrTx/>
                <a:buFontTx/>
                <a:buNone/>
              </a:pPr>
              <a:t>1</a:t>
            </a:fld>
            <a:endParaRPr lang="en-US" altLang="zh-CN" sz="1000">
              <a:ea typeface="宋体" panose="02010600030101010101" pitchFamily="2" charset="-122"/>
            </a:endParaRPr>
          </a:p>
        </p:txBody>
      </p:sp>
      <p:sp>
        <p:nvSpPr>
          <p:cNvPr id="15362" name="Rectangle 2">
            <a:extLst>
              <a:ext uri="{FF2B5EF4-FFF2-40B4-BE49-F238E27FC236}">
                <a16:creationId xmlns:a16="http://schemas.microsoft.com/office/drawing/2014/main" id="{E3EACA1C-E101-4254-A5A1-13BF97C492F6}"/>
              </a:ext>
            </a:extLst>
          </p:cNvPr>
          <p:cNvSpPr>
            <a:spLocks noGrp="1" noChangeArrowheads="1"/>
          </p:cNvSpPr>
          <p:nvPr>
            <p:ph type="ctrTitle"/>
          </p:nvPr>
        </p:nvSpPr>
        <p:spPr/>
        <p:txBody>
          <a:bodyPr/>
          <a:lstStyle/>
          <a:p>
            <a:pPr algn="ctr" eaLnBrk="1" hangingPunct="1"/>
            <a:r>
              <a:rPr lang="zh-CN" altLang="en-US" sz="4000" dirty="0"/>
              <a:t>降维之</a:t>
            </a:r>
            <a:r>
              <a:rPr lang="en-US" altLang="zh-CN" sz="4000" dirty="0"/>
              <a:t>PCA</a:t>
            </a:r>
            <a:r>
              <a:rPr lang="zh-CN" altLang="en-US" sz="4000" dirty="0"/>
              <a:t>与</a:t>
            </a:r>
            <a:r>
              <a:rPr lang="en-US" altLang="zh-CN" sz="4000" dirty="0"/>
              <a:t>SVD</a:t>
            </a:r>
            <a:endParaRPr lang="zh-CN" alt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5">
            <a:extLst>
              <a:ext uri="{FF2B5EF4-FFF2-40B4-BE49-F238E27FC236}">
                <a16:creationId xmlns:a16="http://schemas.microsoft.com/office/drawing/2014/main" id="{9F668294-6B22-47D5-84C4-D355545858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D15BCACD-6E95-487A-A5B7-FED9839E9BA1}" type="slidenum">
              <a:rPr lang="en-US" altLang="zh-CN" sz="1000" smtClean="0">
                <a:ea typeface="宋体" panose="02010600030101010101" pitchFamily="2" charset="-122"/>
              </a:rPr>
              <a:pPr>
                <a:spcBef>
                  <a:spcPct val="0"/>
                </a:spcBef>
                <a:buClrTx/>
                <a:buFontTx/>
                <a:buNone/>
              </a:pPr>
              <a:t>2</a:t>
            </a:fld>
            <a:endParaRPr lang="en-US" altLang="zh-CN" sz="1000">
              <a:ea typeface="宋体" panose="02010600030101010101" pitchFamily="2" charset="-122"/>
            </a:endParaRPr>
          </a:p>
        </p:txBody>
      </p:sp>
      <p:sp>
        <p:nvSpPr>
          <p:cNvPr id="16386" name="Rectangle 4">
            <a:extLst>
              <a:ext uri="{FF2B5EF4-FFF2-40B4-BE49-F238E27FC236}">
                <a16:creationId xmlns:a16="http://schemas.microsoft.com/office/drawing/2014/main" id="{53581066-7A06-45DC-BBEB-CEF981007562}"/>
              </a:ext>
            </a:extLst>
          </p:cNvPr>
          <p:cNvSpPr>
            <a:spLocks noGrp="1" noChangeArrowheads="1"/>
          </p:cNvSpPr>
          <p:nvPr>
            <p:ph type="title"/>
          </p:nvPr>
        </p:nvSpPr>
        <p:spPr/>
        <p:txBody>
          <a:bodyPr/>
          <a:lstStyle/>
          <a:p>
            <a:pPr eaLnBrk="1" hangingPunct="1"/>
            <a:r>
              <a:rPr lang="zh-CN" altLang="en-US"/>
              <a:t>提纲</a:t>
            </a:r>
          </a:p>
        </p:txBody>
      </p:sp>
      <p:sp>
        <p:nvSpPr>
          <p:cNvPr id="16387" name="Rectangle 5">
            <a:extLst>
              <a:ext uri="{FF2B5EF4-FFF2-40B4-BE49-F238E27FC236}">
                <a16:creationId xmlns:a16="http://schemas.microsoft.com/office/drawing/2014/main" id="{922B111A-7B4D-4F62-B83C-0AE87181D477}"/>
              </a:ext>
            </a:extLst>
          </p:cNvPr>
          <p:cNvSpPr>
            <a:spLocks noGrp="1" noChangeArrowheads="1"/>
          </p:cNvSpPr>
          <p:nvPr>
            <p:ph type="body" idx="1"/>
          </p:nvPr>
        </p:nvSpPr>
        <p:spPr/>
        <p:txBody>
          <a:bodyPr/>
          <a:lstStyle/>
          <a:p>
            <a:pPr eaLnBrk="1" hangingPunct="1"/>
            <a:r>
              <a:rPr lang="zh-CN" altLang="en-US"/>
              <a:t>研究背景</a:t>
            </a:r>
          </a:p>
          <a:p>
            <a:pPr eaLnBrk="1" hangingPunct="1"/>
            <a:r>
              <a:rPr lang="zh-CN" altLang="en-US"/>
              <a:t>基本知识介绍</a:t>
            </a:r>
          </a:p>
          <a:p>
            <a:pPr eaLnBrk="1" hangingPunct="1"/>
            <a:r>
              <a:rPr lang="zh-CN" altLang="en-US"/>
              <a:t>经典方法概览</a:t>
            </a:r>
          </a:p>
          <a:p>
            <a:pPr eaLnBrk="1" hangingPunct="1"/>
            <a:r>
              <a:rPr lang="zh-CN" altLang="en-US"/>
              <a:t>总结讨论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5">
            <a:extLst>
              <a:ext uri="{FF2B5EF4-FFF2-40B4-BE49-F238E27FC236}">
                <a16:creationId xmlns:a16="http://schemas.microsoft.com/office/drawing/2014/main" id="{CB2A9C54-B5DF-4CE3-8673-7C8C78DDDB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B55AE2CB-7BE1-4305-A2AC-A48ECAE55B8B}" type="slidenum">
              <a:rPr lang="en-US" altLang="zh-CN" sz="1000" smtClean="0">
                <a:ea typeface="宋体" panose="02010600030101010101" pitchFamily="2" charset="-122"/>
              </a:rPr>
              <a:pPr>
                <a:spcBef>
                  <a:spcPct val="0"/>
                </a:spcBef>
                <a:buClrTx/>
                <a:buFontTx/>
                <a:buNone/>
              </a:pPr>
              <a:t>3</a:t>
            </a:fld>
            <a:endParaRPr lang="en-US" altLang="zh-CN" sz="1000">
              <a:ea typeface="宋体" panose="02010600030101010101" pitchFamily="2" charset="-122"/>
            </a:endParaRPr>
          </a:p>
        </p:txBody>
      </p:sp>
      <p:sp>
        <p:nvSpPr>
          <p:cNvPr id="17410" name="Rectangle 2">
            <a:extLst>
              <a:ext uri="{FF2B5EF4-FFF2-40B4-BE49-F238E27FC236}">
                <a16:creationId xmlns:a16="http://schemas.microsoft.com/office/drawing/2014/main" id="{71942962-A64A-4F66-945D-2EA68DB08D7F}"/>
              </a:ext>
            </a:extLst>
          </p:cNvPr>
          <p:cNvSpPr>
            <a:spLocks noGrp="1" noChangeArrowheads="1"/>
          </p:cNvSpPr>
          <p:nvPr>
            <p:ph type="title"/>
          </p:nvPr>
        </p:nvSpPr>
        <p:spPr/>
        <p:txBody>
          <a:bodyPr/>
          <a:lstStyle/>
          <a:p>
            <a:pPr eaLnBrk="1" hangingPunct="1"/>
            <a:r>
              <a:rPr lang="zh-CN" altLang="en-US"/>
              <a:t>提纲</a:t>
            </a:r>
          </a:p>
        </p:txBody>
      </p:sp>
      <p:sp>
        <p:nvSpPr>
          <p:cNvPr id="17411" name="Rectangle 3">
            <a:extLst>
              <a:ext uri="{FF2B5EF4-FFF2-40B4-BE49-F238E27FC236}">
                <a16:creationId xmlns:a16="http://schemas.microsoft.com/office/drawing/2014/main" id="{2378047C-6B99-43E5-91E2-6B5B9B314DE6}"/>
              </a:ext>
            </a:extLst>
          </p:cNvPr>
          <p:cNvSpPr>
            <a:spLocks noGrp="1" noChangeArrowheads="1"/>
          </p:cNvSpPr>
          <p:nvPr>
            <p:ph type="body" idx="1"/>
          </p:nvPr>
        </p:nvSpPr>
        <p:spPr/>
        <p:txBody>
          <a:bodyPr/>
          <a:lstStyle/>
          <a:p>
            <a:pPr eaLnBrk="1" hangingPunct="1"/>
            <a:r>
              <a:rPr lang="zh-CN" altLang="en-US"/>
              <a:t>研究背景</a:t>
            </a:r>
          </a:p>
          <a:p>
            <a:pPr eaLnBrk="1" hangingPunct="1"/>
            <a:r>
              <a:rPr lang="zh-CN" altLang="en-US">
                <a:solidFill>
                  <a:schemeClr val="accent1"/>
                </a:solidFill>
              </a:rPr>
              <a:t>基本知识介绍</a:t>
            </a:r>
          </a:p>
          <a:p>
            <a:pPr eaLnBrk="1" hangingPunct="1"/>
            <a:r>
              <a:rPr lang="zh-CN" altLang="en-US">
                <a:solidFill>
                  <a:schemeClr val="accent1"/>
                </a:solidFill>
              </a:rPr>
              <a:t>经典方法概览</a:t>
            </a:r>
          </a:p>
          <a:p>
            <a:pPr eaLnBrk="1" hangingPunct="1"/>
            <a:r>
              <a:rPr lang="zh-CN" altLang="en-US">
                <a:solidFill>
                  <a:schemeClr val="accent1"/>
                </a:solidFill>
              </a:rPr>
              <a:t>总结讨论</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6">
            <a:extLst>
              <a:ext uri="{FF2B5EF4-FFF2-40B4-BE49-F238E27FC236}">
                <a16:creationId xmlns:a16="http://schemas.microsoft.com/office/drawing/2014/main" id="{7ABB8579-1636-4D60-BB2C-65F667003D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11B8641F-4C77-482B-AA6D-056EF7F7BBA9}" type="slidenum">
              <a:rPr lang="en-US" altLang="zh-CN" sz="1000" smtClean="0">
                <a:ea typeface="宋体" panose="02010600030101010101" pitchFamily="2" charset="-122"/>
              </a:rPr>
              <a:pPr>
                <a:spcBef>
                  <a:spcPct val="0"/>
                </a:spcBef>
                <a:buClrTx/>
                <a:buFontTx/>
                <a:buNone/>
              </a:pPr>
              <a:t>4</a:t>
            </a:fld>
            <a:endParaRPr lang="en-US" altLang="zh-CN" sz="1000">
              <a:ea typeface="宋体" panose="02010600030101010101" pitchFamily="2" charset="-122"/>
            </a:endParaRPr>
          </a:p>
        </p:txBody>
      </p:sp>
      <p:sp>
        <p:nvSpPr>
          <p:cNvPr id="18434" name="Rectangle 2">
            <a:extLst>
              <a:ext uri="{FF2B5EF4-FFF2-40B4-BE49-F238E27FC236}">
                <a16:creationId xmlns:a16="http://schemas.microsoft.com/office/drawing/2014/main" id="{C510F0A7-7C42-4CBF-8C86-1D46EEE4DEB4}"/>
              </a:ext>
            </a:extLst>
          </p:cNvPr>
          <p:cNvSpPr>
            <a:spLocks noGrp="1" noChangeArrowheads="1"/>
          </p:cNvSpPr>
          <p:nvPr>
            <p:ph type="title"/>
          </p:nvPr>
        </p:nvSpPr>
        <p:spPr/>
        <p:txBody>
          <a:bodyPr/>
          <a:lstStyle/>
          <a:p>
            <a:pPr eaLnBrk="1" hangingPunct="1"/>
            <a:r>
              <a:rPr lang="zh-CN" altLang="en-US"/>
              <a:t>从降维问题说起</a:t>
            </a:r>
          </a:p>
        </p:txBody>
      </p:sp>
      <p:sp>
        <p:nvSpPr>
          <p:cNvPr id="18435" name="Rectangle 3">
            <a:extLst>
              <a:ext uri="{FF2B5EF4-FFF2-40B4-BE49-F238E27FC236}">
                <a16:creationId xmlns:a16="http://schemas.microsoft.com/office/drawing/2014/main" id="{2016E4D2-EDA1-4DC1-B05B-9F279293572A}"/>
              </a:ext>
            </a:extLst>
          </p:cNvPr>
          <p:cNvSpPr>
            <a:spLocks noGrp="1" noChangeArrowheads="1"/>
          </p:cNvSpPr>
          <p:nvPr>
            <p:ph type="body" sz="half" idx="1"/>
          </p:nvPr>
        </p:nvSpPr>
        <p:spPr>
          <a:xfrm>
            <a:off x="457200" y="1484313"/>
            <a:ext cx="8218488" cy="4530725"/>
          </a:xfrm>
        </p:spPr>
        <p:txBody>
          <a:bodyPr/>
          <a:lstStyle/>
          <a:p>
            <a:pPr eaLnBrk="1" hangingPunct="1"/>
            <a:r>
              <a:rPr lang="zh-CN" altLang="en-US"/>
              <a:t>降维的动机</a:t>
            </a:r>
          </a:p>
          <a:p>
            <a:pPr lvl="1" eaLnBrk="1" hangingPunct="1"/>
            <a:r>
              <a:rPr lang="zh-CN" altLang="en-US"/>
              <a:t>原始观察空间中的样本具有极大的信息冗余</a:t>
            </a:r>
          </a:p>
          <a:p>
            <a:pPr lvl="1" eaLnBrk="1" hangingPunct="1"/>
            <a:r>
              <a:rPr lang="zh-CN" altLang="en-US"/>
              <a:t>样本的高维数引发分类器设计的“维数灾难”</a:t>
            </a:r>
            <a:endParaRPr lang="en-US" altLang="zh-CN"/>
          </a:p>
          <a:p>
            <a:pPr lvl="1" eaLnBrk="1" hangingPunct="1"/>
            <a:r>
              <a:rPr lang="zh-CN" altLang="en-US" b="1"/>
              <a:t>维数灾难：</a:t>
            </a:r>
            <a:r>
              <a:rPr lang="zh-CN" altLang="en-US"/>
              <a:t>在给定精度下，为了准确地对某些变量的函数进行估计，所需样本量会随着样本维数的增加而呈指数形式增长。</a:t>
            </a:r>
            <a:endParaRPr lang="en-US" altLang="zh-CN"/>
          </a:p>
          <a:p>
            <a:pPr lvl="1" eaLnBrk="1" hangingPunct="1"/>
            <a:endParaRPr lang="zh-CN" altLang="en-US"/>
          </a:p>
        </p:txBody>
      </p:sp>
      <p:sp>
        <p:nvSpPr>
          <p:cNvPr id="18436" name="Rectangle 4">
            <a:extLst>
              <a:ext uri="{FF2B5EF4-FFF2-40B4-BE49-F238E27FC236}">
                <a16:creationId xmlns:a16="http://schemas.microsoft.com/office/drawing/2014/main" id="{ECB2F862-92DE-4DC4-BAE1-12007AFE7BC4}"/>
              </a:ext>
            </a:extLst>
          </p:cNvPr>
          <p:cNvSpPr>
            <a:spLocks noChangeArrowheads="1"/>
          </p:cNvSpPr>
          <p:nvPr/>
        </p:nvSpPr>
        <p:spPr bwMode="auto">
          <a:xfrm>
            <a:off x="0" y="2443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8437" name="Rectangle 5">
            <a:extLst>
              <a:ext uri="{FF2B5EF4-FFF2-40B4-BE49-F238E27FC236}">
                <a16:creationId xmlns:a16="http://schemas.microsoft.com/office/drawing/2014/main" id="{4A9AABD6-2DB1-432B-93DA-661C51B0F5CE}"/>
              </a:ext>
            </a:extLst>
          </p:cNvPr>
          <p:cNvSpPr>
            <a:spLocks noChangeArrowheads="1"/>
          </p:cNvSpPr>
          <p:nvPr/>
        </p:nvSpPr>
        <p:spPr bwMode="auto">
          <a:xfrm>
            <a:off x="0" y="2543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8438" name="Rectangle 6">
            <a:extLst>
              <a:ext uri="{FF2B5EF4-FFF2-40B4-BE49-F238E27FC236}">
                <a16:creationId xmlns:a16="http://schemas.microsoft.com/office/drawing/2014/main" id="{B232EF8D-B53F-477A-9225-734CB5A641C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6">
            <a:extLst>
              <a:ext uri="{FF2B5EF4-FFF2-40B4-BE49-F238E27FC236}">
                <a16:creationId xmlns:a16="http://schemas.microsoft.com/office/drawing/2014/main" id="{181E068A-F966-4704-B2E4-5DEA750D39ED}"/>
              </a:ext>
            </a:extLst>
          </p:cNvPr>
          <p:cNvSpPr>
            <a:spLocks noGrp="1"/>
          </p:cNvSpPr>
          <p:nvPr>
            <p:ph type="sldNum" sz="quarter" idx="12"/>
          </p:nvPr>
        </p:nvSpPr>
        <p:spPr>
          <a:xfrm>
            <a:off x="6781800" y="6448425"/>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0938CEC-93B5-4E94-9982-C80CE7C5310D}" type="slidenum">
              <a:rPr lang="en-US" altLang="zh-CN" sz="1000" smtClean="0">
                <a:ea typeface="宋体" panose="02010600030101010101" pitchFamily="2" charset="-122"/>
              </a:rPr>
              <a:pPr>
                <a:spcBef>
                  <a:spcPct val="0"/>
                </a:spcBef>
                <a:buClrTx/>
                <a:buFontTx/>
                <a:buNone/>
              </a:pPr>
              <a:t>5</a:t>
            </a:fld>
            <a:endParaRPr lang="en-US" altLang="zh-CN" sz="1000">
              <a:ea typeface="宋体" panose="02010600030101010101" pitchFamily="2" charset="-122"/>
            </a:endParaRPr>
          </a:p>
        </p:txBody>
      </p:sp>
      <p:sp>
        <p:nvSpPr>
          <p:cNvPr id="19458" name="Rectangle 2">
            <a:extLst>
              <a:ext uri="{FF2B5EF4-FFF2-40B4-BE49-F238E27FC236}">
                <a16:creationId xmlns:a16="http://schemas.microsoft.com/office/drawing/2014/main" id="{7D79F31C-FBEE-48A9-AD88-A8AC0F1D1F38}"/>
              </a:ext>
            </a:extLst>
          </p:cNvPr>
          <p:cNvSpPr>
            <a:spLocks noGrp="1" noChangeArrowheads="1"/>
          </p:cNvSpPr>
          <p:nvPr>
            <p:ph type="title"/>
          </p:nvPr>
        </p:nvSpPr>
        <p:spPr/>
        <p:txBody>
          <a:bodyPr/>
          <a:lstStyle/>
          <a:p>
            <a:pPr eaLnBrk="1" hangingPunct="1"/>
            <a:r>
              <a:rPr lang="zh-CN" altLang="en-US"/>
              <a:t>从降维问题说起</a:t>
            </a:r>
          </a:p>
        </p:txBody>
      </p:sp>
      <p:sp>
        <p:nvSpPr>
          <p:cNvPr id="19459" name="Rectangle 3">
            <a:extLst>
              <a:ext uri="{FF2B5EF4-FFF2-40B4-BE49-F238E27FC236}">
                <a16:creationId xmlns:a16="http://schemas.microsoft.com/office/drawing/2014/main" id="{E709CEBC-24CF-44AD-94FF-5DB7A5DF7930}"/>
              </a:ext>
            </a:extLst>
          </p:cNvPr>
          <p:cNvSpPr>
            <a:spLocks noGrp="1" noChangeArrowheads="1"/>
          </p:cNvSpPr>
          <p:nvPr>
            <p:ph type="body" sz="half" idx="1"/>
          </p:nvPr>
        </p:nvSpPr>
        <p:spPr>
          <a:xfrm>
            <a:off x="457200" y="1484313"/>
            <a:ext cx="8218488" cy="4530725"/>
          </a:xfrm>
        </p:spPr>
        <p:txBody>
          <a:bodyPr/>
          <a:lstStyle/>
          <a:p>
            <a:pPr eaLnBrk="1" hangingPunct="1"/>
            <a:r>
              <a:rPr lang="zh-CN" altLang="en-US"/>
              <a:t>降维的动机</a:t>
            </a:r>
          </a:p>
          <a:p>
            <a:pPr lvl="1" eaLnBrk="1" hangingPunct="1"/>
            <a:r>
              <a:rPr lang="zh-CN" altLang="en-US"/>
              <a:t>原始观察空间中的样本具有极大的信息冗余</a:t>
            </a:r>
          </a:p>
          <a:p>
            <a:pPr lvl="1" eaLnBrk="1" hangingPunct="1"/>
            <a:r>
              <a:rPr lang="zh-CN" altLang="en-US"/>
              <a:t>样本的高维数引发分类器设计的“维数灾难”</a:t>
            </a:r>
          </a:p>
          <a:p>
            <a:pPr lvl="1" eaLnBrk="1" hangingPunct="1"/>
            <a:r>
              <a:rPr lang="zh-CN" altLang="en-US">
                <a:solidFill>
                  <a:srgbClr val="FF0000"/>
                </a:solidFill>
              </a:rPr>
              <a:t>降维的意义</a:t>
            </a:r>
            <a:r>
              <a:rPr lang="zh-CN" altLang="en-US"/>
              <a:t>：克服维数灾难，获取本质特征，节省存储空间，去除无用噪声，实现数据可视化</a:t>
            </a:r>
            <a:endParaRPr kumimoji="1" lang="zh-CN" altLang="en-US"/>
          </a:p>
          <a:p>
            <a:pPr lvl="1" eaLnBrk="1" hangingPunct="1"/>
            <a:endParaRPr lang="zh-CN" altLang="en-US"/>
          </a:p>
        </p:txBody>
      </p:sp>
      <p:sp>
        <p:nvSpPr>
          <p:cNvPr id="19460" name="Rectangle 4">
            <a:extLst>
              <a:ext uri="{FF2B5EF4-FFF2-40B4-BE49-F238E27FC236}">
                <a16:creationId xmlns:a16="http://schemas.microsoft.com/office/drawing/2014/main" id="{4F81760E-1E0B-44AF-8A3B-7058C7F3800D}"/>
              </a:ext>
            </a:extLst>
          </p:cNvPr>
          <p:cNvSpPr>
            <a:spLocks noChangeArrowheads="1"/>
          </p:cNvSpPr>
          <p:nvPr/>
        </p:nvSpPr>
        <p:spPr bwMode="auto">
          <a:xfrm>
            <a:off x="0" y="2443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9461" name="Rectangle 5">
            <a:extLst>
              <a:ext uri="{FF2B5EF4-FFF2-40B4-BE49-F238E27FC236}">
                <a16:creationId xmlns:a16="http://schemas.microsoft.com/office/drawing/2014/main" id="{2281643B-C899-4AD0-A528-0345A49D3AD0}"/>
              </a:ext>
            </a:extLst>
          </p:cNvPr>
          <p:cNvSpPr>
            <a:spLocks noChangeArrowheads="1"/>
          </p:cNvSpPr>
          <p:nvPr/>
        </p:nvSpPr>
        <p:spPr bwMode="auto">
          <a:xfrm>
            <a:off x="0" y="2543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9462" name="Rectangle 6">
            <a:extLst>
              <a:ext uri="{FF2B5EF4-FFF2-40B4-BE49-F238E27FC236}">
                <a16:creationId xmlns:a16="http://schemas.microsoft.com/office/drawing/2014/main" id="{CE2A6BCD-26DB-4AC0-9C20-96D59A88A0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aphicFrame>
        <p:nvGraphicFramePr>
          <p:cNvPr id="690183" name="Object 7">
            <a:extLst>
              <a:ext uri="{FF2B5EF4-FFF2-40B4-BE49-F238E27FC236}">
                <a16:creationId xmlns:a16="http://schemas.microsoft.com/office/drawing/2014/main" id="{A53DF07E-A47B-412D-8DD7-33E93336C659}"/>
              </a:ext>
            </a:extLst>
          </p:cNvPr>
          <p:cNvGraphicFramePr>
            <a:graphicFrameLocks noChangeAspect="1"/>
          </p:cNvGraphicFramePr>
          <p:nvPr/>
        </p:nvGraphicFramePr>
        <p:xfrm>
          <a:off x="990600" y="4267200"/>
          <a:ext cx="3244850" cy="2181225"/>
        </p:xfrm>
        <a:graphic>
          <a:graphicData uri="http://schemas.openxmlformats.org/presentationml/2006/ole">
            <mc:AlternateContent xmlns:mc="http://schemas.openxmlformats.org/markup-compatibility/2006">
              <mc:Choice xmlns:v="urn:schemas-microsoft-com:vml" Requires="v">
                <p:oleObj spid="_x0000_s19501" name="图片" r:id="rId4" imgW="0" imgH="0" progId="Word.Picture.8">
                  <p:embed/>
                </p:oleObj>
              </mc:Choice>
              <mc:Fallback>
                <p:oleObj name="图片" r:id="rId4" imgW="0" imgH="0"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267200"/>
                        <a:ext cx="324485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0184" name="Object 8">
            <a:extLst>
              <a:ext uri="{FF2B5EF4-FFF2-40B4-BE49-F238E27FC236}">
                <a16:creationId xmlns:a16="http://schemas.microsoft.com/office/drawing/2014/main" id="{5C2B7113-363D-48D0-ACFF-8D2647444079}"/>
              </a:ext>
            </a:extLst>
          </p:cNvPr>
          <p:cNvGraphicFramePr>
            <a:graphicFrameLocks noChangeAspect="1"/>
          </p:cNvGraphicFramePr>
          <p:nvPr/>
        </p:nvGraphicFramePr>
        <p:xfrm>
          <a:off x="5715000" y="3810000"/>
          <a:ext cx="2749550" cy="2624138"/>
        </p:xfrm>
        <a:graphic>
          <a:graphicData uri="http://schemas.openxmlformats.org/presentationml/2006/ole">
            <mc:AlternateContent xmlns:mc="http://schemas.openxmlformats.org/markup-compatibility/2006">
              <mc:Choice xmlns:v="urn:schemas-microsoft-com:vml" Requires="v">
                <p:oleObj spid="_x0000_s19502" name="图片" r:id="rId6" imgW="0" imgH="0" progId="Word.Picture.8">
                  <p:embed/>
                </p:oleObj>
              </mc:Choice>
              <mc:Fallback>
                <p:oleObj name="图片" r:id="rId6" imgW="0" imgH="0" progId="Word.Picture.8">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810000"/>
                        <a:ext cx="2749550" cy="262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0185" name="AutoShape 9">
            <a:extLst>
              <a:ext uri="{FF2B5EF4-FFF2-40B4-BE49-F238E27FC236}">
                <a16:creationId xmlns:a16="http://schemas.microsoft.com/office/drawing/2014/main" id="{2212766C-1E1B-4167-8BCE-EA87152BBE93}"/>
              </a:ext>
            </a:extLst>
          </p:cNvPr>
          <p:cNvSpPr>
            <a:spLocks noChangeArrowheads="1"/>
          </p:cNvSpPr>
          <p:nvPr/>
        </p:nvSpPr>
        <p:spPr bwMode="auto">
          <a:xfrm>
            <a:off x="4295775" y="5029200"/>
            <a:ext cx="1343025" cy="574675"/>
          </a:xfrm>
          <a:prstGeom prst="chevron">
            <a:avLst>
              <a:gd name="adj" fmla="val 58425"/>
            </a:avLst>
          </a:prstGeom>
          <a:solidFill>
            <a:srgbClr val="CCFFFF"/>
          </a:solidFill>
          <a:ln w="28575" algn="ctr">
            <a:solidFill>
              <a:srgbClr val="99CCFF"/>
            </a:solidFill>
            <a:miter lim="800000"/>
            <a:headEnd/>
            <a:tailEnd/>
          </a:ln>
        </p:spPr>
        <p:txBody>
          <a:bodyPr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aphicFrame>
        <p:nvGraphicFramePr>
          <p:cNvPr id="690186" name="Object 10">
            <a:extLst>
              <a:ext uri="{FF2B5EF4-FFF2-40B4-BE49-F238E27FC236}">
                <a16:creationId xmlns:a16="http://schemas.microsoft.com/office/drawing/2014/main" id="{2566C4D9-B29A-40A3-BD87-A359302BC13A}"/>
              </a:ext>
            </a:extLst>
          </p:cNvPr>
          <p:cNvGraphicFramePr>
            <a:graphicFrameLocks noChangeAspect="1"/>
          </p:cNvGraphicFramePr>
          <p:nvPr/>
        </p:nvGraphicFramePr>
        <p:xfrm>
          <a:off x="1371600" y="3905250"/>
          <a:ext cx="3000375" cy="3028950"/>
        </p:xfrm>
        <a:graphic>
          <a:graphicData uri="http://schemas.openxmlformats.org/presentationml/2006/ole">
            <mc:AlternateContent xmlns:mc="http://schemas.openxmlformats.org/markup-compatibility/2006">
              <mc:Choice xmlns:v="urn:schemas-microsoft-com:vml" Requires="v">
                <p:oleObj spid="_x0000_s19503" name="图片" r:id="rId8" imgW="0" imgH="0" progId="Word.Picture.8">
                  <p:embed/>
                </p:oleObj>
              </mc:Choice>
              <mc:Fallback>
                <p:oleObj name="图片" r:id="rId8" imgW="0" imgH="0" progId="Word.Picture.8">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905250"/>
                        <a:ext cx="300037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0187" name="AutoShape 11">
            <a:extLst>
              <a:ext uri="{FF2B5EF4-FFF2-40B4-BE49-F238E27FC236}">
                <a16:creationId xmlns:a16="http://schemas.microsoft.com/office/drawing/2014/main" id="{8A560FAE-6602-470B-91FB-A5C4D2E7E803}"/>
              </a:ext>
            </a:extLst>
          </p:cNvPr>
          <p:cNvSpPr>
            <a:spLocks noChangeArrowheads="1"/>
          </p:cNvSpPr>
          <p:nvPr/>
        </p:nvSpPr>
        <p:spPr bwMode="auto">
          <a:xfrm>
            <a:off x="4038600" y="5029200"/>
            <a:ext cx="1343025" cy="574675"/>
          </a:xfrm>
          <a:prstGeom prst="chevron">
            <a:avLst>
              <a:gd name="adj" fmla="val 58425"/>
            </a:avLst>
          </a:prstGeom>
          <a:solidFill>
            <a:srgbClr val="CCFFFF"/>
          </a:solidFill>
          <a:ln w="28575" algn="ctr">
            <a:solidFill>
              <a:srgbClr val="99CCFF"/>
            </a:solidFill>
            <a:miter lim="800000"/>
            <a:headEnd/>
            <a:tailEnd/>
          </a:ln>
        </p:spPr>
        <p:txBody>
          <a:bodyPr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aphicFrame>
        <p:nvGraphicFramePr>
          <p:cNvPr id="690188" name="Object 12">
            <a:extLst>
              <a:ext uri="{FF2B5EF4-FFF2-40B4-BE49-F238E27FC236}">
                <a16:creationId xmlns:a16="http://schemas.microsoft.com/office/drawing/2014/main" id="{C973069E-EA27-4F47-A269-562D6A541882}"/>
              </a:ext>
            </a:extLst>
          </p:cNvPr>
          <p:cNvGraphicFramePr>
            <a:graphicFrameLocks noChangeAspect="1"/>
          </p:cNvGraphicFramePr>
          <p:nvPr/>
        </p:nvGraphicFramePr>
        <p:xfrm>
          <a:off x="5543550" y="3905250"/>
          <a:ext cx="2305050" cy="2876550"/>
        </p:xfrm>
        <a:graphic>
          <a:graphicData uri="http://schemas.openxmlformats.org/presentationml/2006/ole">
            <mc:AlternateContent xmlns:mc="http://schemas.openxmlformats.org/markup-compatibility/2006">
              <mc:Choice xmlns:v="urn:schemas-microsoft-com:vml" Requires="v">
                <p:oleObj spid="_x0000_s19504" name="图片" r:id="rId10" imgW="0" imgH="0" progId="Word.Picture.8">
                  <p:embed/>
                </p:oleObj>
              </mc:Choice>
              <mc:Fallback>
                <p:oleObj name="图片" r:id="rId10" imgW="0" imgH="0" progId="Word.Picture.8">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3550" y="3905250"/>
                        <a:ext cx="230505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90183"/>
                                        </p:tgtEl>
                                        <p:attrNameLst>
                                          <p:attrName>style.visibility</p:attrName>
                                        </p:attrNameLst>
                                      </p:cBhvr>
                                      <p:to>
                                        <p:strVal val="visible"/>
                                      </p:to>
                                    </p:set>
                                    <p:anim calcmode="lin" valueType="num">
                                      <p:cBhvr additive="base">
                                        <p:cTn id="7" dur="500" fill="hold"/>
                                        <p:tgtEl>
                                          <p:spTgt spid="690183"/>
                                        </p:tgtEl>
                                        <p:attrNameLst>
                                          <p:attrName>ppt_x</p:attrName>
                                        </p:attrNameLst>
                                      </p:cBhvr>
                                      <p:tavLst>
                                        <p:tav tm="0">
                                          <p:val>
                                            <p:strVal val="#ppt_x"/>
                                          </p:val>
                                        </p:tav>
                                        <p:tav tm="100000">
                                          <p:val>
                                            <p:strVal val="#ppt_x"/>
                                          </p:val>
                                        </p:tav>
                                      </p:tavLst>
                                    </p:anim>
                                    <p:anim calcmode="lin" valueType="num">
                                      <p:cBhvr additive="base">
                                        <p:cTn id="8" dur="500" fill="hold"/>
                                        <p:tgtEl>
                                          <p:spTgt spid="69018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nodeType="clickEffect">
                                  <p:stCondLst>
                                    <p:cond delay="0"/>
                                  </p:stCondLst>
                                  <p:childTnLst>
                                    <p:set>
                                      <p:cBhvr>
                                        <p:cTn id="12" dur="1" fill="hold">
                                          <p:stCondLst>
                                            <p:cond delay="0"/>
                                          </p:stCondLst>
                                        </p:cTn>
                                        <p:tgtEl>
                                          <p:spTgt spid="690185"/>
                                        </p:tgtEl>
                                        <p:attrNameLst>
                                          <p:attrName>style.visibility</p:attrName>
                                        </p:attrNameLst>
                                      </p:cBhvr>
                                      <p:to>
                                        <p:strVal val="visible"/>
                                      </p:to>
                                    </p:set>
                                    <p:anim calcmode="lin" valueType="num">
                                      <p:cBhvr>
                                        <p:cTn id="13" dur="500" fill="hold"/>
                                        <p:tgtEl>
                                          <p:spTgt spid="690185"/>
                                        </p:tgtEl>
                                        <p:attrNameLst>
                                          <p:attrName>ppt_x</p:attrName>
                                        </p:attrNameLst>
                                      </p:cBhvr>
                                      <p:tavLst>
                                        <p:tav tm="0">
                                          <p:val>
                                            <p:strVal val="#ppt_x-#ppt_w/2"/>
                                          </p:val>
                                        </p:tav>
                                        <p:tav tm="100000">
                                          <p:val>
                                            <p:strVal val="#ppt_x"/>
                                          </p:val>
                                        </p:tav>
                                      </p:tavLst>
                                    </p:anim>
                                    <p:anim calcmode="lin" valueType="num">
                                      <p:cBhvr>
                                        <p:cTn id="14" dur="500" fill="hold"/>
                                        <p:tgtEl>
                                          <p:spTgt spid="690185"/>
                                        </p:tgtEl>
                                        <p:attrNameLst>
                                          <p:attrName>ppt_y</p:attrName>
                                        </p:attrNameLst>
                                      </p:cBhvr>
                                      <p:tavLst>
                                        <p:tav tm="0">
                                          <p:val>
                                            <p:strVal val="#ppt_y"/>
                                          </p:val>
                                        </p:tav>
                                        <p:tav tm="100000">
                                          <p:val>
                                            <p:strVal val="#ppt_y"/>
                                          </p:val>
                                        </p:tav>
                                      </p:tavLst>
                                    </p:anim>
                                    <p:anim calcmode="lin" valueType="num">
                                      <p:cBhvr>
                                        <p:cTn id="15" dur="500" fill="hold"/>
                                        <p:tgtEl>
                                          <p:spTgt spid="690185"/>
                                        </p:tgtEl>
                                        <p:attrNameLst>
                                          <p:attrName>ppt_w</p:attrName>
                                        </p:attrNameLst>
                                      </p:cBhvr>
                                      <p:tavLst>
                                        <p:tav tm="0">
                                          <p:val>
                                            <p:fltVal val="0"/>
                                          </p:val>
                                        </p:tav>
                                        <p:tav tm="100000">
                                          <p:val>
                                            <p:strVal val="#ppt_w"/>
                                          </p:val>
                                        </p:tav>
                                      </p:tavLst>
                                    </p:anim>
                                    <p:anim calcmode="lin" valueType="num">
                                      <p:cBhvr>
                                        <p:cTn id="16" dur="500" fill="hold"/>
                                        <p:tgtEl>
                                          <p:spTgt spid="690185"/>
                                        </p:tgtEl>
                                        <p:attrNameLst>
                                          <p:attrName>ppt_h</p:attrName>
                                        </p:attrNameLst>
                                      </p:cBhvr>
                                      <p:tavLst>
                                        <p:tav tm="0">
                                          <p:val>
                                            <p:strVal val="#ppt_h"/>
                                          </p:val>
                                        </p:tav>
                                        <p:tav tm="100000">
                                          <p:val>
                                            <p:strVal val="#ppt_h"/>
                                          </p:val>
                                        </p:tav>
                                      </p:tavLst>
                                    </p:anim>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690184"/>
                                        </p:tgtEl>
                                        <p:attrNameLst>
                                          <p:attrName>style.visibility</p:attrName>
                                        </p:attrNameLst>
                                      </p:cBhvr>
                                      <p:to>
                                        <p:strVal val="visible"/>
                                      </p:to>
                                    </p:set>
                                    <p:animEffect transition="in" filter="dissolve">
                                      <p:cBhvr>
                                        <p:cTn id="20" dur="500"/>
                                        <p:tgtEl>
                                          <p:spTgt spid="6901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xit" presetSubtype="26" fill="hold" nodeType="clickEffect">
                                  <p:stCondLst>
                                    <p:cond delay="0"/>
                                  </p:stCondLst>
                                  <p:childTnLst>
                                    <p:animEffect transition="out" filter="barn(inHorizontal)">
                                      <p:cBhvr>
                                        <p:cTn id="24" dur="500"/>
                                        <p:tgtEl>
                                          <p:spTgt spid="690183"/>
                                        </p:tgtEl>
                                      </p:cBhvr>
                                    </p:animEffect>
                                    <p:set>
                                      <p:cBhvr>
                                        <p:cTn id="25" dur="1" fill="hold">
                                          <p:stCondLst>
                                            <p:cond delay="499"/>
                                          </p:stCondLst>
                                        </p:cTn>
                                        <p:tgtEl>
                                          <p:spTgt spid="690183"/>
                                        </p:tgtEl>
                                        <p:attrNameLst>
                                          <p:attrName>style.visibility</p:attrName>
                                        </p:attrNameLst>
                                      </p:cBhvr>
                                      <p:to>
                                        <p:strVal val="hidden"/>
                                      </p:to>
                                    </p:set>
                                  </p:childTnLst>
                                </p:cTn>
                              </p:par>
                              <p:par>
                                <p:cTn id="26" presetID="16" presetClass="exit" presetSubtype="26" fill="hold" nodeType="withEffect">
                                  <p:stCondLst>
                                    <p:cond delay="0"/>
                                  </p:stCondLst>
                                  <p:childTnLst>
                                    <p:animEffect transition="out" filter="barn(inHorizontal)">
                                      <p:cBhvr>
                                        <p:cTn id="27" dur="500"/>
                                        <p:tgtEl>
                                          <p:spTgt spid="690185"/>
                                        </p:tgtEl>
                                      </p:cBhvr>
                                    </p:animEffect>
                                    <p:set>
                                      <p:cBhvr>
                                        <p:cTn id="28" dur="1" fill="hold">
                                          <p:stCondLst>
                                            <p:cond delay="499"/>
                                          </p:stCondLst>
                                        </p:cTn>
                                        <p:tgtEl>
                                          <p:spTgt spid="690185"/>
                                        </p:tgtEl>
                                        <p:attrNameLst>
                                          <p:attrName>style.visibility</p:attrName>
                                        </p:attrNameLst>
                                      </p:cBhvr>
                                      <p:to>
                                        <p:strVal val="hidden"/>
                                      </p:to>
                                    </p:set>
                                  </p:childTnLst>
                                </p:cTn>
                              </p:par>
                              <p:par>
                                <p:cTn id="29" presetID="16" presetClass="exit" presetSubtype="26" fill="hold" nodeType="withEffect">
                                  <p:stCondLst>
                                    <p:cond delay="0"/>
                                  </p:stCondLst>
                                  <p:childTnLst>
                                    <p:animEffect transition="out" filter="barn(inHorizontal)">
                                      <p:cBhvr>
                                        <p:cTn id="30" dur="500"/>
                                        <p:tgtEl>
                                          <p:spTgt spid="690184"/>
                                        </p:tgtEl>
                                      </p:cBhvr>
                                    </p:animEffect>
                                    <p:set>
                                      <p:cBhvr>
                                        <p:cTn id="31" dur="1" fill="hold">
                                          <p:stCondLst>
                                            <p:cond delay="499"/>
                                          </p:stCondLst>
                                        </p:cTn>
                                        <p:tgtEl>
                                          <p:spTgt spid="690184"/>
                                        </p:tgtEl>
                                        <p:attrNameLst>
                                          <p:attrName>style.visibility</p:attrName>
                                        </p:attrNameLst>
                                      </p:cBhvr>
                                      <p:to>
                                        <p:strVal val="hidden"/>
                                      </p:to>
                                    </p:set>
                                  </p:childTnLst>
                                </p:cTn>
                              </p:par>
                            </p:childTnLst>
                          </p:cTn>
                        </p:par>
                        <p:par>
                          <p:cTn id="32" fill="hold" nodeType="afterGroup">
                            <p:stCondLst>
                              <p:cond delay="500"/>
                            </p:stCondLst>
                            <p:childTnLst>
                              <p:par>
                                <p:cTn id="33" presetID="6" presetClass="entr" presetSubtype="16" fill="hold" nodeType="afterEffect">
                                  <p:stCondLst>
                                    <p:cond delay="0"/>
                                  </p:stCondLst>
                                  <p:childTnLst>
                                    <p:set>
                                      <p:cBhvr>
                                        <p:cTn id="34" dur="1" fill="hold">
                                          <p:stCondLst>
                                            <p:cond delay="0"/>
                                          </p:stCondLst>
                                        </p:cTn>
                                        <p:tgtEl>
                                          <p:spTgt spid="690186"/>
                                        </p:tgtEl>
                                        <p:attrNameLst>
                                          <p:attrName>style.visibility</p:attrName>
                                        </p:attrNameLst>
                                      </p:cBhvr>
                                      <p:to>
                                        <p:strVal val="visible"/>
                                      </p:to>
                                    </p:set>
                                    <p:animEffect transition="in" filter="circle(in)">
                                      <p:cBhvr>
                                        <p:cTn id="35" dur="1000"/>
                                        <p:tgtEl>
                                          <p:spTgt spid="69018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nodeType="clickEffect">
                                  <p:stCondLst>
                                    <p:cond delay="0"/>
                                  </p:stCondLst>
                                  <p:childTnLst>
                                    <p:set>
                                      <p:cBhvr>
                                        <p:cTn id="39" dur="1" fill="hold">
                                          <p:stCondLst>
                                            <p:cond delay="0"/>
                                          </p:stCondLst>
                                        </p:cTn>
                                        <p:tgtEl>
                                          <p:spTgt spid="690187"/>
                                        </p:tgtEl>
                                        <p:attrNameLst>
                                          <p:attrName>style.visibility</p:attrName>
                                        </p:attrNameLst>
                                      </p:cBhvr>
                                      <p:to>
                                        <p:strVal val="visible"/>
                                      </p:to>
                                    </p:set>
                                    <p:anim calcmode="lin" valueType="num">
                                      <p:cBhvr>
                                        <p:cTn id="40" dur="500" fill="hold"/>
                                        <p:tgtEl>
                                          <p:spTgt spid="690187"/>
                                        </p:tgtEl>
                                        <p:attrNameLst>
                                          <p:attrName>ppt_x</p:attrName>
                                        </p:attrNameLst>
                                      </p:cBhvr>
                                      <p:tavLst>
                                        <p:tav tm="0">
                                          <p:val>
                                            <p:strVal val="#ppt_x-#ppt_w/2"/>
                                          </p:val>
                                        </p:tav>
                                        <p:tav tm="100000">
                                          <p:val>
                                            <p:strVal val="#ppt_x"/>
                                          </p:val>
                                        </p:tav>
                                      </p:tavLst>
                                    </p:anim>
                                    <p:anim calcmode="lin" valueType="num">
                                      <p:cBhvr>
                                        <p:cTn id="41" dur="500" fill="hold"/>
                                        <p:tgtEl>
                                          <p:spTgt spid="690187"/>
                                        </p:tgtEl>
                                        <p:attrNameLst>
                                          <p:attrName>ppt_y</p:attrName>
                                        </p:attrNameLst>
                                      </p:cBhvr>
                                      <p:tavLst>
                                        <p:tav tm="0">
                                          <p:val>
                                            <p:strVal val="#ppt_y"/>
                                          </p:val>
                                        </p:tav>
                                        <p:tav tm="100000">
                                          <p:val>
                                            <p:strVal val="#ppt_y"/>
                                          </p:val>
                                        </p:tav>
                                      </p:tavLst>
                                    </p:anim>
                                    <p:anim calcmode="lin" valueType="num">
                                      <p:cBhvr>
                                        <p:cTn id="42" dur="500" fill="hold"/>
                                        <p:tgtEl>
                                          <p:spTgt spid="690187"/>
                                        </p:tgtEl>
                                        <p:attrNameLst>
                                          <p:attrName>ppt_w</p:attrName>
                                        </p:attrNameLst>
                                      </p:cBhvr>
                                      <p:tavLst>
                                        <p:tav tm="0">
                                          <p:val>
                                            <p:fltVal val="0"/>
                                          </p:val>
                                        </p:tav>
                                        <p:tav tm="100000">
                                          <p:val>
                                            <p:strVal val="#ppt_w"/>
                                          </p:val>
                                        </p:tav>
                                      </p:tavLst>
                                    </p:anim>
                                    <p:anim calcmode="lin" valueType="num">
                                      <p:cBhvr>
                                        <p:cTn id="43" dur="500" fill="hold"/>
                                        <p:tgtEl>
                                          <p:spTgt spid="690187"/>
                                        </p:tgtEl>
                                        <p:attrNameLst>
                                          <p:attrName>ppt_h</p:attrName>
                                        </p:attrNameLst>
                                      </p:cBhvr>
                                      <p:tavLst>
                                        <p:tav tm="0">
                                          <p:val>
                                            <p:strVal val="#ppt_h"/>
                                          </p:val>
                                        </p:tav>
                                        <p:tav tm="100000">
                                          <p:val>
                                            <p:strVal val="#ppt_h"/>
                                          </p:val>
                                        </p:tav>
                                      </p:tavLst>
                                    </p:anim>
                                  </p:childTnLst>
                                </p:cTn>
                              </p:par>
                            </p:childTnLst>
                          </p:cTn>
                        </p:par>
                        <p:par>
                          <p:cTn id="44" fill="hold" nodeType="afterGroup">
                            <p:stCondLst>
                              <p:cond delay="500"/>
                            </p:stCondLst>
                            <p:childTnLst>
                              <p:par>
                                <p:cTn id="45" presetID="13" presetClass="entr" presetSubtype="16" fill="hold" nodeType="afterEffect">
                                  <p:stCondLst>
                                    <p:cond delay="0"/>
                                  </p:stCondLst>
                                  <p:childTnLst>
                                    <p:set>
                                      <p:cBhvr>
                                        <p:cTn id="46" dur="1" fill="hold">
                                          <p:stCondLst>
                                            <p:cond delay="0"/>
                                          </p:stCondLst>
                                        </p:cTn>
                                        <p:tgtEl>
                                          <p:spTgt spid="690188"/>
                                        </p:tgtEl>
                                        <p:attrNameLst>
                                          <p:attrName>style.visibility</p:attrName>
                                        </p:attrNameLst>
                                      </p:cBhvr>
                                      <p:to>
                                        <p:strVal val="visible"/>
                                      </p:to>
                                    </p:set>
                                    <p:animEffect transition="in" filter="plus(in)">
                                      <p:cBhvr>
                                        <p:cTn id="47" dur="1000"/>
                                        <p:tgtEl>
                                          <p:spTgt spid="690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5" grpId="0" animBg="1"/>
      <p:bldP spid="690185" grpId="1" animBg="1"/>
      <p:bldP spid="69018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6">
            <a:extLst>
              <a:ext uri="{FF2B5EF4-FFF2-40B4-BE49-F238E27FC236}">
                <a16:creationId xmlns:a16="http://schemas.microsoft.com/office/drawing/2014/main" id="{4A269901-A3D8-4AE4-9798-E31DBB4E91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AEF9DDB-AC7B-4A0E-9009-CECFB102C1B3}" type="slidenum">
              <a:rPr lang="en-US" altLang="zh-CN" sz="1000" smtClean="0">
                <a:ea typeface="宋体" panose="02010600030101010101" pitchFamily="2" charset="-122"/>
              </a:rPr>
              <a:pPr>
                <a:spcBef>
                  <a:spcPct val="0"/>
                </a:spcBef>
                <a:buClrTx/>
                <a:buFontTx/>
                <a:buNone/>
              </a:pPr>
              <a:t>6</a:t>
            </a:fld>
            <a:endParaRPr lang="en-US" altLang="zh-CN" sz="1000">
              <a:ea typeface="宋体" panose="02010600030101010101" pitchFamily="2" charset="-122"/>
            </a:endParaRPr>
          </a:p>
        </p:txBody>
      </p:sp>
      <p:sp>
        <p:nvSpPr>
          <p:cNvPr id="21506" name="Rectangle 2">
            <a:extLst>
              <a:ext uri="{FF2B5EF4-FFF2-40B4-BE49-F238E27FC236}">
                <a16:creationId xmlns:a16="http://schemas.microsoft.com/office/drawing/2014/main" id="{E2B16BF0-8605-49A8-90FF-0359944B33F4}"/>
              </a:ext>
            </a:extLst>
          </p:cNvPr>
          <p:cNvSpPr>
            <a:spLocks noGrp="1" noChangeArrowheads="1"/>
          </p:cNvSpPr>
          <p:nvPr>
            <p:ph type="title"/>
          </p:nvPr>
        </p:nvSpPr>
        <p:spPr/>
        <p:txBody>
          <a:bodyPr/>
          <a:lstStyle/>
          <a:p>
            <a:pPr eaLnBrk="1" hangingPunct="1"/>
            <a:r>
              <a:rPr lang="zh-CN" altLang="en-US"/>
              <a:t>从降维问题说起</a:t>
            </a:r>
          </a:p>
        </p:txBody>
      </p:sp>
      <p:sp>
        <p:nvSpPr>
          <p:cNvPr id="21507" name="Rectangle 3">
            <a:extLst>
              <a:ext uri="{FF2B5EF4-FFF2-40B4-BE49-F238E27FC236}">
                <a16:creationId xmlns:a16="http://schemas.microsoft.com/office/drawing/2014/main" id="{93E460CE-3C77-4C01-8AAC-4D0FEBFD43E4}"/>
              </a:ext>
            </a:extLst>
          </p:cNvPr>
          <p:cNvSpPr>
            <a:spLocks noGrp="1" noChangeArrowheads="1"/>
          </p:cNvSpPr>
          <p:nvPr>
            <p:ph type="body" sz="half" idx="1"/>
          </p:nvPr>
        </p:nvSpPr>
        <p:spPr>
          <a:xfrm>
            <a:off x="457200" y="1484313"/>
            <a:ext cx="8218488" cy="4530725"/>
          </a:xfrm>
        </p:spPr>
        <p:txBody>
          <a:bodyPr/>
          <a:lstStyle/>
          <a:p>
            <a:pPr eaLnBrk="1" hangingPunct="1"/>
            <a:r>
              <a:rPr lang="zh-CN" altLang="en-US"/>
              <a:t>降维的动机</a:t>
            </a:r>
          </a:p>
        </p:txBody>
      </p:sp>
      <p:sp>
        <p:nvSpPr>
          <p:cNvPr id="21508" name="Rectangle 4">
            <a:extLst>
              <a:ext uri="{FF2B5EF4-FFF2-40B4-BE49-F238E27FC236}">
                <a16:creationId xmlns:a16="http://schemas.microsoft.com/office/drawing/2014/main" id="{4266EBE0-8CEA-4461-8BED-51428FBFB024}"/>
              </a:ext>
            </a:extLst>
          </p:cNvPr>
          <p:cNvSpPr>
            <a:spLocks noChangeArrowheads="1"/>
          </p:cNvSpPr>
          <p:nvPr/>
        </p:nvSpPr>
        <p:spPr bwMode="auto">
          <a:xfrm>
            <a:off x="0" y="2443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09" name="Rectangle 5">
            <a:extLst>
              <a:ext uri="{FF2B5EF4-FFF2-40B4-BE49-F238E27FC236}">
                <a16:creationId xmlns:a16="http://schemas.microsoft.com/office/drawing/2014/main" id="{2CB0EA9C-0D89-4DF6-8D55-C8C2D9236E2A}"/>
              </a:ext>
            </a:extLst>
          </p:cNvPr>
          <p:cNvSpPr>
            <a:spLocks noChangeArrowheads="1"/>
          </p:cNvSpPr>
          <p:nvPr/>
        </p:nvSpPr>
        <p:spPr bwMode="auto">
          <a:xfrm>
            <a:off x="0" y="2543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10" name="Rectangle 6">
            <a:extLst>
              <a:ext uri="{FF2B5EF4-FFF2-40B4-BE49-F238E27FC236}">
                <a16:creationId xmlns:a16="http://schemas.microsoft.com/office/drawing/2014/main" id="{FAEEF722-AACC-4FA6-A6E4-C77400DCC0B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pSp>
        <p:nvGrpSpPr>
          <p:cNvPr id="21511" name="Group 29">
            <a:extLst>
              <a:ext uri="{FF2B5EF4-FFF2-40B4-BE49-F238E27FC236}">
                <a16:creationId xmlns:a16="http://schemas.microsoft.com/office/drawing/2014/main" id="{7466F062-5938-4A45-942A-01C48CBE0C3E}"/>
              </a:ext>
            </a:extLst>
          </p:cNvPr>
          <p:cNvGrpSpPr>
            <a:grpSpLocks/>
          </p:cNvGrpSpPr>
          <p:nvPr/>
        </p:nvGrpSpPr>
        <p:grpSpPr bwMode="auto">
          <a:xfrm>
            <a:off x="1066800" y="2189163"/>
            <a:ext cx="7010400" cy="3754437"/>
            <a:chOff x="672" y="1331"/>
            <a:chExt cx="4416" cy="2365"/>
          </a:xfrm>
        </p:grpSpPr>
        <p:graphicFrame>
          <p:nvGraphicFramePr>
            <p:cNvPr id="21513" name="Object 13">
              <a:extLst>
                <a:ext uri="{FF2B5EF4-FFF2-40B4-BE49-F238E27FC236}">
                  <a16:creationId xmlns:a16="http://schemas.microsoft.com/office/drawing/2014/main" id="{768B1846-8DE5-4C0E-BD76-4E16B6AB1753}"/>
                </a:ext>
              </a:extLst>
            </p:cNvPr>
            <p:cNvGraphicFramePr>
              <a:graphicFrameLocks noChangeAspect="1"/>
            </p:cNvGraphicFramePr>
            <p:nvPr/>
          </p:nvGraphicFramePr>
          <p:xfrm>
            <a:off x="2844" y="2271"/>
            <a:ext cx="72" cy="136"/>
          </p:xfrm>
          <a:graphic>
            <a:graphicData uri="http://schemas.openxmlformats.org/presentationml/2006/ole">
              <mc:AlternateContent xmlns:mc="http://schemas.openxmlformats.org/markup-compatibility/2006">
                <mc:Choice xmlns:v="urn:schemas-microsoft-com:vml" Requires="v">
                  <p:oleObj spid="_x0000_s21532" name="Equation" r:id="rId3" imgW="0" imgH="0" progId="Equation.3">
                    <p:embed/>
                  </p:oleObj>
                </mc:Choice>
                <mc:Fallback>
                  <p:oleObj name="Equation" r:id="rId3" imgW="0" imgH="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271"/>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4" name="Oval 14">
              <a:extLst>
                <a:ext uri="{FF2B5EF4-FFF2-40B4-BE49-F238E27FC236}">
                  <a16:creationId xmlns:a16="http://schemas.microsoft.com/office/drawing/2014/main" id="{65B3E9EB-65B8-4A97-AE2B-3E0F5691357F}"/>
                </a:ext>
              </a:extLst>
            </p:cNvPr>
            <p:cNvSpPr>
              <a:spLocks noChangeArrowheads="1"/>
            </p:cNvSpPr>
            <p:nvPr/>
          </p:nvSpPr>
          <p:spPr bwMode="auto">
            <a:xfrm>
              <a:off x="672" y="1331"/>
              <a:ext cx="1008" cy="52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15" name="Text Box 15">
              <a:extLst>
                <a:ext uri="{FF2B5EF4-FFF2-40B4-BE49-F238E27FC236}">
                  <a16:creationId xmlns:a16="http://schemas.microsoft.com/office/drawing/2014/main" id="{BF822BC3-B5E9-4E79-B596-1DC23EED69B5}"/>
                </a:ext>
              </a:extLst>
            </p:cNvPr>
            <p:cNvSpPr txBox="1">
              <a:spLocks noChangeArrowheads="1"/>
            </p:cNvSpPr>
            <p:nvPr/>
          </p:nvSpPr>
          <p:spPr bwMode="auto">
            <a:xfrm>
              <a:off x="751" y="1340"/>
              <a:ext cx="86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增加特征数</a:t>
              </a:r>
            </a:p>
          </p:txBody>
        </p:sp>
        <p:sp>
          <p:nvSpPr>
            <p:cNvPr id="21516" name="AutoShape 16">
              <a:extLst>
                <a:ext uri="{FF2B5EF4-FFF2-40B4-BE49-F238E27FC236}">
                  <a16:creationId xmlns:a16="http://schemas.microsoft.com/office/drawing/2014/main" id="{2D4C6EA0-567C-457E-B8B5-F9DE45E955D9}"/>
                </a:ext>
              </a:extLst>
            </p:cNvPr>
            <p:cNvSpPr>
              <a:spLocks noChangeArrowheads="1"/>
            </p:cNvSpPr>
            <p:nvPr/>
          </p:nvSpPr>
          <p:spPr bwMode="auto">
            <a:xfrm>
              <a:off x="1776" y="1523"/>
              <a:ext cx="528" cy="240"/>
            </a:xfrm>
            <a:prstGeom prst="rightArrow">
              <a:avLst>
                <a:gd name="adj1" fmla="val 50000"/>
                <a:gd name="adj2" fmla="val 55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17" name="Oval 17">
              <a:extLst>
                <a:ext uri="{FF2B5EF4-FFF2-40B4-BE49-F238E27FC236}">
                  <a16:creationId xmlns:a16="http://schemas.microsoft.com/office/drawing/2014/main" id="{E39BBC07-0454-4120-892D-1E9C45082287}"/>
                </a:ext>
              </a:extLst>
            </p:cNvPr>
            <p:cNvSpPr>
              <a:spLocks noChangeArrowheads="1"/>
            </p:cNvSpPr>
            <p:nvPr/>
          </p:nvSpPr>
          <p:spPr bwMode="auto">
            <a:xfrm>
              <a:off x="2472" y="1383"/>
              <a:ext cx="907" cy="59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18" name="Text Box 18">
              <a:extLst>
                <a:ext uri="{FF2B5EF4-FFF2-40B4-BE49-F238E27FC236}">
                  <a16:creationId xmlns:a16="http://schemas.microsoft.com/office/drawing/2014/main" id="{4F7E9261-3AA7-4B42-94D2-831A8F512925}"/>
                </a:ext>
              </a:extLst>
            </p:cNvPr>
            <p:cNvSpPr txBox="1">
              <a:spLocks noChangeArrowheads="1"/>
            </p:cNvSpPr>
            <p:nvPr/>
          </p:nvSpPr>
          <p:spPr bwMode="auto">
            <a:xfrm>
              <a:off x="2525" y="1431"/>
              <a:ext cx="76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增加信息量</a:t>
              </a:r>
            </a:p>
          </p:txBody>
        </p:sp>
        <p:sp>
          <p:nvSpPr>
            <p:cNvPr id="21519" name="AutoShape 19">
              <a:extLst>
                <a:ext uri="{FF2B5EF4-FFF2-40B4-BE49-F238E27FC236}">
                  <a16:creationId xmlns:a16="http://schemas.microsoft.com/office/drawing/2014/main" id="{AE9D2807-0A04-4F80-97C6-6EF7D2C073AA}"/>
                </a:ext>
              </a:extLst>
            </p:cNvPr>
            <p:cNvSpPr>
              <a:spLocks noChangeArrowheads="1"/>
            </p:cNvSpPr>
            <p:nvPr/>
          </p:nvSpPr>
          <p:spPr bwMode="auto">
            <a:xfrm>
              <a:off x="3504" y="1523"/>
              <a:ext cx="528" cy="288"/>
            </a:xfrm>
            <a:prstGeom prst="rightArrow">
              <a:avLst>
                <a:gd name="adj1" fmla="val 50000"/>
                <a:gd name="adj2" fmla="val 45833"/>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0" name="Oval 20">
              <a:extLst>
                <a:ext uri="{FF2B5EF4-FFF2-40B4-BE49-F238E27FC236}">
                  <a16:creationId xmlns:a16="http://schemas.microsoft.com/office/drawing/2014/main" id="{58396789-6EC3-448E-90EA-78CA42173AB6}"/>
                </a:ext>
              </a:extLst>
            </p:cNvPr>
            <p:cNvSpPr>
              <a:spLocks noChangeArrowheads="1"/>
            </p:cNvSpPr>
            <p:nvPr/>
          </p:nvSpPr>
          <p:spPr bwMode="auto">
            <a:xfrm>
              <a:off x="4080" y="1379"/>
              <a:ext cx="1008" cy="52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1" name="Text Box 21">
              <a:extLst>
                <a:ext uri="{FF2B5EF4-FFF2-40B4-BE49-F238E27FC236}">
                  <a16:creationId xmlns:a16="http://schemas.microsoft.com/office/drawing/2014/main" id="{E8A54DE0-5103-4BFC-B584-FC283CC8D817}"/>
                </a:ext>
              </a:extLst>
            </p:cNvPr>
            <p:cNvSpPr txBox="1">
              <a:spLocks noChangeArrowheads="1"/>
            </p:cNvSpPr>
            <p:nvPr/>
          </p:nvSpPr>
          <p:spPr bwMode="auto">
            <a:xfrm>
              <a:off x="4220" y="1387"/>
              <a:ext cx="76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提高准确性</a:t>
              </a:r>
            </a:p>
          </p:txBody>
        </p:sp>
        <p:sp>
          <p:nvSpPr>
            <p:cNvPr id="21522" name="AutoShape 22">
              <a:extLst>
                <a:ext uri="{FF2B5EF4-FFF2-40B4-BE49-F238E27FC236}">
                  <a16:creationId xmlns:a16="http://schemas.microsoft.com/office/drawing/2014/main" id="{DB3347E5-B472-4398-9D75-12BB04AE89D5}"/>
                </a:ext>
              </a:extLst>
            </p:cNvPr>
            <p:cNvSpPr>
              <a:spLocks noChangeArrowheads="1"/>
            </p:cNvSpPr>
            <p:nvPr/>
          </p:nvSpPr>
          <p:spPr bwMode="auto">
            <a:xfrm>
              <a:off x="1097" y="1926"/>
              <a:ext cx="150" cy="409"/>
            </a:xfrm>
            <a:prstGeom prst="downArrow">
              <a:avLst>
                <a:gd name="adj1" fmla="val 50000"/>
                <a:gd name="adj2" fmla="val 68167"/>
              </a:avLst>
            </a:prstGeom>
            <a:solidFill>
              <a:schemeClr val="accent1"/>
            </a:solidFill>
            <a:ln w="9525">
              <a:solidFill>
                <a:schemeClr val="tx1"/>
              </a:solidFill>
              <a:miter lim="800000"/>
              <a:headEnd/>
              <a:tailEnd/>
            </a:ln>
          </p:spPr>
          <p:txBody>
            <a:bodyPr vert="eaVert"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3" name="Oval 23">
              <a:extLst>
                <a:ext uri="{FF2B5EF4-FFF2-40B4-BE49-F238E27FC236}">
                  <a16:creationId xmlns:a16="http://schemas.microsoft.com/office/drawing/2014/main" id="{FACCED12-621D-40CC-9EF8-5A6BEA4FF79A}"/>
                </a:ext>
              </a:extLst>
            </p:cNvPr>
            <p:cNvSpPr>
              <a:spLocks noChangeArrowheads="1"/>
            </p:cNvSpPr>
            <p:nvPr/>
          </p:nvSpPr>
          <p:spPr bwMode="auto">
            <a:xfrm>
              <a:off x="864" y="2400"/>
              <a:ext cx="624" cy="129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4" name="Text Box 24">
              <a:extLst>
                <a:ext uri="{FF2B5EF4-FFF2-40B4-BE49-F238E27FC236}">
                  <a16:creationId xmlns:a16="http://schemas.microsoft.com/office/drawing/2014/main" id="{94D0EE32-3086-4016-A790-8E3D19848AA7}"/>
                </a:ext>
              </a:extLst>
            </p:cNvPr>
            <p:cNvSpPr txBox="1">
              <a:spLocks noChangeArrowheads="1"/>
            </p:cNvSpPr>
            <p:nvPr/>
          </p:nvSpPr>
          <p:spPr bwMode="auto">
            <a:xfrm>
              <a:off x="912" y="2544"/>
              <a:ext cx="576"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增加训练分类器的难度</a:t>
              </a:r>
            </a:p>
          </p:txBody>
        </p:sp>
        <p:sp>
          <p:nvSpPr>
            <p:cNvPr id="21525" name="AutoShape 25">
              <a:extLst>
                <a:ext uri="{FF2B5EF4-FFF2-40B4-BE49-F238E27FC236}">
                  <a16:creationId xmlns:a16="http://schemas.microsoft.com/office/drawing/2014/main" id="{451ED028-68E5-4901-A5EF-4693D537E8EB}"/>
                </a:ext>
              </a:extLst>
            </p:cNvPr>
            <p:cNvSpPr>
              <a:spLocks noChangeArrowheads="1"/>
            </p:cNvSpPr>
            <p:nvPr/>
          </p:nvSpPr>
          <p:spPr bwMode="auto">
            <a:xfrm>
              <a:off x="1610" y="2957"/>
              <a:ext cx="672" cy="240"/>
            </a:xfrm>
            <a:prstGeom prst="leftRightArrow">
              <a:avLst>
                <a:gd name="adj1" fmla="val 50000"/>
                <a:gd name="adj2" fmla="val 56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6" name="Oval 26">
              <a:extLst>
                <a:ext uri="{FF2B5EF4-FFF2-40B4-BE49-F238E27FC236}">
                  <a16:creationId xmlns:a16="http://schemas.microsoft.com/office/drawing/2014/main" id="{6CB7F21E-4D47-41B4-9C72-3FD8143EF85C}"/>
                </a:ext>
              </a:extLst>
            </p:cNvPr>
            <p:cNvSpPr>
              <a:spLocks noChangeArrowheads="1"/>
            </p:cNvSpPr>
            <p:nvPr/>
          </p:nvSpPr>
          <p:spPr bwMode="auto">
            <a:xfrm>
              <a:off x="2381" y="2771"/>
              <a:ext cx="1056" cy="57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1527" name="Text Box 27">
              <a:extLst>
                <a:ext uri="{FF2B5EF4-FFF2-40B4-BE49-F238E27FC236}">
                  <a16:creationId xmlns:a16="http://schemas.microsoft.com/office/drawing/2014/main" id="{F35D434F-C34E-4CE6-A28A-9DC890D14B6F}"/>
                </a:ext>
              </a:extLst>
            </p:cNvPr>
            <p:cNvSpPr txBox="1">
              <a:spLocks noChangeArrowheads="1"/>
            </p:cNvSpPr>
            <p:nvPr/>
          </p:nvSpPr>
          <p:spPr bwMode="auto">
            <a:xfrm>
              <a:off x="2509" y="2915"/>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维数灾难</a:t>
              </a:r>
            </a:p>
          </p:txBody>
        </p:sp>
      </p:grpSp>
      <p:sp>
        <p:nvSpPr>
          <p:cNvPr id="21512" name="Text Box 28">
            <a:extLst>
              <a:ext uri="{FF2B5EF4-FFF2-40B4-BE49-F238E27FC236}">
                <a16:creationId xmlns:a16="http://schemas.microsoft.com/office/drawing/2014/main" id="{F234B32E-4694-4C48-AF48-2CE20205EA99}"/>
              </a:ext>
            </a:extLst>
          </p:cNvPr>
          <p:cNvSpPr txBox="1">
            <a:spLocks noChangeArrowheads="1"/>
          </p:cNvSpPr>
          <p:nvPr/>
        </p:nvSpPr>
        <p:spPr bwMode="auto">
          <a:xfrm>
            <a:off x="1066800" y="6003925"/>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000" b="1">
                <a:latin typeface="黑体" panose="02010609060101010101" pitchFamily="49" charset="-122"/>
              </a:rPr>
              <a:t>解决办法：选取尽可能多的</a:t>
            </a:r>
            <a:r>
              <a:rPr kumimoji="1" lang="en-US" altLang="zh-CN" sz="2000" b="1">
                <a:latin typeface="黑体" panose="02010609060101010101" pitchFamily="49" charset="-122"/>
              </a:rPr>
              <a:t>, </a:t>
            </a:r>
            <a:r>
              <a:rPr kumimoji="1" lang="zh-CN" altLang="en-US" sz="2000" b="1">
                <a:latin typeface="黑体" panose="02010609060101010101" pitchFamily="49" charset="-122"/>
              </a:rPr>
              <a:t>可能有用的特征</a:t>
            </a:r>
            <a:r>
              <a:rPr kumimoji="1" lang="en-US" altLang="zh-CN" sz="2000" b="1">
                <a:latin typeface="黑体" panose="02010609060101010101" pitchFamily="49" charset="-122"/>
              </a:rPr>
              <a:t>, </a:t>
            </a:r>
            <a:r>
              <a:rPr kumimoji="1" lang="zh-CN" altLang="en-US" sz="2000" b="1">
                <a:latin typeface="黑体" panose="02010609060101010101" pitchFamily="49" charset="-122"/>
              </a:rPr>
              <a:t>然后根据需要进行特征</a:t>
            </a:r>
            <a:r>
              <a:rPr kumimoji="1" lang="en-US" altLang="zh-CN" sz="2000" b="1">
                <a:latin typeface="黑体" panose="02010609060101010101" pitchFamily="49" charset="-122"/>
              </a:rPr>
              <a:t>/</a:t>
            </a:r>
            <a:r>
              <a:rPr kumimoji="1" lang="zh-CN" altLang="en-US" sz="2000" b="1">
                <a:latin typeface="黑体" panose="02010609060101010101" pitchFamily="49" charset="-122"/>
              </a:rPr>
              <a:t>维数约简</a:t>
            </a:r>
            <a:r>
              <a:rPr kumimoji="1" lang="en-US" altLang="zh-CN" sz="2000" b="1">
                <a:latin typeface="黑体" panose="02010609060101010101" pitchFamily="49"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6">
            <a:extLst>
              <a:ext uri="{FF2B5EF4-FFF2-40B4-BE49-F238E27FC236}">
                <a16:creationId xmlns:a16="http://schemas.microsoft.com/office/drawing/2014/main" id="{E9970FDE-AD47-4E7D-8822-DF6FC6B1C2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1E0AD41-D531-4BB5-A216-6416B62BF2B2}" type="slidenum">
              <a:rPr lang="en-US" altLang="zh-CN" sz="1000" smtClean="0">
                <a:ea typeface="宋体" panose="02010600030101010101" pitchFamily="2" charset="-122"/>
              </a:rPr>
              <a:pPr>
                <a:spcBef>
                  <a:spcPct val="0"/>
                </a:spcBef>
                <a:buClrTx/>
                <a:buFontTx/>
                <a:buNone/>
              </a:pPr>
              <a:t>7</a:t>
            </a:fld>
            <a:endParaRPr lang="en-US" altLang="zh-CN" sz="1000">
              <a:ea typeface="宋体" panose="02010600030101010101" pitchFamily="2" charset="-122"/>
            </a:endParaRPr>
          </a:p>
        </p:txBody>
      </p:sp>
      <p:sp>
        <p:nvSpPr>
          <p:cNvPr id="22530" name="Rectangle 2">
            <a:extLst>
              <a:ext uri="{FF2B5EF4-FFF2-40B4-BE49-F238E27FC236}">
                <a16:creationId xmlns:a16="http://schemas.microsoft.com/office/drawing/2014/main" id="{49E13A66-FBAB-4CEC-BC0C-55127360DD76}"/>
              </a:ext>
            </a:extLst>
          </p:cNvPr>
          <p:cNvSpPr>
            <a:spLocks noGrp="1" noChangeArrowheads="1"/>
          </p:cNvSpPr>
          <p:nvPr>
            <p:ph type="title"/>
          </p:nvPr>
        </p:nvSpPr>
        <p:spPr/>
        <p:txBody>
          <a:bodyPr/>
          <a:lstStyle/>
          <a:p>
            <a:pPr eaLnBrk="1" hangingPunct="1"/>
            <a:r>
              <a:rPr lang="zh-CN" altLang="en-US"/>
              <a:t>从降维问题说起</a:t>
            </a:r>
          </a:p>
        </p:txBody>
      </p:sp>
      <p:sp>
        <p:nvSpPr>
          <p:cNvPr id="22531" name="Rectangle 3">
            <a:extLst>
              <a:ext uri="{FF2B5EF4-FFF2-40B4-BE49-F238E27FC236}">
                <a16:creationId xmlns:a16="http://schemas.microsoft.com/office/drawing/2014/main" id="{7E1434E2-3D32-4A02-9B10-CCE524D1DA46}"/>
              </a:ext>
            </a:extLst>
          </p:cNvPr>
          <p:cNvSpPr>
            <a:spLocks noGrp="1" noChangeArrowheads="1"/>
          </p:cNvSpPr>
          <p:nvPr>
            <p:ph type="body" sz="half" idx="1"/>
          </p:nvPr>
        </p:nvSpPr>
        <p:spPr>
          <a:xfrm>
            <a:off x="457200" y="1484313"/>
            <a:ext cx="8218488" cy="4530725"/>
          </a:xfrm>
        </p:spPr>
        <p:txBody>
          <a:bodyPr/>
          <a:lstStyle/>
          <a:p>
            <a:pPr eaLnBrk="1" hangingPunct="1"/>
            <a:r>
              <a:rPr lang="zh-CN" altLang="en-US"/>
              <a:t>降维的动机</a:t>
            </a:r>
          </a:p>
        </p:txBody>
      </p:sp>
      <p:sp>
        <p:nvSpPr>
          <p:cNvPr id="22532" name="Rectangle 4">
            <a:extLst>
              <a:ext uri="{FF2B5EF4-FFF2-40B4-BE49-F238E27FC236}">
                <a16:creationId xmlns:a16="http://schemas.microsoft.com/office/drawing/2014/main" id="{FD376FB5-28D3-4052-AB73-7FD8AB97A755}"/>
              </a:ext>
            </a:extLst>
          </p:cNvPr>
          <p:cNvSpPr>
            <a:spLocks noChangeArrowheads="1"/>
          </p:cNvSpPr>
          <p:nvPr/>
        </p:nvSpPr>
        <p:spPr bwMode="auto">
          <a:xfrm>
            <a:off x="0" y="2443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33" name="Rectangle 5">
            <a:extLst>
              <a:ext uri="{FF2B5EF4-FFF2-40B4-BE49-F238E27FC236}">
                <a16:creationId xmlns:a16="http://schemas.microsoft.com/office/drawing/2014/main" id="{412519A7-B230-4232-A284-7D4208BC3DFF}"/>
              </a:ext>
            </a:extLst>
          </p:cNvPr>
          <p:cNvSpPr>
            <a:spLocks noChangeArrowheads="1"/>
          </p:cNvSpPr>
          <p:nvPr/>
        </p:nvSpPr>
        <p:spPr bwMode="auto">
          <a:xfrm>
            <a:off x="0" y="2543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34" name="Rectangle 6">
            <a:extLst>
              <a:ext uri="{FF2B5EF4-FFF2-40B4-BE49-F238E27FC236}">
                <a16:creationId xmlns:a16="http://schemas.microsoft.com/office/drawing/2014/main" id="{01FAC902-9B0E-4258-A11C-E0698C75243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pSp>
        <p:nvGrpSpPr>
          <p:cNvPr id="22535" name="Group 55">
            <a:extLst>
              <a:ext uri="{FF2B5EF4-FFF2-40B4-BE49-F238E27FC236}">
                <a16:creationId xmlns:a16="http://schemas.microsoft.com/office/drawing/2014/main" id="{FE5FA90F-FD58-4E17-9B6F-B7776E79D394}"/>
              </a:ext>
            </a:extLst>
          </p:cNvPr>
          <p:cNvGrpSpPr>
            <a:grpSpLocks/>
          </p:cNvGrpSpPr>
          <p:nvPr/>
        </p:nvGrpSpPr>
        <p:grpSpPr bwMode="auto">
          <a:xfrm>
            <a:off x="990600" y="2286000"/>
            <a:ext cx="7713663" cy="3886200"/>
            <a:chOff x="757" y="1248"/>
            <a:chExt cx="4859" cy="2448"/>
          </a:xfrm>
        </p:grpSpPr>
        <p:sp>
          <p:nvSpPr>
            <p:cNvPr id="22536" name="AutoShape 39">
              <a:extLst>
                <a:ext uri="{FF2B5EF4-FFF2-40B4-BE49-F238E27FC236}">
                  <a16:creationId xmlns:a16="http://schemas.microsoft.com/office/drawing/2014/main" id="{B3E2248B-A18C-4256-9F5A-3328F40A6B58}"/>
                </a:ext>
              </a:extLst>
            </p:cNvPr>
            <p:cNvSpPr>
              <a:spLocks noChangeArrowheads="1"/>
            </p:cNvSpPr>
            <p:nvPr/>
          </p:nvSpPr>
          <p:spPr bwMode="auto">
            <a:xfrm rot="10800000">
              <a:off x="1536" y="1392"/>
              <a:ext cx="432" cy="210"/>
            </a:xfrm>
            <a:prstGeom prst="leftArrow">
              <a:avLst>
                <a:gd name="adj1" fmla="val 50000"/>
                <a:gd name="adj2" fmla="val 51429"/>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37" name="Rectangle 40">
              <a:extLst>
                <a:ext uri="{FF2B5EF4-FFF2-40B4-BE49-F238E27FC236}">
                  <a16:creationId xmlns:a16="http://schemas.microsoft.com/office/drawing/2014/main" id="{3C2FA210-DB23-43EB-B991-C5AE8E51E844}"/>
                </a:ext>
              </a:extLst>
            </p:cNvPr>
            <p:cNvSpPr>
              <a:spLocks noChangeArrowheads="1"/>
            </p:cNvSpPr>
            <p:nvPr/>
          </p:nvSpPr>
          <p:spPr bwMode="auto">
            <a:xfrm>
              <a:off x="2064" y="1296"/>
              <a:ext cx="96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38" name="Text Box 41">
              <a:extLst>
                <a:ext uri="{FF2B5EF4-FFF2-40B4-BE49-F238E27FC236}">
                  <a16:creationId xmlns:a16="http://schemas.microsoft.com/office/drawing/2014/main" id="{DB0B30E7-42B7-478A-8324-94B5C9956313}"/>
                </a:ext>
              </a:extLst>
            </p:cNvPr>
            <p:cNvSpPr txBox="1">
              <a:spLocks noChangeArrowheads="1"/>
            </p:cNvSpPr>
            <p:nvPr/>
          </p:nvSpPr>
          <p:spPr bwMode="auto">
            <a:xfrm>
              <a:off x="2112" y="134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solidFill>
                    <a:srgbClr val="FF0000"/>
                  </a:solidFill>
                  <a:latin typeface="Times New Roman" panose="02020603050405020304" pitchFamily="18" charset="0"/>
                  <a:ea typeface="宋体" panose="02010600030101010101" pitchFamily="2" charset="-122"/>
                </a:rPr>
                <a:t>特征选择</a:t>
              </a:r>
            </a:p>
          </p:txBody>
        </p:sp>
        <p:sp>
          <p:nvSpPr>
            <p:cNvPr id="22539" name="Oval 42">
              <a:extLst>
                <a:ext uri="{FF2B5EF4-FFF2-40B4-BE49-F238E27FC236}">
                  <a16:creationId xmlns:a16="http://schemas.microsoft.com/office/drawing/2014/main" id="{86AA2AF6-C607-48BF-A037-02AA6448E665}"/>
                </a:ext>
              </a:extLst>
            </p:cNvPr>
            <p:cNvSpPr>
              <a:spLocks noChangeArrowheads="1"/>
            </p:cNvSpPr>
            <p:nvPr/>
          </p:nvSpPr>
          <p:spPr bwMode="auto">
            <a:xfrm>
              <a:off x="757" y="1272"/>
              <a:ext cx="672" cy="129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0" name="Text Box 43">
              <a:extLst>
                <a:ext uri="{FF2B5EF4-FFF2-40B4-BE49-F238E27FC236}">
                  <a16:creationId xmlns:a16="http://schemas.microsoft.com/office/drawing/2014/main" id="{172F7A3A-61F1-438A-939F-A95ED6E5096C}"/>
                </a:ext>
              </a:extLst>
            </p:cNvPr>
            <p:cNvSpPr txBox="1">
              <a:spLocks noChangeArrowheads="1"/>
            </p:cNvSpPr>
            <p:nvPr/>
          </p:nvSpPr>
          <p:spPr bwMode="auto">
            <a:xfrm>
              <a:off x="939" y="1512"/>
              <a:ext cx="346"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特征约简</a:t>
              </a:r>
            </a:p>
          </p:txBody>
        </p:sp>
        <p:sp>
          <p:nvSpPr>
            <p:cNvPr id="22541" name="AutoShape 44">
              <a:extLst>
                <a:ext uri="{FF2B5EF4-FFF2-40B4-BE49-F238E27FC236}">
                  <a16:creationId xmlns:a16="http://schemas.microsoft.com/office/drawing/2014/main" id="{A7EAC967-4322-48C7-AE84-7E511D110342}"/>
                </a:ext>
              </a:extLst>
            </p:cNvPr>
            <p:cNvSpPr>
              <a:spLocks noChangeArrowheads="1"/>
            </p:cNvSpPr>
            <p:nvPr/>
          </p:nvSpPr>
          <p:spPr bwMode="auto">
            <a:xfrm rot="10800000">
              <a:off x="1536" y="2160"/>
              <a:ext cx="482" cy="227"/>
            </a:xfrm>
            <a:prstGeom prst="leftArrow">
              <a:avLst>
                <a:gd name="adj1" fmla="val 50000"/>
                <a:gd name="adj2" fmla="val 53084"/>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2" name="Rectangle 45">
              <a:extLst>
                <a:ext uri="{FF2B5EF4-FFF2-40B4-BE49-F238E27FC236}">
                  <a16:creationId xmlns:a16="http://schemas.microsoft.com/office/drawing/2014/main" id="{CFE35149-569C-4592-87CE-B62BF4F3E556}"/>
                </a:ext>
              </a:extLst>
            </p:cNvPr>
            <p:cNvSpPr>
              <a:spLocks noChangeArrowheads="1"/>
            </p:cNvSpPr>
            <p:nvPr/>
          </p:nvSpPr>
          <p:spPr bwMode="auto">
            <a:xfrm>
              <a:off x="2109" y="2112"/>
              <a:ext cx="960"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3" name="Text Box 46">
              <a:extLst>
                <a:ext uri="{FF2B5EF4-FFF2-40B4-BE49-F238E27FC236}">
                  <a16:creationId xmlns:a16="http://schemas.microsoft.com/office/drawing/2014/main" id="{B9552C97-3A61-4E54-8931-D87095058E8D}"/>
                </a:ext>
              </a:extLst>
            </p:cNvPr>
            <p:cNvSpPr txBox="1">
              <a:spLocks noChangeArrowheads="1"/>
            </p:cNvSpPr>
            <p:nvPr/>
          </p:nvSpPr>
          <p:spPr bwMode="auto">
            <a:xfrm>
              <a:off x="2154" y="216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solidFill>
                    <a:srgbClr val="FF0000"/>
                  </a:solidFill>
                  <a:latin typeface="Times New Roman" panose="02020603050405020304" pitchFamily="18" charset="0"/>
                  <a:ea typeface="宋体" panose="02010600030101010101" pitchFamily="2" charset="-122"/>
                </a:rPr>
                <a:t>特征提取</a:t>
              </a:r>
            </a:p>
          </p:txBody>
        </p:sp>
        <p:sp>
          <p:nvSpPr>
            <p:cNvPr id="22544" name="AutoShape 47">
              <a:extLst>
                <a:ext uri="{FF2B5EF4-FFF2-40B4-BE49-F238E27FC236}">
                  <a16:creationId xmlns:a16="http://schemas.microsoft.com/office/drawing/2014/main" id="{E773C7FD-BA35-4186-B660-AA4CC5742194}"/>
                </a:ext>
              </a:extLst>
            </p:cNvPr>
            <p:cNvSpPr>
              <a:spLocks noChangeArrowheads="1"/>
            </p:cNvSpPr>
            <p:nvPr/>
          </p:nvSpPr>
          <p:spPr bwMode="auto">
            <a:xfrm>
              <a:off x="3168" y="1392"/>
              <a:ext cx="528" cy="192"/>
            </a:xfrm>
            <a:prstGeom prst="leftRightArrow">
              <a:avLst>
                <a:gd name="adj1" fmla="val 50000"/>
                <a:gd name="adj2" fmla="val 55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5" name="Rectangle 48">
              <a:extLst>
                <a:ext uri="{FF2B5EF4-FFF2-40B4-BE49-F238E27FC236}">
                  <a16:creationId xmlns:a16="http://schemas.microsoft.com/office/drawing/2014/main" id="{E132779C-5D7B-4AA4-9958-F7671B30E299}"/>
                </a:ext>
              </a:extLst>
            </p:cNvPr>
            <p:cNvSpPr>
              <a:spLocks noChangeArrowheads="1"/>
            </p:cNvSpPr>
            <p:nvPr/>
          </p:nvSpPr>
          <p:spPr bwMode="auto">
            <a:xfrm>
              <a:off x="3792" y="1248"/>
              <a:ext cx="1632" cy="52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6" name="Text Box 49">
              <a:extLst>
                <a:ext uri="{FF2B5EF4-FFF2-40B4-BE49-F238E27FC236}">
                  <a16:creationId xmlns:a16="http://schemas.microsoft.com/office/drawing/2014/main" id="{F3F79CDE-5E16-4E0A-B447-9F5D2E3F6D62}"/>
                </a:ext>
              </a:extLst>
            </p:cNvPr>
            <p:cNvSpPr txBox="1">
              <a:spLocks noChangeArrowheads="1"/>
            </p:cNvSpPr>
            <p:nvPr/>
          </p:nvSpPr>
          <p:spPr bwMode="auto">
            <a:xfrm>
              <a:off x="3792" y="1248"/>
              <a:ext cx="168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依据某一标准选择性质最突出的特征</a:t>
              </a:r>
            </a:p>
          </p:txBody>
        </p:sp>
        <p:sp>
          <p:nvSpPr>
            <p:cNvPr id="22547" name="AutoShape 50">
              <a:extLst>
                <a:ext uri="{FF2B5EF4-FFF2-40B4-BE49-F238E27FC236}">
                  <a16:creationId xmlns:a16="http://schemas.microsoft.com/office/drawing/2014/main" id="{148EF109-BA78-418C-92FB-A6B58B24E172}"/>
                </a:ext>
              </a:extLst>
            </p:cNvPr>
            <p:cNvSpPr>
              <a:spLocks noChangeArrowheads="1"/>
            </p:cNvSpPr>
            <p:nvPr/>
          </p:nvSpPr>
          <p:spPr bwMode="auto">
            <a:xfrm>
              <a:off x="3168" y="2160"/>
              <a:ext cx="528" cy="192"/>
            </a:xfrm>
            <a:prstGeom prst="leftRightArrow">
              <a:avLst>
                <a:gd name="adj1" fmla="val 50000"/>
                <a:gd name="adj2" fmla="val 55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8" name="Rectangle 51">
              <a:extLst>
                <a:ext uri="{FF2B5EF4-FFF2-40B4-BE49-F238E27FC236}">
                  <a16:creationId xmlns:a16="http://schemas.microsoft.com/office/drawing/2014/main" id="{7B6D3225-8765-4F14-BF88-28D4673F9A67}"/>
                </a:ext>
              </a:extLst>
            </p:cNvPr>
            <p:cNvSpPr>
              <a:spLocks noChangeArrowheads="1"/>
            </p:cNvSpPr>
            <p:nvPr/>
          </p:nvSpPr>
          <p:spPr bwMode="auto">
            <a:xfrm>
              <a:off x="3792" y="2016"/>
              <a:ext cx="1632" cy="52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49" name="Rectangle 52">
              <a:extLst>
                <a:ext uri="{FF2B5EF4-FFF2-40B4-BE49-F238E27FC236}">
                  <a16:creationId xmlns:a16="http://schemas.microsoft.com/office/drawing/2014/main" id="{BC7A312E-A00A-472E-BBB8-163762E45BBA}"/>
                </a:ext>
              </a:extLst>
            </p:cNvPr>
            <p:cNvSpPr>
              <a:spLocks noChangeArrowheads="1"/>
            </p:cNvSpPr>
            <p:nvPr/>
          </p:nvSpPr>
          <p:spPr bwMode="auto">
            <a:xfrm>
              <a:off x="1156" y="3024"/>
              <a:ext cx="3888" cy="67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2550" name="Text Box 53">
              <a:extLst>
                <a:ext uri="{FF2B5EF4-FFF2-40B4-BE49-F238E27FC236}">
                  <a16:creationId xmlns:a16="http://schemas.microsoft.com/office/drawing/2014/main" id="{E60B3670-164F-4737-A235-2C66C5CAAA72}"/>
                </a:ext>
              </a:extLst>
            </p:cNvPr>
            <p:cNvSpPr txBox="1">
              <a:spLocks noChangeArrowheads="1"/>
            </p:cNvSpPr>
            <p:nvPr/>
          </p:nvSpPr>
          <p:spPr bwMode="auto">
            <a:xfrm>
              <a:off x="1252" y="3130"/>
              <a:ext cx="37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实验数据分析，数据可视化（通常为</a:t>
              </a:r>
              <a:r>
                <a:rPr kumimoji="1" lang="en-US" altLang="zh-CN" sz="2400">
                  <a:latin typeface="Times New Roman" panose="02020603050405020304" pitchFamily="18" charset="0"/>
                  <a:ea typeface="宋体" panose="02010600030101010101" pitchFamily="2" charset="-122"/>
                </a:rPr>
                <a:t>2</a:t>
              </a:r>
              <a:r>
                <a:rPr kumimoji="1" lang="zh-CN" altLang="en-US" sz="2400">
                  <a:latin typeface="Times New Roman" panose="02020603050405020304" pitchFamily="18" charset="0"/>
                  <a:ea typeface="宋体" panose="02010600030101010101" pitchFamily="2" charset="-122"/>
                </a:rPr>
                <a:t>维或</a:t>
              </a:r>
              <a:r>
                <a:rPr kumimoji="1" lang="en-US" altLang="zh-CN" sz="2400">
                  <a:latin typeface="Times New Roman" panose="02020603050405020304" pitchFamily="18" charset="0"/>
                  <a:ea typeface="宋体" panose="02010600030101010101" pitchFamily="2" charset="-122"/>
                </a:rPr>
                <a:t>3</a:t>
              </a:r>
              <a:r>
                <a:rPr kumimoji="1" lang="zh-CN" altLang="en-US" sz="2400">
                  <a:latin typeface="Times New Roman" panose="02020603050405020304" pitchFamily="18" charset="0"/>
                  <a:ea typeface="宋体" panose="02010600030101010101" pitchFamily="2" charset="-122"/>
                </a:rPr>
                <a:t>维）等也需要维数约简</a:t>
              </a:r>
            </a:p>
          </p:txBody>
        </p:sp>
        <p:sp>
          <p:nvSpPr>
            <p:cNvPr id="22551" name="Text Box 54">
              <a:extLst>
                <a:ext uri="{FF2B5EF4-FFF2-40B4-BE49-F238E27FC236}">
                  <a16:creationId xmlns:a16="http://schemas.microsoft.com/office/drawing/2014/main" id="{131781A7-8AC5-4261-8EFC-4C655B5AC340}"/>
                </a:ext>
              </a:extLst>
            </p:cNvPr>
            <p:cNvSpPr txBox="1">
              <a:spLocks noChangeArrowheads="1"/>
            </p:cNvSpPr>
            <p:nvPr/>
          </p:nvSpPr>
          <p:spPr bwMode="auto">
            <a:xfrm>
              <a:off x="3792" y="2016"/>
              <a:ext cx="182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经已有特征的某种变换获取约简特征</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5">
            <a:extLst>
              <a:ext uri="{FF2B5EF4-FFF2-40B4-BE49-F238E27FC236}">
                <a16:creationId xmlns:a16="http://schemas.microsoft.com/office/drawing/2014/main" id="{39DBF860-A52D-40AB-AFDC-0A90E77C2E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A1ECAE32-73E0-4980-AB4A-A60C2B4D7065}" type="slidenum">
              <a:rPr lang="en-US" altLang="zh-CN" sz="1000" smtClean="0">
                <a:ea typeface="宋体" panose="02010600030101010101" pitchFamily="2" charset="-122"/>
              </a:rPr>
              <a:pPr>
                <a:spcBef>
                  <a:spcPct val="0"/>
                </a:spcBef>
                <a:buClrTx/>
                <a:buFontTx/>
                <a:buNone/>
              </a:pPr>
              <a:t>8</a:t>
            </a:fld>
            <a:endParaRPr lang="en-US" altLang="zh-CN" sz="1000">
              <a:ea typeface="宋体" panose="02010600030101010101" pitchFamily="2" charset="-122"/>
            </a:endParaRPr>
          </a:p>
        </p:txBody>
      </p:sp>
      <p:sp>
        <p:nvSpPr>
          <p:cNvPr id="23554" name="Rectangle 2">
            <a:extLst>
              <a:ext uri="{FF2B5EF4-FFF2-40B4-BE49-F238E27FC236}">
                <a16:creationId xmlns:a16="http://schemas.microsoft.com/office/drawing/2014/main" id="{C173D248-C628-4500-B582-21EF3DA148F7}"/>
              </a:ext>
            </a:extLst>
          </p:cNvPr>
          <p:cNvSpPr>
            <a:spLocks noGrp="1" noChangeArrowheads="1"/>
          </p:cNvSpPr>
          <p:nvPr>
            <p:ph type="title"/>
          </p:nvPr>
        </p:nvSpPr>
        <p:spPr/>
        <p:txBody>
          <a:bodyPr/>
          <a:lstStyle/>
          <a:p>
            <a:pPr eaLnBrk="1" hangingPunct="1"/>
            <a:r>
              <a:rPr lang="zh-CN" altLang="en-US"/>
              <a:t>降维方法概述</a:t>
            </a:r>
          </a:p>
        </p:txBody>
      </p:sp>
      <p:sp>
        <p:nvSpPr>
          <p:cNvPr id="23555" name="Rectangle 3">
            <a:extLst>
              <a:ext uri="{FF2B5EF4-FFF2-40B4-BE49-F238E27FC236}">
                <a16:creationId xmlns:a16="http://schemas.microsoft.com/office/drawing/2014/main" id="{F327B9D7-8792-438C-9E7A-9878EB8B852E}"/>
              </a:ext>
            </a:extLst>
          </p:cNvPr>
          <p:cNvSpPr>
            <a:spLocks noGrp="1" noChangeArrowheads="1"/>
          </p:cNvSpPr>
          <p:nvPr>
            <p:ph type="body" idx="1"/>
          </p:nvPr>
        </p:nvSpPr>
        <p:spPr>
          <a:xfrm>
            <a:off x="457200" y="1600200"/>
            <a:ext cx="8382000" cy="5029200"/>
          </a:xfrm>
        </p:spPr>
        <p:txBody>
          <a:bodyPr/>
          <a:lstStyle/>
          <a:p>
            <a:pPr eaLnBrk="1" hangingPunct="1"/>
            <a:r>
              <a:rPr lang="zh-CN" altLang="en-US" sz="2800"/>
              <a:t>线性降维</a:t>
            </a:r>
          </a:p>
          <a:p>
            <a:pPr lvl="1" eaLnBrk="1" hangingPunct="1"/>
            <a:r>
              <a:rPr lang="zh-CN" altLang="en-US" sz="2300"/>
              <a:t>通过特征的线性组合来降维</a:t>
            </a:r>
          </a:p>
          <a:p>
            <a:pPr lvl="1" eaLnBrk="1" hangingPunct="1"/>
            <a:r>
              <a:rPr lang="zh-CN" altLang="en-US" sz="2300"/>
              <a:t>本质上是把数据投影到低维线性子空间</a:t>
            </a:r>
          </a:p>
          <a:p>
            <a:pPr lvl="1" eaLnBrk="1" hangingPunct="1"/>
            <a:r>
              <a:rPr lang="zh-CN" altLang="en-US" sz="2300"/>
              <a:t>线性方法相对比较简单且容易计算</a:t>
            </a:r>
          </a:p>
          <a:p>
            <a:pPr lvl="1" eaLnBrk="1" hangingPunct="1"/>
            <a:r>
              <a:rPr lang="zh-CN" altLang="en-US" sz="2300"/>
              <a:t>代表方法</a:t>
            </a:r>
          </a:p>
          <a:p>
            <a:pPr lvl="2" eaLnBrk="1" hangingPunct="1"/>
            <a:r>
              <a:rPr lang="zh-CN" altLang="en-US" sz="2100"/>
              <a:t>主成分分析</a:t>
            </a:r>
            <a:r>
              <a:rPr lang="en-US" altLang="zh-CN" sz="2100"/>
              <a:t>(PCA)</a:t>
            </a:r>
          </a:p>
          <a:p>
            <a:pPr lvl="2" eaLnBrk="1" hangingPunct="1"/>
            <a:r>
              <a:rPr lang="zh-CN" altLang="en-US" sz="2100"/>
              <a:t>奇异值分解</a:t>
            </a:r>
            <a:r>
              <a:rPr lang="en-US" altLang="zh-CN" sz="2100"/>
              <a:t>(SVD)</a:t>
            </a:r>
          </a:p>
          <a:p>
            <a:pPr lvl="2" eaLnBrk="1" hangingPunct="1"/>
            <a:r>
              <a:rPr lang="zh-CN" altLang="en-US" sz="2100"/>
              <a:t>非负矩阵分解</a:t>
            </a:r>
            <a:r>
              <a:rPr lang="en-US" altLang="zh-CN" sz="2100"/>
              <a:t>(NMF)</a:t>
            </a:r>
          </a:p>
          <a:p>
            <a:pPr lvl="2" eaLnBrk="1" hangingPunct="1"/>
            <a:r>
              <a:rPr lang="zh-CN" altLang="en-US" sz="2100"/>
              <a:t>线性判别分析</a:t>
            </a:r>
            <a:r>
              <a:rPr lang="en-US" altLang="zh-CN" sz="2100"/>
              <a:t>(LDA)</a:t>
            </a:r>
          </a:p>
          <a:p>
            <a:pPr lvl="2" eaLnBrk="1" hangingPunct="1"/>
            <a:r>
              <a:rPr lang="zh-CN" altLang="en-US" sz="2100"/>
              <a:t>多维尺度变换</a:t>
            </a:r>
            <a:r>
              <a:rPr lang="en-US" altLang="zh-CN" sz="2100"/>
              <a:t>(MDS)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a:extLst>
              <a:ext uri="{FF2B5EF4-FFF2-40B4-BE49-F238E27FC236}">
                <a16:creationId xmlns:a16="http://schemas.microsoft.com/office/drawing/2014/main" id="{409AF722-F6D7-43F9-A54E-BA22DEADF9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9153B01A-3FC4-42C0-A3EA-B4B01D24B66A}" type="slidenum">
              <a:rPr lang="en-US" altLang="zh-CN" sz="1000" smtClean="0">
                <a:ea typeface="宋体" panose="02010600030101010101" pitchFamily="2" charset="-122"/>
              </a:rPr>
              <a:pPr>
                <a:spcBef>
                  <a:spcPct val="0"/>
                </a:spcBef>
                <a:buClrTx/>
                <a:buFontTx/>
                <a:buNone/>
              </a:pPr>
              <a:t>9</a:t>
            </a:fld>
            <a:endParaRPr lang="en-US" altLang="zh-CN" sz="1000">
              <a:ea typeface="宋体" panose="02010600030101010101" pitchFamily="2" charset="-122"/>
            </a:endParaRPr>
          </a:p>
        </p:txBody>
      </p:sp>
      <p:sp>
        <p:nvSpPr>
          <p:cNvPr id="24578" name="Rectangle 2">
            <a:extLst>
              <a:ext uri="{FF2B5EF4-FFF2-40B4-BE49-F238E27FC236}">
                <a16:creationId xmlns:a16="http://schemas.microsoft.com/office/drawing/2014/main" id="{3F4F1E88-870D-4498-AF5D-36717262FCED}"/>
              </a:ext>
            </a:extLst>
          </p:cNvPr>
          <p:cNvSpPr>
            <a:spLocks noGrp="1" noChangeArrowheads="1"/>
          </p:cNvSpPr>
          <p:nvPr>
            <p:ph type="title"/>
          </p:nvPr>
        </p:nvSpPr>
        <p:spPr/>
        <p:txBody>
          <a:bodyPr/>
          <a:lstStyle/>
          <a:p>
            <a:pPr eaLnBrk="1" hangingPunct="1"/>
            <a:r>
              <a:rPr lang="zh-CN" altLang="en-US"/>
              <a:t>线性降维方法</a:t>
            </a:r>
          </a:p>
        </p:txBody>
      </p:sp>
      <p:sp>
        <p:nvSpPr>
          <p:cNvPr id="24579" name="Rectangle 3">
            <a:extLst>
              <a:ext uri="{FF2B5EF4-FFF2-40B4-BE49-F238E27FC236}">
                <a16:creationId xmlns:a16="http://schemas.microsoft.com/office/drawing/2014/main" id="{7672AA84-9AC2-44BA-87D5-358B308D82C4}"/>
              </a:ext>
            </a:extLst>
          </p:cNvPr>
          <p:cNvSpPr>
            <a:spLocks noGrp="1" noChangeArrowheads="1"/>
          </p:cNvSpPr>
          <p:nvPr>
            <p:ph type="body" idx="1"/>
          </p:nvPr>
        </p:nvSpPr>
        <p:spPr>
          <a:xfrm>
            <a:off x="457200" y="1600200"/>
            <a:ext cx="8382000" cy="5029200"/>
          </a:xfrm>
        </p:spPr>
        <p:txBody>
          <a:bodyPr/>
          <a:lstStyle/>
          <a:p>
            <a:pPr eaLnBrk="1" hangingPunct="1"/>
            <a:r>
              <a:rPr lang="zh-CN" altLang="en-US" sz="2800"/>
              <a:t>主成分分析</a:t>
            </a:r>
            <a:r>
              <a:rPr lang="en-US" altLang="zh-CN" sz="2800"/>
              <a:t>(PCA) [Jolliffe, 1986]</a:t>
            </a:r>
          </a:p>
          <a:p>
            <a:pPr lvl="1" eaLnBrk="1" hangingPunct="1"/>
            <a:r>
              <a:rPr lang="zh-CN" altLang="en-US" sz="2300"/>
              <a:t>降维目的：寻找能够保持采样数据方差的最佳投影子空间</a:t>
            </a:r>
          </a:p>
          <a:p>
            <a:pPr lvl="1" eaLnBrk="1" hangingPunct="1"/>
            <a:r>
              <a:rPr lang="zh-CN" altLang="en-US" sz="2300"/>
              <a:t>求解方法：对样本的散度矩阵进行特征值分解</a:t>
            </a:r>
            <a:r>
              <a:rPr lang="en-US" altLang="zh-CN" sz="2300"/>
              <a:t>, </a:t>
            </a:r>
            <a:r>
              <a:rPr lang="zh-CN" altLang="en-US" sz="2300"/>
              <a:t>所求子空间为经过样本均值</a:t>
            </a:r>
            <a:r>
              <a:rPr lang="en-US" altLang="zh-CN" sz="2300"/>
              <a:t>, </a:t>
            </a:r>
            <a:r>
              <a:rPr lang="zh-CN" altLang="en-US" sz="2300"/>
              <a:t>以最大特征值所对应的特征向量为方向的子空间</a:t>
            </a:r>
          </a:p>
        </p:txBody>
      </p:sp>
      <p:grpSp>
        <p:nvGrpSpPr>
          <p:cNvPr id="24580" name="Group 4">
            <a:extLst>
              <a:ext uri="{FF2B5EF4-FFF2-40B4-BE49-F238E27FC236}">
                <a16:creationId xmlns:a16="http://schemas.microsoft.com/office/drawing/2014/main" id="{FC5F67F7-E920-47EA-999E-EA47AD286CE2}"/>
              </a:ext>
            </a:extLst>
          </p:cNvPr>
          <p:cNvGrpSpPr>
            <a:grpSpLocks/>
          </p:cNvGrpSpPr>
          <p:nvPr/>
        </p:nvGrpSpPr>
        <p:grpSpPr bwMode="auto">
          <a:xfrm>
            <a:off x="2332038" y="4144963"/>
            <a:ext cx="4678362" cy="2255837"/>
            <a:chOff x="1392" y="2160"/>
            <a:chExt cx="3717" cy="1793"/>
          </a:xfrm>
        </p:grpSpPr>
        <p:sp>
          <p:nvSpPr>
            <p:cNvPr id="24581" name="Line 5">
              <a:extLst>
                <a:ext uri="{FF2B5EF4-FFF2-40B4-BE49-F238E27FC236}">
                  <a16:creationId xmlns:a16="http://schemas.microsoft.com/office/drawing/2014/main" id="{70DC0B07-1B61-4296-9AC1-A2303BD19FBF}"/>
                </a:ext>
              </a:extLst>
            </p:cNvPr>
            <p:cNvSpPr>
              <a:spLocks noChangeShapeType="1"/>
            </p:cNvSpPr>
            <p:nvPr/>
          </p:nvSpPr>
          <p:spPr bwMode="auto">
            <a:xfrm flipV="1">
              <a:off x="1392" y="2160"/>
              <a:ext cx="0" cy="179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82" name="Line 6">
              <a:extLst>
                <a:ext uri="{FF2B5EF4-FFF2-40B4-BE49-F238E27FC236}">
                  <a16:creationId xmlns:a16="http://schemas.microsoft.com/office/drawing/2014/main" id="{2AC208BE-E7ED-4F86-B9CB-6B6957EA4C9D}"/>
                </a:ext>
              </a:extLst>
            </p:cNvPr>
            <p:cNvSpPr>
              <a:spLocks noChangeShapeType="1"/>
            </p:cNvSpPr>
            <p:nvPr/>
          </p:nvSpPr>
          <p:spPr bwMode="auto">
            <a:xfrm>
              <a:off x="1392" y="3953"/>
              <a:ext cx="1861"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83" name="Oval 7">
              <a:extLst>
                <a:ext uri="{FF2B5EF4-FFF2-40B4-BE49-F238E27FC236}">
                  <a16:creationId xmlns:a16="http://schemas.microsoft.com/office/drawing/2014/main" id="{4D24119E-8D61-403A-82F9-ABCB51E11293}"/>
                </a:ext>
              </a:extLst>
            </p:cNvPr>
            <p:cNvSpPr>
              <a:spLocks noChangeArrowheads="1"/>
            </p:cNvSpPr>
            <p:nvPr/>
          </p:nvSpPr>
          <p:spPr bwMode="auto">
            <a:xfrm>
              <a:off x="1737" y="3194"/>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4" name="Oval 8">
              <a:extLst>
                <a:ext uri="{FF2B5EF4-FFF2-40B4-BE49-F238E27FC236}">
                  <a16:creationId xmlns:a16="http://schemas.microsoft.com/office/drawing/2014/main" id="{1CC53444-85CE-4C64-82C9-F84EFA6CE5FE}"/>
                </a:ext>
              </a:extLst>
            </p:cNvPr>
            <p:cNvSpPr>
              <a:spLocks noChangeArrowheads="1"/>
            </p:cNvSpPr>
            <p:nvPr/>
          </p:nvSpPr>
          <p:spPr bwMode="auto">
            <a:xfrm>
              <a:off x="2564" y="3126"/>
              <a:ext cx="138" cy="137"/>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5" name="Oval 9">
              <a:extLst>
                <a:ext uri="{FF2B5EF4-FFF2-40B4-BE49-F238E27FC236}">
                  <a16:creationId xmlns:a16="http://schemas.microsoft.com/office/drawing/2014/main" id="{82CBF91F-26D7-437F-B663-61C81B105F10}"/>
                </a:ext>
              </a:extLst>
            </p:cNvPr>
            <p:cNvSpPr>
              <a:spLocks noChangeArrowheads="1"/>
            </p:cNvSpPr>
            <p:nvPr/>
          </p:nvSpPr>
          <p:spPr bwMode="auto">
            <a:xfrm>
              <a:off x="2219" y="3194"/>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6" name="Oval 10">
              <a:extLst>
                <a:ext uri="{FF2B5EF4-FFF2-40B4-BE49-F238E27FC236}">
                  <a16:creationId xmlns:a16="http://schemas.microsoft.com/office/drawing/2014/main" id="{5C4889F8-A8DA-4F91-A044-5B3926D0F934}"/>
                </a:ext>
              </a:extLst>
            </p:cNvPr>
            <p:cNvSpPr>
              <a:spLocks noChangeArrowheads="1"/>
            </p:cNvSpPr>
            <p:nvPr/>
          </p:nvSpPr>
          <p:spPr bwMode="auto">
            <a:xfrm>
              <a:off x="1944" y="3332"/>
              <a:ext cx="137"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7" name="Oval 11">
              <a:extLst>
                <a:ext uri="{FF2B5EF4-FFF2-40B4-BE49-F238E27FC236}">
                  <a16:creationId xmlns:a16="http://schemas.microsoft.com/office/drawing/2014/main" id="{4F4AE45B-B661-42B8-BD39-F9C3D2D49ABC}"/>
                </a:ext>
              </a:extLst>
            </p:cNvPr>
            <p:cNvSpPr>
              <a:spLocks noChangeArrowheads="1"/>
            </p:cNvSpPr>
            <p:nvPr/>
          </p:nvSpPr>
          <p:spPr bwMode="auto">
            <a:xfrm>
              <a:off x="2150" y="3057"/>
              <a:ext cx="138" cy="137"/>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8" name="Oval 12">
              <a:extLst>
                <a:ext uri="{FF2B5EF4-FFF2-40B4-BE49-F238E27FC236}">
                  <a16:creationId xmlns:a16="http://schemas.microsoft.com/office/drawing/2014/main" id="{E7D2502E-441F-4FA9-AE8B-16E3440C5A7B}"/>
                </a:ext>
              </a:extLst>
            </p:cNvPr>
            <p:cNvSpPr>
              <a:spLocks noChangeArrowheads="1"/>
            </p:cNvSpPr>
            <p:nvPr/>
          </p:nvSpPr>
          <p:spPr bwMode="auto">
            <a:xfrm>
              <a:off x="2564" y="2850"/>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89" name="Oval 13">
              <a:extLst>
                <a:ext uri="{FF2B5EF4-FFF2-40B4-BE49-F238E27FC236}">
                  <a16:creationId xmlns:a16="http://schemas.microsoft.com/office/drawing/2014/main" id="{7317FAC4-46CE-4E77-9E8A-D7FAB35F6DFE}"/>
                </a:ext>
              </a:extLst>
            </p:cNvPr>
            <p:cNvSpPr>
              <a:spLocks noChangeArrowheads="1"/>
            </p:cNvSpPr>
            <p:nvPr/>
          </p:nvSpPr>
          <p:spPr bwMode="auto">
            <a:xfrm>
              <a:off x="2909" y="2643"/>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0" name="Oval 14">
              <a:extLst>
                <a:ext uri="{FF2B5EF4-FFF2-40B4-BE49-F238E27FC236}">
                  <a16:creationId xmlns:a16="http://schemas.microsoft.com/office/drawing/2014/main" id="{4E1F71B8-F01A-4DF2-BC9E-1E11A56C0DC6}"/>
                </a:ext>
              </a:extLst>
            </p:cNvPr>
            <p:cNvSpPr>
              <a:spLocks noChangeArrowheads="1"/>
            </p:cNvSpPr>
            <p:nvPr/>
          </p:nvSpPr>
          <p:spPr bwMode="auto">
            <a:xfrm>
              <a:off x="3184" y="2643"/>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1" name="Oval 15">
              <a:extLst>
                <a:ext uri="{FF2B5EF4-FFF2-40B4-BE49-F238E27FC236}">
                  <a16:creationId xmlns:a16="http://schemas.microsoft.com/office/drawing/2014/main" id="{EF944084-6710-46C0-A724-611D17DCEEC8}"/>
                </a:ext>
              </a:extLst>
            </p:cNvPr>
            <p:cNvSpPr>
              <a:spLocks noChangeArrowheads="1"/>
            </p:cNvSpPr>
            <p:nvPr/>
          </p:nvSpPr>
          <p:spPr bwMode="auto">
            <a:xfrm>
              <a:off x="2840" y="2919"/>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2" name="Oval 16">
              <a:extLst>
                <a:ext uri="{FF2B5EF4-FFF2-40B4-BE49-F238E27FC236}">
                  <a16:creationId xmlns:a16="http://schemas.microsoft.com/office/drawing/2014/main" id="{4C25F0CA-DD56-42AF-B66D-9006E8DF0B16}"/>
                </a:ext>
              </a:extLst>
            </p:cNvPr>
            <p:cNvSpPr>
              <a:spLocks noChangeArrowheads="1"/>
            </p:cNvSpPr>
            <p:nvPr/>
          </p:nvSpPr>
          <p:spPr bwMode="auto">
            <a:xfrm>
              <a:off x="1530" y="3677"/>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3" name="Oval 17">
              <a:extLst>
                <a:ext uri="{FF2B5EF4-FFF2-40B4-BE49-F238E27FC236}">
                  <a16:creationId xmlns:a16="http://schemas.microsoft.com/office/drawing/2014/main" id="{F822441F-FFAE-484C-95A1-F2653EEE9699}"/>
                </a:ext>
              </a:extLst>
            </p:cNvPr>
            <p:cNvSpPr>
              <a:spLocks noChangeArrowheads="1"/>
            </p:cNvSpPr>
            <p:nvPr/>
          </p:nvSpPr>
          <p:spPr bwMode="auto">
            <a:xfrm>
              <a:off x="3047" y="2988"/>
              <a:ext cx="137"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4" name="Oval 18">
              <a:extLst>
                <a:ext uri="{FF2B5EF4-FFF2-40B4-BE49-F238E27FC236}">
                  <a16:creationId xmlns:a16="http://schemas.microsoft.com/office/drawing/2014/main" id="{5F3E7A44-4702-4989-81D2-1425983958D7}"/>
                </a:ext>
              </a:extLst>
            </p:cNvPr>
            <p:cNvSpPr>
              <a:spLocks noChangeArrowheads="1"/>
            </p:cNvSpPr>
            <p:nvPr/>
          </p:nvSpPr>
          <p:spPr bwMode="auto">
            <a:xfrm>
              <a:off x="2495" y="3332"/>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5" name="Oval 19">
              <a:extLst>
                <a:ext uri="{FF2B5EF4-FFF2-40B4-BE49-F238E27FC236}">
                  <a16:creationId xmlns:a16="http://schemas.microsoft.com/office/drawing/2014/main" id="{24D5CC67-280A-4F8A-832C-0B78A7ED955E}"/>
                </a:ext>
              </a:extLst>
            </p:cNvPr>
            <p:cNvSpPr>
              <a:spLocks noChangeArrowheads="1"/>
            </p:cNvSpPr>
            <p:nvPr/>
          </p:nvSpPr>
          <p:spPr bwMode="auto">
            <a:xfrm>
              <a:off x="1875" y="3608"/>
              <a:ext cx="137"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6" name="Oval 20">
              <a:extLst>
                <a:ext uri="{FF2B5EF4-FFF2-40B4-BE49-F238E27FC236}">
                  <a16:creationId xmlns:a16="http://schemas.microsoft.com/office/drawing/2014/main" id="{34574821-3C7F-45C7-BB00-4E8ADBE2C75A}"/>
                </a:ext>
              </a:extLst>
            </p:cNvPr>
            <p:cNvSpPr>
              <a:spLocks noChangeArrowheads="1"/>
            </p:cNvSpPr>
            <p:nvPr/>
          </p:nvSpPr>
          <p:spPr bwMode="auto">
            <a:xfrm>
              <a:off x="2288" y="3470"/>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7" name="Oval 21">
              <a:extLst>
                <a:ext uri="{FF2B5EF4-FFF2-40B4-BE49-F238E27FC236}">
                  <a16:creationId xmlns:a16="http://schemas.microsoft.com/office/drawing/2014/main" id="{FA93FE4C-AE90-461B-898F-EFEEC45C55C6}"/>
                </a:ext>
              </a:extLst>
            </p:cNvPr>
            <p:cNvSpPr>
              <a:spLocks noChangeArrowheads="1"/>
            </p:cNvSpPr>
            <p:nvPr/>
          </p:nvSpPr>
          <p:spPr bwMode="auto">
            <a:xfrm>
              <a:off x="1668" y="3470"/>
              <a:ext cx="138" cy="13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24598" name="Line 22">
              <a:extLst>
                <a:ext uri="{FF2B5EF4-FFF2-40B4-BE49-F238E27FC236}">
                  <a16:creationId xmlns:a16="http://schemas.microsoft.com/office/drawing/2014/main" id="{E2F92C63-A8C8-46FC-B9C5-7B5601E12534}"/>
                </a:ext>
              </a:extLst>
            </p:cNvPr>
            <p:cNvSpPr>
              <a:spLocks noChangeShapeType="1"/>
            </p:cNvSpPr>
            <p:nvPr/>
          </p:nvSpPr>
          <p:spPr bwMode="auto">
            <a:xfrm flipV="1">
              <a:off x="1461" y="2436"/>
              <a:ext cx="2413" cy="1379"/>
            </a:xfrm>
            <a:prstGeom prst="line">
              <a:avLst/>
            </a:prstGeom>
            <a:noFill/>
            <a:ln w="6350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9" name="Text Box 23">
              <a:extLst>
                <a:ext uri="{FF2B5EF4-FFF2-40B4-BE49-F238E27FC236}">
                  <a16:creationId xmlns:a16="http://schemas.microsoft.com/office/drawing/2014/main" id="{67FF19C2-A641-47B6-8D46-F657F0D2A0D9}"/>
                </a:ext>
              </a:extLst>
            </p:cNvPr>
            <p:cNvSpPr txBox="1">
              <a:spLocks noChangeArrowheads="1"/>
            </p:cNvSpPr>
            <p:nvPr/>
          </p:nvSpPr>
          <p:spPr bwMode="auto">
            <a:xfrm>
              <a:off x="3888" y="2160"/>
              <a:ext cx="1221"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None/>
              </a:pPr>
              <a:r>
                <a:rPr lang="en-US" altLang="zh-CN" sz="2400">
                  <a:solidFill>
                    <a:srgbClr val="3333CC"/>
                  </a:solidFill>
                  <a:latin typeface="Times New Roman" panose="02020603050405020304" pitchFamily="18" charset="0"/>
                  <a:ea typeface="宋体" panose="02010600030101010101" pitchFamily="2" charset="-122"/>
                </a:rPr>
                <a:t>Principal</a:t>
              </a:r>
            </a:p>
            <a:p>
              <a:pPr eaLnBrk="1" hangingPunct="1">
                <a:buClrTx/>
                <a:buFontTx/>
                <a:buNone/>
              </a:pPr>
              <a:r>
                <a:rPr lang="en-US" altLang="zh-CN" sz="2400">
                  <a:solidFill>
                    <a:srgbClr val="3333CC"/>
                  </a:solidFill>
                  <a:latin typeface="Times New Roman" panose="02020603050405020304" pitchFamily="18" charset="0"/>
                  <a:ea typeface="宋体" panose="02010600030101010101" pitchFamily="2" charset="-122"/>
                </a:rPr>
                <a:t>component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標題 1">
            <a:extLst>
              <a:ext uri="{FF2B5EF4-FFF2-40B4-BE49-F238E27FC236}">
                <a16:creationId xmlns:a16="http://schemas.microsoft.com/office/drawing/2014/main" id="{51ECE6D1-6F33-4DD3-ADC0-0342ED1AE0A4}"/>
              </a:ext>
            </a:extLst>
          </p:cNvPr>
          <p:cNvSpPr>
            <a:spLocks noGrp="1" noChangeArrowheads="1"/>
          </p:cNvSpPr>
          <p:nvPr>
            <p:ph type="title"/>
          </p:nvPr>
        </p:nvSpPr>
        <p:spPr/>
        <p:txBody>
          <a:bodyPr/>
          <a:lstStyle/>
          <a:p>
            <a:r>
              <a:rPr lang="en-US" altLang="zh-TW"/>
              <a:t>PCA</a:t>
            </a:r>
            <a:endParaRPr lang="zh-TW" altLang="en-US"/>
          </a:p>
        </p:txBody>
      </p:sp>
      <p:pic>
        <p:nvPicPr>
          <p:cNvPr id="25602" name="內容版面配置區 3">
            <a:extLst>
              <a:ext uri="{FF2B5EF4-FFF2-40B4-BE49-F238E27FC236}">
                <a16:creationId xmlns:a16="http://schemas.microsoft.com/office/drawing/2014/main" id="{98CEA29D-1002-46E5-85A7-DD4AB70507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57550" y="258763"/>
            <a:ext cx="5257800" cy="3598862"/>
          </a:xfrm>
        </p:spPr>
      </p:pic>
      <p:cxnSp>
        <p:nvCxnSpPr>
          <p:cNvPr id="6" name="直線單箭頭接點 5">
            <a:extLst>
              <a:ext uri="{FF2B5EF4-FFF2-40B4-BE49-F238E27FC236}">
                <a16:creationId xmlns:a16="http://schemas.microsoft.com/office/drawing/2014/main" id="{76420F60-F1C9-4A56-B21D-515CFE2E4908}"/>
              </a:ext>
            </a:extLst>
          </p:cNvPr>
          <p:cNvCxnSpPr/>
          <p:nvPr/>
        </p:nvCxnSpPr>
        <p:spPr>
          <a:xfrm flipV="1">
            <a:off x="3924300" y="920750"/>
            <a:ext cx="3186113" cy="24209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06EC4D47-3C0C-40DF-B0D7-481739B935B2}"/>
              </a:ext>
            </a:extLst>
          </p:cNvPr>
          <p:cNvCxnSpPr/>
          <p:nvPr/>
        </p:nvCxnSpPr>
        <p:spPr>
          <a:xfrm flipV="1">
            <a:off x="952500" y="4972050"/>
            <a:ext cx="1687513" cy="8255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859F38C5-C268-4ED1-BEDD-897253C875C6}"/>
              </a:ext>
            </a:extLst>
          </p:cNvPr>
          <p:cNvSpPr txBox="1">
            <a:spLocks noRot="1" noChangeAspect="1" noMove="1" noResize="1" noEditPoints="1" noAdjustHandles="1" noChangeArrowheads="1" noChangeShapeType="1" noTextEdit="1"/>
          </p:cNvSpPr>
          <p:nvPr/>
        </p:nvSpPr>
        <p:spPr>
          <a:xfrm>
            <a:off x="2465650" y="5050884"/>
            <a:ext cx="451341" cy="369332"/>
          </a:xfrm>
          <a:prstGeom prst="rect">
            <a:avLst/>
          </a:prstGeom>
          <a:blipFill>
            <a:blip r:embed="rId3"/>
            <a:stretch>
              <a:fillRect l="-5405" r="-2703"/>
            </a:stretch>
          </a:blipFill>
        </p:spPr>
        <p:txBody>
          <a:bodyPr/>
          <a:lstStyle/>
          <a:p>
            <a:pPr>
              <a:defRPr/>
            </a:pPr>
            <a:r>
              <a:rPr lang="zh-CN" altLang="en-US">
                <a:noFill/>
              </a:rPr>
              <a:t> </a:t>
            </a:r>
          </a:p>
        </p:txBody>
      </p:sp>
      <p:cxnSp>
        <p:nvCxnSpPr>
          <p:cNvPr id="13" name="直線單箭頭接點 12">
            <a:extLst>
              <a:ext uri="{FF2B5EF4-FFF2-40B4-BE49-F238E27FC236}">
                <a16:creationId xmlns:a16="http://schemas.microsoft.com/office/drawing/2014/main" id="{E5E214D6-F15F-4D28-8326-6DD8BE1F3C70}"/>
              </a:ext>
            </a:extLst>
          </p:cNvPr>
          <p:cNvCxnSpPr/>
          <p:nvPr/>
        </p:nvCxnSpPr>
        <p:spPr>
          <a:xfrm flipV="1">
            <a:off x="1006475" y="4148138"/>
            <a:ext cx="428625" cy="160655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DECD4C95-75C2-4F20-9454-F0CB46F4004D}"/>
              </a:ext>
            </a:extLst>
          </p:cNvPr>
          <p:cNvSpPr txBox="1">
            <a:spLocks noRot="1" noChangeAspect="1" noMove="1" noResize="1" noEditPoints="1" noAdjustHandles="1" noChangeArrowheads="1" noChangeShapeType="1" noTextEdit="1"/>
          </p:cNvSpPr>
          <p:nvPr/>
        </p:nvSpPr>
        <p:spPr>
          <a:xfrm>
            <a:off x="1006322" y="4091261"/>
            <a:ext cx="241733" cy="369332"/>
          </a:xfrm>
          <a:prstGeom prst="rect">
            <a:avLst/>
          </a:prstGeom>
          <a:blipFill>
            <a:blip r:embed="rId4"/>
            <a:stretch>
              <a:fillRect l="-10000" r="-10000"/>
            </a:stretch>
          </a:blipFill>
        </p:spPr>
        <p:txBody>
          <a:bodyPr/>
          <a:lstStyle/>
          <a:p>
            <a:pPr>
              <a:defRPr/>
            </a:pPr>
            <a:r>
              <a:rPr lang="zh-CN" altLang="en-US">
                <a:noFill/>
              </a:rPr>
              <a:t> </a:t>
            </a:r>
          </a:p>
        </p:txBody>
      </p:sp>
      <p:cxnSp>
        <p:nvCxnSpPr>
          <p:cNvPr id="18" name="直線接點 17">
            <a:extLst>
              <a:ext uri="{FF2B5EF4-FFF2-40B4-BE49-F238E27FC236}">
                <a16:creationId xmlns:a16="http://schemas.microsoft.com/office/drawing/2014/main" id="{B89FED1B-F6EF-43A3-8425-D7D790AFAA5F}"/>
              </a:ext>
            </a:extLst>
          </p:cNvPr>
          <p:cNvCxnSpPr/>
          <p:nvPr/>
        </p:nvCxnSpPr>
        <p:spPr>
          <a:xfrm>
            <a:off x="1489075" y="4189413"/>
            <a:ext cx="517525" cy="104616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6B07C3A3-9469-4D9C-BCB9-093B7738E85C}"/>
              </a:ext>
            </a:extLst>
          </p:cNvPr>
          <p:cNvCxnSpPr/>
          <p:nvPr/>
        </p:nvCxnSpPr>
        <p:spPr>
          <a:xfrm flipH="1">
            <a:off x="1789113" y="5300663"/>
            <a:ext cx="163512" cy="438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橢圓 23">
            <a:extLst>
              <a:ext uri="{FF2B5EF4-FFF2-40B4-BE49-F238E27FC236}">
                <a16:creationId xmlns:a16="http://schemas.microsoft.com/office/drawing/2014/main" id="{13D5714B-A5EE-40AE-862D-8A0DD59F3938}"/>
              </a:ext>
            </a:extLst>
          </p:cNvPr>
          <p:cNvSpPr/>
          <p:nvPr/>
        </p:nvSpPr>
        <p:spPr>
          <a:xfrm flipH="1">
            <a:off x="1901825" y="5157788"/>
            <a:ext cx="184150" cy="1841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pic>
        <p:nvPicPr>
          <p:cNvPr id="25" name="文字方塊 24">
            <a:extLst>
              <a:ext uri="{FF2B5EF4-FFF2-40B4-BE49-F238E27FC236}">
                <a16:creationId xmlns:a16="http://schemas.microsoft.com/office/drawing/2014/main" id="{19D052C8-CB8B-4264-8D7A-7E73BE4BA1DA}"/>
              </a:ext>
            </a:extLst>
          </p:cNvPr>
          <p:cNvPicPr>
            <a:picLocks noRot="1" noChangeAspect="1" noMove="1" noResize="1" noEditPoints="1" noAdjustHandles="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7400" y="4102100"/>
            <a:ext cx="51943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29" name="文字方塊 28">
            <a:extLst>
              <a:ext uri="{FF2B5EF4-FFF2-40B4-BE49-F238E27FC236}">
                <a16:creationId xmlns:a16="http://schemas.microsoft.com/office/drawing/2014/main" id="{5D6C7D9F-CF58-4ABA-A750-DD5EB2A086F5}"/>
              </a:ext>
            </a:extLst>
          </p:cNvPr>
          <p:cNvPicPr>
            <a:picLocks noRot="1" noChangeAspect="1" noMove="1" noResize="1" noEditPoints="1" noAdjustHandles="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500" y="4914900"/>
            <a:ext cx="5156200" cy="850900"/>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直線單箭頭接點 29">
            <a:extLst>
              <a:ext uri="{FF2B5EF4-FFF2-40B4-BE49-F238E27FC236}">
                <a16:creationId xmlns:a16="http://schemas.microsoft.com/office/drawing/2014/main" id="{A79062D7-294E-4569-AADD-81E0CA661F4D}"/>
              </a:ext>
            </a:extLst>
          </p:cNvPr>
          <p:cNvCxnSpPr/>
          <p:nvPr/>
        </p:nvCxnSpPr>
        <p:spPr>
          <a:xfrm flipH="1" flipV="1">
            <a:off x="2955925" y="2132013"/>
            <a:ext cx="950913" cy="1222375"/>
          </a:xfrm>
          <a:prstGeom prst="straightConnector1">
            <a:avLst/>
          </a:prstGeom>
          <a:ln w="5715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D17C640D-D882-480D-8F19-57599975560B}"/>
              </a:ext>
            </a:extLst>
          </p:cNvPr>
          <p:cNvSpPr/>
          <p:nvPr/>
        </p:nvSpPr>
        <p:spPr>
          <a:xfrm rot="3199993">
            <a:off x="5326856" y="746920"/>
            <a:ext cx="295275" cy="29067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34" name="矩形 33">
            <a:extLst>
              <a:ext uri="{FF2B5EF4-FFF2-40B4-BE49-F238E27FC236}">
                <a16:creationId xmlns:a16="http://schemas.microsoft.com/office/drawing/2014/main" id="{C97CD161-7230-42E0-8DB2-A93A9289E4BE}"/>
              </a:ext>
            </a:extLst>
          </p:cNvPr>
          <p:cNvSpPr/>
          <p:nvPr/>
        </p:nvSpPr>
        <p:spPr>
          <a:xfrm rot="19245637">
            <a:off x="3722688" y="2619375"/>
            <a:ext cx="330200" cy="13477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35" name="文字方塊 34">
            <a:extLst>
              <a:ext uri="{FF2B5EF4-FFF2-40B4-BE49-F238E27FC236}">
                <a16:creationId xmlns:a16="http://schemas.microsoft.com/office/drawing/2014/main" id="{AA0B6014-F93E-42F5-8DDB-38A876367084}"/>
              </a:ext>
            </a:extLst>
          </p:cNvPr>
          <p:cNvSpPr txBox="1"/>
          <p:nvPr/>
        </p:nvSpPr>
        <p:spPr>
          <a:xfrm>
            <a:off x="5938838" y="2011363"/>
            <a:ext cx="1281112" cy="769937"/>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200" dirty="0"/>
              <a:t>Large variance</a:t>
            </a:r>
            <a:endParaRPr lang="zh-TW" altLang="en-US" sz="2200" dirty="0"/>
          </a:p>
        </p:txBody>
      </p:sp>
      <p:sp>
        <p:nvSpPr>
          <p:cNvPr id="36" name="文字方塊 35">
            <a:extLst>
              <a:ext uri="{FF2B5EF4-FFF2-40B4-BE49-F238E27FC236}">
                <a16:creationId xmlns:a16="http://schemas.microsoft.com/office/drawing/2014/main" id="{E246E36C-6EB1-4EDA-AA40-E2E2F20113F5}"/>
              </a:ext>
            </a:extLst>
          </p:cNvPr>
          <p:cNvSpPr txBox="1"/>
          <p:nvPr/>
        </p:nvSpPr>
        <p:spPr>
          <a:xfrm>
            <a:off x="4452938" y="3411538"/>
            <a:ext cx="2044700" cy="460375"/>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400" dirty="0"/>
              <a:t>Small variance</a:t>
            </a:r>
            <a:endParaRPr lang="zh-TW" altLang="en-US" sz="2400" dirty="0"/>
          </a:p>
        </p:txBody>
      </p:sp>
      <p:pic>
        <p:nvPicPr>
          <p:cNvPr id="37" name="文字方塊 36">
            <a:extLst>
              <a:ext uri="{FF2B5EF4-FFF2-40B4-BE49-F238E27FC236}">
                <a16:creationId xmlns:a16="http://schemas.microsoft.com/office/drawing/2014/main" id="{3ED608BE-5127-4C5D-87A0-833F00A89098}"/>
              </a:ext>
            </a:extLst>
          </p:cNvPr>
          <p:cNvPicPr>
            <a:picLocks noRot="1" noChangeAspect="1" noMove="1" noResize="1" noEditPoints="1" noAdjustHandles="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5500" y="5626100"/>
            <a:ext cx="3784600" cy="1066800"/>
          </a:xfrm>
          <a:prstGeom prst="rect">
            <a:avLst/>
          </a:prstGeom>
          <a:noFill/>
          <a:extLst>
            <a:ext uri="{909E8E84-426E-40DD-AFC4-6F175D3DCCD1}">
              <a14:hiddenFill xmlns:a14="http://schemas.microsoft.com/office/drawing/2010/main">
                <a:solidFill>
                  <a:srgbClr val="FFFFFF"/>
                </a:solidFill>
              </a14:hiddenFill>
            </a:ext>
          </a:extLst>
        </p:spPr>
      </p:pic>
      <p:sp>
        <p:nvSpPr>
          <p:cNvPr id="21" name="文字方塊 20">
            <a:extLst>
              <a:ext uri="{FF2B5EF4-FFF2-40B4-BE49-F238E27FC236}">
                <a16:creationId xmlns:a16="http://schemas.microsoft.com/office/drawing/2014/main" id="{7F280562-FE5E-4EE9-91DB-31F61174D821}"/>
              </a:ext>
            </a:extLst>
          </p:cNvPr>
          <p:cNvSpPr txBox="1">
            <a:spLocks noRot="1" noChangeAspect="1" noMove="1" noResize="1" noEditPoints="1" noAdjustHandles="1" noChangeArrowheads="1" noChangeShapeType="1" noTextEdit="1"/>
          </p:cNvSpPr>
          <p:nvPr/>
        </p:nvSpPr>
        <p:spPr>
          <a:xfrm>
            <a:off x="693345" y="1876260"/>
            <a:ext cx="1271374" cy="430887"/>
          </a:xfrm>
          <a:prstGeom prst="rect">
            <a:avLst/>
          </a:prstGeom>
          <a:blipFill>
            <a:blip r:embed="rId8"/>
            <a:stretch>
              <a:fillRect l="-2970" r="-3960" b="-5714"/>
            </a:stretch>
          </a:blipFill>
        </p:spPr>
        <p:txBody>
          <a:bodyPr/>
          <a:lstStyle/>
          <a:p>
            <a:pPr>
              <a:defRPr/>
            </a:pPr>
            <a:r>
              <a:rPr lang="zh-CN" altLang="en-US">
                <a:noFill/>
              </a:rPr>
              <a:t> </a:t>
            </a:r>
          </a:p>
        </p:txBody>
      </p:sp>
      <p:sp>
        <p:nvSpPr>
          <p:cNvPr id="22" name="文字方塊 21">
            <a:extLst>
              <a:ext uri="{FF2B5EF4-FFF2-40B4-BE49-F238E27FC236}">
                <a16:creationId xmlns:a16="http://schemas.microsoft.com/office/drawing/2014/main" id="{A8BB5F12-27AF-4BE8-A6A1-AFB5F2F539C9}"/>
              </a:ext>
            </a:extLst>
          </p:cNvPr>
          <p:cNvSpPr txBox="1">
            <a:spLocks noRot="1" noChangeAspect="1" noMove="1" noResize="1" noEditPoints="1" noAdjustHandles="1" noChangeArrowheads="1" noChangeShapeType="1" noTextEdit="1"/>
          </p:cNvSpPr>
          <p:nvPr/>
        </p:nvSpPr>
        <p:spPr>
          <a:xfrm>
            <a:off x="1150524" y="3267613"/>
            <a:ext cx="1524776" cy="369332"/>
          </a:xfrm>
          <a:prstGeom prst="rect">
            <a:avLst/>
          </a:prstGeom>
          <a:blipFill>
            <a:blip r:embed="rId9"/>
            <a:stretch>
              <a:fillRect l="-1653" r="-826" b="-13333"/>
            </a:stretch>
          </a:blipFill>
        </p:spPr>
        <p:txBody>
          <a:bodyPr/>
          <a:lstStyle/>
          <a:p>
            <a:pPr>
              <a:defRPr/>
            </a:pPr>
            <a:r>
              <a:rPr lang="zh-CN" altLang="en-US">
                <a:noFill/>
              </a:rPr>
              <a:t> </a:t>
            </a:r>
          </a:p>
        </p:txBody>
      </p:sp>
      <p:sp>
        <p:nvSpPr>
          <p:cNvPr id="26" name="文字方塊 25">
            <a:extLst>
              <a:ext uri="{FF2B5EF4-FFF2-40B4-BE49-F238E27FC236}">
                <a16:creationId xmlns:a16="http://schemas.microsoft.com/office/drawing/2014/main" id="{B3F1C4A7-44C4-4925-A6B0-3235813631E9}"/>
              </a:ext>
            </a:extLst>
          </p:cNvPr>
          <p:cNvSpPr txBox="1">
            <a:spLocks noRot="1" noChangeAspect="1" noMove="1" noResize="1" noEditPoints="1" noAdjustHandles="1" noChangeArrowheads="1" noChangeShapeType="1" noTextEdit="1"/>
          </p:cNvSpPr>
          <p:nvPr/>
        </p:nvSpPr>
        <p:spPr>
          <a:xfrm>
            <a:off x="1435390" y="5779052"/>
            <a:ext cx="1524776" cy="369332"/>
          </a:xfrm>
          <a:prstGeom prst="rect">
            <a:avLst/>
          </a:prstGeom>
          <a:blipFill>
            <a:blip r:embed="rId10"/>
            <a:stretch>
              <a:fillRect l="-1653" r="-826" b="-13333"/>
            </a:stretch>
          </a:blipFill>
        </p:spPr>
        <p:txBody>
          <a:bodyPr/>
          <a:lstStyle/>
          <a:p>
            <a:pPr>
              <a:defRPr/>
            </a:pPr>
            <a:r>
              <a:rPr lang="zh-CN" altLang="en-US">
                <a:noFill/>
              </a:rPr>
              <a:t> </a:t>
            </a:r>
          </a:p>
        </p:txBody>
      </p:sp>
      <p:sp>
        <p:nvSpPr>
          <p:cNvPr id="25622" name="文字方塊 26">
            <a:extLst>
              <a:ext uri="{FF2B5EF4-FFF2-40B4-BE49-F238E27FC236}">
                <a16:creationId xmlns:a16="http://schemas.microsoft.com/office/drawing/2014/main" id="{23798809-7BF9-4BCB-B085-D89ECFA74A90}"/>
              </a:ext>
            </a:extLst>
          </p:cNvPr>
          <p:cNvSpPr txBox="1">
            <a:spLocks noChangeArrowheads="1"/>
          </p:cNvSpPr>
          <p:nvPr/>
        </p:nvSpPr>
        <p:spPr bwMode="auto">
          <a:xfrm>
            <a:off x="577850" y="2595563"/>
            <a:ext cx="2220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Reduce to 1-D:</a:t>
            </a:r>
            <a:endParaRPr lang="zh-TW" altLang="en-US" sz="2400">
              <a:solidFill>
                <a:schemeClr val="hlink"/>
              </a:solidFill>
              <a:ea typeface="宋体" panose="02010600030101010101" pitchFamily="2" charset="-122"/>
            </a:endParaRPr>
          </a:p>
        </p:txBody>
      </p:sp>
      <p:sp>
        <p:nvSpPr>
          <p:cNvPr id="28" name="文字方塊 27">
            <a:extLst>
              <a:ext uri="{FF2B5EF4-FFF2-40B4-BE49-F238E27FC236}">
                <a16:creationId xmlns:a16="http://schemas.microsoft.com/office/drawing/2014/main" id="{C0AA4461-E965-4B0F-B851-7C9750001467}"/>
              </a:ext>
            </a:extLst>
          </p:cNvPr>
          <p:cNvSpPr txBox="1">
            <a:spLocks noRot="1" noChangeAspect="1" noMove="1" noResize="1" noEditPoints="1" noAdjustHandles="1" noChangeArrowheads="1" noChangeShapeType="1" noTextEdit="1"/>
          </p:cNvSpPr>
          <p:nvPr/>
        </p:nvSpPr>
        <p:spPr>
          <a:xfrm>
            <a:off x="7109959" y="5873412"/>
            <a:ext cx="1489510" cy="369332"/>
          </a:xfrm>
          <a:prstGeom prst="rect">
            <a:avLst/>
          </a:prstGeom>
          <a:blipFill>
            <a:blip r:embed="rId11"/>
            <a:stretch>
              <a:fillRect r="-4237" b="-12903"/>
            </a:stretch>
          </a:blipFill>
        </p:spPr>
        <p:txBody>
          <a:bodyPr/>
          <a:lstStyle/>
          <a:p>
            <a:pPr>
              <a:defRPr/>
            </a:pPr>
            <a:r>
              <a:rPr lang="zh-CN" altLang="en-US">
                <a:noFill/>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標題 1">
            <a:extLst>
              <a:ext uri="{FF2B5EF4-FFF2-40B4-BE49-F238E27FC236}">
                <a16:creationId xmlns:a16="http://schemas.microsoft.com/office/drawing/2014/main" id="{C7FED1ED-D123-4A70-864E-8D282F0E077F}"/>
              </a:ext>
            </a:extLst>
          </p:cNvPr>
          <p:cNvSpPr>
            <a:spLocks noGrp="1" noChangeArrowheads="1"/>
          </p:cNvSpPr>
          <p:nvPr>
            <p:ph type="title"/>
          </p:nvPr>
        </p:nvSpPr>
        <p:spPr/>
        <p:txBody>
          <a:bodyPr/>
          <a:lstStyle/>
          <a:p>
            <a:r>
              <a:rPr lang="en-US" altLang="zh-TW"/>
              <a:t>PCA</a:t>
            </a:r>
            <a:endParaRPr lang="zh-TW" altLang="en-US"/>
          </a:p>
        </p:txBody>
      </p:sp>
      <p:pic>
        <p:nvPicPr>
          <p:cNvPr id="31" name="文字方塊 30">
            <a:extLst>
              <a:ext uri="{FF2B5EF4-FFF2-40B4-BE49-F238E27FC236}">
                <a16:creationId xmlns:a16="http://schemas.microsoft.com/office/drawing/2014/main" id="{9A85DF0E-BCBB-48E2-9B77-16EFE5FA91F2}"/>
              </a:ext>
            </a:extLst>
          </p:cNvPr>
          <p:cNvPicPr>
            <a:picLocks noRot="1" noChangeAspect="1" noMove="1" noResize="1" noEditPoints="1" noAdjustHandle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900" y="3898900"/>
            <a:ext cx="57404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32" name="文字方塊 31">
            <a:extLst>
              <a:ext uri="{FF2B5EF4-FFF2-40B4-BE49-F238E27FC236}">
                <a16:creationId xmlns:a16="http://schemas.microsoft.com/office/drawing/2014/main" id="{9383472A-F6AC-4502-8CBB-9321CE73E453}"/>
              </a:ext>
            </a:extLst>
          </p:cNvPr>
          <p:cNvPicPr>
            <a:picLocks noRot="1" noChangeAspect="1" noMove="1" noResize="1" noEditPoints="1" noAdjustHandles="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0100" y="4737100"/>
            <a:ext cx="3771900" cy="1066800"/>
          </a:xfrm>
          <a:prstGeom prst="rect">
            <a:avLst/>
          </a:prstGeom>
          <a:noFill/>
          <a:extLst>
            <a:ext uri="{909E8E84-426E-40DD-AFC4-6F175D3DCCD1}">
              <a14:hiddenFill xmlns:a14="http://schemas.microsoft.com/office/drawing/2010/main">
                <a:solidFill>
                  <a:srgbClr val="FFFFFF"/>
                </a:solidFill>
              </a14:hiddenFill>
            </a:ext>
          </a:extLst>
        </p:spPr>
      </p:pic>
      <p:sp>
        <p:nvSpPr>
          <p:cNvPr id="39" name="文字方塊 38">
            <a:extLst>
              <a:ext uri="{FF2B5EF4-FFF2-40B4-BE49-F238E27FC236}">
                <a16:creationId xmlns:a16="http://schemas.microsoft.com/office/drawing/2014/main" id="{3F49D3D4-2807-4CDC-8785-EFDEBD099C7B}"/>
              </a:ext>
            </a:extLst>
          </p:cNvPr>
          <p:cNvSpPr txBox="1">
            <a:spLocks noRot="1" noChangeAspect="1" noMove="1" noResize="1" noEditPoints="1" noAdjustHandles="1" noChangeArrowheads="1" noChangeShapeType="1" noTextEdit="1"/>
          </p:cNvSpPr>
          <p:nvPr/>
        </p:nvSpPr>
        <p:spPr>
          <a:xfrm>
            <a:off x="7019235" y="5045078"/>
            <a:ext cx="1496115" cy="369332"/>
          </a:xfrm>
          <a:prstGeom prst="rect">
            <a:avLst/>
          </a:prstGeom>
          <a:blipFill>
            <a:blip r:embed="rId4"/>
            <a:stretch>
              <a:fillRect r="-3361" b="-16667"/>
            </a:stretch>
          </a:blipFill>
        </p:spPr>
        <p:txBody>
          <a:bodyPr/>
          <a:lstStyle/>
          <a:p>
            <a:pPr>
              <a:defRPr/>
            </a:pPr>
            <a:r>
              <a:rPr lang="zh-CN" altLang="en-US">
                <a:noFill/>
              </a:rPr>
              <a:t> </a:t>
            </a:r>
          </a:p>
        </p:txBody>
      </p:sp>
      <p:sp>
        <p:nvSpPr>
          <p:cNvPr id="40" name="文字方塊 39">
            <a:extLst>
              <a:ext uri="{FF2B5EF4-FFF2-40B4-BE49-F238E27FC236}">
                <a16:creationId xmlns:a16="http://schemas.microsoft.com/office/drawing/2014/main" id="{D36E65F1-A986-4C1F-930E-54B2617FDDAA}"/>
              </a:ext>
            </a:extLst>
          </p:cNvPr>
          <p:cNvSpPr txBox="1">
            <a:spLocks noRot="1" noChangeAspect="1" noMove="1" noResize="1" noEditPoints="1" noAdjustHandles="1" noChangeArrowheads="1" noChangeShapeType="1" noTextEdit="1"/>
          </p:cNvSpPr>
          <p:nvPr/>
        </p:nvSpPr>
        <p:spPr>
          <a:xfrm>
            <a:off x="6949715" y="5527169"/>
            <a:ext cx="1633845" cy="369332"/>
          </a:xfrm>
          <a:prstGeom prst="rect">
            <a:avLst/>
          </a:prstGeom>
          <a:blipFill>
            <a:blip r:embed="rId5"/>
            <a:stretch>
              <a:fillRect l="-1538" r="-3077" b="-6667"/>
            </a:stretch>
          </a:blipFill>
        </p:spPr>
        <p:txBody>
          <a:bodyPr/>
          <a:lstStyle/>
          <a:p>
            <a:pPr>
              <a:defRPr/>
            </a:pPr>
            <a:r>
              <a:rPr lang="zh-CN" altLang="en-US">
                <a:noFill/>
              </a:rPr>
              <a:t> </a:t>
            </a:r>
          </a:p>
        </p:txBody>
      </p:sp>
      <p:sp>
        <p:nvSpPr>
          <p:cNvPr id="41" name="文字方塊 40">
            <a:extLst>
              <a:ext uri="{FF2B5EF4-FFF2-40B4-BE49-F238E27FC236}">
                <a16:creationId xmlns:a16="http://schemas.microsoft.com/office/drawing/2014/main" id="{B10C299D-6C10-4996-8069-5ECAD39D30D8}"/>
              </a:ext>
            </a:extLst>
          </p:cNvPr>
          <p:cNvSpPr txBox="1">
            <a:spLocks noRot="1" noChangeAspect="1" noMove="1" noResize="1" noEditPoints="1" noAdjustHandles="1" noChangeArrowheads="1" noChangeShapeType="1" noTextEdit="1"/>
          </p:cNvSpPr>
          <p:nvPr/>
        </p:nvSpPr>
        <p:spPr>
          <a:xfrm>
            <a:off x="693345" y="1876260"/>
            <a:ext cx="1271374" cy="430887"/>
          </a:xfrm>
          <a:prstGeom prst="rect">
            <a:avLst/>
          </a:prstGeom>
          <a:blipFill>
            <a:blip r:embed="rId6"/>
            <a:stretch>
              <a:fillRect l="-2970" r="-3960" b="-5714"/>
            </a:stretch>
          </a:blipFill>
        </p:spPr>
        <p:txBody>
          <a:bodyPr/>
          <a:lstStyle/>
          <a:p>
            <a:pPr>
              <a:defRPr/>
            </a:pPr>
            <a:r>
              <a:rPr lang="zh-CN" altLang="en-US">
                <a:noFill/>
              </a:rPr>
              <a:t> </a:t>
            </a:r>
          </a:p>
        </p:txBody>
      </p:sp>
      <p:sp>
        <p:nvSpPr>
          <p:cNvPr id="42" name="文字方塊 41">
            <a:extLst>
              <a:ext uri="{FF2B5EF4-FFF2-40B4-BE49-F238E27FC236}">
                <a16:creationId xmlns:a16="http://schemas.microsoft.com/office/drawing/2014/main" id="{C176636D-5878-4DE1-A28C-BF6C77B81D7F}"/>
              </a:ext>
            </a:extLst>
          </p:cNvPr>
          <p:cNvSpPr txBox="1">
            <a:spLocks noRot="1" noChangeAspect="1" noMove="1" noResize="1" noEditPoints="1" noAdjustHandles="1" noChangeArrowheads="1" noChangeShapeType="1" noTextEdit="1"/>
          </p:cNvSpPr>
          <p:nvPr/>
        </p:nvSpPr>
        <p:spPr>
          <a:xfrm>
            <a:off x="1150524" y="3267613"/>
            <a:ext cx="1524776" cy="369332"/>
          </a:xfrm>
          <a:prstGeom prst="rect">
            <a:avLst/>
          </a:prstGeom>
          <a:blipFill>
            <a:blip r:embed="rId7"/>
            <a:stretch>
              <a:fillRect l="-1653" r="-826" b="-13333"/>
            </a:stretch>
          </a:blipFill>
        </p:spPr>
        <p:txBody>
          <a:bodyPr/>
          <a:lstStyle/>
          <a:p>
            <a:pPr>
              <a:defRPr/>
            </a:pPr>
            <a:r>
              <a:rPr lang="zh-CN" altLang="en-US">
                <a:noFill/>
              </a:rPr>
              <a:t> </a:t>
            </a:r>
          </a:p>
        </p:txBody>
      </p:sp>
      <p:sp>
        <p:nvSpPr>
          <p:cNvPr id="26632" name="文字方塊 42">
            <a:extLst>
              <a:ext uri="{FF2B5EF4-FFF2-40B4-BE49-F238E27FC236}">
                <a16:creationId xmlns:a16="http://schemas.microsoft.com/office/drawing/2014/main" id="{42050855-4B84-4DA0-85CF-4800913785A9}"/>
              </a:ext>
            </a:extLst>
          </p:cNvPr>
          <p:cNvSpPr txBox="1">
            <a:spLocks noChangeArrowheads="1"/>
          </p:cNvSpPr>
          <p:nvPr/>
        </p:nvSpPr>
        <p:spPr bwMode="auto">
          <a:xfrm>
            <a:off x="577850" y="2595563"/>
            <a:ext cx="2220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Reduce to 1-D:</a:t>
            </a:r>
            <a:endParaRPr lang="zh-TW" altLang="en-US" sz="2400">
              <a:solidFill>
                <a:schemeClr val="hlink"/>
              </a:solidFill>
              <a:ea typeface="宋体" panose="02010600030101010101" pitchFamily="2" charset="-122"/>
            </a:endParaRPr>
          </a:p>
        </p:txBody>
      </p:sp>
      <p:grpSp>
        <p:nvGrpSpPr>
          <p:cNvPr id="26633" name="群組 8">
            <a:extLst>
              <a:ext uri="{FF2B5EF4-FFF2-40B4-BE49-F238E27FC236}">
                <a16:creationId xmlns:a16="http://schemas.microsoft.com/office/drawing/2014/main" id="{FCBEC1AF-983B-4A5D-9271-944B81CFA579}"/>
              </a:ext>
            </a:extLst>
          </p:cNvPr>
          <p:cNvGrpSpPr>
            <a:grpSpLocks/>
          </p:cNvGrpSpPr>
          <p:nvPr/>
        </p:nvGrpSpPr>
        <p:grpSpPr bwMode="auto">
          <a:xfrm>
            <a:off x="3340100" y="817563"/>
            <a:ext cx="5422900" cy="2674937"/>
            <a:chOff x="3340668" y="817601"/>
            <a:chExt cx="5422962" cy="2674892"/>
          </a:xfrm>
        </p:grpSpPr>
        <p:grpSp>
          <p:nvGrpSpPr>
            <p:cNvPr id="26642" name="群組 4">
              <a:extLst>
                <a:ext uri="{FF2B5EF4-FFF2-40B4-BE49-F238E27FC236}">
                  <a16:creationId xmlns:a16="http://schemas.microsoft.com/office/drawing/2014/main" id="{4C5962B9-187A-49F0-834D-150EBD5F5266}"/>
                </a:ext>
              </a:extLst>
            </p:cNvPr>
            <p:cNvGrpSpPr>
              <a:grpSpLocks/>
            </p:cNvGrpSpPr>
            <p:nvPr/>
          </p:nvGrpSpPr>
          <p:grpSpPr bwMode="auto">
            <a:xfrm>
              <a:off x="3378430" y="884532"/>
              <a:ext cx="5290256" cy="2607961"/>
              <a:chOff x="3410472" y="1061327"/>
              <a:chExt cx="5290256" cy="2607961"/>
            </a:xfrm>
          </p:grpSpPr>
          <p:pic>
            <p:nvPicPr>
              <p:cNvPr id="44" name="文字方塊 43">
                <a:extLst>
                  <a:ext uri="{FF2B5EF4-FFF2-40B4-BE49-F238E27FC236}">
                    <a16:creationId xmlns:a16="http://schemas.microsoft.com/office/drawing/2014/main" id="{5AD9FA62-8943-4123-84E5-6D0F74FEDDFC}"/>
                  </a:ext>
                </a:extLst>
              </p:cNvPr>
              <p:cNvPicPr>
                <a:picLocks noRot="1" noChangeAspect="1" noMove="1" noResize="1" noEditPoints="1" noAdjustHandles="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3510" y="1053132"/>
                <a:ext cx="5194359" cy="838186"/>
              </a:xfrm>
              <a:prstGeom prst="rect">
                <a:avLst/>
              </a:prstGeom>
              <a:noFill/>
              <a:extLst>
                <a:ext uri="{909E8E84-426E-40DD-AFC4-6F175D3DCCD1}">
                  <a14:hiddenFill xmlns:a14="http://schemas.microsoft.com/office/drawing/2010/main">
                    <a:solidFill>
                      <a:srgbClr val="FFFFFF"/>
                    </a:solidFill>
                  </a14:hiddenFill>
                </a:ext>
              </a:extLst>
            </p:spPr>
          </p:pic>
          <p:pic>
            <p:nvPicPr>
              <p:cNvPr id="45" name="文字方塊 44">
                <a:extLst>
                  <a:ext uri="{FF2B5EF4-FFF2-40B4-BE49-F238E27FC236}">
                    <a16:creationId xmlns:a16="http://schemas.microsoft.com/office/drawing/2014/main" id="{5A79BAE0-2353-45FE-A0DF-F150893D4705}"/>
                  </a:ext>
                </a:extLst>
              </p:cNvPr>
              <p:cNvPicPr>
                <a:picLocks noRot="1" noChangeAspect="1" noMove="1" noResize="1" noEditPoints="1" noAdjustHandles="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74311" y="1865918"/>
                <a:ext cx="5143558" cy="850886"/>
              </a:xfrm>
              <a:prstGeom prst="rect">
                <a:avLst/>
              </a:prstGeom>
              <a:noFill/>
              <a:extLst>
                <a:ext uri="{909E8E84-426E-40DD-AFC4-6F175D3DCCD1}">
                  <a14:hiddenFill xmlns:a14="http://schemas.microsoft.com/office/drawing/2010/main">
                    <a:solidFill>
                      <a:srgbClr val="FFFFFF"/>
                    </a:solidFill>
                  </a14:hiddenFill>
                </a:ext>
              </a:extLst>
            </p:spPr>
          </p:pic>
          <p:pic>
            <p:nvPicPr>
              <p:cNvPr id="46" name="文字方塊 45">
                <a:extLst>
                  <a:ext uri="{FF2B5EF4-FFF2-40B4-BE49-F238E27FC236}">
                    <a16:creationId xmlns:a16="http://schemas.microsoft.com/office/drawing/2014/main" id="{B5974CE7-6EFB-4007-99C4-A68277A3B572}"/>
                  </a:ext>
                </a:extLst>
              </p:cNvPr>
              <p:cNvPicPr>
                <a:picLocks noRot="1" noChangeAspect="1" noMove="1" noResize="1" noEditPoints="1" noAdjustHandles="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8110" y="2627906"/>
                <a:ext cx="3784643" cy="1054082"/>
              </a:xfrm>
              <a:prstGeom prst="rect">
                <a:avLst/>
              </a:prstGeom>
              <a:noFill/>
              <a:extLst>
                <a:ext uri="{909E8E84-426E-40DD-AFC4-6F175D3DCCD1}">
                  <a14:hiddenFill xmlns:a14="http://schemas.microsoft.com/office/drawing/2010/main">
                    <a:solidFill>
                      <a:srgbClr val="FFFFFF"/>
                    </a:solidFill>
                  </a14:hiddenFill>
                </a:ext>
              </a:extLst>
            </p:spPr>
          </p:pic>
          <p:sp>
            <p:nvSpPr>
              <p:cNvPr id="47" name="文字方塊 46">
                <a:extLst>
                  <a:ext uri="{FF2B5EF4-FFF2-40B4-BE49-F238E27FC236}">
                    <a16:creationId xmlns:a16="http://schemas.microsoft.com/office/drawing/2014/main" id="{F48A22FA-7CDB-42E9-BCFA-D1B539D08B26}"/>
                  </a:ext>
                </a:extLst>
              </p:cNvPr>
              <p:cNvSpPr txBox="1">
                <a:spLocks noRot="1" noChangeAspect="1" noMove="1" noResize="1" noEditPoints="1" noAdjustHandles="1" noChangeArrowheads="1" noChangeShapeType="1" noTextEdit="1"/>
              </p:cNvSpPr>
              <p:nvPr/>
            </p:nvSpPr>
            <p:spPr>
              <a:xfrm>
                <a:off x="7211218" y="2825706"/>
                <a:ext cx="1489510" cy="369332"/>
              </a:xfrm>
              <a:prstGeom prst="rect">
                <a:avLst/>
              </a:prstGeom>
              <a:blipFill>
                <a:blip r:embed="rId11"/>
                <a:stretch>
                  <a:fillRect r="-3361" b="-13333"/>
                </a:stretch>
              </a:blipFill>
            </p:spPr>
            <p:txBody>
              <a:bodyPr/>
              <a:lstStyle/>
              <a:p>
                <a:pPr>
                  <a:defRPr/>
                </a:pPr>
                <a:r>
                  <a:rPr lang="zh-CN" altLang="en-US">
                    <a:noFill/>
                  </a:rPr>
                  <a:t> </a:t>
                </a:r>
              </a:p>
            </p:txBody>
          </p:sp>
        </p:grpSp>
        <p:sp>
          <p:nvSpPr>
            <p:cNvPr id="7" name="矩形 6">
              <a:extLst>
                <a:ext uri="{FF2B5EF4-FFF2-40B4-BE49-F238E27FC236}">
                  <a16:creationId xmlns:a16="http://schemas.microsoft.com/office/drawing/2014/main" id="{03DF838A-380A-4671-A524-2377825956CD}"/>
                </a:ext>
              </a:extLst>
            </p:cNvPr>
            <p:cNvSpPr/>
            <p:nvPr/>
          </p:nvSpPr>
          <p:spPr>
            <a:xfrm>
              <a:off x="3340668" y="817601"/>
              <a:ext cx="5422962" cy="267330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grpSp>
      <p:sp>
        <p:nvSpPr>
          <p:cNvPr id="48" name="文字方塊 47">
            <a:extLst>
              <a:ext uri="{FF2B5EF4-FFF2-40B4-BE49-F238E27FC236}">
                <a16:creationId xmlns:a16="http://schemas.microsoft.com/office/drawing/2014/main" id="{E7351626-2267-4178-830E-A3290034CCFF}"/>
              </a:ext>
            </a:extLst>
          </p:cNvPr>
          <p:cNvSpPr txBox="1">
            <a:spLocks noRot="1" noChangeAspect="1" noMove="1" noResize="1" noEditPoints="1" noAdjustHandles="1" noChangeArrowheads="1" noChangeShapeType="1" noTextEdit="1"/>
          </p:cNvSpPr>
          <p:nvPr/>
        </p:nvSpPr>
        <p:spPr>
          <a:xfrm>
            <a:off x="1150524" y="3776348"/>
            <a:ext cx="1538498" cy="369332"/>
          </a:xfrm>
          <a:prstGeom prst="rect">
            <a:avLst/>
          </a:prstGeom>
          <a:blipFill>
            <a:blip r:embed="rId12"/>
            <a:stretch>
              <a:fillRect l="-1639" r="-820" b="-16667"/>
            </a:stretch>
          </a:blipFill>
        </p:spPr>
        <p:txBody>
          <a:bodyPr/>
          <a:lstStyle/>
          <a:p>
            <a:pPr>
              <a:defRPr/>
            </a:pPr>
            <a:r>
              <a:rPr lang="zh-CN" altLang="en-US">
                <a:noFill/>
              </a:rPr>
              <a:t> </a:t>
            </a:r>
          </a:p>
        </p:txBody>
      </p:sp>
      <p:sp>
        <p:nvSpPr>
          <p:cNvPr id="49" name="矩形 48">
            <a:extLst>
              <a:ext uri="{FF2B5EF4-FFF2-40B4-BE49-F238E27FC236}">
                <a16:creationId xmlns:a16="http://schemas.microsoft.com/office/drawing/2014/main" id="{0716168F-0BC0-499A-A2DE-89EC8012BC86}"/>
              </a:ext>
            </a:extLst>
          </p:cNvPr>
          <p:cNvSpPr/>
          <p:nvPr/>
        </p:nvSpPr>
        <p:spPr>
          <a:xfrm>
            <a:off x="3340100" y="3849688"/>
            <a:ext cx="5422900" cy="2306637"/>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50" name="文字方塊 49">
            <a:extLst>
              <a:ext uri="{FF2B5EF4-FFF2-40B4-BE49-F238E27FC236}">
                <a16:creationId xmlns:a16="http://schemas.microsoft.com/office/drawing/2014/main" id="{5223E156-03E8-47CE-BE42-F81489776CCF}"/>
              </a:ext>
            </a:extLst>
          </p:cNvPr>
          <p:cNvSpPr txBox="1">
            <a:spLocks noRot="1" noChangeAspect="1" noMove="1" noResize="1" noEditPoints="1" noAdjustHandles="1" noChangeArrowheads="1" noChangeShapeType="1" noTextEdit="1"/>
          </p:cNvSpPr>
          <p:nvPr/>
        </p:nvSpPr>
        <p:spPr>
          <a:xfrm>
            <a:off x="633322" y="4367092"/>
            <a:ext cx="2132379" cy="1369477"/>
          </a:xfrm>
          <a:prstGeom prst="rect">
            <a:avLst/>
          </a:prstGeom>
          <a:blipFill>
            <a:blip r:embed="rId13"/>
            <a:stretch>
              <a:fillRect l="-2959"/>
            </a:stretch>
          </a:blipFill>
        </p:spPr>
        <p:txBody>
          <a:bodyPr/>
          <a:lstStyle/>
          <a:p>
            <a:pPr>
              <a:defRPr/>
            </a:pPr>
            <a:r>
              <a:rPr lang="zh-CN" altLang="en-US">
                <a:noFill/>
              </a:rPr>
              <a:t> </a:t>
            </a:r>
          </a:p>
        </p:txBody>
      </p:sp>
      <p:sp>
        <p:nvSpPr>
          <p:cNvPr id="10" name="文字方塊 9">
            <a:extLst>
              <a:ext uri="{FF2B5EF4-FFF2-40B4-BE49-F238E27FC236}">
                <a16:creationId xmlns:a16="http://schemas.microsoft.com/office/drawing/2014/main" id="{A24D801D-4893-4B94-9C65-24669F296813}"/>
              </a:ext>
            </a:extLst>
          </p:cNvPr>
          <p:cNvSpPr txBox="1"/>
          <p:nvPr/>
        </p:nvSpPr>
        <p:spPr>
          <a:xfrm>
            <a:off x="820810" y="5794543"/>
            <a:ext cx="1757402" cy="830997"/>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algn="ctr" eaLnBrk="1" hangingPunct="1">
              <a:spcBef>
                <a:spcPct val="50000"/>
              </a:spcBef>
              <a:defRPr/>
            </a:pPr>
            <a:r>
              <a:rPr lang="en-US" altLang="zh-TW" sz="2400" dirty="0"/>
              <a:t>Orthogonal matrix</a:t>
            </a:r>
            <a:endParaRPr lang="zh-TW" altLang="en-US" sz="2400" dirty="0"/>
          </a:p>
        </p:txBody>
      </p:sp>
      <p:cxnSp>
        <p:nvCxnSpPr>
          <p:cNvPr id="14" name="直線單箭頭接點 13">
            <a:extLst>
              <a:ext uri="{FF2B5EF4-FFF2-40B4-BE49-F238E27FC236}">
                <a16:creationId xmlns:a16="http://schemas.microsoft.com/office/drawing/2014/main" id="{B2825CDC-17F3-4BE2-80D2-F98D946F92E2}"/>
              </a:ext>
            </a:extLst>
          </p:cNvPr>
          <p:cNvCxnSpPr/>
          <p:nvPr/>
        </p:nvCxnSpPr>
        <p:spPr>
          <a:xfrm flipV="1">
            <a:off x="2798763" y="2306638"/>
            <a:ext cx="541337" cy="11334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65393874-A35C-4939-8F2D-004ED9679D2B}"/>
              </a:ext>
            </a:extLst>
          </p:cNvPr>
          <p:cNvCxnSpPr>
            <a:stCxn id="48" idx="3"/>
          </p:cNvCxnSpPr>
          <p:nvPr/>
        </p:nvCxnSpPr>
        <p:spPr>
          <a:xfrm>
            <a:off x="2689225" y="3960813"/>
            <a:ext cx="650875" cy="9048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標題 1">
            <a:extLst>
              <a:ext uri="{FF2B5EF4-FFF2-40B4-BE49-F238E27FC236}">
                <a16:creationId xmlns:a16="http://schemas.microsoft.com/office/drawing/2014/main" id="{4586369B-05DF-4F71-ABF9-80A33354012E}"/>
              </a:ext>
            </a:extLst>
          </p:cNvPr>
          <p:cNvSpPr>
            <a:spLocks noGrp="1" noChangeArrowheads="1"/>
          </p:cNvSpPr>
          <p:nvPr>
            <p:ph type="ctrTitle"/>
          </p:nvPr>
        </p:nvSpPr>
        <p:spPr>
          <a:xfrm>
            <a:off x="1524000" y="1219200"/>
            <a:ext cx="5257800" cy="2387600"/>
          </a:xfrm>
        </p:spPr>
        <p:txBody>
          <a:bodyPr/>
          <a:lstStyle/>
          <a:p>
            <a:r>
              <a:rPr lang="en-US" altLang="zh-TW">
                <a:solidFill>
                  <a:srgbClr val="FF0000"/>
                </a:solidFill>
              </a:rPr>
              <a:t>Warning of Math</a:t>
            </a:r>
            <a:endParaRPr lang="zh-TW" altLang="en-US">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標題 1">
            <a:extLst>
              <a:ext uri="{FF2B5EF4-FFF2-40B4-BE49-F238E27FC236}">
                <a16:creationId xmlns:a16="http://schemas.microsoft.com/office/drawing/2014/main" id="{EFCC5E50-96BB-42A9-B621-1C1070C31B71}"/>
              </a:ext>
            </a:extLst>
          </p:cNvPr>
          <p:cNvSpPr>
            <a:spLocks noGrp="1" noChangeArrowheads="1"/>
          </p:cNvSpPr>
          <p:nvPr>
            <p:ph type="title"/>
          </p:nvPr>
        </p:nvSpPr>
        <p:spPr/>
        <p:txBody>
          <a:bodyPr/>
          <a:lstStyle/>
          <a:p>
            <a:r>
              <a:rPr lang="en-US" altLang="zh-TW"/>
              <a:t>PCA</a:t>
            </a:r>
            <a:endParaRPr lang="zh-TW" altLang="en-US"/>
          </a:p>
        </p:txBody>
      </p:sp>
      <p:sp>
        <p:nvSpPr>
          <p:cNvPr id="4" name="文字方塊 3">
            <a:extLst>
              <a:ext uri="{FF2B5EF4-FFF2-40B4-BE49-F238E27FC236}">
                <a16:creationId xmlns:a16="http://schemas.microsoft.com/office/drawing/2014/main" id="{6804DD11-CC68-440E-8366-DCD4945C0FE6}"/>
              </a:ext>
            </a:extLst>
          </p:cNvPr>
          <p:cNvSpPr txBox="1">
            <a:spLocks noRot="1" noChangeAspect="1" noMove="1" noResize="1" noEditPoints="1" noAdjustHandles="1" noChangeArrowheads="1" noChangeShapeType="1" noTextEdit="1"/>
          </p:cNvSpPr>
          <p:nvPr/>
        </p:nvSpPr>
        <p:spPr>
          <a:xfrm>
            <a:off x="5405975" y="5106451"/>
            <a:ext cx="3067378" cy="369332"/>
          </a:xfrm>
          <a:prstGeom prst="rect">
            <a:avLst/>
          </a:prstGeom>
          <a:blipFill>
            <a:blip r:embed="rId2"/>
            <a:stretch>
              <a:fillRect r="-1653" b="-13333"/>
            </a:stretch>
          </a:blipFill>
        </p:spPr>
        <p:txBody>
          <a:bodyPr/>
          <a:lstStyle/>
          <a:p>
            <a:pPr>
              <a:defRPr/>
            </a:pPr>
            <a:r>
              <a:rPr lang="zh-CN" altLang="en-US">
                <a:noFill/>
              </a:rPr>
              <a:t> </a:t>
            </a:r>
          </a:p>
        </p:txBody>
      </p:sp>
      <p:sp>
        <p:nvSpPr>
          <p:cNvPr id="7" name="文字方塊 6">
            <a:extLst>
              <a:ext uri="{FF2B5EF4-FFF2-40B4-BE49-F238E27FC236}">
                <a16:creationId xmlns:a16="http://schemas.microsoft.com/office/drawing/2014/main" id="{3D076AF4-D374-4332-8B1E-E2DD75A71752}"/>
              </a:ext>
            </a:extLst>
          </p:cNvPr>
          <p:cNvSpPr txBox="1">
            <a:spLocks noRot="1" noChangeAspect="1" noMove="1" noResize="1" noEditPoints="1" noAdjustHandles="1" noChangeArrowheads="1" noChangeShapeType="1" noTextEdit="1"/>
          </p:cNvSpPr>
          <p:nvPr/>
        </p:nvSpPr>
        <p:spPr>
          <a:xfrm>
            <a:off x="2087649" y="845799"/>
            <a:ext cx="3690241" cy="894347"/>
          </a:xfrm>
          <a:prstGeom prst="rect">
            <a:avLst/>
          </a:prstGeom>
          <a:blipFill>
            <a:blip r:embed="rId3"/>
            <a:stretch>
              <a:fillRect l="-4110" t="-147887" r="-342" b="-204225"/>
            </a:stretch>
          </a:blipFill>
        </p:spPr>
        <p:txBody>
          <a:bodyPr/>
          <a:lstStyle/>
          <a:p>
            <a:pPr>
              <a:defRPr/>
            </a:pPr>
            <a:r>
              <a:rPr lang="zh-CN" altLang="en-US">
                <a:noFill/>
              </a:rPr>
              <a:t> </a:t>
            </a:r>
          </a:p>
        </p:txBody>
      </p:sp>
      <p:sp>
        <p:nvSpPr>
          <p:cNvPr id="8" name="文字方塊 7">
            <a:extLst>
              <a:ext uri="{FF2B5EF4-FFF2-40B4-BE49-F238E27FC236}">
                <a16:creationId xmlns:a16="http://schemas.microsoft.com/office/drawing/2014/main" id="{9301858C-839D-4434-8593-613860481043}"/>
              </a:ext>
            </a:extLst>
          </p:cNvPr>
          <p:cNvSpPr txBox="1">
            <a:spLocks noRot="1" noChangeAspect="1" noMove="1" noResize="1" noEditPoints="1" noAdjustHandles="1" noChangeArrowheads="1" noChangeShapeType="1" noTextEdit="1"/>
          </p:cNvSpPr>
          <p:nvPr/>
        </p:nvSpPr>
        <p:spPr>
          <a:xfrm>
            <a:off x="5820879" y="853319"/>
            <a:ext cx="1906356" cy="894347"/>
          </a:xfrm>
          <a:prstGeom prst="rect">
            <a:avLst/>
          </a:prstGeom>
          <a:blipFill>
            <a:blip r:embed="rId4"/>
            <a:stretch>
              <a:fillRect l="-662" t="-144444" r="-26490" b="-201389"/>
            </a:stretch>
          </a:blipFill>
        </p:spPr>
        <p:txBody>
          <a:bodyPr/>
          <a:lstStyle/>
          <a:p>
            <a:pPr>
              <a:defRPr/>
            </a:pPr>
            <a:r>
              <a:rPr lang="zh-CN" altLang="en-US">
                <a:noFill/>
              </a:rPr>
              <a:t> </a:t>
            </a:r>
          </a:p>
        </p:txBody>
      </p:sp>
      <p:sp>
        <p:nvSpPr>
          <p:cNvPr id="9" name="文字方塊 8">
            <a:extLst>
              <a:ext uri="{FF2B5EF4-FFF2-40B4-BE49-F238E27FC236}">
                <a16:creationId xmlns:a16="http://schemas.microsoft.com/office/drawing/2014/main" id="{B5507EB7-273C-4877-8DEA-1CFEC62819CE}"/>
              </a:ext>
            </a:extLst>
          </p:cNvPr>
          <p:cNvSpPr txBox="1">
            <a:spLocks noRot="1" noChangeAspect="1" noMove="1" noResize="1" noEditPoints="1" noAdjustHandles="1" noChangeArrowheads="1" noChangeShapeType="1" noTextEdit="1"/>
          </p:cNvSpPr>
          <p:nvPr/>
        </p:nvSpPr>
        <p:spPr>
          <a:xfrm>
            <a:off x="7676880" y="1063042"/>
            <a:ext cx="1162241" cy="369332"/>
          </a:xfrm>
          <a:prstGeom prst="rect">
            <a:avLst/>
          </a:prstGeom>
          <a:blipFill>
            <a:blip r:embed="rId5"/>
            <a:stretch>
              <a:fillRect l="-1075" r="-1075"/>
            </a:stretch>
          </a:blipFill>
        </p:spPr>
        <p:txBody>
          <a:bodyPr/>
          <a:lstStyle/>
          <a:p>
            <a:pPr>
              <a:defRPr/>
            </a:pPr>
            <a:r>
              <a:rPr lang="zh-CN" altLang="en-US">
                <a:noFill/>
              </a:rPr>
              <a:t> </a:t>
            </a:r>
          </a:p>
        </p:txBody>
      </p:sp>
      <p:sp>
        <p:nvSpPr>
          <p:cNvPr id="10" name="文字方塊 9">
            <a:extLst>
              <a:ext uri="{FF2B5EF4-FFF2-40B4-BE49-F238E27FC236}">
                <a16:creationId xmlns:a16="http://schemas.microsoft.com/office/drawing/2014/main" id="{F83BCD99-AF2E-40BB-B781-88D8D036F529}"/>
              </a:ext>
            </a:extLst>
          </p:cNvPr>
          <p:cNvSpPr txBox="1">
            <a:spLocks noRot="1" noChangeAspect="1" noMove="1" noResize="1" noEditPoints="1" noAdjustHandles="1" noChangeArrowheads="1" noChangeShapeType="1" noTextEdit="1"/>
          </p:cNvSpPr>
          <p:nvPr/>
        </p:nvSpPr>
        <p:spPr>
          <a:xfrm>
            <a:off x="411099" y="2514220"/>
            <a:ext cx="3871840" cy="988540"/>
          </a:xfrm>
          <a:prstGeom prst="rect">
            <a:avLst/>
          </a:prstGeom>
          <a:blipFill>
            <a:blip r:embed="rId6"/>
            <a:stretch>
              <a:fillRect l="-11765" t="-129114" b="-178481"/>
            </a:stretch>
          </a:blipFill>
        </p:spPr>
        <p:txBody>
          <a:bodyPr/>
          <a:lstStyle/>
          <a:p>
            <a:pPr>
              <a:defRPr/>
            </a:pPr>
            <a:r>
              <a:rPr lang="zh-CN" altLang="en-US">
                <a:noFill/>
              </a:rPr>
              <a:t> </a:t>
            </a:r>
          </a:p>
        </p:txBody>
      </p:sp>
      <p:sp>
        <p:nvSpPr>
          <p:cNvPr id="11" name="文字方塊 10">
            <a:extLst>
              <a:ext uri="{FF2B5EF4-FFF2-40B4-BE49-F238E27FC236}">
                <a16:creationId xmlns:a16="http://schemas.microsoft.com/office/drawing/2014/main" id="{463FB13E-B5AD-43B3-AF11-5DA66140BDF2}"/>
              </a:ext>
            </a:extLst>
          </p:cNvPr>
          <p:cNvSpPr txBox="1">
            <a:spLocks noRot="1" noChangeAspect="1" noMove="1" noResize="1" noEditPoints="1" noAdjustHandles="1" noChangeArrowheads="1" noChangeShapeType="1" noTextEdit="1"/>
          </p:cNvSpPr>
          <p:nvPr/>
        </p:nvSpPr>
        <p:spPr>
          <a:xfrm>
            <a:off x="409931" y="3446995"/>
            <a:ext cx="3181432" cy="986680"/>
          </a:xfrm>
          <a:prstGeom prst="rect">
            <a:avLst/>
          </a:prstGeom>
          <a:blipFill>
            <a:blip r:embed="rId7"/>
            <a:stretch>
              <a:fillRect l="-14683" t="-129114" b="-179747"/>
            </a:stretch>
          </a:blipFill>
        </p:spPr>
        <p:txBody>
          <a:bodyPr/>
          <a:lstStyle/>
          <a:p>
            <a:pPr>
              <a:defRPr/>
            </a:pPr>
            <a:r>
              <a:rPr lang="zh-CN" altLang="en-US">
                <a:noFill/>
              </a:rPr>
              <a:t> </a:t>
            </a:r>
          </a:p>
        </p:txBody>
      </p:sp>
      <p:sp>
        <p:nvSpPr>
          <p:cNvPr id="12" name="文字方塊 11">
            <a:extLst>
              <a:ext uri="{FF2B5EF4-FFF2-40B4-BE49-F238E27FC236}">
                <a16:creationId xmlns:a16="http://schemas.microsoft.com/office/drawing/2014/main" id="{57249A38-6E28-4A42-B85F-B1D4535D7907}"/>
              </a:ext>
            </a:extLst>
          </p:cNvPr>
          <p:cNvSpPr txBox="1">
            <a:spLocks noRot="1" noChangeAspect="1" noMove="1" noResize="1" noEditPoints="1" noAdjustHandles="1" noChangeArrowheads="1" noChangeShapeType="1" noTextEdit="1"/>
          </p:cNvSpPr>
          <p:nvPr/>
        </p:nvSpPr>
        <p:spPr>
          <a:xfrm>
            <a:off x="4466537" y="2305454"/>
            <a:ext cx="2350964" cy="369332"/>
          </a:xfrm>
          <a:prstGeom prst="rect">
            <a:avLst/>
          </a:prstGeom>
          <a:blipFill>
            <a:blip r:embed="rId8"/>
            <a:stretch>
              <a:fillRect r="-538" b="-6667"/>
            </a:stretch>
          </a:blipFill>
        </p:spPr>
        <p:txBody>
          <a:bodyPr/>
          <a:lstStyle/>
          <a:p>
            <a:pPr>
              <a:defRPr/>
            </a:pPr>
            <a:r>
              <a:rPr lang="zh-CN" altLang="en-US">
                <a:noFill/>
              </a:rPr>
              <a:t> </a:t>
            </a:r>
          </a:p>
        </p:txBody>
      </p:sp>
      <p:sp>
        <p:nvSpPr>
          <p:cNvPr id="13" name="文字方塊 12">
            <a:extLst>
              <a:ext uri="{FF2B5EF4-FFF2-40B4-BE49-F238E27FC236}">
                <a16:creationId xmlns:a16="http://schemas.microsoft.com/office/drawing/2014/main" id="{77AFCF32-0E9B-4CF3-BC5A-95D511A531FD}"/>
              </a:ext>
            </a:extLst>
          </p:cNvPr>
          <p:cNvSpPr txBox="1">
            <a:spLocks noRot="1" noChangeAspect="1" noMove="1" noResize="1" noEditPoints="1" noAdjustHandles="1" noChangeArrowheads="1" noChangeShapeType="1" noTextEdit="1"/>
          </p:cNvSpPr>
          <p:nvPr/>
        </p:nvSpPr>
        <p:spPr>
          <a:xfrm>
            <a:off x="6905916" y="2305454"/>
            <a:ext cx="1403398" cy="369332"/>
          </a:xfrm>
          <a:prstGeom prst="rect">
            <a:avLst/>
          </a:prstGeom>
          <a:blipFill>
            <a:blip r:embed="rId9"/>
            <a:stretch>
              <a:fillRect l="-1802" r="-4505" b="-6667"/>
            </a:stretch>
          </a:blipFill>
        </p:spPr>
        <p:txBody>
          <a:bodyPr/>
          <a:lstStyle/>
          <a:p>
            <a:pPr>
              <a:defRPr/>
            </a:pPr>
            <a:r>
              <a:rPr lang="zh-CN" altLang="en-US">
                <a:noFill/>
              </a:rPr>
              <a:t> </a:t>
            </a:r>
          </a:p>
        </p:txBody>
      </p:sp>
      <p:sp>
        <p:nvSpPr>
          <p:cNvPr id="14" name="文字方塊 13">
            <a:extLst>
              <a:ext uri="{FF2B5EF4-FFF2-40B4-BE49-F238E27FC236}">
                <a16:creationId xmlns:a16="http://schemas.microsoft.com/office/drawing/2014/main" id="{CFB04E6F-EE6E-448B-97B9-9C33F2DE368E}"/>
              </a:ext>
            </a:extLst>
          </p:cNvPr>
          <p:cNvSpPr txBox="1">
            <a:spLocks noRot="1" noChangeAspect="1" noMove="1" noResize="1" noEditPoints="1" noAdjustHandles="1" noChangeArrowheads="1" noChangeShapeType="1" noTextEdit="1"/>
          </p:cNvSpPr>
          <p:nvPr/>
        </p:nvSpPr>
        <p:spPr>
          <a:xfrm>
            <a:off x="4458613" y="2907268"/>
            <a:ext cx="1816266" cy="369332"/>
          </a:xfrm>
          <a:prstGeom prst="rect">
            <a:avLst/>
          </a:prstGeom>
          <a:blipFill>
            <a:blip r:embed="rId10"/>
            <a:stretch>
              <a:fillRect l="-694" b="-6667"/>
            </a:stretch>
          </a:blipFill>
        </p:spPr>
        <p:txBody>
          <a:bodyPr/>
          <a:lstStyle/>
          <a:p>
            <a:pPr>
              <a:defRPr/>
            </a:pPr>
            <a:r>
              <a:rPr lang="zh-CN" altLang="en-US">
                <a:noFill/>
              </a:rPr>
              <a:t> </a:t>
            </a:r>
          </a:p>
        </p:txBody>
      </p:sp>
      <p:sp>
        <p:nvSpPr>
          <p:cNvPr id="15" name="文字方塊 14">
            <a:extLst>
              <a:ext uri="{FF2B5EF4-FFF2-40B4-BE49-F238E27FC236}">
                <a16:creationId xmlns:a16="http://schemas.microsoft.com/office/drawing/2014/main" id="{B410BA3A-2374-4C05-ACF2-D8C4FD312E08}"/>
              </a:ext>
            </a:extLst>
          </p:cNvPr>
          <p:cNvSpPr txBox="1">
            <a:spLocks noRot="1" noChangeAspect="1" noMove="1" noResize="1" noEditPoints="1" noAdjustHandles="1" noChangeArrowheads="1" noChangeShapeType="1" noTextEdit="1"/>
          </p:cNvSpPr>
          <p:nvPr/>
        </p:nvSpPr>
        <p:spPr>
          <a:xfrm>
            <a:off x="6382440" y="2887624"/>
            <a:ext cx="1406411" cy="369332"/>
          </a:xfrm>
          <a:prstGeom prst="rect">
            <a:avLst/>
          </a:prstGeom>
          <a:blipFill>
            <a:blip r:embed="rId11"/>
            <a:stretch>
              <a:fillRect l="-1802" r="-1802" b="-10000"/>
            </a:stretch>
          </a:blipFill>
        </p:spPr>
        <p:txBody>
          <a:bodyPr/>
          <a:lstStyle/>
          <a:p>
            <a:pPr>
              <a:defRPr/>
            </a:pPr>
            <a:r>
              <a:rPr lang="zh-CN" altLang="en-US">
                <a:noFill/>
              </a:rPr>
              <a:t> </a:t>
            </a:r>
          </a:p>
        </p:txBody>
      </p:sp>
      <p:pic>
        <p:nvPicPr>
          <p:cNvPr id="16" name="文字方塊 15">
            <a:extLst>
              <a:ext uri="{FF2B5EF4-FFF2-40B4-BE49-F238E27FC236}">
                <a16:creationId xmlns:a16="http://schemas.microsoft.com/office/drawing/2014/main" id="{21944A67-CBCD-42B7-86C5-615D3E19BC2E}"/>
              </a:ext>
            </a:extLst>
          </p:cNvPr>
          <p:cNvPicPr>
            <a:picLocks noRot="1" noChangeAspect="1" noMove="1" noResize="1" noEditPoints="1" noAdjustHandles="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6400" y="4241800"/>
            <a:ext cx="44831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7" name="文字方塊 16">
            <a:extLst>
              <a:ext uri="{FF2B5EF4-FFF2-40B4-BE49-F238E27FC236}">
                <a16:creationId xmlns:a16="http://schemas.microsoft.com/office/drawing/2014/main" id="{E59985F6-0782-42A2-94D2-D87A2AAF6F6D}"/>
              </a:ext>
            </a:extLst>
          </p:cNvPr>
          <p:cNvPicPr>
            <a:picLocks noRot="1" noChangeAspect="1" noMove="1" noResize="1" noEditPoints="1" noAdjustHandles="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9100" y="5080000"/>
            <a:ext cx="5003800" cy="1003300"/>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CBEDFE95-B2B1-4881-8D20-2CD17A619569}"/>
              </a:ext>
            </a:extLst>
          </p:cNvPr>
          <p:cNvSpPr/>
          <p:nvPr/>
        </p:nvSpPr>
        <p:spPr>
          <a:xfrm>
            <a:off x="1646238" y="5145088"/>
            <a:ext cx="2832100" cy="78740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9" name="文字方塊 18">
            <a:extLst>
              <a:ext uri="{FF2B5EF4-FFF2-40B4-BE49-F238E27FC236}">
                <a16:creationId xmlns:a16="http://schemas.microsoft.com/office/drawing/2014/main" id="{E08B635F-24E2-449E-A177-FC0E17AAE7AE}"/>
              </a:ext>
            </a:extLst>
          </p:cNvPr>
          <p:cNvSpPr txBox="1">
            <a:spLocks noRot="1" noChangeAspect="1" noMove="1" noResize="1" noEditPoints="1" noAdjustHandles="1" noChangeArrowheads="1" noChangeShapeType="1" noTextEdit="1"/>
          </p:cNvSpPr>
          <p:nvPr/>
        </p:nvSpPr>
        <p:spPr>
          <a:xfrm>
            <a:off x="567281" y="6125913"/>
            <a:ext cx="2827303" cy="461665"/>
          </a:xfrm>
          <a:prstGeom prst="rect">
            <a:avLst/>
          </a:prstGeom>
          <a:blipFill>
            <a:blip r:embed="rId14"/>
            <a:stretch>
              <a:fillRect/>
            </a:stretch>
          </a:blipFill>
        </p:spPr>
        <p:txBody>
          <a:bodyPr/>
          <a:lstStyle/>
          <a:p>
            <a:pPr>
              <a:defRPr/>
            </a:pPr>
            <a:r>
              <a:rPr lang="zh-CN" altLang="en-US">
                <a:noFill/>
              </a:rPr>
              <a:t> </a:t>
            </a:r>
          </a:p>
        </p:txBody>
      </p:sp>
      <p:sp>
        <p:nvSpPr>
          <p:cNvPr id="20" name="文字方塊 19">
            <a:extLst>
              <a:ext uri="{FF2B5EF4-FFF2-40B4-BE49-F238E27FC236}">
                <a16:creationId xmlns:a16="http://schemas.microsoft.com/office/drawing/2014/main" id="{BAA943CE-01FF-4B59-8D27-ACEE4C5F5301}"/>
              </a:ext>
            </a:extLst>
          </p:cNvPr>
          <p:cNvSpPr txBox="1">
            <a:spLocks noRot="1" noChangeAspect="1" noMove="1" noResize="1" noEditPoints="1" noAdjustHandles="1" noChangeArrowheads="1" noChangeShapeType="1" noTextEdit="1"/>
          </p:cNvSpPr>
          <p:nvPr/>
        </p:nvSpPr>
        <p:spPr>
          <a:xfrm>
            <a:off x="5366746" y="3840559"/>
            <a:ext cx="2827085" cy="461665"/>
          </a:xfrm>
          <a:prstGeom prst="rect">
            <a:avLst/>
          </a:prstGeom>
          <a:blipFill>
            <a:blip r:embed="rId15"/>
            <a:stretch>
              <a:fillRect l="-3139" t="-7895" b="-100000"/>
            </a:stretch>
          </a:blipFill>
        </p:spPr>
        <p:txBody>
          <a:bodyPr/>
          <a:lstStyle/>
          <a:p>
            <a:pPr>
              <a:defRPr/>
            </a:pPr>
            <a:r>
              <a:rPr lang="zh-CN" altLang="en-US">
                <a:noFill/>
              </a:rPr>
              <a:t> </a:t>
            </a:r>
          </a:p>
        </p:txBody>
      </p:sp>
      <p:sp>
        <p:nvSpPr>
          <p:cNvPr id="21" name="文字方塊 20">
            <a:extLst>
              <a:ext uri="{FF2B5EF4-FFF2-40B4-BE49-F238E27FC236}">
                <a16:creationId xmlns:a16="http://schemas.microsoft.com/office/drawing/2014/main" id="{ED8393AA-BF9D-4EE0-9F1B-AE1E332C9083}"/>
              </a:ext>
            </a:extLst>
          </p:cNvPr>
          <p:cNvSpPr txBox="1">
            <a:spLocks noRot="1" noChangeAspect="1" noMove="1" noResize="1" noEditPoints="1" noAdjustHandles="1" noChangeArrowheads="1" noChangeShapeType="1" noTextEdit="1"/>
          </p:cNvSpPr>
          <p:nvPr/>
        </p:nvSpPr>
        <p:spPr>
          <a:xfrm>
            <a:off x="6733221" y="4387508"/>
            <a:ext cx="1732940" cy="461665"/>
          </a:xfrm>
          <a:prstGeom prst="rect">
            <a:avLst/>
          </a:prstGeom>
          <a:blipFill>
            <a:blip r:embed="rId16"/>
            <a:stretch>
              <a:fillRect/>
            </a:stretch>
          </a:blipFill>
        </p:spPr>
        <p:txBody>
          <a:bodyPr/>
          <a:lstStyle/>
          <a:p>
            <a:pPr>
              <a:defRPr/>
            </a:pPr>
            <a:r>
              <a:rPr lang="zh-CN" altLang="en-US">
                <a:noFill/>
              </a:rPr>
              <a:t> </a:t>
            </a:r>
          </a:p>
        </p:txBody>
      </p:sp>
      <p:sp>
        <p:nvSpPr>
          <p:cNvPr id="22" name="文字方塊 21">
            <a:extLst>
              <a:ext uri="{FF2B5EF4-FFF2-40B4-BE49-F238E27FC236}">
                <a16:creationId xmlns:a16="http://schemas.microsoft.com/office/drawing/2014/main" id="{62312FB3-DCDB-42E3-8848-59EBDE953F22}"/>
              </a:ext>
            </a:extLst>
          </p:cNvPr>
          <p:cNvSpPr txBox="1">
            <a:spLocks noRot="1" noChangeAspect="1" noMove="1" noResize="1" noEditPoints="1" noAdjustHandles="1" noChangeArrowheads="1" noChangeShapeType="1" noTextEdit="1"/>
          </p:cNvSpPr>
          <p:nvPr/>
        </p:nvSpPr>
        <p:spPr>
          <a:xfrm>
            <a:off x="3232917" y="6172910"/>
            <a:ext cx="1796137" cy="461665"/>
          </a:xfrm>
          <a:prstGeom prst="rect">
            <a:avLst/>
          </a:prstGeom>
          <a:blipFill>
            <a:blip r:embed="rId17"/>
            <a:stretch>
              <a:fillRect/>
            </a:stretch>
          </a:blipFill>
        </p:spPr>
        <p:txBody>
          <a:bodyPr/>
          <a:lstStyle/>
          <a:p>
            <a:pPr>
              <a:defRPr/>
            </a:pPr>
            <a:r>
              <a:rPr lang="zh-CN" altLang="en-US">
                <a:noFill/>
              </a:rPr>
              <a:t> </a:t>
            </a:r>
          </a:p>
        </p:txBody>
      </p:sp>
      <p:sp>
        <p:nvSpPr>
          <p:cNvPr id="23" name="文字方塊 22">
            <a:extLst>
              <a:ext uri="{FF2B5EF4-FFF2-40B4-BE49-F238E27FC236}">
                <a16:creationId xmlns:a16="http://schemas.microsoft.com/office/drawing/2014/main" id="{CFFEA5D3-7BE8-4AD0-AD2F-11834B7F15BB}"/>
              </a:ext>
            </a:extLst>
          </p:cNvPr>
          <p:cNvSpPr txBox="1">
            <a:spLocks noRot="1" noChangeAspect="1" noMove="1" noResize="1" noEditPoints="1" noAdjustHandles="1" noChangeArrowheads="1" noChangeShapeType="1" noTextEdit="1"/>
          </p:cNvSpPr>
          <p:nvPr/>
        </p:nvSpPr>
        <p:spPr>
          <a:xfrm>
            <a:off x="368003" y="1652610"/>
            <a:ext cx="3762983" cy="1047787"/>
          </a:xfrm>
          <a:prstGeom prst="rect">
            <a:avLst/>
          </a:prstGeom>
          <a:blipFill>
            <a:blip r:embed="rId18"/>
            <a:stretch>
              <a:fillRect t="-121429" b="-161905"/>
            </a:stretch>
          </a:blipFill>
        </p:spPr>
        <p:txBody>
          <a:bodyPr/>
          <a:lstStyle/>
          <a:p>
            <a:pPr>
              <a:defRPr/>
            </a:pPr>
            <a:r>
              <a:rPr lang="zh-CN" altLang="en-US">
                <a:noFill/>
              </a:rPr>
              <a:t> </a:t>
            </a:r>
          </a:p>
        </p:txBody>
      </p:sp>
      <p:sp>
        <p:nvSpPr>
          <p:cNvPr id="24" name="文字方塊 23">
            <a:extLst>
              <a:ext uri="{FF2B5EF4-FFF2-40B4-BE49-F238E27FC236}">
                <a16:creationId xmlns:a16="http://schemas.microsoft.com/office/drawing/2014/main" id="{FA855B7F-8758-44B4-94D4-F1A4DD83338A}"/>
              </a:ext>
            </a:extLst>
          </p:cNvPr>
          <p:cNvSpPr txBox="1">
            <a:spLocks noRot="1" noChangeAspect="1" noMove="1" noResize="1" noEditPoints="1" noAdjustHandles="1" noChangeArrowheads="1" noChangeShapeType="1" noTextEdit="1"/>
          </p:cNvSpPr>
          <p:nvPr/>
        </p:nvSpPr>
        <p:spPr>
          <a:xfrm>
            <a:off x="2114935" y="357994"/>
            <a:ext cx="1524776" cy="369332"/>
          </a:xfrm>
          <a:prstGeom prst="rect">
            <a:avLst/>
          </a:prstGeom>
          <a:blipFill>
            <a:blip r:embed="rId19"/>
            <a:stretch>
              <a:fillRect l="-1653" r="-826" b="-13333"/>
            </a:stretch>
          </a:blipFill>
        </p:spPr>
        <p:txBody>
          <a:bodyPr/>
          <a:lstStyle/>
          <a:p>
            <a:pPr>
              <a:defRPr/>
            </a:pPr>
            <a:r>
              <a:rPr lang="zh-CN" altLang="en-US">
                <a:noFill/>
              </a:rPr>
              <a:t> </a:t>
            </a:r>
          </a:p>
        </p:txBody>
      </p:sp>
      <p:sp>
        <p:nvSpPr>
          <p:cNvPr id="25" name="矩形 24">
            <a:extLst>
              <a:ext uri="{FF2B5EF4-FFF2-40B4-BE49-F238E27FC236}">
                <a16:creationId xmlns:a16="http://schemas.microsoft.com/office/drawing/2014/main" id="{9D0B4869-D79D-463D-96C0-D121A2DBBA5F}"/>
              </a:ext>
            </a:extLst>
          </p:cNvPr>
          <p:cNvSpPr/>
          <p:nvPr/>
        </p:nvSpPr>
        <p:spPr>
          <a:xfrm>
            <a:off x="5110163" y="3644900"/>
            <a:ext cx="3706812" cy="211772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3FD81E17-C27D-4F3C-B3A4-9A6A45E40B93}"/>
              </a:ext>
            </a:extLst>
          </p:cNvPr>
          <p:cNvSpPr txBox="1">
            <a:spLocks noRot="1" noChangeAspect="1" noMove="1" noResize="1" noEditPoints="1" noAdjustHandles="1" noChangeArrowheads="1" noChangeShapeType="1" noTextEdit="1"/>
          </p:cNvSpPr>
          <p:nvPr/>
        </p:nvSpPr>
        <p:spPr>
          <a:xfrm>
            <a:off x="599663" y="296193"/>
            <a:ext cx="2827085" cy="461665"/>
          </a:xfrm>
          <a:prstGeom prst="rect">
            <a:avLst/>
          </a:prstGeom>
          <a:blipFill>
            <a:blip r:embed="rId3"/>
            <a:stretch>
              <a:fillRect l="-3125" t="-7895" b="-100000"/>
            </a:stretch>
          </a:blipFill>
        </p:spPr>
        <p:txBody>
          <a:bodyPr/>
          <a:lstStyle/>
          <a:p>
            <a:pPr>
              <a:defRPr/>
            </a:pPr>
            <a:r>
              <a:rPr lang="zh-CN" altLang="en-US">
                <a:noFill/>
              </a:rPr>
              <a:t> </a:t>
            </a:r>
          </a:p>
        </p:txBody>
      </p:sp>
      <p:sp>
        <p:nvSpPr>
          <p:cNvPr id="6" name="文字方塊 5">
            <a:extLst>
              <a:ext uri="{FF2B5EF4-FFF2-40B4-BE49-F238E27FC236}">
                <a16:creationId xmlns:a16="http://schemas.microsoft.com/office/drawing/2014/main" id="{B14E8635-4B9E-4A59-852A-A508A961AF75}"/>
              </a:ext>
            </a:extLst>
          </p:cNvPr>
          <p:cNvSpPr txBox="1">
            <a:spLocks noRot="1" noChangeAspect="1" noMove="1" noResize="1" noEditPoints="1" noAdjustHandles="1" noChangeArrowheads="1" noChangeShapeType="1" noTextEdit="1"/>
          </p:cNvSpPr>
          <p:nvPr/>
        </p:nvSpPr>
        <p:spPr>
          <a:xfrm>
            <a:off x="3256097" y="345850"/>
            <a:ext cx="2490177" cy="461665"/>
          </a:xfrm>
          <a:prstGeom prst="rect">
            <a:avLst/>
          </a:prstGeom>
          <a:blipFill>
            <a:blip r:embed="rId4"/>
            <a:stretch>
              <a:fillRect/>
            </a:stretch>
          </a:blipFill>
        </p:spPr>
        <p:txBody>
          <a:bodyPr/>
          <a:lstStyle/>
          <a:p>
            <a:pPr>
              <a:defRPr/>
            </a:pPr>
            <a:r>
              <a:rPr lang="zh-CN" altLang="en-US">
                <a:noFill/>
              </a:rPr>
              <a:t> </a:t>
            </a:r>
          </a:p>
        </p:txBody>
      </p:sp>
      <p:sp>
        <p:nvSpPr>
          <p:cNvPr id="8" name="文字方塊 7">
            <a:extLst>
              <a:ext uri="{FF2B5EF4-FFF2-40B4-BE49-F238E27FC236}">
                <a16:creationId xmlns:a16="http://schemas.microsoft.com/office/drawing/2014/main" id="{AA7C284D-109C-4306-B07E-0763F583ECCE}"/>
              </a:ext>
            </a:extLst>
          </p:cNvPr>
          <p:cNvSpPr txBox="1">
            <a:spLocks noRot="1" noChangeAspect="1" noMove="1" noResize="1" noEditPoints="1" noAdjustHandles="1" noChangeArrowheads="1" noChangeShapeType="1" noTextEdit="1"/>
          </p:cNvSpPr>
          <p:nvPr/>
        </p:nvSpPr>
        <p:spPr>
          <a:xfrm>
            <a:off x="5255254" y="358202"/>
            <a:ext cx="1816716" cy="369332"/>
          </a:xfrm>
          <a:prstGeom prst="rect">
            <a:avLst/>
          </a:prstGeom>
          <a:blipFill>
            <a:blip r:embed="rId5"/>
            <a:stretch>
              <a:fillRect r="-2778" b="-6667"/>
            </a:stretch>
          </a:blipFill>
        </p:spPr>
        <p:txBody>
          <a:bodyPr/>
          <a:lstStyle/>
          <a:p>
            <a:pPr>
              <a:defRPr/>
            </a:pPr>
            <a:r>
              <a:rPr lang="zh-CN" altLang="en-US">
                <a:noFill/>
              </a:rPr>
              <a:t> </a:t>
            </a:r>
          </a:p>
        </p:txBody>
      </p:sp>
      <p:sp>
        <p:nvSpPr>
          <p:cNvPr id="9" name="文字方塊 8">
            <a:extLst>
              <a:ext uri="{FF2B5EF4-FFF2-40B4-BE49-F238E27FC236}">
                <a16:creationId xmlns:a16="http://schemas.microsoft.com/office/drawing/2014/main" id="{A7784437-9887-4555-8340-2D4292A71BDC}"/>
              </a:ext>
            </a:extLst>
          </p:cNvPr>
          <p:cNvSpPr txBox="1">
            <a:spLocks noRot="1" noChangeAspect="1" noMove="1" noResize="1" noEditPoints="1" noAdjustHandles="1" noChangeArrowheads="1" noChangeShapeType="1" noTextEdit="1"/>
          </p:cNvSpPr>
          <p:nvPr/>
        </p:nvSpPr>
        <p:spPr>
          <a:xfrm>
            <a:off x="1202142" y="997781"/>
            <a:ext cx="1796137" cy="461665"/>
          </a:xfrm>
          <a:prstGeom prst="rect">
            <a:avLst/>
          </a:prstGeom>
          <a:blipFill>
            <a:blip r:embed="rId6"/>
            <a:stretch>
              <a:fillRect l="-704"/>
            </a:stretch>
          </a:blipFill>
        </p:spPr>
        <p:txBody>
          <a:bodyPr/>
          <a:lstStyle/>
          <a:p>
            <a:pPr>
              <a:defRPr/>
            </a:pPr>
            <a:r>
              <a:rPr lang="zh-CN" altLang="en-US">
                <a:noFill/>
              </a:rPr>
              <a:t> </a:t>
            </a:r>
          </a:p>
        </p:txBody>
      </p:sp>
      <p:sp>
        <p:nvSpPr>
          <p:cNvPr id="29701" name="文字方塊 9">
            <a:extLst>
              <a:ext uri="{FF2B5EF4-FFF2-40B4-BE49-F238E27FC236}">
                <a16:creationId xmlns:a16="http://schemas.microsoft.com/office/drawing/2014/main" id="{C71313E8-3982-491C-9D6A-7296048F0357}"/>
              </a:ext>
            </a:extLst>
          </p:cNvPr>
          <p:cNvSpPr txBox="1">
            <a:spLocks noChangeArrowheads="1"/>
          </p:cNvSpPr>
          <p:nvPr/>
        </p:nvSpPr>
        <p:spPr bwMode="auto">
          <a:xfrm>
            <a:off x="3132138" y="998538"/>
            <a:ext cx="16621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Symmetric </a:t>
            </a:r>
            <a:endParaRPr lang="zh-TW" altLang="en-US" sz="2400">
              <a:solidFill>
                <a:schemeClr val="hlink"/>
              </a:solidFill>
              <a:ea typeface="宋体" panose="02010600030101010101" pitchFamily="2" charset="-122"/>
            </a:endParaRPr>
          </a:p>
        </p:txBody>
      </p:sp>
      <p:sp>
        <p:nvSpPr>
          <p:cNvPr id="29702" name="文字方塊 10">
            <a:extLst>
              <a:ext uri="{FF2B5EF4-FFF2-40B4-BE49-F238E27FC236}">
                <a16:creationId xmlns:a16="http://schemas.microsoft.com/office/drawing/2014/main" id="{BB011337-D5C9-482E-BCE6-D409CEDAA706}"/>
              </a:ext>
            </a:extLst>
          </p:cNvPr>
          <p:cNvSpPr txBox="1">
            <a:spLocks noChangeArrowheads="1"/>
          </p:cNvSpPr>
          <p:nvPr/>
        </p:nvSpPr>
        <p:spPr bwMode="auto">
          <a:xfrm>
            <a:off x="4737100" y="984250"/>
            <a:ext cx="321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Positive-semidefinite</a:t>
            </a:r>
            <a:endParaRPr lang="zh-TW" altLang="en-US" sz="2400">
              <a:solidFill>
                <a:schemeClr val="hlink"/>
              </a:solidFill>
              <a:ea typeface="宋体" panose="02010600030101010101" pitchFamily="2" charset="-122"/>
            </a:endParaRPr>
          </a:p>
        </p:txBody>
      </p:sp>
      <p:sp>
        <p:nvSpPr>
          <p:cNvPr id="29703" name="文字方塊 12">
            <a:extLst>
              <a:ext uri="{FF2B5EF4-FFF2-40B4-BE49-F238E27FC236}">
                <a16:creationId xmlns:a16="http://schemas.microsoft.com/office/drawing/2014/main" id="{68B0FA7F-C511-4CAF-A9B1-3E4441D19730}"/>
              </a:ext>
            </a:extLst>
          </p:cNvPr>
          <p:cNvSpPr txBox="1">
            <a:spLocks noChangeArrowheads="1"/>
          </p:cNvSpPr>
          <p:nvPr/>
        </p:nvSpPr>
        <p:spPr bwMode="auto">
          <a:xfrm>
            <a:off x="4714875" y="1347788"/>
            <a:ext cx="4186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(non-negative eigenvalues)</a:t>
            </a:r>
            <a:endParaRPr lang="zh-TW" altLang="en-US" sz="2400">
              <a:solidFill>
                <a:schemeClr val="hlink"/>
              </a:solidFill>
              <a:ea typeface="宋体" panose="02010600030101010101" pitchFamily="2" charset="-122"/>
            </a:endParaRPr>
          </a:p>
        </p:txBody>
      </p:sp>
      <p:sp>
        <p:nvSpPr>
          <p:cNvPr id="29704" name="文字方塊 13">
            <a:extLst>
              <a:ext uri="{FF2B5EF4-FFF2-40B4-BE49-F238E27FC236}">
                <a16:creationId xmlns:a16="http://schemas.microsoft.com/office/drawing/2014/main" id="{FB2AB645-90E7-4A0A-A0F1-6611CF127CA2}"/>
              </a:ext>
            </a:extLst>
          </p:cNvPr>
          <p:cNvSpPr txBox="1">
            <a:spLocks noChangeArrowheads="1"/>
          </p:cNvSpPr>
          <p:nvPr/>
        </p:nvSpPr>
        <p:spPr bwMode="auto">
          <a:xfrm>
            <a:off x="652462" y="2047875"/>
            <a:ext cx="6662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dirty="0">
                <a:solidFill>
                  <a:schemeClr val="hlink"/>
                </a:solidFill>
                <a:ea typeface="宋体" panose="02010600030101010101" pitchFamily="2" charset="-122"/>
              </a:rPr>
              <a:t>Using Lagrange multiplier [Bishop, Appendix E]</a:t>
            </a:r>
            <a:endParaRPr lang="zh-TW" altLang="en-US" sz="2400" dirty="0">
              <a:solidFill>
                <a:schemeClr val="hlink"/>
              </a:solidFill>
              <a:ea typeface="宋体" panose="02010600030101010101" pitchFamily="2" charset="-122"/>
            </a:endParaRPr>
          </a:p>
        </p:txBody>
      </p:sp>
      <p:pic>
        <p:nvPicPr>
          <p:cNvPr id="15" name="文字方塊 14">
            <a:extLst>
              <a:ext uri="{FF2B5EF4-FFF2-40B4-BE49-F238E27FC236}">
                <a16:creationId xmlns:a16="http://schemas.microsoft.com/office/drawing/2014/main" id="{891CA3B1-49AF-4945-8DAA-08DBB0A73DFB}"/>
              </a:ext>
            </a:extLst>
          </p:cNvPr>
          <p:cNvPicPr>
            <a:picLocks noRot="1" noChangeAspect="1" noMove="1" noResize="1" noEditPoints="1" noAdjustHandles="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900" y="5753100"/>
            <a:ext cx="6680200" cy="482600"/>
          </a:xfrm>
          <a:prstGeom prst="rect">
            <a:avLst/>
          </a:prstGeom>
          <a:noFill/>
          <a:extLst>
            <a:ext uri="{909E8E84-426E-40DD-AFC4-6F175D3DCCD1}">
              <a14:hiddenFill xmlns:a14="http://schemas.microsoft.com/office/drawing/2010/main">
                <a:solidFill>
                  <a:srgbClr val="FFFFFF"/>
                </a:solidFill>
              </a14:hiddenFill>
            </a:ext>
          </a:extLst>
        </p:spPr>
      </p:pic>
      <p:pic>
        <p:nvPicPr>
          <p:cNvPr id="16" name="文字方塊 15">
            <a:extLst>
              <a:ext uri="{FF2B5EF4-FFF2-40B4-BE49-F238E27FC236}">
                <a16:creationId xmlns:a16="http://schemas.microsoft.com/office/drawing/2014/main" id="{DCC26490-8D47-4490-8EA1-2FC88486EA66}"/>
              </a:ext>
            </a:extLst>
          </p:cNvPr>
          <p:cNvPicPr>
            <a:picLocks noRot="1" noChangeAspect="1" noMove="1" noResize="1" noEditPoints="1" noAdjustHandles="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 y="6197600"/>
            <a:ext cx="6565900" cy="482600"/>
          </a:xfrm>
          <a:prstGeom prst="rect">
            <a:avLst/>
          </a:prstGeom>
          <a:noFill/>
          <a:extLst>
            <a:ext uri="{909E8E84-426E-40DD-AFC4-6F175D3DCCD1}">
              <a14:hiddenFill xmlns:a14="http://schemas.microsoft.com/office/drawing/2010/main">
                <a:solidFill>
                  <a:srgbClr val="FFFFFF"/>
                </a:solidFill>
              </a14:hiddenFill>
            </a:ext>
          </a:extLst>
        </p:spPr>
      </p:pic>
      <p:pic>
        <p:nvPicPr>
          <p:cNvPr id="17" name="文字方塊 16">
            <a:extLst>
              <a:ext uri="{FF2B5EF4-FFF2-40B4-BE49-F238E27FC236}">
                <a16:creationId xmlns:a16="http://schemas.microsoft.com/office/drawing/2014/main" id="{1E1FFE6F-1474-49D5-9844-FDCA19F2B2FB}"/>
              </a:ext>
            </a:extLst>
          </p:cNvPr>
          <p:cNvPicPr>
            <a:picLocks noRot="1" noChangeAspect="1" noMove="1" noResize="1" noEditPoints="1" noAdjustHandles="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5500" y="2590800"/>
            <a:ext cx="5105400" cy="431800"/>
          </a:xfrm>
          <a:prstGeom prst="rect">
            <a:avLst/>
          </a:prstGeom>
          <a:noFill/>
          <a:extLst>
            <a:ext uri="{909E8E84-426E-40DD-AFC4-6F175D3DCCD1}">
              <a14:hiddenFill xmlns:a14="http://schemas.microsoft.com/office/drawing/2010/main">
                <a:solidFill>
                  <a:srgbClr val="FFFFFF"/>
                </a:solidFill>
              </a14:hiddenFill>
            </a:ext>
          </a:extLst>
        </p:spPr>
      </p:pic>
      <p:sp>
        <p:nvSpPr>
          <p:cNvPr id="18" name="文字方塊 17">
            <a:extLst>
              <a:ext uri="{FF2B5EF4-FFF2-40B4-BE49-F238E27FC236}">
                <a16:creationId xmlns:a16="http://schemas.microsoft.com/office/drawing/2014/main" id="{F346ED0C-96EA-4C0E-B141-551316283852}"/>
              </a:ext>
            </a:extLst>
          </p:cNvPr>
          <p:cNvSpPr txBox="1">
            <a:spLocks noRot="1" noChangeAspect="1" noMove="1" noResize="1" noEditPoints="1" noAdjustHandles="1" noChangeArrowheads="1" noChangeShapeType="1" noTextEdit="1"/>
          </p:cNvSpPr>
          <p:nvPr/>
        </p:nvSpPr>
        <p:spPr>
          <a:xfrm>
            <a:off x="845054" y="3441690"/>
            <a:ext cx="2359557" cy="372859"/>
          </a:xfrm>
          <a:prstGeom prst="rect">
            <a:avLst/>
          </a:prstGeom>
          <a:blipFill>
            <a:blip r:embed="rId10"/>
            <a:stretch>
              <a:fillRect l="-3226" t="-163333" r="-2688" b="-253333"/>
            </a:stretch>
          </a:blipFill>
        </p:spPr>
        <p:txBody>
          <a:bodyPr/>
          <a:lstStyle/>
          <a:p>
            <a:pPr>
              <a:defRPr/>
            </a:pPr>
            <a:r>
              <a:rPr lang="zh-CN" altLang="en-US">
                <a:noFill/>
              </a:rPr>
              <a:t> </a:t>
            </a:r>
          </a:p>
        </p:txBody>
      </p:sp>
      <p:sp>
        <p:nvSpPr>
          <p:cNvPr id="19" name="文字方塊 18">
            <a:extLst>
              <a:ext uri="{FF2B5EF4-FFF2-40B4-BE49-F238E27FC236}">
                <a16:creationId xmlns:a16="http://schemas.microsoft.com/office/drawing/2014/main" id="{6405B1AD-E7F0-49DA-B956-9D9B6C242D10}"/>
              </a:ext>
            </a:extLst>
          </p:cNvPr>
          <p:cNvSpPr txBox="1">
            <a:spLocks noRot="1" noChangeAspect="1" noMove="1" noResize="1" noEditPoints="1" noAdjustHandles="1" noChangeArrowheads="1" noChangeShapeType="1" noTextEdit="1"/>
          </p:cNvSpPr>
          <p:nvPr/>
        </p:nvSpPr>
        <p:spPr>
          <a:xfrm>
            <a:off x="845053" y="3968679"/>
            <a:ext cx="2359557" cy="373564"/>
          </a:xfrm>
          <a:prstGeom prst="rect">
            <a:avLst/>
          </a:prstGeom>
          <a:blipFill>
            <a:blip r:embed="rId11"/>
            <a:stretch>
              <a:fillRect l="-3226" t="-163333" r="-2688" b="-250000"/>
            </a:stretch>
          </a:blipFill>
        </p:spPr>
        <p:txBody>
          <a:bodyPr/>
          <a:lstStyle/>
          <a:p>
            <a:pPr>
              <a:defRPr/>
            </a:pPr>
            <a:r>
              <a:rPr lang="zh-CN" altLang="en-US">
                <a:noFill/>
              </a:rPr>
              <a:t> </a:t>
            </a:r>
          </a:p>
        </p:txBody>
      </p:sp>
      <p:sp>
        <p:nvSpPr>
          <p:cNvPr id="29710" name="文字方塊 21">
            <a:extLst>
              <a:ext uri="{FF2B5EF4-FFF2-40B4-BE49-F238E27FC236}">
                <a16:creationId xmlns:a16="http://schemas.microsoft.com/office/drawing/2014/main" id="{3A72ED5D-D3CA-43BD-8E66-1A78BD9E3C63}"/>
              </a:ext>
            </a:extLst>
          </p:cNvPr>
          <p:cNvSpPr txBox="1">
            <a:spLocks noChangeArrowheads="1"/>
          </p:cNvSpPr>
          <p:nvPr/>
        </p:nvSpPr>
        <p:spPr bwMode="auto">
          <a:xfrm rot="5400000">
            <a:off x="1774031" y="4471194"/>
            <a:ext cx="614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23" name="右大括弧 22">
            <a:extLst>
              <a:ext uri="{FF2B5EF4-FFF2-40B4-BE49-F238E27FC236}">
                <a16:creationId xmlns:a16="http://schemas.microsoft.com/office/drawing/2014/main" id="{E7A14898-E005-4AEA-844F-365CB2D6338D}"/>
              </a:ext>
            </a:extLst>
          </p:cNvPr>
          <p:cNvSpPr/>
          <p:nvPr/>
        </p:nvSpPr>
        <p:spPr>
          <a:xfrm>
            <a:off x="3311525" y="3435350"/>
            <a:ext cx="385763" cy="1747838"/>
          </a:xfrm>
          <a:prstGeom prst="rightBrace">
            <a:avLst>
              <a:gd name="adj1" fmla="val 18965"/>
              <a:gd name="adj2" fmla="val 18979"/>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sp>
        <p:nvSpPr>
          <p:cNvPr id="24" name="文字方塊 23">
            <a:extLst>
              <a:ext uri="{FF2B5EF4-FFF2-40B4-BE49-F238E27FC236}">
                <a16:creationId xmlns:a16="http://schemas.microsoft.com/office/drawing/2014/main" id="{8E2F4A10-373E-4796-827B-76A4E37FDFE9}"/>
              </a:ext>
            </a:extLst>
          </p:cNvPr>
          <p:cNvSpPr txBox="1">
            <a:spLocks noRot="1" noChangeAspect="1" noMove="1" noResize="1" noEditPoints="1" noAdjustHandles="1" noChangeArrowheads="1" noChangeShapeType="1" noTextEdit="1"/>
          </p:cNvSpPr>
          <p:nvPr/>
        </p:nvSpPr>
        <p:spPr>
          <a:xfrm>
            <a:off x="4220705" y="3355106"/>
            <a:ext cx="2133084" cy="369332"/>
          </a:xfrm>
          <a:prstGeom prst="rect">
            <a:avLst/>
          </a:prstGeom>
          <a:blipFill>
            <a:blip r:embed="rId12"/>
            <a:stretch>
              <a:fillRect l="-2367" r="-2367" b="-6897"/>
            </a:stretch>
          </a:blipFill>
        </p:spPr>
        <p:txBody>
          <a:bodyPr/>
          <a:lstStyle/>
          <a:p>
            <a:pPr>
              <a:defRPr/>
            </a:pPr>
            <a:r>
              <a:rPr lang="zh-CN" altLang="en-US">
                <a:noFill/>
              </a:rPr>
              <a:t> </a:t>
            </a:r>
          </a:p>
        </p:txBody>
      </p:sp>
      <p:sp>
        <p:nvSpPr>
          <p:cNvPr id="25" name="文字方塊 24">
            <a:extLst>
              <a:ext uri="{FF2B5EF4-FFF2-40B4-BE49-F238E27FC236}">
                <a16:creationId xmlns:a16="http://schemas.microsoft.com/office/drawing/2014/main" id="{F3C9DF61-F727-4308-9E0D-5B02A7D4EC8F}"/>
              </a:ext>
            </a:extLst>
          </p:cNvPr>
          <p:cNvSpPr txBox="1">
            <a:spLocks noRot="1" noChangeAspect="1" noMove="1" noResize="1" noEditPoints="1" noAdjustHandles="1" noChangeArrowheads="1" noChangeShapeType="1" noTextEdit="1"/>
          </p:cNvSpPr>
          <p:nvPr/>
        </p:nvSpPr>
        <p:spPr>
          <a:xfrm>
            <a:off x="4106105" y="4426008"/>
            <a:ext cx="3423408" cy="461665"/>
          </a:xfrm>
          <a:prstGeom prst="rect">
            <a:avLst/>
          </a:prstGeom>
          <a:blipFill>
            <a:blip r:embed="rId13"/>
            <a:stretch>
              <a:fillRect/>
            </a:stretch>
          </a:blipFill>
        </p:spPr>
        <p:txBody>
          <a:bodyPr/>
          <a:lstStyle/>
          <a:p>
            <a:pPr>
              <a:defRPr/>
            </a:pPr>
            <a:r>
              <a:rPr lang="zh-CN" altLang="en-US">
                <a:noFill/>
              </a:rPr>
              <a:t> </a:t>
            </a:r>
          </a:p>
        </p:txBody>
      </p:sp>
      <p:sp>
        <p:nvSpPr>
          <p:cNvPr id="26" name="文字方塊 25">
            <a:extLst>
              <a:ext uri="{FF2B5EF4-FFF2-40B4-BE49-F238E27FC236}">
                <a16:creationId xmlns:a16="http://schemas.microsoft.com/office/drawing/2014/main" id="{A0D1A5F0-3C4F-403F-B6ED-BEF5C527434C}"/>
              </a:ext>
            </a:extLst>
          </p:cNvPr>
          <p:cNvSpPr txBox="1">
            <a:spLocks noRot="1" noChangeAspect="1" noMove="1" noResize="1" noEditPoints="1" noAdjustHandles="1" noChangeArrowheads="1" noChangeShapeType="1" noTextEdit="1"/>
          </p:cNvSpPr>
          <p:nvPr/>
        </p:nvSpPr>
        <p:spPr>
          <a:xfrm>
            <a:off x="4201830" y="4919751"/>
            <a:ext cx="932571" cy="461665"/>
          </a:xfrm>
          <a:prstGeom prst="rect">
            <a:avLst/>
          </a:prstGeom>
          <a:blipFill>
            <a:blip r:embed="rId14"/>
            <a:stretch>
              <a:fillRect/>
            </a:stretch>
          </a:blipFill>
        </p:spPr>
        <p:txBody>
          <a:bodyPr/>
          <a:lstStyle/>
          <a:p>
            <a:pPr>
              <a:defRPr/>
            </a:pPr>
            <a:r>
              <a:rPr lang="zh-CN" altLang="en-US">
                <a:noFill/>
              </a:rPr>
              <a:t> </a:t>
            </a:r>
          </a:p>
        </p:txBody>
      </p:sp>
      <p:sp>
        <p:nvSpPr>
          <p:cNvPr id="27" name="文字方塊 26">
            <a:extLst>
              <a:ext uri="{FF2B5EF4-FFF2-40B4-BE49-F238E27FC236}">
                <a16:creationId xmlns:a16="http://schemas.microsoft.com/office/drawing/2014/main" id="{5976F0D3-1F12-4C95-B529-DBD8053E2543}"/>
              </a:ext>
            </a:extLst>
          </p:cNvPr>
          <p:cNvSpPr txBox="1"/>
          <p:nvPr/>
        </p:nvSpPr>
        <p:spPr>
          <a:xfrm>
            <a:off x="5057775" y="4937125"/>
            <a:ext cx="3933825" cy="46196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eaLnBrk="1" hangingPunct="1">
              <a:spcBef>
                <a:spcPct val="50000"/>
              </a:spcBef>
              <a:defRPr/>
            </a:pPr>
            <a:r>
              <a:rPr lang="en-US" altLang="zh-TW" sz="2400" dirty="0"/>
              <a:t>Choose the maximum one</a:t>
            </a:r>
            <a:endParaRPr lang="zh-TW" altLang="en-US" sz="2400" dirty="0"/>
          </a:p>
        </p:txBody>
      </p:sp>
      <p:sp>
        <p:nvSpPr>
          <p:cNvPr id="7" name="矩形 6">
            <a:extLst>
              <a:ext uri="{FF2B5EF4-FFF2-40B4-BE49-F238E27FC236}">
                <a16:creationId xmlns:a16="http://schemas.microsoft.com/office/drawing/2014/main" id="{C518A0E0-087D-4AFA-A681-717941D59A9A}"/>
              </a:ext>
            </a:extLst>
          </p:cNvPr>
          <p:cNvSpPr/>
          <p:nvPr/>
        </p:nvSpPr>
        <p:spPr>
          <a:xfrm>
            <a:off x="612775" y="5697538"/>
            <a:ext cx="8202613" cy="9715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29" name="矩形 28">
            <a:extLst>
              <a:ext uri="{FF2B5EF4-FFF2-40B4-BE49-F238E27FC236}">
                <a16:creationId xmlns:a16="http://schemas.microsoft.com/office/drawing/2014/main" id="{D6D45D90-B1EB-4B43-BFB2-8DAB841EA0B0}"/>
              </a:ext>
            </a:extLst>
          </p:cNvPr>
          <p:cNvSpPr/>
          <p:nvPr/>
        </p:nvSpPr>
        <p:spPr>
          <a:xfrm>
            <a:off x="1101725" y="1027113"/>
            <a:ext cx="7208838" cy="78740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30" name="文字方塊 29">
            <a:extLst>
              <a:ext uri="{FF2B5EF4-FFF2-40B4-BE49-F238E27FC236}">
                <a16:creationId xmlns:a16="http://schemas.microsoft.com/office/drawing/2014/main" id="{D6692C2E-6D20-4185-9C0E-7712C596A33F}"/>
              </a:ext>
            </a:extLst>
          </p:cNvPr>
          <p:cNvSpPr txBox="1">
            <a:spLocks noRot="1" noChangeAspect="1" noMove="1" noResize="1" noEditPoints="1" noAdjustHandles="1" noChangeArrowheads="1" noChangeShapeType="1" noTextEdit="1"/>
          </p:cNvSpPr>
          <p:nvPr/>
        </p:nvSpPr>
        <p:spPr>
          <a:xfrm>
            <a:off x="4220705" y="3816012"/>
            <a:ext cx="1597104" cy="369332"/>
          </a:xfrm>
          <a:prstGeom prst="rect">
            <a:avLst/>
          </a:prstGeom>
          <a:blipFill>
            <a:blip r:embed="rId15"/>
            <a:stretch>
              <a:fillRect l="-3150" r="-787" b="-3333"/>
            </a:stretch>
          </a:blipFill>
        </p:spPr>
        <p:txBody>
          <a:bodyPr/>
          <a:lstStyle/>
          <a:p>
            <a:pPr>
              <a:defRPr/>
            </a:pPr>
            <a:r>
              <a:rPr lang="zh-CN" altLang="en-US">
                <a:noFill/>
              </a:rPr>
              <a:t> </a:t>
            </a:r>
          </a:p>
        </p:txBody>
      </p:sp>
      <p:sp>
        <p:nvSpPr>
          <p:cNvPr id="20" name="矩形 19">
            <a:extLst>
              <a:ext uri="{FF2B5EF4-FFF2-40B4-BE49-F238E27FC236}">
                <a16:creationId xmlns:a16="http://schemas.microsoft.com/office/drawing/2014/main" id="{C7C59A85-9BF3-493E-A725-85D1A78A706B}"/>
              </a:ext>
            </a:extLst>
          </p:cNvPr>
          <p:cNvSpPr>
            <a:spLocks noRot="1" noChangeAspect="1" noMove="1" noResize="1" noEditPoints="1" noAdjustHandles="1" noChangeArrowheads="1" noChangeShapeType="1" noTextEdit="1"/>
          </p:cNvSpPr>
          <p:nvPr/>
        </p:nvSpPr>
        <p:spPr>
          <a:xfrm>
            <a:off x="5927376" y="3764865"/>
            <a:ext cx="2321469" cy="461665"/>
          </a:xfrm>
          <a:prstGeom prst="rect">
            <a:avLst/>
          </a:prstGeom>
          <a:blipFill>
            <a:blip r:embed="rId16"/>
            <a:stretch>
              <a:fillRect/>
            </a:stretch>
          </a:blipFill>
        </p:spPr>
        <p:txBody>
          <a:bodyPr/>
          <a:lstStyle/>
          <a:p>
            <a:pPr>
              <a:defRPr/>
            </a:pPr>
            <a:r>
              <a:rPr lang="zh-CN" altLang="en-US">
                <a:no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群組 32">
            <a:extLst>
              <a:ext uri="{FF2B5EF4-FFF2-40B4-BE49-F238E27FC236}">
                <a16:creationId xmlns:a16="http://schemas.microsoft.com/office/drawing/2014/main" id="{13E2ACF1-1566-455A-8536-7E8670CE8580}"/>
              </a:ext>
            </a:extLst>
          </p:cNvPr>
          <p:cNvGrpSpPr>
            <a:grpSpLocks/>
          </p:cNvGrpSpPr>
          <p:nvPr/>
        </p:nvGrpSpPr>
        <p:grpSpPr bwMode="auto">
          <a:xfrm>
            <a:off x="407988" y="327025"/>
            <a:ext cx="8269287" cy="461963"/>
            <a:chOff x="408080" y="326922"/>
            <a:chExt cx="8268922" cy="461772"/>
          </a:xfrm>
        </p:grpSpPr>
        <p:grpSp>
          <p:nvGrpSpPr>
            <p:cNvPr id="31772" name="群組 31">
              <a:extLst>
                <a:ext uri="{FF2B5EF4-FFF2-40B4-BE49-F238E27FC236}">
                  <a16:creationId xmlns:a16="http://schemas.microsoft.com/office/drawing/2014/main" id="{BECDBF24-AA63-476B-8CA9-4FCC4E67767E}"/>
                </a:ext>
              </a:extLst>
            </p:cNvPr>
            <p:cNvGrpSpPr>
              <a:grpSpLocks/>
            </p:cNvGrpSpPr>
            <p:nvPr/>
          </p:nvGrpSpPr>
          <p:grpSpPr bwMode="auto">
            <a:xfrm>
              <a:off x="408080" y="326922"/>
              <a:ext cx="5076860" cy="461772"/>
              <a:chOff x="359827" y="459881"/>
              <a:chExt cx="5076860" cy="461772"/>
            </a:xfrm>
          </p:grpSpPr>
          <p:sp>
            <p:nvSpPr>
              <p:cNvPr id="4" name="文字方塊 3">
                <a:extLst>
                  <a:ext uri="{FF2B5EF4-FFF2-40B4-BE49-F238E27FC236}">
                    <a16:creationId xmlns:a16="http://schemas.microsoft.com/office/drawing/2014/main" id="{62E4C37A-F589-42E6-AB59-50DB2AC22ED2}"/>
                  </a:ext>
                </a:extLst>
              </p:cNvPr>
              <p:cNvSpPr txBox="1">
                <a:spLocks noRot="1" noChangeAspect="1" noMove="1" noResize="1" noEditPoints="1" noAdjustHandles="1" noChangeArrowheads="1" noChangeShapeType="1" noTextEdit="1"/>
              </p:cNvSpPr>
              <p:nvPr/>
            </p:nvSpPr>
            <p:spPr>
              <a:xfrm>
                <a:off x="359827" y="459881"/>
                <a:ext cx="2827085" cy="461665"/>
              </a:xfrm>
              <a:prstGeom prst="rect">
                <a:avLst/>
              </a:prstGeom>
              <a:blipFill>
                <a:blip r:embed="rId3"/>
                <a:stretch>
                  <a:fillRect l="-3125" t="-8108" b="-105405"/>
                </a:stretch>
              </a:blipFill>
            </p:spPr>
            <p:txBody>
              <a:bodyPr/>
              <a:lstStyle/>
              <a:p>
                <a:pPr>
                  <a:defRPr/>
                </a:pPr>
                <a:r>
                  <a:rPr lang="zh-CN" altLang="en-US">
                    <a:noFill/>
                  </a:rPr>
                  <a:t> </a:t>
                </a:r>
              </a:p>
            </p:txBody>
          </p:sp>
          <p:sp>
            <p:nvSpPr>
              <p:cNvPr id="5" name="文字方塊 4">
                <a:extLst>
                  <a:ext uri="{FF2B5EF4-FFF2-40B4-BE49-F238E27FC236}">
                    <a16:creationId xmlns:a16="http://schemas.microsoft.com/office/drawing/2014/main" id="{17D69ECD-E45C-47D9-8BAB-2DAEA18B5825}"/>
                  </a:ext>
                </a:extLst>
              </p:cNvPr>
              <p:cNvSpPr txBox="1">
                <a:spLocks noRot="1" noChangeAspect="1" noMove="1" noResize="1" noEditPoints="1" noAdjustHandles="1" noChangeArrowheads="1" noChangeShapeType="1" noTextEdit="1"/>
              </p:cNvSpPr>
              <p:nvPr/>
            </p:nvSpPr>
            <p:spPr>
              <a:xfrm>
                <a:off x="2946510" y="459988"/>
                <a:ext cx="2490177" cy="461665"/>
              </a:xfrm>
              <a:prstGeom prst="rect">
                <a:avLst/>
              </a:prstGeom>
              <a:blipFill>
                <a:blip r:embed="rId4"/>
                <a:stretch>
                  <a:fillRect/>
                </a:stretch>
              </a:blipFill>
            </p:spPr>
            <p:txBody>
              <a:bodyPr/>
              <a:lstStyle/>
              <a:p>
                <a:pPr>
                  <a:defRPr/>
                </a:pPr>
                <a:r>
                  <a:rPr lang="zh-CN" altLang="en-US">
                    <a:noFill/>
                  </a:rPr>
                  <a:t> </a:t>
                </a:r>
              </a:p>
            </p:txBody>
          </p:sp>
        </p:grpSp>
        <p:sp>
          <p:nvSpPr>
            <p:cNvPr id="6" name="文字方塊 5">
              <a:extLst>
                <a:ext uri="{FF2B5EF4-FFF2-40B4-BE49-F238E27FC236}">
                  <a16:creationId xmlns:a16="http://schemas.microsoft.com/office/drawing/2014/main" id="{A508D7BC-ADF1-4DCE-901A-778A07CC6F8C}"/>
                </a:ext>
              </a:extLst>
            </p:cNvPr>
            <p:cNvSpPr txBox="1">
              <a:spLocks noRot="1" noChangeAspect="1" noMove="1" noResize="1" noEditPoints="1" noAdjustHandles="1" noChangeArrowheads="1" noChangeShapeType="1" noTextEdit="1"/>
            </p:cNvSpPr>
            <p:nvPr/>
          </p:nvSpPr>
          <p:spPr>
            <a:xfrm>
              <a:off x="4777820" y="376542"/>
              <a:ext cx="1829925" cy="369332"/>
            </a:xfrm>
            <a:prstGeom prst="rect">
              <a:avLst/>
            </a:prstGeom>
            <a:blipFill>
              <a:blip r:embed="rId5"/>
              <a:stretch>
                <a:fillRect r="-3448" b="-3333"/>
              </a:stretch>
            </a:blipFill>
          </p:spPr>
          <p:txBody>
            <a:bodyPr/>
            <a:lstStyle/>
            <a:p>
              <a:pPr>
                <a:defRPr/>
              </a:pPr>
              <a:r>
                <a:rPr lang="zh-CN" altLang="en-US">
                  <a:noFill/>
                </a:rPr>
                <a:t> </a:t>
              </a:r>
            </a:p>
          </p:txBody>
        </p:sp>
        <p:sp>
          <p:nvSpPr>
            <p:cNvPr id="7" name="文字方塊 6">
              <a:extLst>
                <a:ext uri="{FF2B5EF4-FFF2-40B4-BE49-F238E27FC236}">
                  <a16:creationId xmlns:a16="http://schemas.microsoft.com/office/drawing/2014/main" id="{41E421E7-6ABF-4C73-849D-87DF1AD9354B}"/>
                </a:ext>
              </a:extLst>
            </p:cNvPr>
            <p:cNvSpPr txBox="1">
              <a:spLocks noRot="1" noChangeAspect="1" noMove="1" noResize="1" noEditPoints="1" noAdjustHandles="1" noChangeArrowheads="1" noChangeShapeType="1" noTextEdit="1"/>
            </p:cNvSpPr>
            <p:nvPr/>
          </p:nvSpPr>
          <p:spPr>
            <a:xfrm>
              <a:off x="6847077" y="376542"/>
              <a:ext cx="1829925" cy="369332"/>
            </a:xfrm>
            <a:prstGeom prst="rect">
              <a:avLst/>
            </a:prstGeom>
            <a:blipFill>
              <a:blip r:embed="rId6"/>
              <a:stretch>
                <a:fillRect r="-2759" b="-3333"/>
              </a:stretch>
            </a:blipFill>
          </p:spPr>
          <p:txBody>
            <a:bodyPr/>
            <a:lstStyle/>
            <a:p>
              <a:pPr>
                <a:defRPr/>
              </a:pPr>
              <a:r>
                <a:rPr lang="zh-CN" altLang="en-US">
                  <a:noFill/>
                </a:rPr>
                <a:t> </a:t>
              </a:r>
            </a:p>
          </p:txBody>
        </p:sp>
      </p:grpSp>
      <p:pic>
        <p:nvPicPr>
          <p:cNvPr id="9" name="文字方塊 8">
            <a:extLst>
              <a:ext uri="{FF2B5EF4-FFF2-40B4-BE49-F238E27FC236}">
                <a16:creationId xmlns:a16="http://schemas.microsoft.com/office/drawing/2014/main" id="{70056804-BC0B-4700-87F0-37A365DA1F1E}"/>
              </a:ext>
            </a:extLst>
          </p:cNvPr>
          <p:cNvPicPr>
            <a:picLocks noRot="1" noChangeAspect="1" noMove="1" noResize="1" noEditPoints="1" noAdjustHandles="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000" y="1143000"/>
            <a:ext cx="5143500" cy="431800"/>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207784CD-2ACA-4001-9BC1-925B8BED893B}"/>
              </a:ext>
            </a:extLst>
          </p:cNvPr>
          <p:cNvSpPr txBox="1">
            <a:spLocks noRot="1" noChangeAspect="1" noMove="1" noResize="1" noEditPoints="1" noAdjustHandles="1" noChangeArrowheads="1" noChangeShapeType="1" noTextEdit="1"/>
          </p:cNvSpPr>
          <p:nvPr/>
        </p:nvSpPr>
        <p:spPr>
          <a:xfrm>
            <a:off x="5881781" y="1149216"/>
            <a:ext cx="2490169" cy="416845"/>
          </a:xfrm>
          <a:prstGeom prst="rect">
            <a:avLst/>
          </a:prstGeom>
          <a:blipFill>
            <a:blip r:embed="rId8"/>
            <a:stretch>
              <a:fillRect b="-23529"/>
            </a:stretch>
          </a:blipFill>
        </p:spPr>
        <p:txBody>
          <a:bodyPr/>
          <a:lstStyle/>
          <a:p>
            <a:pPr>
              <a:defRPr/>
            </a:pPr>
            <a:r>
              <a:rPr lang="zh-CN" altLang="en-US">
                <a:noFill/>
              </a:rPr>
              <a:t> </a:t>
            </a:r>
          </a:p>
        </p:txBody>
      </p:sp>
      <p:sp>
        <p:nvSpPr>
          <p:cNvPr id="11" name="文字方塊 10">
            <a:extLst>
              <a:ext uri="{FF2B5EF4-FFF2-40B4-BE49-F238E27FC236}">
                <a16:creationId xmlns:a16="http://schemas.microsoft.com/office/drawing/2014/main" id="{76510416-6F10-4CC1-BAAC-3F278EF0CE2F}"/>
              </a:ext>
            </a:extLst>
          </p:cNvPr>
          <p:cNvSpPr txBox="1">
            <a:spLocks noRot="1" noChangeAspect="1" noMove="1" noResize="1" noEditPoints="1" noAdjustHandles="1" noChangeArrowheads="1" noChangeShapeType="1" noTextEdit="1"/>
          </p:cNvSpPr>
          <p:nvPr/>
        </p:nvSpPr>
        <p:spPr>
          <a:xfrm>
            <a:off x="576444" y="2081066"/>
            <a:ext cx="2386615" cy="373628"/>
          </a:xfrm>
          <a:prstGeom prst="rect">
            <a:avLst/>
          </a:prstGeom>
          <a:blipFill>
            <a:blip r:embed="rId9"/>
            <a:stretch>
              <a:fillRect l="-2116" t="-163333" r="-2646" b="-253333"/>
            </a:stretch>
          </a:blipFill>
        </p:spPr>
        <p:txBody>
          <a:bodyPr/>
          <a:lstStyle/>
          <a:p>
            <a:pPr>
              <a:defRPr/>
            </a:pPr>
            <a:r>
              <a:rPr lang="zh-CN" altLang="en-US">
                <a:noFill/>
              </a:rPr>
              <a:t> </a:t>
            </a:r>
          </a:p>
        </p:txBody>
      </p:sp>
      <p:sp>
        <p:nvSpPr>
          <p:cNvPr id="12" name="文字方塊 11">
            <a:extLst>
              <a:ext uri="{FF2B5EF4-FFF2-40B4-BE49-F238E27FC236}">
                <a16:creationId xmlns:a16="http://schemas.microsoft.com/office/drawing/2014/main" id="{A63EA412-2920-4F13-8F6E-0F6C13D64246}"/>
              </a:ext>
            </a:extLst>
          </p:cNvPr>
          <p:cNvSpPr txBox="1">
            <a:spLocks noRot="1" noChangeAspect="1" noMove="1" noResize="1" noEditPoints="1" noAdjustHandles="1" noChangeArrowheads="1" noChangeShapeType="1" noTextEdit="1"/>
          </p:cNvSpPr>
          <p:nvPr/>
        </p:nvSpPr>
        <p:spPr>
          <a:xfrm>
            <a:off x="625443" y="2888127"/>
            <a:ext cx="2372765" cy="374333"/>
          </a:xfrm>
          <a:prstGeom prst="rect">
            <a:avLst/>
          </a:prstGeom>
          <a:blipFill>
            <a:blip r:embed="rId10"/>
            <a:stretch>
              <a:fillRect l="-2660" t="-154839" r="-2660" b="-241935"/>
            </a:stretch>
          </a:blipFill>
        </p:spPr>
        <p:txBody>
          <a:bodyPr/>
          <a:lstStyle/>
          <a:p>
            <a:pPr>
              <a:defRPr/>
            </a:pPr>
            <a:r>
              <a:rPr lang="zh-CN" altLang="en-US">
                <a:noFill/>
              </a:rPr>
              <a:t> </a:t>
            </a:r>
          </a:p>
        </p:txBody>
      </p:sp>
      <p:sp>
        <p:nvSpPr>
          <p:cNvPr id="31750" name="文字方塊 13">
            <a:extLst>
              <a:ext uri="{FF2B5EF4-FFF2-40B4-BE49-F238E27FC236}">
                <a16:creationId xmlns:a16="http://schemas.microsoft.com/office/drawing/2014/main" id="{50443C72-8F87-4274-8365-104285367FA6}"/>
              </a:ext>
            </a:extLst>
          </p:cNvPr>
          <p:cNvSpPr txBox="1">
            <a:spLocks noChangeArrowheads="1"/>
          </p:cNvSpPr>
          <p:nvPr/>
        </p:nvSpPr>
        <p:spPr bwMode="auto">
          <a:xfrm rot="5400000">
            <a:off x="1515269" y="3550444"/>
            <a:ext cx="614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5" name="右大括弧 14">
            <a:extLst>
              <a:ext uri="{FF2B5EF4-FFF2-40B4-BE49-F238E27FC236}">
                <a16:creationId xmlns:a16="http://schemas.microsoft.com/office/drawing/2014/main" id="{6F840A6C-793A-47D7-A9FD-04C2E73BDFC0}"/>
              </a:ext>
            </a:extLst>
          </p:cNvPr>
          <p:cNvSpPr/>
          <p:nvPr/>
        </p:nvSpPr>
        <p:spPr>
          <a:xfrm>
            <a:off x="2962275" y="2112963"/>
            <a:ext cx="392113" cy="1946275"/>
          </a:xfrm>
          <a:prstGeom prst="rightBrace">
            <a:avLst>
              <a:gd name="adj1" fmla="val 49533"/>
              <a:gd name="adj2" fmla="val 10878"/>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sp>
        <p:nvSpPr>
          <p:cNvPr id="13" name="文字方塊 12">
            <a:extLst>
              <a:ext uri="{FF2B5EF4-FFF2-40B4-BE49-F238E27FC236}">
                <a16:creationId xmlns:a16="http://schemas.microsoft.com/office/drawing/2014/main" id="{B51C9EBA-45B8-4062-A609-6B56B953AD49}"/>
              </a:ext>
            </a:extLst>
          </p:cNvPr>
          <p:cNvSpPr txBox="1">
            <a:spLocks noRot="1" noChangeAspect="1" noMove="1" noResize="1" noEditPoints="1" noAdjustHandles="1" noChangeArrowheads="1" noChangeShapeType="1" noTextEdit="1"/>
          </p:cNvSpPr>
          <p:nvPr/>
        </p:nvSpPr>
        <p:spPr>
          <a:xfrm>
            <a:off x="3546464" y="2125552"/>
            <a:ext cx="3090013" cy="369332"/>
          </a:xfrm>
          <a:prstGeom prst="rect">
            <a:avLst/>
          </a:prstGeom>
          <a:blipFill>
            <a:blip r:embed="rId11"/>
            <a:stretch>
              <a:fillRect l="-1224" r="-1633" b="-33333"/>
            </a:stretch>
          </a:blipFill>
        </p:spPr>
        <p:txBody>
          <a:bodyPr/>
          <a:lstStyle/>
          <a:p>
            <a:pPr>
              <a:defRPr/>
            </a:pPr>
            <a:r>
              <a:rPr lang="zh-CN" altLang="en-US">
                <a:noFill/>
              </a:rPr>
              <a:t> </a:t>
            </a:r>
          </a:p>
        </p:txBody>
      </p:sp>
      <p:pic>
        <p:nvPicPr>
          <p:cNvPr id="18" name="文字方塊 17">
            <a:extLst>
              <a:ext uri="{FF2B5EF4-FFF2-40B4-BE49-F238E27FC236}">
                <a16:creationId xmlns:a16="http://schemas.microsoft.com/office/drawing/2014/main" id="{267EF08E-4CBD-40A9-A78F-8BB19707D2E1}"/>
              </a:ext>
            </a:extLst>
          </p:cNvPr>
          <p:cNvPicPr>
            <a:picLocks noRot="1" noChangeAspect="1" noMove="1" noResize="1" noEditPoints="1" noAdjustHandles="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1700" y="2717800"/>
            <a:ext cx="5499100" cy="381000"/>
          </a:xfrm>
          <a:prstGeom prst="rect">
            <a:avLst/>
          </a:prstGeom>
          <a:noFill/>
          <a:extLst>
            <a:ext uri="{909E8E84-426E-40DD-AFC4-6F175D3DCCD1}">
              <a14:hiddenFill xmlns:a14="http://schemas.microsoft.com/office/drawing/2010/main">
                <a:solidFill>
                  <a:srgbClr val="FFFFFF"/>
                </a:solidFill>
              </a14:hiddenFill>
            </a:ext>
          </a:extLst>
        </p:spPr>
      </p:pic>
      <p:sp>
        <p:nvSpPr>
          <p:cNvPr id="19" name="文字方塊 18">
            <a:extLst>
              <a:ext uri="{FF2B5EF4-FFF2-40B4-BE49-F238E27FC236}">
                <a16:creationId xmlns:a16="http://schemas.microsoft.com/office/drawing/2014/main" id="{982515B8-FBCF-457A-A8CF-27848183CAC6}"/>
              </a:ext>
            </a:extLst>
          </p:cNvPr>
          <p:cNvSpPr txBox="1"/>
          <p:nvPr/>
        </p:nvSpPr>
        <p:spPr>
          <a:xfrm>
            <a:off x="7158038" y="2587625"/>
            <a:ext cx="1103312" cy="461963"/>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400" dirty="0"/>
              <a:t>1</a:t>
            </a:r>
            <a:endParaRPr lang="zh-TW" altLang="en-US" sz="2400" dirty="0"/>
          </a:p>
        </p:txBody>
      </p:sp>
      <p:sp>
        <p:nvSpPr>
          <p:cNvPr id="20" name="文字方塊 19">
            <a:extLst>
              <a:ext uri="{FF2B5EF4-FFF2-40B4-BE49-F238E27FC236}">
                <a16:creationId xmlns:a16="http://schemas.microsoft.com/office/drawing/2014/main" id="{D4D41385-438E-4A8C-89DD-ACAF82506B3E}"/>
              </a:ext>
            </a:extLst>
          </p:cNvPr>
          <p:cNvSpPr txBox="1"/>
          <p:nvPr/>
        </p:nvSpPr>
        <p:spPr>
          <a:xfrm>
            <a:off x="5449888" y="2605088"/>
            <a:ext cx="1079500" cy="460375"/>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spcBef>
                <a:spcPct val="50000"/>
              </a:spcBef>
              <a:defRPr/>
            </a:pPr>
            <a:r>
              <a:rPr lang="en-US" altLang="zh-TW" sz="2400" dirty="0"/>
              <a:t>0</a:t>
            </a:r>
            <a:endParaRPr lang="zh-TW" altLang="en-US" sz="2400" dirty="0"/>
          </a:p>
        </p:txBody>
      </p:sp>
      <p:sp>
        <p:nvSpPr>
          <p:cNvPr id="21" name="文字方塊 20">
            <a:extLst>
              <a:ext uri="{FF2B5EF4-FFF2-40B4-BE49-F238E27FC236}">
                <a16:creationId xmlns:a16="http://schemas.microsoft.com/office/drawing/2014/main" id="{D64C3535-88B8-427C-A77E-25DABB72DB28}"/>
              </a:ext>
            </a:extLst>
          </p:cNvPr>
          <p:cNvSpPr txBox="1">
            <a:spLocks noRot="1" noChangeAspect="1" noMove="1" noResize="1" noEditPoints="1" noAdjustHandles="1" noChangeArrowheads="1" noChangeShapeType="1" noTextEdit="1"/>
          </p:cNvSpPr>
          <p:nvPr/>
        </p:nvSpPr>
        <p:spPr>
          <a:xfrm>
            <a:off x="3518439" y="4033946"/>
            <a:ext cx="1737463" cy="369332"/>
          </a:xfrm>
          <a:prstGeom prst="rect">
            <a:avLst/>
          </a:prstGeom>
          <a:blipFill>
            <a:blip r:embed="rId13"/>
            <a:stretch>
              <a:fillRect l="-725" r="-725" b="-3333"/>
            </a:stretch>
          </a:blipFill>
        </p:spPr>
        <p:txBody>
          <a:bodyPr/>
          <a:lstStyle/>
          <a:p>
            <a:pPr>
              <a:defRPr/>
            </a:pPr>
            <a:r>
              <a:rPr lang="zh-CN" altLang="en-US">
                <a:noFill/>
              </a:rPr>
              <a:t> </a:t>
            </a:r>
          </a:p>
        </p:txBody>
      </p:sp>
      <p:sp>
        <p:nvSpPr>
          <p:cNvPr id="22" name="文字方塊 21">
            <a:extLst>
              <a:ext uri="{FF2B5EF4-FFF2-40B4-BE49-F238E27FC236}">
                <a16:creationId xmlns:a16="http://schemas.microsoft.com/office/drawing/2014/main" id="{199DD886-11A4-454F-B721-1FC23B57C0E6}"/>
              </a:ext>
            </a:extLst>
          </p:cNvPr>
          <p:cNvSpPr txBox="1">
            <a:spLocks noRot="1" noChangeAspect="1" noMove="1" noResize="1" noEditPoints="1" noAdjustHandles="1" noChangeArrowheads="1" noChangeShapeType="1" noTextEdit="1"/>
          </p:cNvSpPr>
          <p:nvPr/>
        </p:nvSpPr>
        <p:spPr>
          <a:xfrm>
            <a:off x="5683125" y="3416433"/>
            <a:ext cx="1737463" cy="369332"/>
          </a:xfrm>
          <a:prstGeom prst="rect">
            <a:avLst/>
          </a:prstGeom>
          <a:blipFill>
            <a:blip r:embed="rId14"/>
            <a:stretch>
              <a:fillRect l="-2899" r="-7971" b="-6667"/>
            </a:stretch>
          </a:blipFill>
        </p:spPr>
        <p:txBody>
          <a:bodyPr/>
          <a:lstStyle/>
          <a:p>
            <a:pPr>
              <a:defRPr/>
            </a:pPr>
            <a:r>
              <a:rPr lang="zh-CN" altLang="en-US">
                <a:noFill/>
              </a:rPr>
              <a:t> </a:t>
            </a:r>
          </a:p>
        </p:txBody>
      </p:sp>
      <p:sp>
        <p:nvSpPr>
          <p:cNvPr id="23" name="文字方塊 22">
            <a:extLst>
              <a:ext uri="{FF2B5EF4-FFF2-40B4-BE49-F238E27FC236}">
                <a16:creationId xmlns:a16="http://schemas.microsoft.com/office/drawing/2014/main" id="{7093E470-6A78-4DF5-8B58-A8457FDF684E}"/>
              </a:ext>
            </a:extLst>
          </p:cNvPr>
          <p:cNvSpPr txBox="1">
            <a:spLocks noRot="1" noChangeAspect="1" noMove="1" noResize="1" noEditPoints="1" noAdjustHandles="1" noChangeArrowheads="1" noChangeShapeType="1" noTextEdit="1"/>
          </p:cNvSpPr>
          <p:nvPr/>
        </p:nvSpPr>
        <p:spPr>
          <a:xfrm>
            <a:off x="3537329" y="3313415"/>
            <a:ext cx="2079020" cy="490006"/>
          </a:xfrm>
          <a:prstGeom prst="rect">
            <a:avLst/>
          </a:prstGeom>
          <a:blipFill>
            <a:blip r:embed="rId15"/>
            <a:stretch>
              <a:fillRect l="-3049" r="-2439" b="-2564"/>
            </a:stretch>
          </a:blipFill>
        </p:spPr>
        <p:txBody>
          <a:bodyPr/>
          <a:lstStyle/>
          <a:p>
            <a:pPr>
              <a:defRPr/>
            </a:pPr>
            <a:r>
              <a:rPr lang="zh-CN" altLang="en-US">
                <a:noFill/>
              </a:rPr>
              <a:t> </a:t>
            </a:r>
          </a:p>
        </p:txBody>
      </p:sp>
      <p:sp>
        <p:nvSpPr>
          <p:cNvPr id="24" name="文字方塊 23">
            <a:extLst>
              <a:ext uri="{FF2B5EF4-FFF2-40B4-BE49-F238E27FC236}">
                <a16:creationId xmlns:a16="http://schemas.microsoft.com/office/drawing/2014/main" id="{E4BE8BFC-A3D5-4588-B4C3-1E06A4F798F0}"/>
              </a:ext>
            </a:extLst>
          </p:cNvPr>
          <p:cNvSpPr txBox="1">
            <a:spLocks noRot="1" noChangeAspect="1" noMove="1" noResize="1" noEditPoints="1" noAdjustHandles="1" noChangeArrowheads="1" noChangeShapeType="1" noTextEdit="1"/>
          </p:cNvSpPr>
          <p:nvPr/>
        </p:nvSpPr>
        <p:spPr>
          <a:xfrm>
            <a:off x="5296644" y="4014748"/>
            <a:ext cx="1862113" cy="369332"/>
          </a:xfrm>
          <a:prstGeom prst="rect">
            <a:avLst/>
          </a:prstGeom>
          <a:blipFill>
            <a:blip r:embed="rId16"/>
            <a:stretch>
              <a:fillRect l="-676" b="-13333"/>
            </a:stretch>
          </a:blipFill>
        </p:spPr>
        <p:txBody>
          <a:bodyPr/>
          <a:lstStyle/>
          <a:p>
            <a:pPr>
              <a:defRPr/>
            </a:pPr>
            <a:r>
              <a:rPr lang="zh-CN" altLang="en-US">
                <a:noFill/>
              </a:rPr>
              <a:t> </a:t>
            </a:r>
          </a:p>
        </p:txBody>
      </p:sp>
      <p:sp>
        <p:nvSpPr>
          <p:cNvPr id="25" name="文字方塊 24">
            <a:extLst>
              <a:ext uri="{FF2B5EF4-FFF2-40B4-BE49-F238E27FC236}">
                <a16:creationId xmlns:a16="http://schemas.microsoft.com/office/drawing/2014/main" id="{50B602C6-2FC9-4A59-B93B-40F7660A6DCC}"/>
              </a:ext>
            </a:extLst>
          </p:cNvPr>
          <p:cNvSpPr txBox="1">
            <a:spLocks noRot="1" noChangeAspect="1" noMove="1" noResize="1" noEditPoints="1" noAdjustHandles="1" noChangeArrowheads="1" noChangeShapeType="1" noTextEdit="1"/>
          </p:cNvSpPr>
          <p:nvPr/>
        </p:nvSpPr>
        <p:spPr>
          <a:xfrm>
            <a:off x="7198598" y="4000715"/>
            <a:ext cx="553549" cy="369332"/>
          </a:xfrm>
          <a:prstGeom prst="rect">
            <a:avLst/>
          </a:prstGeom>
          <a:blipFill>
            <a:blip r:embed="rId17"/>
            <a:stretch>
              <a:fillRect l="-4545" r="-11364" b="-6667"/>
            </a:stretch>
          </a:blipFill>
        </p:spPr>
        <p:txBody>
          <a:bodyPr/>
          <a:lstStyle/>
          <a:p>
            <a:pPr>
              <a:defRPr/>
            </a:pPr>
            <a:r>
              <a:rPr lang="zh-CN" altLang="en-US">
                <a:noFill/>
              </a:rPr>
              <a:t> </a:t>
            </a:r>
          </a:p>
        </p:txBody>
      </p:sp>
      <p:sp>
        <p:nvSpPr>
          <p:cNvPr id="26" name="文字方塊 25">
            <a:extLst>
              <a:ext uri="{FF2B5EF4-FFF2-40B4-BE49-F238E27FC236}">
                <a16:creationId xmlns:a16="http://schemas.microsoft.com/office/drawing/2014/main" id="{47579258-AC71-4266-86C4-59A35C3BFB91}"/>
              </a:ext>
            </a:extLst>
          </p:cNvPr>
          <p:cNvSpPr txBox="1">
            <a:spLocks noRot="1" noChangeAspect="1" noMove="1" noResize="1" noEditPoints="1" noAdjustHandles="1" noChangeArrowheads="1" noChangeShapeType="1" noTextEdit="1"/>
          </p:cNvSpPr>
          <p:nvPr/>
        </p:nvSpPr>
        <p:spPr>
          <a:xfrm>
            <a:off x="714027" y="4901481"/>
            <a:ext cx="847091" cy="369332"/>
          </a:xfrm>
          <a:prstGeom prst="rect">
            <a:avLst/>
          </a:prstGeom>
          <a:blipFill>
            <a:blip r:embed="rId18"/>
            <a:stretch>
              <a:fillRect l="-14706" t="-23333" r="-20588" b="-43333"/>
            </a:stretch>
          </a:blipFill>
        </p:spPr>
        <p:txBody>
          <a:bodyPr/>
          <a:lstStyle/>
          <a:p>
            <a:pPr>
              <a:defRPr/>
            </a:pPr>
            <a:r>
              <a:rPr lang="zh-CN" altLang="en-US">
                <a:noFill/>
              </a:rPr>
              <a:t> </a:t>
            </a:r>
          </a:p>
        </p:txBody>
      </p:sp>
      <p:sp>
        <p:nvSpPr>
          <p:cNvPr id="27" name="文字方塊 26">
            <a:extLst>
              <a:ext uri="{FF2B5EF4-FFF2-40B4-BE49-F238E27FC236}">
                <a16:creationId xmlns:a16="http://schemas.microsoft.com/office/drawing/2014/main" id="{E5482DB1-E44F-46D0-80D9-F13CF77FC3A5}"/>
              </a:ext>
            </a:extLst>
          </p:cNvPr>
          <p:cNvSpPr txBox="1">
            <a:spLocks noRot="1" noChangeAspect="1" noMove="1" noResize="1" noEditPoints="1" noAdjustHandles="1" noChangeArrowheads="1" noChangeShapeType="1" noTextEdit="1"/>
          </p:cNvSpPr>
          <p:nvPr/>
        </p:nvSpPr>
        <p:spPr>
          <a:xfrm>
            <a:off x="1994290" y="4901481"/>
            <a:ext cx="2146293" cy="369332"/>
          </a:xfrm>
          <a:prstGeom prst="rect">
            <a:avLst/>
          </a:prstGeom>
          <a:blipFill>
            <a:blip r:embed="rId19"/>
            <a:stretch>
              <a:fillRect l="-2353" r="-2353" b="-6667"/>
            </a:stretch>
          </a:blipFill>
        </p:spPr>
        <p:txBody>
          <a:bodyPr/>
          <a:lstStyle/>
          <a:p>
            <a:pPr>
              <a:defRPr/>
            </a:pPr>
            <a:r>
              <a:rPr lang="zh-CN" altLang="en-US">
                <a:noFill/>
              </a:rPr>
              <a:t> </a:t>
            </a:r>
          </a:p>
        </p:txBody>
      </p:sp>
      <p:sp>
        <p:nvSpPr>
          <p:cNvPr id="28" name="文字方塊 27">
            <a:extLst>
              <a:ext uri="{FF2B5EF4-FFF2-40B4-BE49-F238E27FC236}">
                <a16:creationId xmlns:a16="http://schemas.microsoft.com/office/drawing/2014/main" id="{0F43114C-B91A-459D-B452-3E6CCAECCFF5}"/>
              </a:ext>
            </a:extLst>
          </p:cNvPr>
          <p:cNvSpPr txBox="1">
            <a:spLocks noRot="1" noChangeAspect="1" noMove="1" noResize="1" noEditPoints="1" noAdjustHandles="1" noChangeArrowheads="1" noChangeShapeType="1" noTextEdit="1"/>
          </p:cNvSpPr>
          <p:nvPr/>
        </p:nvSpPr>
        <p:spPr>
          <a:xfrm>
            <a:off x="4552644" y="4900868"/>
            <a:ext cx="1610313" cy="369332"/>
          </a:xfrm>
          <a:prstGeom prst="rect">
            <a:avLst/>
          </a:prstGeom>
          <a:blipFill>
            <a:blip r:embed="rId20"/>
            <a:stretch>
              <a:fillRect l="-3125" r="-781" b="-6667"/>
            </a:stretch>
          </a:blipFill>
        </p:spPr>
        <p:txBody>
          <a:bodyPr/>
          <a:lstStyle/>
          <a:p>
            <a:pPr>
              <a:defRPr/>
            </a:pPr>
            <a:r>
              <a:rPr lang="zh-CN" altLang="en-US">
                <a:noFill/>
              </a:rPr>
              <a:t> </a:t>
            </a:r>
          </a:p>
        </p:txBody>
      </p:sp>
      <p:pic>
        <p:nvPicPr>
          <p:cNvPr id="29" name="文字方塊 28">
            <a:extLst>
              <a:ext uri="{FF2B5EF4-FFF2-40B4-BE49-F238E27FC236}">
                <a16:creationId xmlns:a16="http://schemas.microsoft.com/office/drawing/2014/main" id="{790033F8-2299-4F7F-B431-25F5F43BA217}"/>
              </a:ext>
            </a:extLst>
          </p:cNvPr>
          <p:cNvPicPr>
            <a:picLocks noRot="1" noChangeAspect="1" noMove="1" noResize="1" noEditPoints="1" noAdjustHandles="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8500" y="5715000"/>
            <a:ext cx="7061200" cy="482600"/>
          </a:xfrm>
          <a:prstGeom prst="rect">
            <a:avLst/>
          </a:prstGeom>
          <a:noFill/>
          <a:extLst>
            <a:ext uri="{909E8E84-426E-40DD-AFC4-6F175D3DCCD1}">
              <a14:hiddenFill xmlns:a14="http://schemas.microsoft.com/office/drawing/2010/main">
                <a:solidFill>
                  <a:srgbClr val="FFFFFF"/>
                </a:solidFill>
              </a14:hiddenFill>
            </a:ext>
          </a:extLst>
        </p:spPr>
      </p:pic>
      <p:pic>
        <p:nvPicPr>
          <p:cNvPr id="30" name="文字方塊 29">
            <a:extLst>
              <a:ext uri="{FF2B5EF4-FFF2-40B4-BE49-F238E27FC236}">
                <a16:creationId xmlns:a16="http://schemas.microsoft.com/office/drawing/2014/main" id="{24D2BDFA-6016-4271-83FE-F616FFA32358}"/>
              </a:ext>
            </a:extLst>
          </p:cNvPr>
          <p:cNvPicPr>
            <a:picLocks noRot="1" noChangeAspect="1" noMove="1" noResize="1" noEditPoints="1" noAdjustHandles="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1500" y="6172200"/>
            <a:ext cx="6553200" cy="46990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30">
            <a:extLst>
              <a:ext uri="{FF2B5EF4-FFF2-40B4-BE49-F238E27FC236}">
                <a16:creationId xmlns:a16="http://schemas.microsoft.com/office/drawing/2014/main" id="{808D65B7-613C-4615-B32C-72D5A72299C5}"/>
              </a:ext>
            </a:extLst>
          </p:cNvPr>
          <p:cNvSpPr/>
          <p:nvPr/>
        </p:nvSpPr>
        <p:spPr>
          <a:xfrm>
            <a:off x="612775" y="5664200"/>
            <a:ext cx="8316913" cy="9731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36" name="直線接點 35">
            <a:extLst>
              <a:ext uri="{FF2B5EF4-FFF2-40B4-BE49-F238E27FC236}">
                <a16:creationId xmlns:a16="http://schemas.microsoft.com/office/drawing/2014/main" id="{FE8B83FD-F47E-4C99-8EC8-498F98310620}"/>
              </a:ext>
            </a:extLst>
          </p:cNvPr>
          <p:cNvCxnSpPr/>
          <p:nvPr/>
        </p:nvCxnSpPr>
        <p:spPr>
          <a:xfrm>
            <a:off x="7162800" y="3127375"/>
            <a:ext cx="11033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A7763372-6700-4FB0-B069-79D8C10B4EB3}"/>
              </a:ext>
            </a:extLst>
          </p:cNvPr>
          <p:cNvCxnSpPr/>
          <p:nvPr/>
        </p:nvCxnSpPr>
        <p:spPr>
          <a:xfrm>
            <a:off x="5451475" y="3133725"/>
            <a:ext cx="11033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A53399CB-6C11-4C41-87C4-37E350076044}"/>
              </a:ext>
            </a:extLst>
          </p:cNvPr>
          <p:cNvCxnSpPr/>
          <p:nvPr/>
        </p:nvCxnSpPr>
        <p:spPr>
          <a:xfrm>
            <a:off x="3530600" y="3098800"/>
            <a:ext cx="128428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6325BD87-2D18-4143-B100-0C2ED592A489}"/>
              </a:ext>
            </a:extLst>
          </p:cNvPr>
          <p:cNvSpPr txBox="1"/>
          <p:nvPr/>
        </p:nvSpPr>
        <p:spPr>
          <a:xfrm>
            <a:off x="3537329" y="2600597"/>
            <a:ext cx="1301750" cy="461962"/>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spcBef>
                <a:spcPct val="50000"/>
              </a:spcBef>
              <a:defRPr/>
            </a:pPr>
            <a:r>
              <a:rPr lang="en-US" altLang="zh-TW" sz="2400" dirty="0"/>
              <a:t>0</a:t>
            </a:r>
            <a:endParaRPr lang="zh-TW" altLang="en-US" sz="2400" dirty="0"/>
          </a:p>
        </p:txBody>
      </p:sp>
      <p:sp>
        <p:nvSpPr>
          <p:cNvPr id="41" name="文字方塊 40">
            <a:extLst>
              <a:ext uri="{FF2B5EF4-FFF2-40B4-BE49-F238E27FC236}">
                <a16:creationId xmlns:a16="http://schemas.microsoft.com/office/drawing/2014/main" id="{0884D5E4-DAA6-44D6-8EE9-F680613AF46E}"/>
              </a:ext>
            </a:extLst>
          </p:cNvPr>
          <p:cNvSpPr txBox="1">
            <a:spLocks noRot="1" noChangeAspect="1" noMove="1" noResize="1" noEditPoints="1" noAdjustHandles="1" noChangeArrowheads="1" noChangeShapeType="1" noTextEdit="1"/>
          </p:cNvSpPr>
          <p:nvPr/>
        </p:nvSpPr>
        <p:spPr>
          <a:xfrm>
            <a:off x="7071970" y="4511375"/>
            <a:ext cx="1697644" cy="369332"/>
          </a:xfrm>
          <a:prstGeom prst="rect">
            <a:avLst/>
          </a:prstGeom>
          <a:blipFill>
            <a:blip r:embed="rId23"/>
            <a:stretch>
              <a:fillRect/>
            </a:stretch>
          </a:blipFill>
        </p:spPr>
        <p:txBody>
          <a:bodyPr/>
          <a:lstStyle/>
          <a:p>
            <a:pPr>
              <a:defRPr/>
            </a:pPr>
            <a:r>
              <a:rPr lang="zh-CN" altLang="en-US">
                <a:no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8F4EA687-7CED-448D-8BBA-9CFB6DF172CB}"/>
              </a:ext>
            </a:extLst>
          </p:cNvPr>
          <p:cNvSpPr txBox="1">
            <a:spLocks noRot="1" noChangeAspect="1" noMove="1" noResize="1" noEditPoints="1" noAdjustHandles="1" noChangeArrowheads="1" noChangeShapeType="1" noTextEdit="1"/>
          </p:cNvSpPr>
          <p:nvPr/>
        </p:nvSpPr>
        <p:spPr>
          <a:xfrm>
            <a:off x="679640" y="1156802"/>
            <a:ext cx="1271374" cy="430887"/>
          </a:xfrm>
          <a:prstGeom prst="rect">
            <a:avLst/>
          </a:prstGeom>
          <a:blipFill>
            <a:blip r:embed="rId2"/>
            <a:stretch>
              <a:fillRect l="-2970" r="-3960" b="-5714"/>
            </a:stretch>
          </a:blipFill>
        </p:spPr>
        <p:txBody>
          <a:bodyPr/>
          <a:lstStyle/>
          <a:p>
            <a:pPr>
              <a:defRPr/>
            </a:pPr>
            <a:r>
              <a:rPr lang="zh-CN" altLang="en-US">
                <a:noFill/>
              </a:rPr>
              <a:t> </a:t>
            </a:r>
          </a:p>
        </p:txBody>
      </p:sp>
      <p:sp>
        <p:nvSpPr>
          <p:cNvPr id="6" name="文字方塊 5">
            <a:extLst>
              <a:ext uri="{FF2B5EF4-FFF2-40B4-BE49-F238E27FC236}">
                <a16:creationId xmlns:a16="http://schemas.microsoft.com/office/drawing/2014/main" id="{4CEAA95B-5F41-470D-ADC5-DA1AD3402908}"/>
              </a:ext>
            </a:extLst>
          </p:cNvPr>
          <p:cNvSpPr txBox="1">
            <a:spLocks noRot="1" noChangeAspect="1" noMove="1" noResize="1" noEditPoints="1" noAdjustHandles="1" noChangeArrowheads="1" noChangeShapeType="1" noTextEdit="1"/>
          </p:cNvSpPr>
          <p:nvPr/>
        </p:nvSpPr>
        <p:spPr>
          <a:xfrm>
            <a:off x="642243" y="1703022"/>
            <a:ext cx="1896930" cy="430887"/>
          </a:xfrm>
          <a:prstGeom prst="rect">
            <a:avLst/>
          </a:prstGeom>
          <a:blipFill>
            <a:blip r:embed="rId3"/>
            <a:stretch>
              <a:fillRect l="-4000" r="-2667" b="-5714"/>
            </a:stretch>
          </a:blipFill>
        </p:spPr>
        <p:txBody>
          <a:bodyPr/>
          <a:lstStyle/>
          <a:p>
            <a:pPr>
              <a:defRPr/>
            </a:pPr>
            <a:r>
              <a:rPr lang="zh-CN" altLang="en-US">
                <a:noFill/>
              </a:rPr>
              <a:t> </a:t>
            </a:r>
          </a:p>
        </p:txBody>
      </p:sp>
      <p:sp>
        <p:nvSpPr>
          <p:cNvPr id="7" name="文字方塊 6">
            <a:extLst>
              <a:ext uri="{FF2B5EF4-FFF2-40B4-BE49-F238E27FC236}">
                <a16:creationId xmlns:a16="http://schemas.microsoft.com/office/drawing/2014/main" id="{ACC0F4E1-C94B-4636-9D37-13FB168BB32F}"/>
              </a:ext>
            </a:extLst>
          </p:cNvPr>
          <p:cNvSpPr txBox="1"/>
          <p:nvPr/>
        </p:nvSpPr>
        <p:spPr>
          <a:xfrm>
            <a:off x="642243" y="2297259"/>
            <a:ext cx="2758398" cy="461665"/>
          </a:xfrm>
          <a:prstGeom prst="rect">
            <a:avLst/>
          </a:prstGeom>
        </p:spPr>
        <p:style>
          <a:lnRef idx="0">
            <a:schemeClr val="accent6"/>
          </a:lnRef>
          <a:fillRef idx="3">
            <a:schemeClr val="accent6"/>
          </a:fillRef>
          <a:effectRef idx="3">
            <a:schemeClr val="accent6"/>
          </a:effectRef>
          <a:fontRef idx="minor">
            <a:schemeClr val="lt1"/>
          </a:fontRef>
        </p:style>
        <p:txBody>
          <a:bodyPr>
            <a:spAutoFit/>
          </a:bodyPr>
          <a:lstStyle/>
          <a:p>
            <a:pPr algn="ctr" eaLnBrk="1" hangingPunct="1">
              <a:spcBef>
                <a:spcPct val="50000"/>
              </a:spcBef>
              <a:defRPr/>
            </a:pPr>
            <a:r>
              <a:rPr lang="en-US" altLang="zh-TW" sz="2400" dirty="0"/>
              <a:t>Diagonal matrix</a:t>
            </a:r>
            <a:endParaRPr lang="zh-TW" altLang="en-US" sz="2400" dirty="0"/>
          </a:p>
        </p:txBody>
      </p:sp>
      <p:pic>
        <p:nvPicPr>
          <p:cNvPr id="8" name="文字方塊 7">
            <a:extLst>
              <a:ext uri="{FF2B5EF4-FFF2-40B4-BE49-F238E27FC236}">
                <a16:creationId xmlns:a16="http://schemas.microsoft.com/office/drawing/2014/main" id="{CAF60517-202D-4998-8ECF-67DA6AA6A943}"/>
              </a:ext>
            </a:extLst>
          </p:cNvPr>
          <p:cNvPicPr>
            <a:picLocks noRot="1" noChangeAspect="1" noMove="1" noResize="1" noEditPoints="1" noAdjustHandles="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00" y="3289300"/>
            <a:ext cx="4864100" cy="1066800"/>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a:extLst>
              <a:ext uri="{FF2B5EF4-FFF2-40B4-BE49-F238E27FC236}">
                <a16:creationId xmlns:a16="http://schemas.microsoft.com/office/drawing/2014/main" id="{605C23D9-07C0-45D7-8BD0-3B86D70B176C}"/>
              </a:ext>
            </a:extLst>
          </p:cNvPr>
          <p:cNvSpPr txBox="1">
            <a:spLocks noRot="1" noChangeAspect="1" noMove="1" noResize="1" noEditPoints="1" noAdjustHandles="1" noChangeArrowheads="1" noChangeShapeType="1" noTextEdit="1"/>
          </p:cNvSpPr>
          <p:nvPr/>
        </p:nvSpPr>
        <p:spPr>
          <a:xfrm>
            <a:off x="6967332" y="3558879"/>
            <a:ext cx="1858073" cy="430887"/>
          </a:xfrm>
          <a:prstGeom prst="rect">
            <a:avLst/>
          </a:prstGeom>
          <a:blipFill>
            <a:blip r:embed="rId5"/>
            <a:stretch>
              <a:fillRect l="-4082" b="-5714"/>
            </a:stretch>
          </a:blipFill>
        </p:spPr>
        <p:txBody>
          <a:bodyPr/>
          <a:lstStyle/>
          <a:p>
            <a:pPr>
              <a:defRPr/>
            </a:pPr>
            <a:r>
              <a:rPr lang="zh-CN" altLang="en-US">
                <a:noFill/>
              </a:rPr>
              <a:t> </a:t>
            </a:r>
          </a:p>
        </p:txBody>
      </p:sp>
      <p:sp>
        <p:nvSpPr>
          <p:cNvPr id="10" name="文字方塊 9">
            <a:extLst>
              <a:ext uri="{FF2B5EF4-FFF2-40B4-BE49-F238E27FC236}">
                <a16:creationId xmlns:a16="http://schemas.microsoft.com/office/drawing/2014/main" id="{B8BBD7BA-3471-4EAD-9930-3315F6F777B1}"/>
              </a:ext>
            </a:extLst>
          </p:cNvPr>
          <p:cNvSpPr txBox="1">
            <a:spLocks noRot="1" noChangeAspect="1" noMove="1" noResize="1" noEditPoints="1" noAdjustHandles="1" noChangeArrowheads="1" noChangeShapeType="1" noTextEdit="1"/>
          </p:cNvSpPr>
          <p:nvPr/>
        </p:nvSpPr>
        <p:spPr>
          <a:xfrm>
            <a:off x="5044941" y="3558880"/>
            <a:ext cx="1535420" cy="430887"/>
          </a:xfrm>
          <a:prstGeom prst="rect">
            <a:avLst/>
          </a:prstGeom>
          <a:blipFill>
            <a:blip r:embed="rId6"/>
            <a:stretch>
              <a:fillRect l="-1639" r="-820" b="-5714"/>
            </a:stretch>
          </a:blipFill>
        </p:spPr>
        <p:txBody>
          <a:bodyPr/>
          <a:lstStyle/>
          <a:p>
            <a:pPr>
              <a:defRPr/>
            </a:pPr>
            <a:r>
              <a:rPr lang="zh-CN" altLang="en-US" dirty="0">
                <a:noFill/>
              </a:rPr>
              <a:t> </a:t>
            </a:r>
          </a:p>
        </p:txBody>
      </p:sp>
      <p:sp>
        <p:nvSpPr>
          <p:cNvPr id="33801" name="矩形 10">
            <a:extLst>
              <a:ext uri="{FF2B5EF4-FFF2-40B4-BE49-F238E27FC236}">
                <a16:creationId xmlns:a16="http://schemas.microsoft.com/office/drawing/2014/main" id="{7790A846-6B77-468E-B103-B08D3F427C94}"/>
              </a:ext>
            </a:extLst>
          </p:cNvPr>
          <p:cNvSpPr>
            <a:spLocks noChangeArrowheads="1"/>
          </p:cNvSpPr>
          <p:nvPr/>
        </p:nvSpPr>
        <p:spPr bwMode="auto">
          <a:xfrm>
            <a:off x="320675" y="377825"/>
            <a:ext cx="34750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b="1" i="1" u="sng">
                <a:solidFill>
                  <a:schemeClr val="hlink"/>
                </a:solidFill>
                <a:ea typeface="宋体" panose="02010600030101010101" pitchFamily="2" charset="-122"/>
              </a:rPr>
              <a:t>PCA - decorrelation</a:t>
            </a:r>
            <a:endParaRPr lang="zh-TW" altLang="en-US" b="1" i="1" u="sng">
              <a:solidFill>
                <a:schemeClr val="hlink"/>
              </a:solidFill>
              <a:ea typeface="宋体" panose="02010600030101010101" pitchFamily="2" charset="-122"/>
            </a:endParaRPr>
          </a:p>
        </p:txBody>
      </p:sp>
      <p:sp>
        <p:nvSpPr>
          <p:cNvPr id="12" name="文字方塊 11">
            <a:extLst>
              <a:ext uri="{FF2B5EF4-FFF2-40B4-BE49-F238E27FC236}">
                <a16:creationId xmlns:a16="http://schemas.microsoft.com/office/drawing/2014/main" id="{A09CC9A1-9441-4A76-B5C6-90CB6B7E85B1}"/>
              </a:ext>
            </a:extLst>
          </p:cNvPr>
          <p:cNvSpPr txBox="1">
            <a:spLocks noRot="1" noChangeAspect="1" noMove="1" noResize="1" noEditPoints="1" noAdjustHandles="1" noChangeArrowheads="1" noChangeShapeType="1" noTextEdit="1"/>
          </p:cNvSpPr>
          <p:nvPr/>
        </p:nvSpPr>
        <p:spPr>
          <a:xfrm>
            <a:off x="586160" y="4347968"/>
            <a:ext cx="3210110" cy="430887"/>
          </a:xfrm>
          <a:prstGeom prst="rect">
            <a:avLst/>
          </a:prstGeom>
          <a:blipFill>
            <a:blip r:embed="rId7"/>
            <a:stretch>
              <a:fillRect l="-394" b="-11429"/>
            </a:stretch>
          </a:blipFill>
        </p:spPr>
        <p:txBody>
          <a:bodyPr/>
          <a:lstStyle/>
          <a:p>
            <a:pPr>
              <a:defRPr/>
            </a:pPr>
            <a:r>
              <a:rPr lang="zh-CN" altLang="en-US">
                <a:noFill/>
              </a:rPr>
              <a:t> </a:t>
            </a:r>
          </a:p>
        </p:txBody>
      </p:sp>
      <p:sp>
        <p:nvSpPr>
          <p:cNvPr id="13" name="文字方塊 12">
            <a:extLst>
              <a:ext uri="{FF2B5EF4-FFF2-40B4-BE49-F238E27FC236}">
                <a16:creationId xmlns:a16="http://schemas.microsoft.com/office/drawing/2014/main" id="{6BBB0374-969F-4130-9543-1A93F6A2774F}"/>
              </a:ext>
            </a:extLst>
          </p:cNvPr>
          <p:cNvSpPr txBox="1">
            <a:spLocks noRot="1" noChangeAspect="1" noMove="1" noResize="1" noEditPoints="1" noAdjustHandles="1" noChangeArrowheads="1" noChangeShapeType="1" noTextEdit="1"/>
          </p:cNvSpPr>
          <p:nvPr/>
        </p:nvSpPr>
        <p:spPr>
          <a:xfrm>
            <a:off x="3900738" y="4357883"/>
            <a:ext cx="3421899" cy="430887"/>
          </a:xfrm>
          <a:prstGeom prst="rect">
            <a:avLst/>
          </a:prstGeom>
          <a:blipFill>
            <a:blip r:embed="rId8"/>
            <a:stretch>
              <a:fillRect l="-369" b="-17143"/>
            </a:stretch>
          </a:blipFill>
        </p:spPr>
        <p:txBody>
          <a:bodyPr/>
          <a:lstStyle/>
          <a:p>
            <a:pPr>
              <a:defRPr/>
            </a:pPr>
            <a:r>
              <a:rPr lang="zh-CN" altLang="en-US">
                <a:noFill/>
              </a:rPr>
              <a:t> </a:t>
            </a:r>
          </a:p>
        </p:txBody>
      </p:sp>
      <p:sp>
        <p:nvSpPr>
          <p:cNvPr id="14" name="文字方塊 13">
            <a:extLst>
              <a:ext uri="{FF2B5EF4-FFF2-40B4-BE49-F238E27FC236}">
                <a16:creationId xmlns:a16="http://schemas.microsoft.com/office/drawing/2014/main" id="{34ABC578-BF00-4010-81BE-8915346C127F}"/>
              </a:ext>
            </a:extLst>
          </p:cNvPr>
          <p:cNvSpPr txBox="1">
            <a:spLocks noRot="1" noChangeAspect="1" noMove="1" noResize="1" noEditPoints="1" noAdjustHandles="1" noChangeArrowheads="1" noChangeShapeType="1" noTextEdit="1"/>
          </p:cNvSpPr>
          <p:nvPr/>
        </p:nvSpPr>
        <p:spPr>
          <a:xfrm>
            <a:off x="564123" y="5044759"/>
            <a:ext cx="3812519" cy="430887"/>
          </a:xfrm>
          <a:prstGeom prst="rect">
            <a:avLst/>
          </a:prstGeom>
          <a:blipFill>
            <a:blip r:embed="rId9"/>
            <a:stretch>
              <a:fillRect b="-17143"/>
            </a:stretch>
          </a:blipFill>
        </p:spPr>
        <p:txBody>
          <a:bodyPr/>
          <a:lstStyle/>
          <a:p>
            <a:pPr>
              <a:defRPr/>
            </a:pPr>
            <a:r>
              <a:rPr lang="zh-CN" altLang="en-US">
                <a:noFill/>
              </a:rPr>
              <a:t> </a:t>
            </a:r>
          </a:p>
        </p:txBody>
      </p:sp>
      <p:sp>
        <p:nvSpPr>
          <p:cNvPr id="15" name="文字方塊 14">
            <a:extLst>
              <a:ext uri="{FF2B5EF4-FFF2-40B4-BE49-F238E27FC236}">
                <a16:creationId xmlns:a16="http://schemas.microsoft.com/office/drawing/2014/main" id="{4C9B1EA6-B6F6-4D35-A68C-16D1E5B03091}"/>
              </a:ext>
            </a:extLst>
          </p:cNvPr>
          <p:cNvSpPr txBox="1">
            <a:spLocks noRot="1" noChangeAspect="1" noMove="1" noResize="1" noEditPoints="1" noAdjustHandles="1" noChangeArrowheads="1" noChangeShapeType="1" noTextEdit="1"/>
          </p:cNvSpPr>
          <p:nvPr/>
        </p:nvSpPr>
        <p:spPr>
          <a:xfrm>
            <a:off x="4539898" y="5044758"/>
            <a:ext cx="4080925" cy="430887"/>
          </a:xfrm>
          <a:prstGeom prst="rect">
            <a:avLst/>
          </a:prstGeom>
          <a:blipFill>
            <a:blip r:embed="rId10"/>
            <a:stretch>
              <a:fillRect b="-17143"/>
            </a:stretch>
          </a:blipFill>
        </p:spPr>
        <p:txBody>
          <a:bodyPr/>
          <a:lstStyle/>
          <a:p>
            <a:pPr>
              <a:defRPr/>
            </a:pPr>
            <a:r>
              <a:rPr lang="zh-CN" altLang="en-US">
                <a:noFill/>
              </a:rPr>
              <a:t> </a:t>
            </a:r>
          </a:p>
        </p:txBody>
      </p:sp>
      <p:sp>
        <p:nvSpPr>
          <p:cNvPr id="16" name="文字方塊 15">
            <a:extLst>
              <a:ext uri="{FF2B5EF4-FFF2-40B4-BE49-F238E27FC236}">
                <a16:creationId xmlns:a16="http://schemas.microsoft.com/office/drawing/2014/main" id="{3B267947-09E3-496B-917D-7F7DEB691EEF}"/>
              </a:ext>
            </a:extLst>
          </p:cNvPr>
          <p:cNvSpPr txBox="1">
            <a:spLocks noRot="1" noChangeAspect="1" noMove="1" noResize="1" noEditPoints="1" noAdjustHandles="1" noChangeArrowheads="1" noChangeShapeType="1" noTextEdit="1"/>
          </p:cNvSpPr>
          <p:nvPr/>
        </p:nvSpPr>
        <p:spPr>
          <a:xfrm>
            <a:off x="586160" y="5822218"/>
            <a:ext cx="3228961" cy="430887"/>
          </a:xfrm>
          <a:prstGeom prst="rect">
            <a:avLst/>
          </a:prstGeom>
          <a:blipFill>
            <a:blip r:embed="rId11"/>
            <a:stretch>
              <a:fillRect b="-14286"/>
            </a:stretch>
          </a:blipFill>
        </p:spPr>
        <p:txBody>
          <a:bodyPr/>
          <a:lstStyle/>
          <a:p>
            <a:pPr>
              <a:defRPr/>
            </a:pPr>
            <a:r>
              <a:rPr lang="zh-CN" altLang="en-US">
                <a:noFill/>
              </a:rPr>
              <a:t> </a:t>
            </a:r>
          </a:p>
        </p:txBody>
      </p:sp>
      <p:sp>
        <p:nvSpPr>
          <p:cNvPr id="17" name="文字方塊 16">
            <a:extLst>
              <a:ext uri="{FF2B5EF4-FFF2-40B4-BE49-F238E27FC236}">
                <a16:creationId xmlns:a16="http://schemas.microsoft.com/office/drawing/2014/main" id="{90FCF208-2669-4CEE-B506-9BE2629E96CE}"/>
              </a:ext>
            </a:extLst>
          </p:cNvPr>
          <p:cNvSpPr txBox="1">
            <a:spLocks noRot="1" noChangeAspect="1" noMove="1" noResize="1" noEditPoints="1" noAdjustHandles="1" noChangeArrowheads="1" noChangeShapeType="1" noTextEdit="1"/>
          </p:cNvSpPr>
          <p:nvPr/>
        </p:nvSpPr>
        <p:spPr>
          <a:xfrm>
            <a:off x="3900738" y="5822218"/>
            <a:ext cx="708207" cy="430887"/>
          </a:xfrm>
          <a:prstGeom prst="rect">
            <a:avLst/>
          </a:prstGeom>
          <a:blipFill>
            <a:blip r:embed="rId12"/>
            <a:stretch>
              <a:fillRect l="-3509" r="-8772" b="-8571"/>
            </a:stretch>
          </a:blipFill>
        </p:spPr>
        <p:txBody>
          <a:bodyPr/>
          <a:lstStyle/>
          <a:p>
            <a:pPr>
              <a:defRPr/>
            </a:pPr>
            <a:r>
              <a:rPr lang="zh-CN" altLang="en-US">
                <a:noFill/>
              </a:rPr>
              <a:t> </a:t>
            </a:r>
          </a:p>
        </p:txBody>
      </p:sp>
      <p:sp>
        <p:nvSpPr>
          <p:cNvPr id="18" name="文字方塊 17">
            <a:extLst>
              <a:ext uri="{FF2B5EF4-FFF2-40B4-BE49-F238E27FC236}">
                <a16:creationId xmlns:a16="http://schemas.microsoft.com/office/drawing/2014/main" id="{416BCA31-F46A-4325-924C-A5C979CB85E5}"/>
              </a:ext>
            </a:extLst>
          </p:cNvPr>
          <p:cNvSpPr txBox="1"/>
          <p:nvPr/>
        </p:nvSpPr>
        <p:spPr>
          <a:xfrm>
            <a:off x="4810573" y="5782235"/>
            <a:ext cx="2309362" cy="461665"/>
          </a:xfrm>
          <a:prstGeom prst="rect">
            <a:avLst/>
          </a:prstGeom>
        </p:spPr>
        <p:style>
          <a:lnRef idx="0">
            <a:schemeClr val="accent6"/>
          </a:lnRef>
          <a:fillRef idx="3">
            <a:schemeClr val="accent6"/>
          </a:fillRef>
          <a:effectRef idx="3">
            <a:schemeClr val="accent6"/>
          </a:effectRef>
          <a:fontRef idx="minor">
            <a:schemeClr val="lt1"/>
          </a:fontRef>
        </p:style>
        <p:txBody>
          <a:bodyPr>
            <a:spAutoFit/>
          </a:bodyPr>
          <a:lstStyle/>
          <a:p>
            <a:pPr algn="ctr" eaLnBrk="1" hangingPunct="1">
              <a:spcBef>
                <a:spcPct val="50000"/>
              </a:spcBef>
              <a:defRPr/>
            </a:pPr>
            <a:r>
              <a:rPr lang="en-US" altLang="zh-TW" sz="2400" dirty="0"/>
              <a:t>Diagonal matrix</a:t>
            </a:r>
            <a:endParaRPr lang="zh-TW" altLang="en-US" sz="2400" dirty="0"/>
          </a:p>
        </p:txBody>
      </p:sp>
      <p:grpSp>
        <p:nvGrpSpPr>
          <p:cNvPr id="33811" name="群組 21">
            <a:extLst>
              <a:ext uri="{FF2B5EF4-FFF2-40B4-BE49-F238E27FC236}">
                <a16:creationId xmlns:a16="http://schemas.microsoft.com/office/drawing/2014/main" id="{2A9E4175-6AAB-4261-B5A2-65FE9F2F893D}"/>
              </a:ext>
            </a:extLst>
          </p:cNvPr>
          <p:cNvGrpSpPr>
            <a:grpSpLocks/>
          </p:cNvGrpSpPr>
          <p:nvPr/>
        </p:nvGrpSpPr>
        <p:grpSpPr bwMode="auto">
          <a:xfrm>
            <a:off x="3814763" y="909638"/>
            <a:ext cx="5040312" cy="2638425"/>
            <a:chOff x="3796270" y="350206"/>
            <a:chExt cx="5040097" cy="2638989"/>
          </a:xfrm>
        </p:grpSpPr>
        <p:pic>
          <p:nvPicPr>
            <p:cNvPr id="33814" name="圖片 4">
              <a:extLst>
                <a:ext uri="{FF2B5EF4-FFF2-40B4-BE49-F238E27FC236}">
                  <a16:creationId xmlns:a16="http://schemas.microsoft.com/office/drawing/2014/main" id="{C8B6C7C1-0790-42C5-B9D3-F864B8810EA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6270" y="350206"/>
              <a:ext cx="5040097" cy="263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a:extLst>
                <a:ext uri="{FF2B5EF4-FFF2-40B4-BE49-F238E27FC236}">
                  <a16:creationId xmlns:a16="http://schemas.microsoft.com/office/drawing/2014/main" id="{AD363762-B550-424A-ADDC-255C927083E1}"/>
                </a:ext>
              </a:extLst>
            </p:cNvPr>
            <p:cNvSpPr/>
            <p:nvPr/>
          </p:nvSpPr>
          <p:spPr>
            <a:xfrm>
              <a:off x="5964702" y="1877707"/>
              <a:ext cx="911186" cy="45253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r>
                <a:rPr lang="en-US" altLang="zh-TW" sz="2400" dirty="0"/>
                <a:t>PCA</a:t>
              </a:r>
              <a:endParaRPr lang="zh-TW" altLang="en-US" sz="2400" dirty="0"/>
            </a:p>
          </p:txBody>
        </p:sp>
        <p:sp>
          <p:nvSpPr>
            <p:cNvPr id="20" name="文字方塊 19">
              <a:extLst>
                <a:ext uri="{FF2B5EF4-FFF2-40B4-BE49-F238E27FC236}">
                  <a16:creationId xmlns:a16="http://schemas.microsoft.com/office/drawing/2014/main" id="{DF0A2297-48F3-4225-A1A3-1F0E810A8339}"/>
                </a:ext>
              </a:extLst>
            </p:cNvPr>
            <p:cNvSpPr txBox="1">
              <a:spLocks noRot="1" noChangeAspect="1" noMove="1" noResize="1" noEditPoints="1" noAdjustHandles="1" noChangeArrowheads="1" noChangeShapeType="1" noTextEdit="1"/>
            </p:cNvSpPr>
            <p:nvPr/>
          </p:nvSpPr>
          <p:spPr>
            <a:xfrm>
              <a:off x="8372509" y="1249417"/>
              <a:ext cx="345992" cy="369332"/>
            </a:xfrm>
            <a:prstGeom prst="rect">
              <a:avLst/>
            </a:prstGeom>
            <a:blipFill>
              <a:blip r:embed="rId14"/>
              <a:stretch>
                <a:fillRect l="-10714" r="-3571" b="-16667"/>
              </a:stretch>
            </a:blipFill>
          </p:spPr>
          <p:txBody>
            <a:bodyPr/>
            <a:lstStyle/>
            <a:p>
              <a:pPr>
                <a:defRPr/>
              </a:pPr>
              <a:r>
                <a:rPr lang="zh-CN" altLang="en-US">
                  <a:noFill/>
                </a:rPr>
                <a:t> </a:t>
              </a:r>
            </a:p>
          </p:txBody>
        </p:sp>
        <p:sp>
          <p:nvSpPr>
            <p:cNvPr id="21" name="文字方塊 20">
              <a:extLst>
                <a:ext uri="{FF2B5EF4-FFF2-40B4-BE49-F238E27FC236}">
                  <a16:creationId xmlns:a16="http://schemas.microsoft.com/office/drawing/2014/main" id="{E46EDC1E-D96B-4D9B-8164-54CD2A07386E}"/>
                </a:ext>
              </a:extLst>
            </p:cNvPr>
            <p:cNvSpPr txBox="1">
              <a:spLocks noRot="1" noChangeAspect="1" noMove="1" noResize="1" noEditPoints="1" noAdjustHandles="1" noChangeArrowheads="1" noChangeShapeType="1" noTextEdit="1"/>
            </p:cNvSpPr>
            <p:nvPr/>
          </p:nvSpPr>
          <p:spPr>
            <a:xfrm>
              <a:off x="7322637" y="670364"/>
              <a:ext cx="353110" cy="369332"/>
            </a:xfrm>
            <a:prstGeom prst="rect">
              <a:avLst/>
            </a:prstGeom>
            <a:blipFill>
              <a:blip r:embed="rId15"/>
              <a:stretch>
                <a:fillRect l="-6897" r="-3448" b="-13333"/>
              </a:stretch>
            </a:blipFill>
          </p:spPr>
          <p:txBody>
            <a:bodyPr/>
            <a:lstStyle/>
            <a:p>
              <a:pPr>
                <a:defRPr/>
              </a:pPr>
              <a:r>
                <a:rPr lang="zh-CN" altLang="en-US">
                  <a:noFill/>
                </a:rPr>
                <a:t> </a:t>
              </a:r>
            </a:p>
          </p:txBody>
        </p:sp>
      </p:grpSp>
      <p:sp>
        <p:nvSpPr>
          <p:cNvPr id="23" name="文字方塊 22">
            <a:extLst>
              <a:ext uri="{FF2B5EF4-FFF2-40B4-BE49-F238E27FC236}">
                <a16:creationId xmlns:a16="http://schemas.microsoft.com/office/drawing/2014/main" id="{C925BF39-B067-4A8F-836F-BE545341EBF6}"/>
              </a:ext>
            </a:extLst>
          </p:cNvPr>
          <p:cNvSpPr txBox="1">
            <a:spLocks noRot="1" noChangeAspect="1" noMove="1" noResize="1" noEditPoints="1" noAdjustHandles="1" noChangeArrowheads="1" noChangeShapeType="1" noTextEdit="1"/>
          </p:cNvSpPr>
          <p:nvPr/>
        </p:nvSpPr>
        <p:spPr>
          <a:xfrm>
            <a:off x="5811109" y="1808279"/>
            <a:ext cx="364908" cy="369332"/>
          </a:xfrm>
          <a:prstGeom prst="rect">
            <a:avLst/>
          </a:prstGeom>
          <a:blipFill>
            <a:blip r:embed="rId16"/>
            <a:stretch>
              <a:fillRect l="-10345" r="-6897" b="-16667"/>
            </a:stretch>
          </a:blipFill>
        </p:spPr>
        <p:txBody>
          <a:bodyPr/>
          <a:lstStyle/>
          <a:p>
            <a:pPr>
              <a:defRPr/>
            </a:pPr>
            <a:r>
              <a:rPr lang="zh-CN" altLang="en-US">
                <a:noFill/>
              </a:rPr>
              <a:t> </a:t>
            </a:r>
          </a:p>
        </p:txBody>
      </p:sp>
      <p:sp>
        <p:nvSpPr>
          <p:cNvPr id="24" name="文字方塊 23">
            <a:extLst>
              <a:ext uri="{FF2B5EF4-FFF2-40B4-BE49-F238E27FC236}">
                <a16:creationId xmlns:a16="http://schemas.microsoft.com/office/drawing/2014/main" id="{5C332C45-8B0E-42CB-B86C-23226FC48866}"/>
              </a:ext>
            </a:extLst>
          </p:cNvPr>
          <p:cNvSpPr txBox="1">
            <a:spLocks noRot="1" noChangeAspect="1" noMove="1" noResize="1" noEditPoints="1" noAdjustHandles="1" noChangeArrowheads="1" noChangeShapeType="1" noTextEdit="1"/>
          </p:cNvSpPr>
          <p:nvPr/>
        </p:nvSpPr>
        <p:spPr>
          <a:xfrm>
            <a:off x="4717695" y="1229226"/>
            <a:ext cx="372025" cy="369332"/>
          </a:xfrm>
          <a:prstGeom prst="rect">
            <a:avLst/>
          </a:prstGeom>
          <a:blipFill>
            <a:blip r:embed="rId17"/>
            <a:stretch>
              <a:fillRect l="-6452" r="-3226" b="-13333"/>
            </a:stretch>
          </a:blipFill>
        </p:spPr>
        <p:txBody>
          <a:bodyPr/>
          <a:lstStyle/>
          <a:p>
            <a:pPr>
              <a:defRPr/>
            </a:pPr>
            <a:r>
              <a:rPr lang="zh-CN" altLang="en-US">
                <a:noFill/>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標題 1">
            <a:extLst>
              <a:ext uri="{FF2B5EF4-FFF2-40B4-BE49-F238E27FC236}">
                <a16:creationId xmlns:a16="http://schemas.microsoft.com/office/drawing/2014/main" id="{B96DF705-FEBB-468B-B7CD-C1B72221C4A9}"/>
              </a:ext>
            </a:extLst>
          </p:cNvPr>
          <p:cNvSpPr>
            <a:spLocks noGrp="1" noChangeArrowheads="1"/>
          </p:cNvSpPr>
          <p:nvPr>
            <p:ph type="ctrTitle"/>
          </p:nvPr>
        </p:nvSpPr>
        <p:spPr>
          <a:xfrm>
            <a:off x="1295400" y="1295400"/>
            <a:ext cx="5257800" cy="2387600"/>
          </a:xfrm>
        </p:spPr>
        <p:txBody>
          <a:bodyPr/>
          <a:lstStyle/>
          <a:p>
            <a:r>
              <a:rPr lang="en-US" altLang="zh-TW">
                <a:solidFill>
                  <a:srgbClr val="FF0000"/>
                </a:solidFill>
              </a:rPr>
              <a:t>End of Warning</a:t>
            </a:r>
            <a:endParaRPr lang="zh-TW" altLang="en-US">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標題 1">
            <a:extLst>
              <a:ext uri="{FF2B5EF4-FFF2-40B4-BE49-F238E27FC236}">
                <a16:creationId xmlns:a16="http://schemas.microsoft.com/office/drawing/2014/main" id="{B3126691-A79D-41D0-A2E3-412655CB43B4}"/>
              </a:ext>
            </a:extLst>
          </p:cNvPr>
          <p:cNvSpPr>
            <a:spLocks noGrp="1" noChangeArrowheads="1"/>
          </p:cNvSpPr>
          <p:nvPr>
            <p:ph type="ctrTitle"/>
          </p:nvPr>
        </p:nvSpPr>
        <p:spPr>
          <a:xfrm>
            <a:off x="533400" y="1295400"/>
            <a:ext cx="6172200" cy="2387600"/>
          </a:xfrm>
        </p:spPr>
        <p:txBody>
          <a:bodyPr/>
          <a:lstStyle/>
          <a:p>
            <a:r>
              <a:rPr lang="en-US" altLang="zh-CN">
                <a:solidFill>
                  <a:srgbClr val="FF0000"/>
                </a:solidFill>
              </a:rPr>
              <a:t>PCA</a:t>
            </a:r>
            <a:r>
              <a:rPr lang="zh-CN" altLang="en-US">
                <a:solidFill>
                  <a:srgbClr val="FF0000"/>
                </a:solidFill>
              </a:rPr>
              <a:t>的数学原理</a:t>
            </a:r>
            <a:endParaRPr lang="zh-TW" altLang="en-US">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a:extLst>
              <a:ext uri="{FF2B5EF4-FFF2-40B4-BE49-F238E27FC236}">
                <a16:creationId xmlns:a16="http://schemas.microsoft.com/office/drawing/2014/main" id="{6AFCC873-B34E-4993-A1D2-ECE8BAD77575}"/>
              </a:ext>
            </a:extLst>
          </p:cNvPr>
          <p:cNvSpPr>
            <a:spLocks noGrp="1" noChangeArrowheads="1"/>
          </p:cNvSpPr>
          <p:nvPr>
            <p:ph type="title"/>
          </p:nvPr>
        </p:nvSpPr>
        <p:spPr/>
        <p:txBody>
          <a:bodyPr/>
          <a:lstStyle/>
          <a:p>
            <a:r>
              <a:rPr kumimoji="1" lang="zh-CN" altLang="en-US"/>
              <a:t>数据的向量表示与降维</a:t>
            </a:r>
          </a:p>
        </p:txBody>
      </p:sp>
      <p:sp>
        <p:nvSpPr>
          <p:cNvPr id="3" name="内容占位符 2">
            <a:extLst>
              <a:ext uri="{FF2B5EF4-FFF2-40B4-BE49-F238E27FC236}">
                <a16:creationId xmlns:a16="http://schemas.microsoft.com/office/drawing/2014/main" id="{11440434-1985-41C6-8CD7-D2F70F197E6C}"/>
              </a:ext>
            </a:extLst>
          </p:cNvPr>
          <p:cNvSpPr>
            <a:spLocks noGrp="1"/>
          </p:cNvSpPr>
          <p:nvPr>
            <p:ph idx="1"/>
          </p:nvPr>
        </p:nvSpPr>
        <p:spPr>
          <a:xfrm>
            <a:off x="457200" y="1600200"/>
            <a:ext cx="8382000" cy="4530725"/>
          </a:xfrm>
        </p:spPr>
        <p:txBody>
          <a:bodyPr/>
          <a:lstStyle/>
          <a:p>
            <a:r>
              <a:rPr lang="zh-CN" altLang="en-US"/>
              <a:t>数据挖掘和媒体分析中，数据被表示为向量</a:t>
            </a:r>
            <a:endParaRPr lang="en-US" altLang="zh-CN"/>
          </a:p>
          <a:p>
            <a:pPr algn="ctr">
              <a:buFont typeface="Wingdings" panose="05000000000000000000" pitchFamily="2" charset="2"/>
              <a:buNone/>
            </a:pPr>
            <a:r>
              <a:rPr lang="zh-CN" altLang="en-US"/>
              <a:t>       </a:t>
            </a:r>
            <a:r>
              <a:rPr lang="zh-CN" altLang="en-US" sz="2400"/>
              <a:t>例如，一家淘宝店一天的数据可以表示为：</a:t>
            </a:r>
            <a:endParaRPr lang="en-US" altLang="zh-CN" sz="2400"/>
          </a:p>
          <a:p>
            <a:pPr algn="ctr">
              <a:buFont typeface="Wingdings" panose="05000000000000000000" pitchFamily="2" charset="2"/>
              <a:buNone/>
            </a:pPr>
            <a:r>
              <a:rPr lang="zh-CN" altLang="en-US" sz="2400"/>
              <a:t>  </a:t>
            </a:r>
            <a:r>
              <a:rPr lang="en-US" altLang="zh-CN" sz="2400"/>
              <a:t>(</a:t>
            </a:r>
            <a:r>
              <a:rPr lang="zh-CN" altLang="en-US" sz="2400"/>
              <a:t>日期</a:t>
            </a:r>
            <a:r>
              <a:rPr lang="en-US" altLang="zh-CN" sz="2400"/>
              <a:t>, </a:t>
            </a:r>
            <a:r>
              <a:rPr lang="zh-CN" altLang="en-US" sz="2400"/>
              <a:t>浏览量</a:t>
            </a:r>
            <a:r>
              <a:rPr lang="en-US" altLang="zh-CN" sz="2400"/>
              <a:t>, </a:t>
            </a:r>
            <a:r>
              <a:rPr lang="zh-CN" altLang="en-US" sz="2400"/>
              <a:t>访客数</a:t>
            </a:r>
            <a:r>
              <a:rPr lang="en-US" altLang="zh-CN" sz="2400"/>
              <a:t>, </a:t>
            </a:r>
            <a:r>
              <a:rPr lang="zh-CN" altLang="en-US" sz="2400"/>
              <a:t>下单数</a:t>
            </a:r>
            <a:r>
              <a:rPr lang="en-US" altLang="zh-CN" sz="2400"/>
              <a:t>, </a:t>
            </a:r>
            <a:r>
              <a:rPr lang="zh-CN" altLang="en-US" sz="2400"/>
              <a:t>成交数</a:t>
            </a:r>
            <a:r>
              <a:rPr lang="en-US" altLang="zh-CN" sz="2400"/>
              <a:t>, </a:t>
            </a:r>
            <a:r>
              <a:rPr lang="zh-CN" altLang="en-US" sz="2400"/>
              <a:t>成交金额</a:t>
            </a:r>
            <a:r>
              <a:rPr lang="en-US" altLang="zh-CN" sz="2400"/>
              <a:t>)</a:t>
            </a:r>
          </a:p>
          <a:p>
            <a:r>
              <a:rPr lang="zh-CN" altLang="en-US"/>
              <a:t>机器学习算法的复杂度和数据的维数有着密切关系，甚至与维数呈指数级关联。</a:t>
            </a:r>
            <a:endParaRPr lang="en-US" altLang="zh-CN"/>
          </a:p>
          <a:p>
            <a:r>
              <a:rPr kumimoji="1" lang="zh-CN" altLang="en-US"/>
              <a:t>因而通常需要对数据向量进行降维。</a:t>
            </a:r>
          </a:p>
        </p:txBody>
      </p:sp>
      <p:pic>
        <p:nvPicPr>
          <p:cNvPr id="38915" name="图片 3">
            <a:extLst>
              <a:ext uri="{FF2B5EF4-FFF2-40B4-BE49-F238E27FC236}">
                <a16:creationId xmlns:a16="http://schemas.microsoft.com/office/drawing/2014/main" id="{9D0511B6-6D97-480F-BA96-61623D427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838" y="4989513"/>
            <a:ext cx="4165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a:extLst>
              <a:ext uri="{FF2B5EF4-FFF2-40B4-BE49-F238E27FC236}">
                <a16:creationId xmlns:a16="http://schemas.microsoft.com/office/drawing/2014/main" id="{79DE36EB-DFCD-4252-BB7C-D067A55FC45C}"/>
              </a:ext>
            </a:extLst>
          </p:cNvPr>
          <p:cNvSpPr>
            <a:spLocks noGrp="1" noChangeArrowheads="1"/>
          </p:cNvSpPr>
          <p:nvPr>
            <p:ph type="title"/>
          </p:nvPr>
        </p:nvSpPr>
        <p:spPr/>
        <p:txBody>
          <a:bodyPr/>
          <a:lstStyle/>
          <a:p>
            <a:r>
              <a:rPr kumimoji="1" lang="zh-CN" altLang="en-US"/>
              <a:t>降维</a:t>
            </a:r>
          </a:p>
        </p:txBody>
      </p:sp>
      <p:sp>
        <p:nvSpPr>
          <p:cNvPr id="3" name="内容占位符 2">
            <a:extLst>
              <a:ext uri="{FF2B5EF4-FFF2-40B4-BE49-F238E27FC236}">
                <a16:creationId xmlns:a16="http://schemas.microsoft.com/office/drawing/2014/main" id="{5A67D51C-5897-4D2E-BBD2-00E38D1346B1}"/>
              </a:ext>
            </a:extLst>
          </p:cNvPr>
          <p:cNvSpPr>
            <a:spLocks noGrp="1"/>
          </p:cNvSpPr>
          <p:nvPr>
            <p:ph idx="1"/>
          </p:nvPr>
        </p:nvSpPr>
        <p:spPr>
          <a:xfrm>
            <a:off x="609600" y="1663700"/>
            <a:ext cx="8439150" cy="4351338"/>
          </a:xfrm>
        </p:spPr>
        <p:txBody>
          <a:bodyPr/>
          <a:lstStyle/>
          <a:p>
            <a:r>
              <a:rPr kumimoji="1" lang="zh-CN" altLang="en-US" dirty="0"/>
              <a:t>降维的本质原因是数据本身往往存在着相关性，或称冗余性，因而我们可以想办法</a:t>
            </a:r>
            <a:r>
              <a:rPr lang="zh-CN" altLang="en-US" dirty="0"/>
              <a:t>降维的同时将信息的损失尽量降低。</a:t>
            </a:r>
            <a:endParaRPr lang="en-US" altLang="zh-CN" dirty="0"/>
          </a:p>
          <a:p>
            <a:pPr>
              <a:buFont typeface="Wingdings" panose="05000000000000000000" pitchFamily="2" charset="2"/>
              <a:buNone/>
            </a:pPr>
            <a:endParaRPr kumimoji="1" lang="en-US" altLang="zh-CN" dirty="0"/>
          </a:p>
          <a:p>
            <a:r>
              <a:rPr lang="zh-CN" altLang="en-US" dirty="0"/>
              <a:t>朴素的降维思想：删掉冗余的数据项</a:t>
            </a:r>
            <a:endParaRPr lang="en-US" altLang="zh-CN" dirty="0"/>
          </a:p>
          <a:p>
            <a:r>
              <a:rPr lang="zh-CN" altLang="en-US" dirty="0"/>
              <a:t>但并不具有操作指导意义。例如，我们到底删除哪一项损失的信息才最小？如何度量丢失信息的多少？</a:t>
            </a:r>
            <a:endParaRPr kumimoji="1" lang="zh-CN" altLang="en-US" dirty="0"/>
          </a:p>
        </p:txBody>
      </p:sp>
      <p:sp>
        <p:nvSpPr>
          <p:cNvPr id="4" name="矩形 3">
            <a:extLst>
              <a:ext uri="{FF2B5EF4-FFF2-40B4-BE49-F238E27FC236}">
                <a16:creationId xmlns:a16="http://schemas.microsoft.com/office/drawing/2014/main" id="{70CCEB1F-4CE6-48D6-8897-661016F7981D}"/>
              </a:ext>
            </a:extLst>
          </p:cNvPr>
          <p:cNvSpPr>
            <a:spLocks noChangeArrowheads="1"/>
          </p:cNvSpPr>
          <p:nvPr/>
        </p:nvSpPr>
        <p:spPr bwMode="auto">
          <a:xfrm>
            <a:off x="1282700" y="3224213"/>
            <a:ext cx="679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400">
                <a:solidFill>
                  <a:schemeClr val="hlink"/>
                </a:solidFill>
                <a:ea typeface="宋体" panose="02010600030101010101" pitchFamily="2" charset="-122"/>
              </a:rPr>
              <a:t> </a:t>
            </a:r>
            <a:r>
              <a:rPr lang="en-US" altLang="zh-CN" sz="2400">
                <a:solidFill>
                  <a:schemeClr val="hlink"/>
                </a:solidFill>
                <a:ea typeface="宋体" panose="02010600030101010101" pitchFamily="2" charset="-122"/>
              </a:rPr>
              <a:t>(</a:t>
            </a:r>
            <a:r>
              <a:rPr lang="zh-CN" altLang="en-US" sz="2400">
                <a:solidFill>
                  <a:schemeClr val="hlink"/>
                </a:solidFill>
                <a:ea typeface="宋体" panose="02010600030101010101" pitchFamily="2" charset="-122"/>
              </a:rPr>
              <a:t>日期</a:t>
            </a:r>
            <a:r>
              <a:rPr lang="en-US" altLang="zh-CN" sz="2400">
                <a:solidFill>
                  <a:schemeClr val="hlink"/>
                </a:solidFill>
                <a:ea typeface="宋体" panose="02010600030101010101" pitchFamily="2" charset="-122"/>
              </a:rPr>
              <a:t>, </a:t>
            </a:r>
            <a:r>
              <a:rPr lang="zh-CN" altLang="en-US" sz="2400">
                <a:solidFill>
                  <a:schemeClr val="hlink"/>
                </a:solidFill>
                <a:ea typeface="宋体" panose="02010600030101010101" pitchFamily="2" charset="-122"/>
              </a:rPr>
              <a:t>浏览量</a:t>
            </a:r>
            <a:r>
              <a:rPr lang="en-US" altLang="zh-CN" sz="2400">
                <a:solidFill>
                  <a:schemeClr val="hlink"/>
                </a:solidFill>
                <a:ea typeface="宋体" panose="02010600030101010101" pitchFamily="2" charset="-122"/>
              </a:rPr>
              <a:t>, </a:t>
            </a:r>
            <a:r>
              <a:rPr lang="zh-CN" altLang="en-US" sz="2400">
                <a:solidFill>
                  <a:schemeClr val="hlink"/>
                </a:solidFill>
                <a:ea typeface="宋体" panose="02010600030101010101" pitchFamily="2" charset="-122"/>
              </a:rPr>
              <a:t>访客数</a:t>
            </a:r>
            <a:r>
              <a:rPr lang="en-US" altLang="zh-CN" sz="2400">
                <a:solidFill>
                  <a:schemeClr val="hlink"/>
                </a:solidFill>
                <a:ea typeface="宋体" panose="02010600030101010101" pitchFamily="2" charset="-122"/>
              </a:rPr>
              <a:t>, </a:t>
            </a:r>
            <a:r>
              <a:rPr lang="zh-CN" altLang="en-US" sz="2400">
                <a:solidFill>
                  <a:schemeClr val="hlink"/>
                </a:solidFill>
                <a:ea typeface="宋体" panose="02010600030101010101" pitchFamily="2" charset="-122"/>
              </a:rPr>
              <a:t>下单数</a:t>
            </a:r>
            <a:r>
              <a:rPr lang="en-US" altLang="zh-CN" sz="2400">
                <a:solidFill>
                  <a:schemeClr val="hlink"/>
                </a:solidFill>
                <a:ea typeface="宋体" panose="02010600030101010101" pitchFamily="2" charset="-122"/>
              </a:rPr>
              <a:t>, </a:t>
            </a:r>
            <a:r>
              <a:rPr lang="zh-CN" altLang="en-US" sz="2400">
                <a:solidFill>
                  <a:schemeClr val="hlink"/>
                </a:solidFill>
                <a:ea typeface="宋体" panose="02010600030101010101" pitchFamily="2" charset="-122"/>
              </a:rPr>
              <a:t>成交数</a:t>
            </a:r>
            <a:r>
              <a:rPr lang="en-US" altLang="zh-CN" sz="2400">
                <a:solidFill>
                  <a:schemeClr val="hlink"/>
                </a:solidFill>
                <a:ea typeface="宋体" panose="02010600030101010101" pitchFamily="2" charset="-122"/>
              </a:rPr>
              <a:t>, </a:t>
            </a:r>
            <a:r>
              <a:rPr lang="zh-CN" altLang="en-US" sz="2400">
                <a:solidFill>
                  <a:schemeClr val="hlink"/>
                </a:solidFill>
                <a:ea typeface="宋体" panose="02010600030101010101" pitchFamily="2" charset="-122"/>
              </a:rPr>
              <a:t>成交金额</a:t>
            </a:r>
            <a:r>
              <a:rPr lang="en-US" altLang="zh-CN" sz="2400">
                <a:solidFill>
                  <a:schemeClr val="hlink"/>
                </a:solidFill>
                <a:ea typeface="宋体" panose="02010600030101010101" pitchFamily="2" charset="-122"/>
              </a:rPr>
              <a:t>)</a:t>
            </a:r>
            <a:endParaRPr lang="zh-CN" altLang="en-US" sz="2400">
              <a:solidFill>
                <a:schemeClr val="hlink"/>
              </a:solidFill>
              <a:ea typeface="宋体" panose="02010600030101010101" pitchFamily="2" charset="-122"/>
            </a:endParaRPr>
          </a:p>
        </p:txBody>
      </p:sp>
      <p:sp>
        <p:nvSpPr>
          <p:cNvPr id="5" name="矩形 4">
            <a:extLst>
              <a:ext uri="{FF2B5EF4-FFF2-40B4-BE49-F238E27FC236}">
                <a16:creationId xmlns:a16="http://schemas.microsoft.com/office/drawing/2014/main" id="{AD364F12-66F9-4782-B808-DE1435FD1D8E}"/>
              </a:ext>
            </a:extLst>
          </p:cNvPr>
          <p:cNvSpPr/>
          <p:nvPr/>
        </p:nvSpPr>
        <p:spPr>
          <a:xfrm>
            <a:off x="2362200" y="3200400"/>
            <a:ext cx="1995488" cy="511175"/>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6" name="矩形 5">
            <a:extLst>
              <a:ext uri="{FF2B5EF4-FFF2-40B4-BE49-F238E27FC236}">
                <a16:creationId xmlns:a16="http://schemas.microsoft.com/office/drawing/2014/main" id="{31C993AF-3930-4A75-B629-7333EB733670}"/>
              </a:ext>
            </a:extLst>
          </p:cNvPr>
          <p:cNvSpPr/>
          <p:nvPr/>
        </p:nvSpPr>
        <p:spPr>
          <a:xfrm>
            <a:off x="4481513" y="3200400"/>
            <a:ext cx="2071687" cy="5111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7" name="矩形 6">
            <a:extLst>
              <a:ext uri="{FF2B5EF4-FFF2-40B4-BE49-F238E27FC236}">
                <a16:creationId xmlns:a16="http://schemas.microsoft.com/office/drawing/2014/main" id="{3BD799CC-3DB8-4B42-8DCE-6F2EBFA29C27}"/>
              </a:ext>
            </a:extLst>
          </p:cNvPr>
          <p:cNvSpPr/>
          <p:nvPr/>
        </p:nvSpPr>
        <p:spPr>
          <a:xfrm>
            <a:off x="1644650" y="5943600"/>
            <a:ext cx="5854700" cy="879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rgbClr val="002060"/>
                </a:solidFill>
                <a:ea typeface="黑体" panose="02010609060101010101" pitchFamily="49" charset="-122"/>
              </a:rPr>
              <a:t>PCA</a:t>
            </a:r>
            <a:r>
              <a:rPr kumimoji="1" lang="zh-CN" altLang="en-US" sz="2400">
                <a:solidFill>
                  <a:srgbClr val="002060"/>
                </a:solidFill>
                <a:ea typeface="黑体" panose="02010609060101010101" pitchFamily="49" charset="-122"/>
              </a:rPr>
              <a:t>是一种具有严格数学基础的降维方法！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a:extLst>
              <a:ext uri="{FF2B5EF4-FFF2-40B4-BE49-F238E27FC236}">
                <a16:creationId xmlns:a16="http://schemas.microsoft.com/office/drawing/2014/main" id="{8613FC68-2722-49FC-B067-A3E1D545004D}"/>
              </a:ext>
            </a:extLst>
          </p:cNvPr>
          <p:cNvSpPr>
            <a:spLocks noGrp="1" noChangeArrowheads="1"/>
          </p:cNvSpPr>
          <p:nvPr>
            <p:ph type="title"/>
          </p:nvPr>
        </p:nvSpPr>
        <p:spPr/>
        <p:txBody>
          <a:bodyPr/>
          <a:lstStyle/>
          <a:p>
            <a:r>
              <a:rPr kumimoji="1" lang="zh-CN" altLang="en-US"/>
              <a:t>向量表示与基变换</a:t>
            </a:r>
          </a:p>
        </p:txBody>
      </p:sp>
      <p:sp>
        <p:nvSpPr>
          <p:cNvPr id="41986" name="内容占位符 2">
            <a:extLst>
              <a:ext uri="{FF2B5EF4-FFF2-40B4-BE49-F238E27FC236}">
                <a16:creationId xmlns:a16="http://schemas.microsoft.com/office/drawing/2014/main" id="{132221F8-3FAF-4F32-87D1-250D968F4647}"/>
              </a:ext>
            </a:extLst>
          </p:cNvPr>
          <p:cNvSpPr>
            <a:spLocks noGrp="1" noChangeArrowheads="1"/>
          </p:cNvSpPr>
          <p:nvPr>
            <p:ph idx="1"/>
          </p:nvPr>
        </p:nvSpPr>
        <p:spPr/>
        <p:txBody>
          <a:bodyPr/>
          <a:lstStyle/>
          <a:p>
            <a:r>
              <a:rPr lang="zh-CN" altLang="en-US"/>
              <a:t>两个维数相同的向量的内积被定义为</a:t>
            </a:r>
            <a:endParaRPr lang="en-US" altLang="zh-CN"/>
          </a:p>
          <a:p>
            <a:endParaRPr kumimoji="1" lang="en-US" altLang="zh-CN"/>
          </a:p>
          <a:p>
            <a:endParaRPr kumimoji="1" lang="en-US" altLang="zh-CN"/>
          </a:p>
          <a:p>
            <a:r>
              <a:rPr kumimoji="1" lang="zh-CN" altLang="en-US"/>
              <a:t>直观来看，</a:t>
            </a:r>
            <a:r>
              <a:rPr lang="zh-CN" altLang="en-US"/>
              <a:t>内积运算将两个向量映射为一个实数。</a:t>
            </a:r>
            <a:endParaRPr lang="en-US" altLang="zh-CN"/>
          </a:p>
          <a:p>
            <a:r>
              <a:rPr kumimoji="1" lang="zh-CN" altLang="en-US"/>
              <a:t>那么，其几何意义是什么？</a:t>
            </a:r>
          </a:p>
        </p:txBody>
      </p:sp>
      <p:pic>
        <p:nvPicPr>
          <p:cNvPr id="41987" name="图片 3">
            <a:extLst>
              <a:ext uri="{FF2B5EF4-FFF2-40B4-BE49-F238E27FC236}">
                <a16:creationId xmlns:a16="http://schemas.microsoft.com/office/drawing/2014/main" id="{569EF781-BEEE-44B1-8248-74B0D229B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2536825"/>
            <a:ext cx="782637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C4073A5D-7C6A-4B4E-A855-084BB96E1571}"/>
              </a:ext>
            </a:extLst>
          </p:cNvPr>
          <p:cNvSpPr>
            <a:spLocks noGrp="1" noChangeArrowheads="1"/>
          </p:cNvSpPr>
          <p:nvPr>
            <p:ph type="title"/>
          </p:nvPr>
        </p:nvSpPr>
        <p:spPr/>
        <p:txBody>
          <a:bodyPr/>
          <a:lstStyle/>
          <a:p>
            <a:r>
              <a:rPr kumimoji="1" lang="zh-CN" altLang="en-US"/>
              <a:t>向量表示与基变换（续）</a:t>
            </a:r>
          </a:p>
        </p:txBody>
      </p:sp>
      <p:pic>
        <p:nvPicPr>
          <p:cNvPr id="44034" name="内容占位符 4">
            <a:extLst>
              <a:ext uri="{FF2B5EF4-FFF2-40B4-BE49-F238E27FC236}">
                <a16:creationId xmlns:a16="http://schemas.microsoft.com/office/drawing/2014/main" id="{EE952F35-A152-406E-9C4D-F01444400BB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0" y="2016125"/>
            <a:ext cx="5141913" cy="4664075"/>
          </a:xfrm>
        </p:spPr>
      </p:pic>
      <p:sp>
        <p:nvSpPr>
          <p:cNvPr id="19" name="椭圆 18">
            <a:extLst>
              <a:ext uri="{FF2B5EF4-FFF2-40B4-BE49-F238E27FC236}">
                <a16:creationId xmlns:a16="http://schemas.microsoft.com/office/drawing/2014/main" id="{ED4682BD-0F5A-4E92-9FDD-F9CC7794EEF7}"/>
              </a:ext>
            </a:extLst>
          </p:cNvPr>
          <p:cNvSpPr/>
          <p:nvPr/>
        </p:nvSpPr>
        <p:spPr>
          <a:xfrm>
            <a:off x="3800475" y="3586163"/>
            <a:ext cx="177800" cy="177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grpSp>
        <p:nvGrpSpPr>
          <p:cNvPr id="44036" name="组 39">
            <a:extLst>
              <a:ext uri="{FF2B5EF4-FFF2-40B4-BE49-F238E27FC236}">
                <a16:creationId xmlns:a16="http://schemas.microsoft.com/office/drawing/2014/main" id="{44AD5E5B-6C96-46FA-BF51-C725D2C2F012}"/>
              </a:ext>
            </a:extLst>
          </p:cNvPr>
          <p:cNvGrpSpPr>
            <a:grpSpLocks/>
          </p:cNvGrpSpPr>
          <p:nvPr/>
        </p:nvGrpSpPr>
        <p:grpSpPr bwMode="auto">
          <a:xfrm>
            <a:off x="5141913" y="1851025"/>
            <a:ext cx="3824287" cy="4351338"/>
            <a:chOff x="5141339" y="2172157"/>
            <a:chExt cx="3824598" cy="4351340"/>
          </a:xfrm>
        </p:grpSpPr>
        <p:sp>
          <p:nvSpPr>
            <p:cNvPr id="44038" name="内容占位符 2">
              <a:extLst>
                <a:ext uri="{FF2B5EF4-FFF2-40B4-BE49-F238E27FC236}">
                  <a16:creationId xmlns:a16="http://schemas.microsoft.com/office/drawing/2014/main" id="{3A972E48-7905-4329-8849-0CF4CF50B535}"/>
                </a:ext>
              </a:extLst>
            </p:cNvPr>
            <p:cNvSpPr txBox="1">
              <a:spLocks noChangeArrowheads="1"/>
            </p:cNvSpPr>
            <p:nvPr/>
          </p:nvSpPr>
          <p:spPr bwMode="auto">
            <a:xfrm>
              <a:off x="5141339" y="2172157"/>
              <a:ext cx="3824598" cy="435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685800" indent="-22860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90000"/>
                </a:lnSpc>
                <a:spcBef>
                  <a:spcPts val="1000"/>
                </a:spcBef>
                <a:buClrTx/>
                <a:buFont typeface="Arial" panose="020B0604020202020204" pitchFamily="34" charset="0"/>
                <a:buChar char="•"/>
              </a:pPr>
              <a:r>
                <a:rPr lang="zh-CN" altLang="en-US" sz="2800"/>
                <a:t>向量的模</a:t>
              </a:r>
              <a:endParaRPr lang="en-US" altLang="zh-CN" sz="2800"/>
            </a:p>
            <a:p>
              <a:pPr eaLnBrk="1" hangingPunct="1">
                <a:lnSpc>
                  <a:spcPct val="90000"/>
                </a:lnSpc>
                <a:spcBef>
                  <a:spcPts val="1000"/>
                </a:spcBef>
                <a:buClrTx/>
                <a:buFont typeface="Arial" panose="020B0604020202020204" pitchFamily="34" charset="0"/>
                <a:buChar char="•"/>
              </a:pPr>
              <a:endParaRPr lang="en-US" altLang="zh-CN" sz="2800"/>
            </a:p>
            <a:p>
              <a:pPr eaLnBrk="1" hangingPunct="1">
                <a:lnSpc>
                  <a:spcPct val="90000"/>
                </a:lnSpc>
                <a:spcBef>
                  <a:spcPts val="1000"/>
                </a:spcBef>
                <a:buClrTx/>
                <a:buFont typeface="Arial" panose="020B0604020202020204" pitchFamily="34" charset="0"/>
                <a:buChar char="•"/>
              </a:pPr>
              <a:r>
                <a:rPr lang="zh-CN" altLang="en-US" sz="2800"/>
                <a:t>投影的矢量长度</a:t>
              </a:r>
              <a:endParaRPr kumimoji="1" lang="en-US" altLang="zh-CN" sz="2800"/>
            </a:p>
            <a:p>
              <a:pPr eaLnBrk="1" hangingPunct="1">
                <a:lnSpc>
                  <a:spcPct val="90000"/>
                </a:lnSpc>
                <a:spcBef>
                  <a:spcPts val="1000"/>
                </a:spcBef>
                <a:buClrTx/>
                <a:buFont typeface="Arial" panose="020B0604020202020204" pitchFamily="34" charset="0"/>
                <a:buChar char="•"/>
              </a:pPr>
              <a:endParaRPr kumimoji="1" lang="en-US" altLang="zh-CN" sz="2800"/>
            </a:p>
            <a:p>
              <a:pPr eaLnBrk="1" hangingPunct="1">
                <a:lnSpc>
                  <a:spcPct val="90000"/>
                </a:lnSpc>
                <a:spcBef>
                  <a:spcPts val="1000"/>
                </a:spcBef>
                <a:buClrTx/>
                <a:buFont typeface="Arial" panose="020B0604020202020204" pitchFamily="34" charset="0"/>
                <a:buChar char="•"/>
              </a:pPr>
              <a:r>
                <a:rPr kumimoji="1" lang="zh-CN" altLang="en-US" sz="2800"/>
                <a:t>内积可以表示为</a:t>
              </a:r>
              <a:endParaRPr kumimoji="1" lang="en-US" altLang="zh-CN" sz="2800"/>
            </a:p>
            <a:p>
              <a:pPr eaLnBrk="1" hangingPunct="1">
                <a:lnSpc>
                  <a:spcPct val="90000"/>
                </a:lnSpc>
                <a:spcBef>
                  <a:spcPts val="1000"/>
                </a:spcBef>
                <a:buClrTx/>
                <a:buFont typeface="Arial" panose="020B0604020202020204" pitchFamily="34" charset="0"/>
                <a:buChar char="•"/>
              </a:pPr>
              <a:endParaRPr kumimoji="1" lang="en-US" altLang="zh-CN" sz="2800"/>
            </a:p>
            <a:p>
              <a:pPr eaLnBrk="1" hangingPunct="1">
                <a:lnSpc>
                  <a:spcPct val="90000"/>
                </a:lnSpc>
                <a:spcBef>
                  <a:spcPts val="1000"/>
                </a:spcBef>
                <a:buClrTx/>
                <a:buFont typeface="Arial" panose="020B0604020202020204" pitchFamily="34" charset="0"/>
                <a:buChar char="•"/>
              </a:pPr>
              <a:r>
                <a:rPr kumimoji="1" lang="zh-CN" altLang="en-US" sz="2800"/>
                <a:t>假如</a:t>
              </a:r>
            </a:p>
          </p:txBody>
        </p:sp>
        <p:pic>
          <p:nvPicPr>
            <p:cNvPr id="44039" name="图片 20">
              <a:extLst>
                <a:ext uri="{FF2B5EF4-FFF2-40B4-BE49-F238E27FC236}">
                  <a16:creationId xmlns:a16="http://schemas.microsoft.com/office/drawing/2014/main" id="{F8B86E4D-9C5E-435C-BB9E-C8897E0C8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7263" y="3764479"/>
              <a:ext cx="1092200" cy="3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图片 21">
              <a:extLst>
                <a:ext uri="{FF2B5EF4-FFF2-40B4-BE49-F238E27FC236}">
                  <a16:creationId xmlns:a16="http://schemas.microsoft.com/office/drawing/2014/main" id="{D7912849-7C83-4442-A811-8C54F24FC9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7262" y="2609202"/>
              <a:ext cx="1790700" cy="596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图片 23">
              <a:extLst>
                <a:ext uri="{FF2B5EF4-FFF2-40B4-BE49-F238E27FC236}">
                  <a16:creationId xmlns:a16="http://schemas.microsoft.com/office/drawing/2014/main" id="{4547AB14-57FC-4547-8A40-FA1DC59C38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0512" y="4657120"/>
              <a:ext cx="2425701"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2" name="图片 24">
              <a:extLst>
                <a:ext uri="{FF2B5EF4-FFF2-40B4-BE49-F238E27FC236}">
                  <a16:creationId xmlns:a16="http://schemas.microsoft.com/office/drawing/2014/main" id="{2FB5E10E-001C-420B-890B-0D18BC120A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4442" y="5264077"/>
              <a:ext cx="1016383" cy="448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图片 25">
              <a:extLst>
                <a:ext uri="{FF2B5EF4-FFF2-40B4-BE49-F238E27FC236}">
                  <a16:creationId xmlns:a16="http://schemas.microsoft.com/office/drawing/2014/main" id="{28C1CBFD-00C1-4B05-812C-606676245C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0511" y="5837750"/>
              <a:ext cx="201930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 name="矩形 26">
            <a:extLst>
              <a:ext uri="{FF2B5EF4-FFF2-40B4-BE49-F238E27FC236}">
                <a16:creationId xmlns:a16="http://schemas.microsoft.com/office/drawing/2014/main" id="{64B070F6-947F-4351-B9E2-0A7FA08406E6}"/>
              </a:ext>
            </a:extLst>
          </p:cNvPr>
          <p:cNvSpPr/>
          <p:nvPr/>
        </p:nvSpPr>
        <p:spPr>
          <a:xfrm>
            <a:off x="1341438" y="5880100"/>
            <a:ext cx="6835775" cy="835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a:solidFill>
                  <a:srgbClr val="002060"/>
                </a:solidFill>
                <a:ea typeface="黑体" panose="02010609060101010101" pitchFamily="49" charset="-122"/>
              </a:rPr>
              <a:t>假如向量</a:t>
            </a:r>
            <a:r>
              <a:rPr kumimoji="1" lang="en-US" altLang="zh-CN" sz="2400">
                <a:solidFill>
                  <a:srgbClr val="002060"/>
                </a:solidFill>
                <a:ea typeface="黑体" panose="02010609060101010101" pitchFamily="49" charset="-122"/>
              </a:rPr>
              <a:t>B</a:t>
            </a:r>
            <a:r>
              <a:rPr kumimoji="1" lang="zh-CN" altLang="en-US" sz="2400">
                <a:solidFill>
                  <a:srgbClr val="002060"/>
                </a:solidFill>
                <a:ea typeface="黑体" panose="02010609060101010101" pitchFamily="49" charset="-122"/>
              </a:rPr>
              <a:t>的模为</a:t>
            </a:r>
            <a:r>
              <a:rPr kumimoji="1" lang="en-US" altLang="zh-CN" sz="2400">
                <a:solidFill>
                  <a:srgbClr val="002060"/>
                </a:solidFill>
                <a:ea typeface="黑体" panose="02010609060101010101" pitchFamily="49" charset="-122"/>
              </a:rPr>
              <a:t>1</a:t>
            </a:r>
            <a:r>
              <a:rPr kumimoji="1" lang="zh-CN" altLang="en-US" sz="2400">
                <a:solidFill>
                  <a:srgbClr val="002060"/>
                </a:solidFill>
                <a:ea typeface="黑体" panose="02010609060101010101" pitchFamily="49" charset="-122"/>
              </a:rPr>
              <a:t>，则</a:t>
            </a:r>
            <a:r>
              <a:rPr kumimoji="1" lang="en-US" altLang="zh-CN" sz="2400">
                <a:solidFill>
                  <a:srgbClr val="002060"/>
                </a:solidFill>
                <a:ea typeface="黑体" panose="02010609060101010101" pitchFamily="49" charset="-122"/>
              </a:rPr>
              <a:t>A</a:t>
            </a:r>
            <a:r>
              <a:rPr kumimoji="1" lang="zh-CN" altLang="en-US" sz="2400">
                <a:solidFill>
                  <a:srgbClr val="002060"/>
                </a:solidFill>
                <a:ea typeface="黑体" panose="02010609060101010101" pitchFamily="49" charset="-122"/>
              </a:rPr>
              <a:t>与</a:t>
            </a:r>
            <a:r>
              <a:rPr kumimoji="1" lang="en-US" altLang="zh-CN" sz="2400">
                <a:solidFill>
                  <a:srgbClr val="002060"/>
                </a:solidFill>
                <a:ea typeface="黑体" panose="02010609060101010101" pitchFamily="49" charset="-122"/>
              </a:rPr>
              <a:t>B</a:t>
            </a:r>
            <a:r>
              <a:rPr kumimoji="1" lang="zh-CN" altLang="en-US" sz="2400">
                <a:solidFill>
                  <a:srgbClr val="002060"/>
                </a:solidFill>
                <a:ea typeface="黑体" panose="02010609060101010101" pitchFamily="49" charset="-122"/>
              </a:rPr>
              <a:t>的内积值等于</a:t>
            </a:r>
            <a:r>
              <a:rPr kumimoji="1" lang="en-US" altLang="zh-CN" sz="2400">
                <a:solidFill>
                  <a:srgbClr val="002060"/>
                </a:solidFill>
                <a:ea typeface="黑体" panose="02010609060101010101" pitchFamily="49" charset="-122"/>
              </a:rPr>
              <a:t>A</a:t>
            </a:r>
            <a:r>
              <a:rPr kumimoji="1" lang="zh-CN" altLang="en-US" sz="2400">
                <a:solidFill>
                  <a:srgbClr val="002060"/>
                </a:solidFill>
                <a:ea typeface="黑体" panose="02010609060101010101" pitchFamily="49" charset="-122"/>
              </a:rPr>
              <a:t>向</a:t>
            </a:r>
            <a:r>
              <a:rPr kumimoji="1" lang="en-US" altLang="zh-CN" sz="2400">
                <a:solidFill>
                  <a:srgbClr val="002060"/>
                </a:solidFill>
                <a:ea typeface="黑体" panose="02010609060101010101" pitchFamily="49" charset="-122"/>
              </a:rPr>
              <a:t>B</a:t>
            </a:r>
            <a:r>
              <a:rPr kumimoji="1" lang="zh-CN" altLang="en-US" sz="2400">
                <a:solidFill>
                  <a:srgbClr val="002060"/>
                </a:solidFill>
                <a:ea typeface="黑体" panose="02010609060101010101" pitchFamily="49" charset="-122"/>
              </a:rPr>
              <a:t>所在直线投影的矢量长度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a:extLst>
              <a:ext uri="{FF2B5EF4-FFF2-40B4-BE49-F238E27FC236}">
                <a16:creationId xmlns:a16="http://schemas.microsoft.com/office/drawing/2014/main" id="{5060D714-F228-41BF-A76D-34AE3F01C545}"/>
              </a:ext>
            </a:extLst>
          </p:cNvPr>
          <p:cNvSpPr>
            <a:spLocks noGrp="1" noChangeArrowheads="1"/>
          </p:cNvSpPr>
          <p:nvPr>
            <p:ph type="title"/>
          </p:nvPr>
        </p:nvSpPr>
        <p:spPr/>
        <p:txBody>
          <a:bodyPr/>
          <a:lstStyle/>
          <a:p>
            <a:r>
              <a:rPr kumimoji="1" lang="zh-CN" altLang="en-US"/>
              <a:t>向量表示与基变换（续）</a:t>
            </a:r>
          </a:p>
        </p:txBody>
      </p:sp>
      <p:pic>
        <p:nvPicPr>
          <p:cNvPr id="46082" name="内容占位符 3">
            <a:extLst>
              <a:ext uri="{FF2B5EF4-FFF2-40B4-BE49-F238E27FC236}">
                <a16:creationId xmlns:a16="http://schemas.microsoft.com/office/drawing/2014/main" id="{660D6B45-9AD7-4B9E-BD5F-35513E929AD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28650" y="1795463"/>
            <a:ext cx="2613025" cy="2303462"/>
          </a:xfrm>
        </p:spPr>
      </p:pic>
      <p:pic>
        <p:nvPicPr>
          <p:cNvPr id="46083" name="图片 5">
            <a:extLst>
              <a:ext uri="{FF2B5EF4-FFF2-40B4-BE49-F238E27FC236}">
                <a16:creationId xmlns:a16="http://schemas.microsoft.com/office/drawing/2014/main" id="{55B04C8E-256E-47ED-9AFC-81E5A5C7D2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3" y="2325688"/>
            <a:ext cx="5842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16CFBF67-5324-476B-A131-17892135EE50}"/>
              </a:ext>
            </a:extLst>
          </p:cNvPr>
          <p:cNvSpPr txBox="1">
            <a:spLocks/>
          </p:cNvSpPr>
          <p:nvPr/>
        </p:nvSpPr>
        <p:spPr>
          <a:xfrm>
            <a:off x="4025900" y="2027238"/>
            <a:ext cx="4987925" cy="4351337"/>
          </a:xfrm>
          <a:prstGeom prst="rect">
            <a:avLst/>
          </a:prstGeom>
        </p:spPr>
        <p:txBody>
          <a:bodyPr>
            <a:normAutofit/>
          </a:bodyPr>
          <a:lstStyle>
            <a:lvl1pPr marL="228600" indent="-2286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685800" indent="-22860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80000"/>
              </a:lnSpc>
              <a:spcBef>
                <a:spcPts val="1000"/>
              </a:spcBef>
              <a:buClrTx/>
              <a:buFont typeface="Arial" panose="020B0604020202020204" pitchFamily="34" charset="0"/>
              <a:buChar char="•"/>
            </a:pPr>
            <a:r>
              <a:rPr lang="en-US" altLang="zh-CN" sz="2800"/>
              <a:t>(3,2)</a:t>
            </a:r>
            <a:r>
              <a:rPr lang="zh-CN" altLang="en-US" sz="2800"/>
              <a:t>有什么含义呢？</a:t>
            </a:r>
            <a:endParaRPr lang="en-US" altLang="zh-CN" sz="2800"/>
          </a:p>
          <a:p>
            <a:pPr lvl="1" eaLnBrk="1" hangingPunct="1">
              <a:lnSpc>
                <a:spcPct val="80000"/>
              </a:lnSpc>
              <a:spcBef>
                <a:spcPts val="500"/>
              </a:spcBef>
              <a:buClrTx/>
              <a:buFont typeface="Arial" panose="020B0604020202020204" pitchFamily="34" charset="0"/>
              <a:buChar char="•"/>
            </a:pPr>
            <a:r>
              <a:rPr lang="en-US" altLang="zh-CN" sz="2400"/>
              <a:t>X</a:t>
            </a:r>
            <a:r>
              <a:rPr lang="zh-CN" altLang="en-US" sz="2400"/>
              <a:t>轴投影：</a:t>
            </a:r>
            <a:r>
              <a:rPr lang="en-US" altLang="zh-CN" sz="2400"/>
              <a:t>3</a:t>
            </a:r>
          </a:p>
          <a:p>
            <a:pPr lvl="1" eaLnBrk="1" hangingPunct="1">
              <a:lnSpc>
                <a:spcPct val="80000"/>
              </a:lnSpc>
              <a:spcBef>
                <a:spcPts val="500"/>
              </a:spcBef>
              <a:buClrTx/>
              <a:buFont typeface="Arial" panose="020B0604020202020204" pitchFamily="34" charset="0"/>
              <a:buChar char="•"/>
            </a:pPr>
            <a:r>
              <a:rPr lang="en-US" altLang="zh-CN" sz="2400"/>
              <a:t>Y</a:t>
            </a:r>
            <a:r>
              <a:rPr lang="zh-CN" altLang="en-US" sz="2400"/>
              <a:t>轴投影：</a:t>
            </a:r>
            <a:r>
              <a:rPr lang="en-US" altLang="zh-CN" sz="2400"/>
              <a:t>2</a:t>
            </a:r>
            <a:endParaRPr kumimoji="1" lang="en-US" altLang="zh-CN" sz="2400"/>
          </a:p>
          <a:p>
            <a:pPr eaLnBrk="1" hangingPunct="1">
              <a:lnSpc>
                <a:spcPct val="80000"/>
              </a:lnSpc>
              <a:spcBef>
                <a:spcPts val="1000"/>
              </a:spcBef>
              <a:buClrTx/>
              <a:buFont typeface="Arial" panose="020B0604020202020204" pitchFamily="34" charset="0"/>
              <a:buChar char="•"/>
            </a:pPr>
            <a:r>
              <a:rPr lang="zh-CN" altLang="en-US" sz="2800"/>
              <a:t>向量</a:t>
            </a:r>
            <a:r>
              <a:rPr lang="en-US" altLang="zh-CN" sz="2800"/>
              <a:t>(x,y)</a:t>
            </a:r>
            <a:r>
              <a:rPr lang="zh-CN" altLang="en-US" sz="2800"/>
              <a:t>实际上表示线性组合</a:t>
            </a:r>
            <a:endParaRPr lang="en-US" altLang="zh-CN" sz="2800"/>
          </a:p>
          <a:p>
            <a:pPr eaLnBrk="1" hangingPunct="1">
              <a:lnSpc>
                <a:spcPct val="80000"/>
              </a:lnSpc>
              <a:spcBef>
                <a:spcPts val="1000"/>
              </a:spcBef>
              <a:buClrTx/>
              <a:buFont typeface="Arial" panose="020B0604020202020204" pitchFamily="34" charset="0"/>
              <a:buChar char="•"/>
            </a:pPr>
            <a:endParaRPr kumimoji="1" lang="en-US" altLang="zh-CN" sz="2800"/>
          </a:p>
          <a:p>
            <a:pPr eaLnBrk="1" hangingPunct="1">
              <a:lnSpc>
                <a:spcPct val="80000"/>
              </a:lnSpc>
              <a:spcBef>
                <a:spcPts val="1000"/>
              </a:spcBef>
              <a:buClrTx/>
              <a:buFont typeface="Arial" panose="020B0604020202020204" pitchFamily="34" charset="0"/>
              <a:buChar char="•"/>
            </a:pPr>
            <a:r>
              <a:rPr kumimoji="1" lang="zh-CN" altLang="en-US" sz="2800"/>
              <a:t>所有二维向量都可以表示为这样的线性组合。</a:t>
            </a:r>
            <a:endParaRPr kumimoji="1" lang="en-US" altLang="zh-CN" sz="2800"/>
          </a:p>
          <a:p>
            <a:pPr eaLnBrk="1" hangingPunct="1">
              <a:lnSpc>
                <a:spcPct val="80000"/>
              </a:lnSpc>
              <a:spcBef>
                <a:spcPts val="1000"/>
              </a:spcBef>
              <a:buClrTx/>
              <a:buFont typeface="Arial" panose="020B0604020202020204" pitchFamily="34" charset="0"/>
              <a:buChar char="•"/>
            </a:pPr>
            <a:r>
              <a:rPr kumimoji="1" lang="zh-CN" altLang="en-US" sz="2800"/>
              <a:t>此处</a:t>
            </a:r>
            <a:r>
              <a:rPr kumimoji="1" lang="en-US" altLang="zh-CN" sz="2800"/>
              <a:t>(1,0)</a:t>
            </a:r>
            <a:r>
              <a:rPr kumimoji="1" lang="zh-CN" altLang="en-US" sz="2800"/>
              <a:t>和</a:t>
            </a:r>
            <a:r>
              <a:rPr kumimoji="1" lang="en-US" altLang="zh-CN" sz="2800"/>
              <a:t>(0,1)</a:t>
            </a:r>
            <a:r>
              <a:rPr kumimoji="1" lang="zh-CN" altLang="en-US" sz="2800"/>
              <a:t>叫做二维空间中的一组基。</a:t>
            </a:r>
          </a:p>
        </p:txBody>
      </p:sp>
      <p:pic>
        <p:nvPicPr>
          <p:cNvPr id="8" name="图片 7">
            <a:extLst>
              <a:ext uri="{FF2B5EF4-FFF2-40B4-BE49-F238E27FC236}">
                <a16:creationId xmlns:a16="http://schemas.microsoft.com/office/drawing/2014/main" id="{0A3715BC-349D-4216-858C-202F053FE4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8925" y="3863975"/>
            <a:ext cx="21336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 13">
            <a:extLst>
              <a:ext uri="{FF2B5EF4-FFF2-40B4-BE49-F238E27FC236}">
                <a16:creationId xmlns:a16="http://schemas.microsoft.com/office/drawing/2014/main" id="{C97981D1-1E29-4B3F-9D5B-27583DFF1198}"/>
              </a:ext>
            </a:extLst>
          </p:cNvPr>
          <p:cNvGrpSpPr>
            <a:grpSpLocks/>
          </p:cNvGrpSpPr>
          <p:nvPr/>
        </p:nvGrpSpPr>
        <p:grpSpPr bwMode="auto">
          <a:xfrm>
            <a:off x="628650" y="4203700"/>
            <a:ext cx="2703513" cy="2479675"/>
            <a:chOff x="628650" y="4203174"/>
            <a:chExt cx="2703645" cy="2480554"/>
          </a:xfrm>
        </p:grpSpPr>
        <p:pic>
          <p:nvPicPr>
            <p:cNvPr id="46087" name="图片 11">
              <a:extLst>
                <a:ext uri="{FF2B5EF4-FFF2-40B4-BE49-F238E27FC236}">
                  <a16:creationId xmlns:a16="http://schemas.microsoft.com/office/drawing/2014/main" id="{571CFD21-FF40-45F2-B1C3-86A0941E72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0" y="4203174"/>
              <a:ext cx="2703645" cy="248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图片 12">
              <a:extLst>
                <a:ext uri="{FF2B5EF4-FFF2-40B4-BE49-F238E27FC236}">
                  <a16:creationId xmlns:a16="http://schemas.microsoft.com/office/drawing/2014/main" id="{93662BF9-13D0-4596-B5CA-E129CAB08F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8095" y="4828640"/>
              <a:ext cx="5842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59464445-A5CD-418A-931D-B5770CF6EEB9}"/>
              </a:ext>
            </a:extLst>
          </p:cNvPr>
          <p:cNvSpPr>
            <a:spLocks noGrp="1" noChangeArrowheads="1"/>
          </p:cNvSpPr>
          <p:nvPr>
            <p:ph type="title"/>
          </p:nvPr>
        </p:nvSpPr>
        <p:spPr/>
        <p:txBody>
          <a:bodyPr/>
          <a:lstStyle/>
          <a:p>
            <a:r>
              <a:rPr kumimoji="1" lang="zh-CN" altLang="en-US"/>
              <a:t>向量表示与基变换（续）</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A26D300-9A33-4C16-921B-7F8A066A39F5}"/>
                  </a:ext>
                </a:extLst>
              </p:cNvPr>
              <p:cNvSpPr>
                <a:spLocks noGrp="1" noChangeArrowheads="1"/>
              </p:cNvSpPr>
              <p:nvPr>
                <p:ph idx="1"/>
              </p:nvPr>
            </p:nvSpPr>
            <p:spPr>
              <a:xfrm>
                <a:off x="284162" y="1392237"/>
                <a:ext cx="8774112" cy="4530725"/>
              </a:xfrm>
            </p:spPr>
            <p:txBody>
              <a:bodyPr/>
              <a:lstStyle/>
              <a:p>
                <a:r>
                  <a:rPr kumimoji="1" lang="zh-CN" altLang="en-US" sz="2800" dirty="0"/>
                  <a:t>得出的结论：</a:t>
                </a:r>
                <a:r>
                  <a:rPr lang="zh-CN" altLang="en-US" sz="2800" b="1" dirty="0"/>
                  <a:t>要准确描述向量，首先要确定一组基，然后给出在基所在的各个直线上的投影值。</a:t>
                </a:r>
                <a:endParaRPr lang="en-US" altLang="zh-CN" sz="2800" b="1" dirty="0"/>
              </a:p>
              <a:p>
                <a:r>
                  <a:rPr kumimoji="1" lang="zh-CN" altLang="en-US" sz="2800" dirty="0"/>
                  <a:t>任何两个</a:t>
                </a:r>
                <a:r>
                  <a:rPr kumimoji="1" lang="zh-CN" altLang="en-US" sz="2800" dirty="0">
                    <a:solidFill>
                      <a:srgbClr val="FF0000"/>
                    </a:solidFill>
                  </a:rPr>
                  <a:t>线性无关</a:t>
                </a:r>
                <a:r>
                  <a:rPr kumimoji="1" lang="zh-CN" altLang="en-US" sz="2800" dirty="0"/>
                  <a:t>的二维向量都可以成为一组基</a:t>
                </a:r>
                <a:r>
                  <a:rPr kumimoji="1" lang="zh-CN" altLang="en-US" dirty="0"/>
                  <a:t>。</a:t>
                </a:r>
                <a:endParaRPr kumimoji="1" lang="en-US" altLang="zh-CN" dirty="0"/>
              </a:p>
              <a:p>
                <a:r>
                  <a:rPr kumimoji="1" lang="zh-CN" altLang="en-US" sz="2800" dirty="0"/>
                  <a:t>例如</a:t>
                </a:r>
                <a14:m>
                  <m:oMath xmlns:m="http://schemas.openxmlformats.org/officeDocument/2006/math">
                    <m:r>
                      <a:rPr kumimoji="1" lang="en-US" altLang="zh-CN" sz="2800" b="0" i="1" smtClean="0">
                        <a:latin typeface="Cambria Math" panose="02040503050406030204" pitchFamily="18" charset="0"/>
                      </a:rPr>
                      <m:t>(1,1)</m:t>
                    </m:r>
                  </m:oMath>
                </a14:m>
                <a:r>
                  <a:rPr lang="zh-CN" altLang="mr-IN" sz="2800" dirty="0"/>
                  <a:t>和</a:t>
                </a:r>
                <a14:m>
                  <m:oMath xmlns:m="http://schemas.openxmlformats.org/officeDocument/2006/math">
                    <m:r>
                      <a:rPr lang="en-US" altLang="zh-CN" sz="2800" b="0" i="1" dirty="0" smtClean="0">
                        <a:latin typeface="Cambria Math" panose="02040503050406030204" pitchFamily="18" charset="0"/>
                      </a:rPr>
                      <m:t>(−1,1)</m:t>
                    </m:r>
                  </m:oMath>
                </a14:m>
                <a:r>
                  <a:rPr lang="zh-CN" altLang="mr-IN" sz="2800" dirty="0"/>
                  <a:t>也可以成为一组基</a:t>
                </a:r>
                <a:endParaRPr kumimoji="1" lang="zh-CN" altLang="en-US" sz="2800" dirty="0"/>
              </a:p>
            </p:txBody>
          </p:sp>
        </mc:Choice>
        <mc:Fallback>
          <p:sp>
            <p:nvSpPr>
              <p:cNvPr id="3" name="内容占位符 2">
                <a:extLst>
                  <a:ext uri="{FF2B5EF4-FFF2-40B4-BE49-F238E27FC236}">
                    <a16:creationId xmlns:a16="http://schemas.microsoft.com/office/drawing/2014/main" id="{FA26D300-9A33-4C16-921B-7F8A066A39F5}"/>
                  </a:ext>
                </a:extLst>
              </p:cNvPr>
              <p:cNvSpPr>
                <a:spLocks noGrp="1" noRot="1" noChangeAspect="1" noMove="1" noResize="1" noEditPoints="1" noAdjustHandles="1" noChangeArrowheads="1" noChangeShapeType="1" noTextEdit="1"/>
              </p:cNvSpPr>
              <p:nvPr>
                <p:ph idx="1"/>
              </p:nvPr>
            </p:nvSpPr>
            <p:spPr>
              <a:xfrm>
                <a:off x="284162" y="1392237"/>
                <a:ext cx="8774112" cy="4530725"/>
              </a:xfrm>
              <a:blipFill>
                <a:blip r:embed="rId3"/>
                <a:stretch>
                  <a:fillRect l="-1251" t="-1344" r="-97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C71C9A8-48B4-4A82-BD60-D57AFEC325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1025" y="3657600"/>
            <a:ext cx="3198813"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下箭头 4">
            <a:extLst>
              <a:ext uri="{FF2B5EF4-FFF2-40B4-BE49-F238E27FC236}">
                <a16:creationId xmlns:a16="http://schemas.microsoft.com/office/drawing/2014/main" id="{24EA70DF-8886-459E-84A8-602B284FC08F}"/>
              </a:ext>
            </a:extLst>
          </p:cNvPr>
          <p:cNvSpPr/>
          <p:nvPr/>
        </p:nvSpPr>
        <p:spPr>
          <a:xfrm>
            <a:off x="2600325" y="3810000"/>
            <a:ext cx="438150" cy="7842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6" name="文本框 5">
            <a:extLst>
              <a:ext uri="{FF2B5EF4-FFF2-40B4-BE49-F238E27FC236}">
                <a16:creationId xmlns:a16="http://schemas.microsoft.com/office/drawing/2014/main" id="{762E6710-FAC7-4D35-B687-DD846A5E54AC}"/>
              </a:ext>
            </a:extLst>
          </p:cNvPr>
          <p:cNvSpPr txBox="1">
            <a:spLocks noChangeArrowheads="1"/>
          </p:cNvSpPr>
          <p:nvPr/>
        </p:nvSpPr>
        <p:spPr bwMode="auto">
          <a:xfrm>
            <a:off x="3122613" y="3929063"/>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000">
                <a:solidFill>
                  <a:schemeClr val="hlink"/>
                </a:solidFill>
                <a:ea typeface="宋体" panose="02010600030101010101" pitchFamily="2" charset="-122"/>
              </a:rPr>
              <a:t>模归一化</a:t>
            </a:r>
          </a:p>
        </p:txBody>
      </p:sp>
      <p:pic>
        <p:nvPicPr>
          <p:cNvPr id="9" name="图片 8">
            <a:extLst>
              <a:ext uri="{FF2B5EF4-FFF2-40B4-BE49-F238E27FC236}">
                <a16:creationId xmlns:a16="http://schemas.microsoft.com/office/drawing/2014/main" id="{CE3952C7-1389-48C6-A24B-EF72D044E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4673600"/>
            <a:ext cx="11938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ADB4BC5E-1BAE-48D7-935C-E26190B472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0850" y="4622800"/>
            <a:ext cx="14351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A88CE7CB-04BB-44ED-993F-8ADFD94981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8813" y="4572000"/>
            <a:ext cx="7953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8742FC12-FE3C-48E5-8037-C93FDFF3F14A}"/>
              </a:ext>
            </a:extLst>
          </p:cNvPr>
          <p:cNvSpPr>
            <a:spLocks noGrp="1" noChangeArrowheads="1"/>
          </p:cNvSpPr>
          <p:nvPr>
            <p:ph type="title"/>
          </p:nvPr>
        </p:nvSpPr>
        <p:spPr/>
        <p:txBody>
          <a:bodyPr/>
          <a:lstStyle/>
          <a:p>
            <a:r>
              <a:rPr kumimoji="1" lang="zh-CN" altLang="en-US"/>
              <a:t>向量表示与基变换（续）</a:t>
            </a:r>
          </a:p>
        </p:txBody>
      </p:sp>
      <mc:AlternateContent xmlns:mc="http://schemas.openxmlformats.org/markup-compatibility/2006">
        <mc:Choice xmlns:a14="http://schemas.microsoft.com/office/drawing/2010/main" Requires="a14">
          <p:sp>
            <p:nvSpPr>
              <p:cNvPr id="50178" name="内容占位符 2">
                <a:extLst>
                  <a:ext uri="{FF2B5EF4-FFF2-40B4-BE49-F238E27FC236}">
                    <a16:creationId xmlns:a16="http://schemas.microsoft.com/office/drawing/2014/main" id="{2ADC12B7-F506-407E-9822-E837C3AB56CF}"/>
                  </a:ext>
                </a:extLst>
              </p:cNvPr>
              <p:cNvSpPr>
                <a:spLocks noGrp="1" noChangeArrowheads="1"/>
              </p:cNvSpPr>
              <p:nvPr>
                <p:ph idx="1"/>
              </p:nvPr>
            </p:nvSpPr>
            <p:spPr/>
            <p:txBody>
              <a:bodyPr/>
              <a:lstStyle/>
              <a:p>
                <a:r>
                  <a:rPr kumimoji="1" lang="zh-CN" altLang="en-US" dirty="0"/>
                  <a:t>基变换的矩阵表示</a:t>
                </a:r>
                <a:endParaRPr kumimoji="1" lang="en-US" altLang="zh-CN" dirty="0"/>
              </a:p>
              <a:p>
                <a:endParaRPr kumimoji="1" lang="en-US" altLang="zh-CN" dirty="0"/>
              </a:p>
              <a:p>
                <a:endParaRPr kumimoji="1" lang="en-US" altLang="zh-CN" dirty="0"/>
              </a:p>
              <a:p>
                <a:endParaRPr kumimoji="1" lang="en-US" altLang="zh-CN" dirty="0"/>
              </a:p>
              <a:p>
                <a:r>
                  <a:rPr lang="zh-CN" altLang="en-US" dirty="0"/>
                  <a:t>变换向量</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1,1</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2,2</m:t>
                        </m:r>
                      </m:e>
                    </m:d>
                    <m:r>
                      <a:rPr lang="en-US" altLang="zh-CN" b="0" i="1" smtClean="0">
                        <a:latin typeface="Cambria Math" panose="02040503050406030204" pitchFamily="18" charset="0"/>
                      </a:rPr>
                      <m:t>,(3,3)</m:t>
                    </m:r>
                  </m:oMath>
                </a14:m>
                <a:endParaRPr kumimoji="1" lang="zh-CN" altLang="en-US" dirty="0"/>
              </a:p>
            </p:txBody>
          </p:sp>
        </mc:Choice>
        <mc:Fallback>
          <p:sp>
            <p:nvSpPr>
              <p:cNvPr id="50178" name="内容占位符 2">
                <a:extLst>
                  <a:ext uri="{FF2B5EF4-FFF2-40B4-BE49-F238E27FC236}">
                    <a16:creationId xmlns:a16="http://schemas.microsoft.com/office/drawing/2014/main" id="{2ADC12B7-F506-407E-9822-E837C3AB56CF}"/>
                  </a:ext>
                </a:extLst>
              </p:cNvPr>
              <p:cNvSpPr>
                <a:spLocks noGrp="1" noRot="1" noChangeAspect="1" noMove="1" noResize="1" noEditPoints="1" noAdjustHandles="1" noChangeArrowheads="1" noChangeShapeType="1" noTextEdit="1"/>
              </p:cNvSpPr>
              <p:nvPr>
                <p:ph idx="1"/>
              </p:nvPr>
            </p:nvSpPr>
            <p:spPr>
              <a:blipFill>
                <a:blip r:embed="rId2"/>
                <a:stretch>
                  <a:fillRect l="-1630" t="-2153"/>
                </a:stretch>
              </a:blipFill>
            </p:spPr>
            <p:txBody>
              <a:bodyPr/>
              <a:lstStyle/>
              <a:p>
                <a:r>
                  <a:rPr lang="zh-CN" altLang="en-US">
                    <a:noFill/>
                  </a:rPr>
                  <a:t> </a:t>
                </a:r>
              </a:p>
            </p:txBody>
          </p:sp>
        </mc:Fallback>
      </mc:AlternateContent>
      <p:pic>
        <p:nvPicPr>
          <p:cNvPr id="50179" name="图片 5">
            <a:extLst>
              <a:ext uri="{FF2B5EF4-FFF2-40B4-BE49-F238E27FC236}">
                <a16:creationId xmlns:a16="http://schemas.microsoft.com/office/drawing/2014/main" id="{F2B4715C-FE30-484C-BF80-2A569842A9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2468563"/>
            <a:ext cx="44958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图片 6">
            <a:extLst>
              <a:ext uri="{FF2B5EF4-FFF2-40B4-BE49-F238E27FC236}">
                <a16:creationId xmlns:a16="http://schemas.microsoft.com/office/drawing/2014/main" id="{C575F9CB-ADB5-4C5E-AEC6-C72D461AF5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0300" y="4573588"/>
            <a:ext cx="6883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FA48147D-16CF-4B4D-8E3D-6F25E0BE02E1}"/>
              </a:ext>
            </a:extLst>
          </p:cNvPr>
          <p:cNvSpPr>
            <a:spLocks noGrp="1" noChangeArrowheads="1"/>
          </p:cNvSpPr>
          <p:nvPr>
            <p:ph type="title"/>
          </p:nvPr>
        </p:nvSpPr>
        <p:spPr/>
        <p:txBody>
          <a:bodyPr/>
          <a:lstStyle/>
          <a:p>
            <a:r>
              <a:rPr kumimoji="1" lang="zh-CN" altLang="en-US"/>
              <a:t>向量表示与基变换（续）</a:t>
            </a:r>
          </a:p>
        </p:txBody>
      </p:sp>
      <p:sp>
        <p:nvSpPr>
          <p:cNvPr id="51202" name="内容占位符 2">
            <a:extLst>
              <a:ext uri="{FF2B5EF4-FFF2-40B4-BE49-F238E27FC236}">
                <a16:creationId xmlns:a16="http://schemas.microsoft.com/office/drawing/2014/main" id="{50D8B152-CD95-4DD2-A4B4-3E88005D3EA6}"/>
              </a:ext>
            </a:extLst>
          </p:cNvPr>
          <p:cNvSpPr>
            <a:spLocks noGrp="1" noChangeArrowheads="1"/>
          </p:cNvSpPr>
          <p:nvPr>
            <p:ph idx="1"/>
          </p:nvPr>
        </p:nvSpPr>
        <p:spPr/>
        <p:txBody>
          <a:bodyPr/>
          <a:lstStyle/>
          <a:p>
            <a:r>
              <a:rPr kumimoji="1" lang="zh-CN" altLang="en-US"/>
              <a:t>基变换的矩阵表示</a:t>
            </a:r>
            <a:endParaRPr kumimoji="1" lang="en-US" altLang="zh-CN"/>
          </a:p>
          <a:p>
            <a:endParaRPr kumimoji="1" lang="en-US" altLang="zh-CN"/>
          </a:p>
          <a:p>
            <a:endParaRPr kumimoji="1" lang="en-US" altLang="zh-CN"/>
          </a:p>
          <a:p>
            <a:endParaRPr kumimoji="1" lang="en-US" altLang="zh-CN"/>
          </a:p>
          <a:p>
            <a:pPr>
              <a:buFont typeface="Wingdings" panose="05000000000000000000" pitchFamily="2" charset="2"/>
              <a:buNone/>
            </a:pPr>
            <a:endParaRPr kumimoji="1" lang="en-US" altLang="zh-CN" i="1">
              <a:latin typeface="Times New Roman" panose="02020603050405020304" pitchFamily="18" charset="0"/>
              <a:cs typeface="Times New Roman" panose="02020603050405020304" pitchFamily="18" charset="0"/>
            </a:endParaRPr>
          </a:p>
          <a:p>
            <a:pPr>
              <a:buFont typeface="Wingdings" panose="05000000000000000000" pitchFamily="2" charset="2"/>
              <a:buNone/>
            </a:pPr>
            <a:r>
              <a:rPr kumimoji="1" lang="en-US" altLang="zh-CN" i="1">
                <a:latin typeface="Times New Roman" panose="02020603050405020304" pitchFamily="18" charset="0"/>
                <a:cs typeface="Times New Roman" panose="02020603050405020304" pitchFamily="18" charset="0"/>
              </a:rPr>
              <a:t>p</a:t>
            </a:r>
            <a:r>
              <a:rPr kumimoji="1" lang="en-US" altLang="zh-CN" i="1" baseline="-25000">
                <a:latin typeface="Times New Roman" panose="02020603050405020304" pitchFamily="18" charset="0"/>
                <a:cs typeface="Times New Roman" panose="02020603050405020304" pitchFamily="18" charset="0"/>
              </a:rPr>
              <a:t>i</a:t>
            </a:r>
            <a:r>
              <a:rPr kumimoji="1" lang="zh-CN" altLang="en-US"/>
              <a:t>是一个行向量，表示第</a:t>
            </a:r>
            <a:r>
              <a:rPr kumimoji="1" lang="en-US" altLang="zh-CN" i="1">
                <a:latin typeface="Times New Roman" panose="02020603050405020304" pitchFamily="18" charset="0"/>
                <a:cs typeface="Times New Roman" panose="02020603050405020304" pitchFamily="18" charset="0"/>
              </a:rPr>
              <a:t>i</a:t>
            </a:r>
            <a:r>
              <a:rPr kumimoji="1" lang="zh-CN" altLang="en-US"/>
              <a:t>个基，</a:t>
            </a:r>
            <a:r>
              <a:rPr kumimoji="1" lang="en-US" altLang="zh-CN" i="1">
                <a:latin typeface="Times New Roman" panose="02020603050405020304" pitchFamily="18" charset="0"/>
                <a:cs typeface="Times New Roman" panose="02020603050405020304" pitchFamily="18" charset="0"/>
              </a:rPr>
              <a:t>a</a:t>
            </a:r>
            <a:r>
              <a:rPr kumimoji="1" lang="en-US" altLang="zh-CN" i="1" baseline="-25000">
                <a:latin typeface="Times New Roman" panose="02020603050405020304" pitchFamily="18" charset="0"/>
                <a:cs typeface="Times New Roman" panose="02020603050405020304" pitchFamily="18" charset="0"/>
              </a:rPr>
              <a:t>j</a:t>
            </a:r>
            <a:r>
              <a:rPr kumimoji="1" lang="zh-CN" altLang="en-US"/>
              <a:t>是一个列向量</a:t>
            </a:r>
            <a:r>
              <a:rPr kumimoji="1" lang="en-US" altLang="zh-CN"/>
              <a:t>(</a:t>
            </a:r>
            <a:r>
              <a:rPr kumimoji="1" lang="zh-CN" altLang="en-US"/>
              <a:t>维度为</a:t>
            </a:r>
            <a:r>
              <a:rPr kumimoji="1" lang="en-US" altLang="zh-CN" i="1"/>
              <a:t>N</a:t>
            </a:r>
            <a:r>
              <a:rPr kumimoji="1" lang="en-US" altLang="zh-CN"/>
              <a:t>)</a:t>
            </a:r>
            <a:r>
              <a:rPr kumimoji="1" lang="zh-CN" altLang="en-US"/>
              <a:t>，表示第</a:t>
            </a:r>
            <a:r>
              <a:rPr kumimoji="1" lang="en-US" altLang="zh-CN" i="1">
                <a:latin typeface="Times New Roman" panose="02020603050405020304" pitchFamily="18" charset="0"/>
                <a:cs typeface="Times New Roman" panose="02020603050405020304" pitchFamily="18" charset="0"/>
              </a:rPr>
              <a:t>j</a:t>
            </a:r>
            <a:r>
              <a:rPr kumimoji="1" lang="zh-CN" altLang="en-US"/>
              <a:t>个原始数据记录</a:t>
            </a:r>
            <a:endParaRPr kumimoji="1" lang="en-US" altLang="zh-CN"/>
          </a:p>
        </p:txBody>
      </p:sp>
      <p:pic>
        <p:nvPicPr>
          <p:cNvPr id="51203" name="图片 3">
            <a:extLst>
              <a:ext uri="{FF2B5EF4-FFF2-40B4-BE49-F238E27FC236}">
                <a16:creationId xmlns:a16="http://schemas.microsoft.com/office/drawing/2014/main" id="{5CE49AC3-7D53-432C-8C52-92019F08F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663" y="2493963"/>
            <a:ext cx="68707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EB5DB906-D9F0-4010-AEF8-CE73DE2305F1}"/>
              </a:ext>
            </a:extLst>
          </p:cNvPr>
          <p:cNvSpPr/>
          <p:nvPr/>
        </p:nvSpPr>
        <p:spPr>
          <a:xfrm>
            <a:off x="1236663" y="5675313"/>
            <a:ext cx="6935787" cy="879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solidFill>
                  <a:srgbClr val="002060"/>
                </a:solidFill>
                <a:ea typeface="黑体" panose="02010609060101010101" pitchFamily="49" charset="-122"/>
              </a:rPr>
              <a:t>这里</a:t>
            </a:r>
            <a:r>
              <a:rPr lang="en-US" altLang="zh-CN" sz="2400" i="1">
                <a:solidFill>
                  <a:srgbClr val="002060"/>
                </a:solidFill>
                <a:latin typeface="Times New Roman" panose="02020603050405020304" pitchFamily="18" charset="0"/>
                <a:cs typeface="Times New Roman" panose="02020603050405020304" pitchFamily="18" charset="0"/>
              </a:rPr>
              <a:t>R</a:t>
            </a:r>
            <a:r>
              <a:rPr lang="zh-CN" altLang="en-US" sz="2400">
                <a:solidFill>
                  <a:srgbClr val="002060"/>
                </a:solidFill>
                <a:ea typeface="黑体" panose="02010609060101010101" pitchFamily="49" charset="-122"/>
              </a:rPr>
              <a:t>可以小于</a:t>
            </a:r>
            <a:r>
              <a:rPr lang="en-US" altLang="zh-CN" sz="2400" i="1">
                <a:solidFill>
                  <a:srgbClr val="002060"/>
                </a:solidFill>
                <a:ea typeface="黑体" panose="02010609060101010101" pitchFamily="49" charset="-122"/>
              </a:rPr>
              <a:t>N</a:t>
            </a:r>
            <a:r>
              <a:rPr lang="zh-CN" altLang="en-US" sz="2400">
                <a:solidFill>
                  <a:srgbClr val="002060"/>
                </a:solidFill>
                <a:ea typeface="黑体" panose="02010609060101010101" pitchFamily="49" charset="-122"/>
              </a:rPr>
              <a:t>，而</a:t>
            </a:r>
            <a:r>
              <a:rPr lang="en-US" altLang="zh-CN" sz="2400" i="1">
                <a:solidFill>
                  <a:srgbClr val="002060"/>
                </a:solidFill>
                <a:latin typeface="Times New Roman" panose="02020603050405020304" pitchFamily="18" charset="0"/>
                <a:cs typeface="Times New Roman" panose="02020603050405020304" pitchFamily="18" charset="0"/>
              </a:rPr>
              <a:t>R</a:t>
            </a:r>
            <a:r>
              <a:rPr lang="zh-CN" altLang="en-US" sz="2400">
                <a:solidFill>
                  <a:srgbClr val="002060"/>
                </a:solidFill>
                <a:ea typeface="黑体" panose="02010609060101010101" pitchFamily="49" charset="-122"/>
              </a:rPr>
              <a:t>决定了变换后数据的维数，即变换后的维度取决于基的数量</a:t>
            </a:r>
            <a:r>
              <a:rPr kumimoji="1" lang="zh-CN" altLang="en-US" sz="2400">
                <a:solidFill>
                  <a:srgbClr val="002060"/>
                </a:solidFill>
                <a:ea typeface="黑体" panose="02010609060101010101" pitchFamily="49" charset="-122"/>
              </a:rPr>
              <a:t>！</a:t>
            </a:r>
          </a:p>
        </p:txBody>
      </p:sp>
      <p:sp>
        <p:nvSpPr>
          <p:cNvPr id="51205" name="文本框 1">
            <a:extLst>
              <a:ext uri="{FF2B5EF4-FFF2-40B4-BE49-F238E27FC236}">
                <a16:creationId xmlns:a16="http://schemas.microsoft.com/office/drawing/2014/main" id="{37852419-03A9-4111-935D-70BDF6ACB88C}"/>
              </a:ext>
            </a:extLst>
          </p:cNvPr>
          <p:cNvSpPr txBox="1">
            <a:spLocks noChangeArrowheads="1"/>
          </p:cNvSpPr>
          <p:nvPr/>
        </p:nvSpPr>
        <p:spPr bwMode="auto">
          <a:xfrm>
            <a:off x="1905000" y="4067175"/>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en-US" altLang="zh-CN" sz="2000">
                <a:solidFill>
                  <a:schemeClr val="hlink"/>
                </a:solidFill>
                <a:ea typeface="宋体" panose="02010600030101010101" pitchFamily="2" charset="-122"/>
              </a:rPr>
              <a:t>RxN</a:t>
            </a:r>
            <a:endParaRPr kumimoji="1" lang="zh-CN" altLang="en-US" sz="2000">
              <a:solidFill>
                <a:schemeClr val="hlink"/>
              </a:solidFill>
              <a:ea typeface="宋体" panose="02010600030101010101" pitchFamily="2" charset="-122"/>
            </a:endParaRPr>
          </a:p>
        </p:txBody>
      </p:sp>
      <p:sp>
        <p:nvSpPr>
          <p:cNvPr id="51206" name="文本框 6">
            <a:extLst>
              <a:ext uri="{FF2B5EF4-FFF2-40B4-BE49-F238E27FC236}">
                <a16:creationId xmlns:a16="http://schemas.microsoft.com/office/drawing/2014/main" id="{EC2093E9-8E9C-4995-824F-E7C59A82F01C}"/>
              </a:ext>
            </a:extLst>
          </p:cNvPr>
          <p:cNvSpPr txBox="1">
            <a:spLocks noChangeArrowheads="1"/>
          </p:cNvSpPr>
          <p:nvPr/>
        </p:nvSpPr>
        <p:spPr bwMode="auto">
          <a:xfrm>
            <a:off x="3868738" y="4103688"/>
            <a:ext cx="712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en-US" altLang="zh-CN" sz="2000">
                <a:solidFill>
                  <a:schemeClr val="hlink"/>
                </a:solidFill>
                <a:ea typeface="宋体" panose="02010600030101010101" pitchFamily="2" charset="-122"/>
              </a:rPr>
              <a:t>NxM</a:t>
            </a:r>
            <a:endParaRPr kumimoji="1" lang="zh-CN" altLang="en-US" sz="2000">
              <a:solidFill>
                <a:schemeClr val="hlink"/>
              </a:solidFill>
              <a:ea typeface="宋体" panose="02010600030101010101" pitchFamily="2" charset="-122"/>
            </a:endParaRPr>
          </a:p>
        </p:txBody>
      </p:sp>
      <p:sp>
        <p:nvSpPr>
          <p:cNvPr id="51207" name="文本框 8">
            <a:extLst>
              <a:ext uri="{FF2B5EF4-FFF2-40B4-BE49-F238E27FC236}">
                <a16:creationId xmlns:a16="http://schemas.microsoft.com/office/drawing/2014/main" id="{F9A50FB3-BF13-4D89-BE3D-9A5CC985F5E4}"/>
              </a:ext>
            </a:extLst>
          </p:cNvPr>
          <p:cNvSpPr txBox="1">
            <a:spLocks noChangeArrowheads="1"/>
          </p:cNvSpPr>
          <p:nvPr/>
        </p:nvSpPr>
        <p:spPr bwMode="auto">
          <a:xfrm>
            <a:off x="7893050" y="4113213"/>
            <a:ext cx="71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en-US" altLang="zh-CN" sz="2000">
                <a:solidFill>
                  <a:schemeClr val="hlink"/>
                </a:solidFill>
                <a:ea typeface="宋体" panose="02010600030101010101" pitchFamily="2" charset="-122"/>
              </a:rPr>
              <a:t>RxM</a:t>
            </a:r>
            <a:endParaRPr kumimoji="1" lang="zh-CN" altLang="en-US" sz="2000">
              <a:solidFill>
                <a:schemeClr va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11CA9CB1-9367-4003-882D-EB1BD268A92C}"/>
              </a:ext>
            </a:extLst>
          </p:cNvPr>
          <p:cNvSpPr>
            <a:spLocks noGrp="1" noChangeArrowheads="1"/>
          </p:cNvSpPr>
          <p:nvPr>
            <p:ph type="title"/>
          </p:nvPr>
        </p:nvSpPr>
        <p:spPr/>
        <p:txBody>
          <a:bodyPr/>
          <a:lstStyle/>
          <a:p>
            <a:r>
              <a:rPr kumimoji="1" lang="zh-CN" altLang="en-US"/>
              <a:t>向量表示与基变换（续）</a:t>
            </a:r>
          </a:p>
        </p:txBody>
      </p:sp>
      <p:sp>
        <p:nvSpPr>
          <p:cNvPr id="52226" name="内容占位符 2">
            <a:extLst>
              <a:ext uri="{FF2B5EF4-FFF2-40B4-BE49-F238E27FC236}">
                <a16:creationId xmlns:a16="http://schemas.microsoft.com/office/drawing/2014/main" id="{41DDD129-7A64-47E9-8B4F-09A3C4206855}"/>
              </a:ext>
            </a:extLst>
          </p:cNvPr>
          <p:cNvSpPr>
            <a:spLocks noGrp="1" noChangeArrowheads="1"/>
          </p:cNvSpPr>
          <p:nvPr>
            <p:ph idx="1"/>
          </p:nvPr>
        </p:nvSpPr>
        <p:spPr/>
        <p:txBody>
          <a:bodyPr/>
          <a:lstStyle/>
          <a:p>
            <a:r>
              <a:rPr kumimoji="1" lang="zh-CN" altLang="en-US"/>
              <a:t>基变换的矩阵表示</a:t>
            </a:r>
            <a:endParaRPr kumimoji="1" lang="en-US" altLang="zh-CN"/>
          </a:p>
          <a:p>
            <a:endParaRPr kumimoji="1" lang="en-US" altLang="zh-CN"/>
          </a:p>
          <a:p>
            <a:endParaRPr kumimoji="1" lang="en-US" altLang="zh-CN"/>
          </a:p>
          <a:p>
            <a:endParaRPr kumimoji="1" lang="en-US" altLang="zh-CN"/>
          </a:p>
          <a:p>
            <a:endParaRPr kumimoji="1" lang="en-US" altLang="zh-CN"/>
          </a:p>
          <a:p>
            <a:r>
              <a:rPr kumimoji="1" lang="zh-CN" altLang="en-US">
                <a:solidFill>
                  <a:srgbClr val="FF0000"/>
                </a:solidFill>
              </a:rPr>
              <a:t>矩阵相乘的</a:t>
            </a:r>
            <a:r>
              <a:rPr lang="zh-CN" altLang="en-US">
                <a:solidFill>
                  <a:srgbClr val="FF0000"/>
                </a:solidFill>
              </a:rPr>
              <a:t>物理解释</a:t>
            </a:r>
            <a:r>
              <a:rPr lang="zh-CN" altLang="en-US"/>
              <a:t>：两个矩阵相乘的意义是将右边矩阵中的每一列列向量变换到左边矩阵中每一行行向量为基所表示的空间中去。</a:t>
            </a:r>
            <a:endParaRPr kumimoji="1" lang="en-US" altLang="zh-CN"/>
          </a:p>
          <a:p>
            <a:endParaRPr kumimoji="1" lang="en-US" altLang="zh-CN"/>
          </a:p>
          <a:p>
            <a:endParaRPr kumimoji="1" lang="en-US" altLang="zh-CN"/>
          </a:p>
          <a:p>
            <a:endParaRPr kumimoji="1" lang="en-US" altLang="zh-CN"/>
          </a:p>
          <a:p>
            <a:pPr>
              <a:buFont typeface="Wingdings" panose="05000000000000000000" pitchFamily="2" charset="2"/>
              <a:buNone/>
            </a:pPr>
            <a:endParaRPr kumimoji="1" lang="en-US" altLang="zh-CN" i="1">
              <a:latin typeface="Times New Roman" panose="02020603050405020304" pitchFamily="18" charset="0"/>
              <a:cs typeface="Times New Roman" panose="02020603050405020304" pitchFamily="18" charset="0"/>
            </a:endParaRPr>
          </a:p>
        </p:txBody>
      </p:sp>
      <p:pic>
        <p:nvPicPr>
          <p:cNvPr id="52227" name="图片 3">
            <a:extLst>
              <a:ext uri="{FF2B5EF4-FFF2-40B4-BE49-F238E27FC236}">
                <a16:creationId xmlns:a16="http://schemas.microsoft.com/office/drawing/2014/main" id="{1A3764FC-90D9-47FA-BEF6-62D0ADDFB3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663" y="2493963"/>
            <a:ext cx="68707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a:extLst>
              <a:ext uri="{FF2B5EF4-FFF2-40B4-BE49-F238E27FC236}">
                <a16:creationId xmlns:a16="http://schemas.microsoft.com/office/drawing/2014/main" id="{79FE8099-63EC-435E-8305-BE1FA735F74B}"/>
              </a:ext>
            </a:extLst>
          </p:cNvPr>
          <p:cNvSpPr>
            <a:spLocks noGrp="1" noChangeArrowheads="1"/>
          </p:cNvSpPr>
          <p:nvPr>
            <p:ph type="title"/>
          </p:nvPr>
        </p:nvSpPr>
        <p:spPr/>
        <p:txBody>
          <a:bodyPr/>
          <a:lstStyle/>
          <a:p>
            <a:r>
              <a:rPr kumimoji="1" lang="en-US" altLang="zh-CN"/>
              <a:t>Milestone</a:t>
            </a:r>
            <a:endParaRPr kumimoji="1" lang="zh-CN" altLang="en-US"/>
          </a:p>
        </p:txBody>
      </p:sp>
      <p:sp>
        <p:nvSpPr>
          <p:cNvPr id="53250" name="内容占位符 2">
            <a:extLst>
              <a:ext uri="{FF2B5EF4-FFF2-40B4-BE49-F238E27FC236}">
                <a16:creationId xmlns:a16="http://schemas.microsoft.com/office/drawing/2014/main" id="{518A519C-1868-42FC-9700-B7F6B88108E6}"/>
              </a:ext>
            </a:extLst>
          </p:cNvPr>
          <p:cNvSpPr>
            <a:spLocks noGrp="1" noChangeArrowheads="1"/>
          </p:cNvSpPr>
          <p:nvPr>
            <p:ph idx="1"/>
          </p:nvPr>
        </p:nvSpPr>
        <p:spPr/>
        <p:txBody>
          <a:bodyPr/>
          <a:lstStyle/>
          <a:p>
            <a:r>
              <a:rPr kumimoji="1" lang="zh-CN" altLang="en-US"/>
              <a:t>上面我们讨论了选择不同的基可以对同样一组数据给出不同的表示，而且</a:t>
            </a:r>
            <a:r>
              <a:rPr kumimoji="1" lang="zh-CN" altLang="en-US">
                <a:solidFill>
                  <a:srgbClr val="FF0000"/>
                </a:solidFill>
              </a:rPr>
              <a:t>如果基的数量少于向量本身的维数，则可以达到降维的效果</a:t>
            </a:r>
            <a:r>
              <a:rPr kumimoji="1" lang="zh-CN" altLang="en-US"/>
              <a:t>。</a:t>
            </a:r>
          </a:p>
        </p:txBody>
      </p:sp>
      <p:sp>
        <p:nvSpPr>
          <p:cNvPr id="4" name="矩形 3">
            <a:extLst>
              <a:ext uri="{FF2B5EF4-FFF2-40B4-BE49-F238E27FC236}">
                <a16:creationId xmlns:a16="http://schemas.microsoft.com/office/drawing/2014/main" id="{9608AD4F-7BD2-427A-8BAD-AE718901FF3C}"/>
              </a:ext>
            </a:extLst>
          </p:cNvPr>
          <p:cNvSpPr/>
          <p:nvPr/>
        </p:nvSpPr>
        <p:spPr>
          <a:xfrm>
            <a:off x="1104900" y="3962400"/>
            <a:ext cx="6934200" cy="879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solidFill>
                  <a:srgbClr val="002060"/>
                </a:solidFill>
                <a:ea typeface="黑体" panose="02010609060101010101" pitchFamily="49" charset="-122"/>
              </a:rPr>
              <a:t>如何选择基才是最优的</a:t>
            </a:r>
            <a:r>
              <a:rPr lang="en-US" altLang="zh-CN" sz="2400">
                <a:solidFill>
                  <a:srgbClr val="002060"/>
                </a:solidFill>
                <a:ea typeface="黑体" panose="02010609060101010101" pitchFamily="49" charset="-122"/>
              </a:rPr>
              <a:t>?</a:t>
            </a:r>
            <a:endParaRPr kumimoji="1" lang="zh-CN" altLang="en-US" sz="2400">
              <a:solidFill>
                <a:srgbClr val="00206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a:extLst>
              <a:ext uri="{FF2B5EF4-FFF2-40B4-BE49-F238E27FC236}">
                <a16:creationId xmlns:a16="http://schemas.microsoft.com/office/drawing/2014/main" id="{743331A3-CBBD-4DFC-86C9-CCE26A486CA3}"/>
              </a:ext>
            </a:extLst>
          </p:cNvPr>
          <p:cNvSpPr>
            <a:spLocks noGrp="1" noChangeArrowheads="1"/>
          </p:cNvSpPr>
          <p:nvPr>
            <p:ph type="title"/>
          </p:nvPr>
        </p:nvSpPr>
        <p:spPr/>
        <p:txBody>
          <a:bodyPr/>
          <a:lstStyle/>
          <a:p>
            <a:r>
              <a:rPr kumimoji="1" lang="zh-CN" altLang="en-US"/>
              <a:t>一个具体的例子</a:t>
            </a:r>
          </a:p>
        </p:txBody>
      </p:sp>
      <p:sp>
        <p:nvSpPr>
          <p:cNvPr id="3" name="内容占位符 2">
            <a:extLst>
              <a:ext uri="{FF2B5EF4-FFF2-40B4-BE49-F238E27FC236}">
                <a16:creationId xmlns:a16="http://schemas.microsoft.com/office/drawing/2014/main" id="{5039ED6F-5371-458F-AED9-F14D48087FEC}"/>
              </a:ext>
            </a:extLst>
          </p:cNvPr>
          <p:cNvSpPr>
            <a:spLocks noGrp="1"/>
          </p:cNvSpPr>
          <p:nvPr>
            <p:ph idx="1"/>
          </p:nvPr>
        </p:nvSpPr>
        <p:spPr>
          <a:xfrm>
            <a:off x="152400" y="1825625"/>
            <a:ext cx="8991600" cy="4351338"/>
          </a:xfrm>
        </p:spPr>
        <p:txBody>
          <a:bodyPr/>
          <a:lstStyle/>
          <a:p>
            <a:r>
              <a:rPr lang="zh-CN" altLang="en-US"/>
              <a:t>假设数据由五条记录组成，将它们表示成矩阵形式：</a:t>
            </a:r>
            <a:endParaRPr lang="en-US" altLang="zh-CN"/>
          </a:p>
          <a:p>
            <a:pPr>
              <a:buFont typeface="Wingdings" panose="05000000000000000000" pitchFamily="2" charset="2"/>
              <a:buNone/>
            </a:pPr>
            <a:endParaRPr kumimoji="1" lang="en-US" altLang="zh-CN"/>
          </a:p>
          <a:p>
            <a:pPr>
              <a:buFont typeface="Wingdings" panose="05000000000000000000" pitchFamily="2" charset="2"/>
              <a:buNone/>
            </a:pPr>
            <a:r>
              <a:rPr kumimoji="1" lang="zh-CN" altLang="en-US"/>
              <a:t>其中每一列为一条数据记录，而一行为一个字段</a:t>
            </a:r>
            <a:endParaRPr kumimoji="1" lang="en-US" altLang="zh-CN"/>
          </a:p>
          <a:p>
            <a:pPr>
              <a:buFont typeface="Arial" panose="020B0604020202020204" pitchFamily="34" charset="0"/>
              <a:buChar char="•"/>
            </a:pPr>
            <a:r>
              <a:rPr lang="zh-CN" altLang="en-US"/>
              <a:t>为了后续处理方便，我们首先将每个字段内所有值都</a:t>
            </a:r>
            <a:r>
              <a:rPr lang="zh-CN" altLang="en-US">
                <a:solidFill>
                  <a:srgbClr val="FF0000"/>
                </a:solidFill>
              </a:rPr>
              <a:t>减去字段均值</a:t>
            </a:r>
            <a:r>
              <a:rPr lang="zh-CN" altLang="en-US"/>
              <a:t>，其结果是将每个字段都变为均值为</a:t>
            </a:r>
            <a:r>
              <a:rPr lang="en-US" altLang="zh-CN"/>
              <a:t>0</a:t>
            </a:r>
            <a:endParaRPr kumimoji="1" lang="zh-CN" altLang="en-US"/>
          </a:p>
        </p:txBody>
      </p:sp>
      <p:pic>
        <p:nvPicPr>
          <p:cNvPr id="54275" name="图片 3">
            <a:extLst>
              <a:ext uri="{FF2B5EF4-FFF2-40B4-BE49-F238E27FC236}">
                <a16:creationId xmlns:a16="http://schemas.microsoft.com/office/drawing/2014/main" id="{7F6EA98A-A187-4795-8C10-977B69FAA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527300"/>
            <a:ext cx="25273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图片 4">
            <a:extLst>
              <a:ext uri="{FF2B5EF4-FFF2-40B4-BE49-F238E27FC236}">
                <a16:creationId xmlns:a16="http://schemas.microsoft.com/office/drawing/2014/main" id="{D6B9F301-FB9D-4393-8011-B3D0AA1FED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0" y="5597525"/>
            <a:ext cx="2763838"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817BA96-2DEE-4E7F-A32B-56EADCAC5593}"/>
              </a:ext>
            </a:extLst>
          </p:cNvPr>
          <p:cNvSpPr>
            <a:spLocks noGrp="1" noChangeArrowheads="1"/>
          </p:cNvSpPr>
          <p:nvPr>
            <p:ph idx="1"/>
          </p:nvPr>
        </p:nvSpPr>
        <p:spPr>
          <a:xfrm>
            <a:off x="130175" y="174625"/>
            <a:ext cx="8515350" cy="4351338"/>
          </a:xfrm>
        </p:spPr>
        <p:txBody>
          <a:bodyPr/>
          <a:lstStyle/>
          <a:p>
            <a:r>
              <a:rPr kumimoji="1" lang="zh-CN" altLang="en-US"/>
              <a:t>问题：</a:t>
            </a:r>
            <a:r>
              <a:rPr lang="zh-CN" altLang="en-US"/>
              <a:t>如果我们必须使用一维来表示这些数据，又希望尽量保留原始的信息，如何做？</a:t>
            </a:r>
            <a:endParaRPr lang="en-US" altLang="zh-CN"/>
          </a:p>
          <a:p>
            <a:r>
              <a:rPr kumimoji="1" lang="zh-CN" altLang="en-US"/>
              <a:t>在二维平面中选择一个方向，将所有数据都投影到这个方向所在直线上，用投影值表示原始记录，这样由二维降到一维。</a:t>
            </a:r>
            <a:endParaRPr kumimoji="1" lang="en-US" altLang="zh-CN"/>
          </a:p>
          <a:p>
            <a:r>
              <a:rPr kumimoji="1" lang="zh-CN" altLang="en-US"/>
              <a:t>如何选择这个方向（或者说基）才能尽量保留最多的原始信息呢？</a:t>
            </a:r>
          </a:p>
        </p:txBody>
      </p:sp>
      <p:pic>
        <p:nvPicPr>
          <p:cNvPr id="55298" name="图片 4">
            <a:extLst>
              <a:ext uri="{FF2B5EF4-FFF2-40B4-BE49-F238E27FC236}">
                <a16:creationId xmlns:a16="http://schemas.microsoft.com/office/drawing/2014/main" id="{D521A164-B9AA-42B8-A521-D8DE43E43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425825"/>
            <a:ext cx="3116263"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27A2E6C-C469-4A40-B494-E9F6693FD9EF}"/>
              </a:ext>
            </a:extLst>
          </p:cNvPr>
          <p:cNvSpPr/>
          <p:nvPr/>
        </p:nvSpPr>
        <p:spPr>
          <a:xfrm>
            <a:off x="495300" y="4114800"/>
            <a:ext cx="4573588" cy="1019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dirty="0">
                <a:solidFill>
                  <a:srgbClr val="002060"/>
                </a:solidFill>
                <a:ea typeface="黑体" panose="02010609060101010101" pitchFamily="49" charset="-122"/>
              </a:rPr>
              <a:t>希望投影后的投影值尽可能分散</a:t>
            </a:r>
            <a:endParaRPr lang="en-US" altLang="zh-CN" sz="2400" dirty="0">
              <a:solidFill>
                <a:srgbClr val="002060"/>
              </a:solidFill>
              <a:ea typeface="黑体" panose="02010609060101010101" pitchFamily="49" charset="-122"/>
            </a:endParaRPr>
          </a:p>
          <a:p>
            <a:pPr algn="ctr" eaLnBrk="1" hangingPunct="1">
              <a:spcBef>
                <a:spcPct val="50000"/>
              </a:spcBef>
            </a:pPr>
            <a:r>
              <a:rPr kumimoji="1" lang="en-US" altLang="zh-CN" sz="2400" dirty="0">
                <a:solidFill>
                  <a:srgbClr val="002060"/>
                </a:solidFill>
                <a:ea typeface="黑体" panose="02010609060101010101" pitchFamily="49" charset="-122"/>
              </a:rPr>
              <a:t>(</a:t>
            </a:r>
            <a:r>
              <a:rPr kumimoji="1" lang="zh-CN" altLang="en-US" sz="2400" dirty="0">
                <a:solidFill>
                  <a:srgbClr val="002060"/>
                </a:solidFill>
                <a:ea typeface="黑体" panose="02010609060101010101" pitchFamily="49" charset="-122"/>
              </a:rPr>
              <a:t>方差大</a:t>
            </a:r>
            <a:r>
              <a:rPr kumimoji="1" lang="en-US" altLang="zh-CN" sz="2400" dirty="0">
                <a:solidFill>
                  <a:srgbClr val="002060"/>
                </a:solidFill>
                <a:ea typeface="黑体" panose="02010609060101010101" pitchFamily="49" charset="-122"/>
              </a:rPr>
              <a:t>)</a:t>
            </a:r>
            <a:endParaRPr kumimoji="1" lang="zh-CN" altLang="en-US" sz="2400" dirty="0">
              <a:solidFill>
                <a:srgbClr val="00206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27C8B9CA-C545-44A2-835A-92174614C867}"/>
              </a:ext>
            </a:extLst>
          </p:cNvPr>
          <p:cNvSpPr>
            <a:spLocks noGrp="1" noChangeArrowheads="1"/>
          </p:cNvSpPr>
          <p:nvPr>
            <p:ph type="title"/>
          </p:nvPr>
        </p:nvSpPr>
        <p:spPr/>
        <p:txBody>
          <a:bodyPr/>
          <a:lstStyle/>
          <a:p>
            <a:r>
              <a:rPr kumimoji="1" lang="zh-CN" altLang="en-US"/>
              <a:t>方差</a:t>
            </a:r>
          </a:p>
        </p:txBody>
      </p:sp>
      <p:sp>
        <p:nvSpPr>
          <p:cNvPr id="3" name="内容占位符 2">
            <a:extLst>
              <a:ext uri="{FF2B5EF4-FFF2-40B4-BE49-F238E27FC236}">
                <a16:creationId xmlns:a16="http://schemas.microsoft.com/office/drawing/2014/main" id="{65C7CB47-6F4B-4D86-AB1F-A03E90D1EDB7}"/>
              </a:ext>
            </a:extLst>
          </p:cNvPr>
          <p:cNvSpPr>
            <a:spLocks noGrp="1" noChangeArrowheads="1"/>
          </p:cNvSpPr>
          <p:nvPr>
            <p:ph idx="1"/>
          </p:nvPr>
        </p:nvSpPr>
        <p:spPr/>
        <p:txBody>
          <a:bodyPr/>
          <a:lstStyle/>
          <a:p>
            <a:r>
              <a:rPr kumimoji="1" lang="zh-CN" altLang="en-US"/>
              <a:t>投影后投影值的分散程度，可以用数学上的方差来表述</a:t>
            </a:r>
            <a:endParaRPr kumimoji="1" lang="en-US" altLang="zh-CN"/>
          </a:p>
          <a:p>
            <a:endParaRPr kumimoji="1" lang="en-US" altLang="zh-CN"/>
          </a:p>
          <a:p>
            <a:endParaRPr kumimoji="1" lang="en-US" altLang="zh-CN"/>
          </a:p>
          <a:p>
            <a:r>
              <a:rPr lang="zh-CN" altLang="en-US"/>
              <a:t>上述问题可以用数学形式化表述为：寻找一个一维基，使得所有数据变换为这个基上的坐标表示后，</a:t>
            </a:r>
            <a:r>
              <a:rPr lang="zh-CN" altLang="en-US">
                <a:solidFill>
                  <a:srgbClr val="FF0000"/>
                </a:solidFill>
              </a:rPr>
              <a:t>方差值最大</a:t>
            </a:r>
            <a:r>
              <a:rPr lang="zh-CN" altLang="en-US"/>
              <a:t>。</a:t>
            </a:r>
            <a:endParaRPr kumimoji="1" lang="zh-CN" altLang="en-US"/>
          </a:p>
        </p:txBody>
      </p:sp>
      <p:pic>
        <p:nvPicPr>
          <p:cNvPr id="57347" name="图片 3">
            <a:extLst>
              <a:ext uri="{FF2B5EF4-FFF2-40B4-BE49-F238E27FC236}">
                <a16:creationId xmlns:a16="http://schemas.microsoft.com/office/drawing/2014/main" id="{FDF8B4CB-2C14-49C2-B1C3-9D9D09192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3575" y="2771775"/>
            <a:ext cx="2298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图片 4">
            <a:extLst>
              <a:ext uri="{FF2B5EF4-FFF2-40B4-BE49-F238E27FC236}">
                <a16:creationId xmlns:a16="http://schemas.microsoft.com/office/drawing/2014/main" id="{22E0ED1E-1E36-4E93-B19A-3B904C424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50" y="2733675"/>
            <a:ext cx="31115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右箭头 5">
            <a:extLst>
              <a:ext uri="{FF2B5EF4-FFF2-40B4-BE49-F238E27FC236}">
                <a16:creationId xmlns:a16="http://schemas.microsoft.com/office/drawing/2014/main" id="{1557F761-FC98-4B1D-A181-6A1C9A5DFDD6}"/>
              </a:ext>
            </a:extLst>
          </p:cNvPr>
          <p:cNvSpPr/>
          <p:nvPr/>
        </p:nvSpPr>
        <p:spPr>
          <a:xfrm>
            <a:off x="4370388" y="3063875"/>
            <a:ext cx="1270000" cy="2730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57350" name="文本框 6">
            <a:extLst>
              <a:ext uri="{FF2B5EF4-FFF2-40B4-BE49-F238E27FC236}">
                <a16:creationId xmlns:a16="http://schemas.microsoft.com/office/drawing/2014/main" id="{6F82C6A3-8AE8-4EB4-A80E-1251DC808150}"/>
              </a:ext>
            </a:extLst>
          </p:cNvPr>
          <p:cNvSpPr txBox="1">
            <a:spLocks noChangeArrowheads="1"/>
          </p:cNvSpPr>
          <p:nvPr/>
        </p:nvSpPr>
        <p:spPr bwMode="auto">
          <a:xfrm>
            <a:off x="4572000" y="2741613"/>
            <a:ext cx="877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000">
                <a:solidFill>
                  <a:schemeClr val="hlink"/>
                </a:solidFill>
                <a:ea typeface="宋体" panose="02010600030101010101" pitchFamily="2" charset="-122"/>
              </a:rPr>
              <a:t>去均值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0CD93774-7D95-410E-8D3D-05E301D1DD6F}"/>
              </a:ext>
            </a:extLst>
          </p:cNvPr>
          <p:cNvSpPr>
            <a:spLocks noGrp="1" noChangeArrowheads="1"/>
          </p:cNvSpPr>
          <p:nvPr>
            <p:ph type="title"/>
          </p:nvPr>
        </p:nvSpPr>
        <p:spPr/>
        <p:txBody>
          <a:bodyPr/>
          <a:lstStyle/>
          <a:p>
            <a:r>
              <a:rPr kumimoji="1" lang="zh-CN" altLang="en-US"/>
              <a:t>存在的问题</a:t>
            </a:r>
          </a:p>
        </p:txBody>
      </p:sp>
      <p:sp>
        <p:nvSpPr>
          <p:cNvPr id="3" name="内容占位符 2">
            <a:extLst>
              <a:ext uri="{FF2B5EF4-FFF2-40B4-BE49-F238E27FC236}">
                <a16:creationId xmlns:a16="http://schemas.microsoft.com/office/drawing/2014/main" id="{2E8BA7BC-DA5D-4F1E-9953-7F6A3E2C36D8}"/>
              </a:ext>
            </a:extLst>
          </p:cNvPr>
          <p:cNvSpPr>
            <a:spLocks noGrp="1" noChangeArrowheads="1"/>
          </p:cNvSpPr>
          <p:nvPr>
            <p:ph idx="1"/>
          </p:nvPr>
        </p:nvSpPr>
        <p:spPr>
          <a:xfrm>
            <a:off x="609600" y="1417638"/>
            <a:ext cx="8277225" cy="4351337"/>
          </a:xfrm>
        </p:spPr>
        <p:txBody>
          <a:bodyPr/>
          <a:lstStyle/>
          <a:p>
            <a:r>
              <a:rPr kumimoji="1" lang="zh-CN" altLang="en-US"/>
              <a:t>如果维度更高呢？</a:t>
            </a:r>
            <a:endParaRPr kumimoji="1" lang="en-US" altLang="zh-CN"/>
          </a:p>
          <a:p>
            <a:r>
              <a:rPr kumimoji="1" lang="zh-CN" altLang="en-US"/>
              <a:t>考虑三维降到二维问题。</a:t>
            </a:r>
            <a:endParaRPr kumimoji="1" lang="en-US" altLang="zh-CN"/>
          </a:p>
          <a:p>
            <a:r>
              <a:rPr kumimoji="1" lang="zh-CN" altLang="en-US"/>
              <a:t>与之前相同，首先我们希望找到一个方向使得投影后方差最大，这样就完成了第一个方向的选择，继而我们选择第二个投影方向。</a:t>
            </a:r>
            <a:endParaRPr kumimoji="1" lang="en-US" altLang="zh-CN"/>
          </a:p>
          <a:p>
            <a:r>
              <a:rPr kumimoji="1" lang="zh-CN" altLang="en-US"/>
              <a:t>如果还是单纯只选择方差最大的方向，很明显，这个方向与第一个方向应该是“几乎重合在一起”，显然这样的维度是没有用的，因此，应该有其他约束条件。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a:extLst>
              <a:ext uri="{FF2B5EF4-FFF2-40B4-BE49-F238E27FC236}">
                <a16:creationId xmlns:a16="http://schemas.microsoft.com/office/drawing/2014/main" id="{7C08E935-2C50-43A0-B68D-3B9B4A1C4D6E}"/>
              </a:ext>
            </a:extLst>
          </p:cNvPr>
          <p:cNvSpPr>
            <a:spLocks noGrp="1" noChangeArrowheads="1"/>
          </p:cNvSpPr>
          <p:nvPr>
            <p:ph type="title"/>
          </p:nvPr>
        </p:nvSpPr>
        <p:spPr/>
        <p:txBody>
          <a:bodyPr/>
          <a:lstStyle/>
          <a:p>
            <a:r>
              <a:rPr kumimoji="1" lang="zh-CN" altLang="en-US"/>
              <a:t>去除冗余</a:t>
            </a:r>
          </a:p>
        </p:txBody>
      </p:sp>
      <p:sp>
        <p:nvSpPr>
          <p:cNvPr id="3" name="内容占位符 2">
            <a:extLst>
              <a:ext uri="{FF2B5EF4-FFF2-40B4-BE49-F238E27FC236}">
                <a16:creationId xmlns:a16="http://schemas.microsoft.com/office/drawing/2014/main" id="{F653307F-6E55-4662-BBF2-1AD77D7A256F}"/>
              </a:ext>
            </a:extLst>
          </p:cNvPr>
          <p:cNvSpPr>
            <a:spLocks noGrp="1" noChangeArrowheads="1"/>
          </p:cNvSpPr>
          <p:nvPr>
            <p:ph idx="1"/>
          </p:nvPr>
        </p:nvSpPr>
        <p:spPr>
          <a:xfrm>
            <a:off x="454025" y="1420813"/>
            <a:ext cx="8537575" cy="4530725"/>
          </a:xfrm>
        </p:spPr>
        <p:txBody>
          <a:bodyPr/>
          <a:lstStyle/>
          <a:p>
            <a:r>
              <a:rPr lang="zh-CN" altLang="en-US"/>
              <a:t>直观的想法：希望两个字段</a:t>
            </a:r>
            <a:r>
              <a:rPr lang="en-US" altLang="zh-CN"/>
              <a:t>(</a:t>
            </a:r>
            <a:r>
              <a:rPr lang="zh-CN" altLang="en-US"/>
              <a:t>特征</a:t>
            </a:r>
            <a:r>
              <a:rPr lang="en-US" altLang="zh-CN"/>
              <a:t>)</a:t>
            </a:r>
            <a:r>
              <a:rPr lang="zh-CN" altLang="en-US"/>
              <a:t>之间存在相关性越少越好，因为相关性意味着两个字段不是完全独立，必然存在重复表示的信息。</a:t>
            </a:r>
            <a:endParaRPr lang="en-US" altLang="zh-CN"/>
          </a:p>
          <a:p>
            <a:r>
              <a:rPr lang="zh-CN" altLang="en-US"/>
              <a:t>数学上可以用两个字段的协方差表示其相关性</a:t>
            </a:r>
            <a:endParaRPr lang="en-US" altLang="zh-CN"/>
          </a:p>
          <a:p>
            <a:endParaRPr kumimoji="1" lang="en-US" altLang="zh-CN"/>
          </a:p>
          <a:p>
            <a:endParaRPr kumimoji="1" lang="en-US" altLang="zh-CN"/>
          </a:p>
          <a:p>
            <a:r>
              <a:rPr lang="zh-CN" altLang="en-US"/>
              <a:t>当协方差为</a:t>
            </a:r>
            <a:r>
              <a:rPr lang="en-US" altLang="zh-CN"/>
              <a:t>0</a:t>
            </a:r>
            <a:r>
              <a:rPr lang="zh-CN" altLang="en-US"/>
              <a:t>时，表示两个字段完全独立。</a:t>
            </a:r>
            <a:endParaRPr kumimoji="1" lang="zh-CN" altLang="en-US"/>
          </a:p>
        </p:txBody>
      </p:sp>
      <p:pic>
        <p:nvPicPr>
          <p:cNvPr id="4" name="图片 3">
            <a:extLst>
              <a:ext uri="{FF2B5EF4-FFF2-40B4-BE49-F238E27FC236}">
                <a16:creationId xmlns:a16="http://schemas.microsoft.com/office/drawing/2014/main" id="{75218D5E-F6E0-48E7-86B8-E37D7EDD9A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3949700"/>
            <a:ext cx="26416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DC39D268-A305-4F02-981A-52D8E255CA61}"/>
              </a:ext>
            </a:extLst>
          </p:cNvPr>
          <p:cNvSpPr/>
          <p:nvPr/>
        </p:nvSpPr>
        <p:spPr>
          <a:xfrm>
            <a:off x="3921125" y="4008438"/>
            <a:ext cx="974725" cy="792162"/>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6" name="右箭头 5">
            <a:extLst>
              <a:ext uri="{FF2B5EF4-FFF2-40B4-BE49-F238E27FC236}">
                <a16:creationId xmlns:a16="http://schemas.microsoft.com/office/drawing/2014/main" id="{E459A4E2-D3C2-4878-A5B1-15B40E99BEA2}"/>
              </a:ext>
            </a:extLst>
          </p:cNvPr>
          <p:cNvSpPr/>
          <p:nvPr/>
        </p:nvSpPr>
        <p:spPr>
          <a:xfrm>
            <a:off x="5011738" y="4305300"/>
            <a:ext cx="6286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7" name="文本框 6">
            <a:extLst>
              <a:ext uri="{FF2B5EF4-FFF2-40B4-BE49-F238E27FC236}">
                <a16:creationId xmlns:a16="http://schemas.microsoft.com/office/drawing/2014/main" id="{C4AA9FB8-DC46-42A5-A329-E8594B45E910}"/>
              </a:ext>
            </a:extLst>
          </p:cNvPr>
          <p:cNvSpPr txBox="1">
            <a:spLocks noChangeArrowheads="1"/>
          </p:cNvSpPr>
          <p:nvPr/>
        </p:nvSpPr>
        <p:spPr bwMode="auto">
          <a:xfrm>
            <a:off x="5756275" y="4233863"/>
            <a:ext cx="647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000">
                <a:solidFill>
                  <a:schemeClr val="hlink"/>
                </a:solidFill>
                <a:ea typeface="宋体" panose="02010600030101010101" pitchFamily="2" charset="-122"/>
              </a:rPr>
              <a:t>内积</a:t>
            </a:r>
          </a:p>
        </p:txBody>
      </p:sp>
      <p:sp>
        <p:nvSpPr>
          <p:cNvPr id="8" name="矩形 7">
            <a:extLst>
              <a:ext uri="{FF2B5EF4-FFF2-40B4-BE49-F238E27FC236}">
                <a16:creationId xmlns:a16="http://schemas.microsoft.com/office/drawing/2014/main" id="{ABD5D285-5E5C-434C-AD06-144537E31FD4}"/>
              </a:ext>
            </a:extLst>
          </p:cNvPr>
          <p:cNvSpPr/>
          <p:nvPr/>
        </p:nvSpPr>
        <p:spPr>
          <a:xfrm>
            <a:off x="468313" y="4838700"/>
            <a:ext cx="8218487" cy="2019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solidFill>
                  <a:srgbClr val="FF0000"/>
                </a:solidFill>
                <a:ea typeface="黑体" panose="02010609060101010101" pitchFamily="49" charset="-122"/>
              </a:rPr>
              <a:t>降维问题的优化目标</a:t>
            </a:r>
            <a:r>
              <a:rPr lang="zh-CN" altLang="en-US" sz="2400">
                <a:solidFill>
                  <a:srgbClr val="002060"/>
                </a:solidFill>
                <a:ea typeface="黑体" panose="02010609060101010101" pitchFamily="49" charset="-122"/>
              </a:rPr>
              <a:t>：将一组</a:t>
            </a:r>
            <a:r>
              <a:rPr lang="en-US" altLang="zh-CN" sz="2400">
                <a:solidFill>
                  <a:srgbClr val="002060"/>
                </a:solidFill>
                <a:ea typeface="黑体" panose="02010609060101010101" pitchFamily="49" charset="-122"/>
              </a:rPr>
              <a:t>N</a:t>
            </a:r>
            <a:r>
              <a:rPr lang="zh-CN" altLang="en-US" sz="2400">
                <a:solidFill>
                  <a:srgbClr val="002060"/>
                </a:solidFill>
                <a:ea typeface="黑体" panose="02010609060101010101" pitchFamily="49" charset="-122"/>
              </a:rPr>
              <a:t>维向量降为</a:t>
            </a:r>
            <a:r>
              <a:rPr lang="en-US" altLang="zh-CN" sz="2400" i="1">
                <a:solidFill>
                  <a:srgbClr val="002060"/>
                </a:solidFill>
                <a:ea typeface="黑体" panose="02010609060101010101" pitchFamily="49" charset="-122"/>
              </a:rPr>
              <a:t>R</a:t>
            </a:r>
            <a:r>
              <a:rPr lang="zh-CN" altLang="en-US" sz="2400">
                <a:solidFill>
                  <a:srgbClr val="002060"/>
                </a:solidFill>
                <a:ea typeface="黑体" panose="02010609060101010101" pitchFamily="49" charset="-122"/>
              </a:rPr>
              <a:t>维（</a:t>
            </a:r>
            <a:r>
              <a:rPr lang="en-US" altLang="zh-CN" sz="2400" i="1">
                <a:solidFill>
                  <a:srgbClr val="002060"/>
                </a:solidFill>
                <a:ea typeface="黑体" panose="02010609060101010101" pitchFamily="49" charset="-122"/>
              </a:rPr>
              <a:t>0&lt;R&lt;N</a:t>
            </a:r>
            <a:r>
              <a:rPr lang="zh-CN" altLang="en-US" sz="2400">
                <a:solidFill>
                  <a:srgbClr val="002060"/>
                </a:solidFill>
                <a:ea typeface="黑体" panose="02010609060101010101" pitchFamily="49" charset="-122"/>
              </a:rPr>
              <a:t>），其目标是选择</a:t>
            </a:r>
            <a:r>
              <a:rPr lang="en-US" altLang="zh-CN" sz="2400" i="1">
                <a:solidFill>
                  <a:srgbClr val="002060"/>
                </a:solidFill>
                <a:ea typeface="黑体" panose="02010609060101010101" pitchFamily="49" charset="-122"/>
              </a:rPr>
              <a:t>R</a:t>
            </a:r>
            <a:r>
              <a:rPr lang="zh-CN" altLang="en-US" sz="2400">
                <a:solidFill>
                  <a:srgbClr val="002060"/>
                </a:solidFill>
                <a:ea typeface="黑体" panose="02010609060101010101" pitchFamily="49" charset="-122"/>
              </a:rPr>
              <a:t>个单位正交基（模为</a:t>
            </a:r>
            <a:r>
              <a:rPr lang="en-US" altLang="zh-CN" sz="2400">
                <a:solidFill>
                  <a:srgbClr val="002060"/>
                </a:solidFill>
                <a:ea typeface="黑体" panose="02010609060101010101" pitchFamily="49" charset="-122"/>
              </a:rPr>
              <a:t>1</a:t>
            </a:r>
            <a:r>
              <a:rPr lang="zh-CN" altLang="en-US" sz="2400">
                <a:solidFill>
                  <a:srgbClr val="002060"/>
                </a:solidFill>
                <a:ea typeface="黑体" panose="02010609060101010101" pitchFamily="49" charset="-122"/>
              </a:rPr>
              <a:t>），使得原始数据变换到这组基上后，各字段两两间协方差为</a:t>
            </a:r>
            <a:r>
              <a:rPr lang="en-US" altLang="zh-CN" sz="2400">
                <a:solidFill>
                  <a:srgbClr val="002060"/>
                </a:solidFill>
                <a:ea typeface="黑体" panose="02010609060101010101" pitchFamily="49" charset="-122"/>
              </a:rPr>
              <a:t>0</a:t>
            </a:r>
            <a:r>
              <a:rPr lang="zh-CN" altLang="en-US" sz="2400">
                <a:solidFill>
                  <a:srgbClr val="002060"/>
                </a:solidFill>
                <a:ea typeface="黑体" panose="02010609060101010101" pitchFamily="49" charset="-122"/>
              </a:rPr>
              <a:t>，而字段内的方差则尽可能大（在正交的约束下，取最大的</a:t>
            </a:r>
            <a:r>
              <a:rPr lang="en-US" altLang="zh-CN" sz="2400" i="1">
                <a:solidFill>
                  <a:srgbClr val="002060"/>
                </a:solidFill>
                <a:ea typeface="黑体" panose="02010609060101010101" pitchFamily="49" charset="-122"/>
              </a:rPr>
              <a:t>R</a:t>
            </a:r>
            <a:r>
              <a:rPr lang="zh-CN" altLang="en-US" sz="2400">
                <a:solidFill>
                  <a:srgbClr val="002060"/>
                </a:solidFill>
                <a:ea typeface="黑体" panose="02010609060101010101" pitchFamily="49" charset="-122"/>
              </a:rPr>
              <a:t>个方差）。</a:t>
            </a:r>
            <a:endParaRPr kumimoji="1" lang="zh-CN" altLang="en-US" sz="2400">
              <a:solidFill>
                <a:srgbClr val="00206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a:extLst>
              <a:ext uri="{FF2B5EF4-FFF2-40B4-BE49-F238E27FC236}">
                <a16:creationId xmlns:a16="http://schemas.microsoft.com/office/drawing/2014/main" id="{894DC241-7D4F-40C7-9476-9D851FD0DE81}"/>
              </a:ext>
            </a:extLst>
          </p:cNvPr>
          <p:cNvSpPr>
            <a:spLocks noGrp="1" noChangeArrowheads="1"/>
          </p:cNvSpPr>
          <p:nvPr>
            <p:ph type="title"/>
          </p:nvPr>
        </p:nvSpPr>
        <p:spPr/>
        <p:txBody>
          <a:bodyPr/>
          <a:lstStyle/>
          <a:p>
            <a:r>
              <a:rPr kumimoji="1" lang="zh-CN" altLang="en-US"/>
              <a:t>矩阵表示</a:t>
            </a:r>
          </a:p>
        </p:txBody>
      </p:sp>
      <p:sp>
        <p:nvSpPr>
          <p:cNvPr id="3" name="内容占位符 2">
            <a:extLst>
              <a:ext uri="{FF2B5EF4-FFF2-40B4-BE49-F238E27FC236}">
                <a16:creationId xmlns:a16="http://schemas.microsoft.com/office/drawing/2014/main" id="{E7CE711E-7A24-4625-9162-752A2B9E4CA0}"/>
              </a:ext>
            </a:extLst>
          </p:cNvPr>
          <p:cNvSpPr>
            <a:spLocks noGrp="1" noChangeArrowheads="1"/>
          </p:cNvSpPr>
          <p:nvPr>
            <p:ph idx="1"/>
          </p:nvPr>
        </p:nvSpPr>
        <p:spPr/>
        <p:txBody>
          <a:bodyPr/>
          <a:lstStyle/>
          <a:p>
            <a:r>
              <a:rPr kumimoji="1" lang="zh-CN" altLang="en-US"/>
              <a:t>发现：优化目标与</a:t>
            </a:r>
            <a:r>
              <a:rPr lang="zh-CN" altLang="en-US">
                <a:solidFill>
                  <a:srgbClr val="FF0000"/>
                </a:solidFill>
              </a:rPr>
              <a:t>字段内方差</a:t>
            </a:r>
            <a:r>
              <a:rPr lang="zh-CN" altLang="en-US"/>
              <a:t>及</a:t>
            </a:r>
            <a:r>
              <a:rPr lang="zh-CN" altLang="en-US">
                <a:solidFill>
                  <a:srgbClr val="FF0000"/>
                </a:solidFill>
              </a:rPr>
              <a:t>字段间协方差</a:t>
            </a:r>
            <a:r>
              <a:rPr lang="zh-CN" altLang="en-US"/>
              <a:t>有密切关系；两者均可以表示为</a:t>
            </a:r>
            <a:r>
              <a:rPr lang="zh-CN" altLang="en-US">
                <a:solidFill>
                  <a:srgbClr val="FF0000"/>
                </a:solidFill>
              </a:rPr>
              <a:t>内积</a:t>
            </a:r>
            <a:r>
              <a:rPr lang="zh-CN" altLang="en-US"/>
              <a:t>的形式，而内积又与</a:t>
            </a:r>
            <a:r>
              <a:rPr lang="zh-CN" altLang="en-US">
                <a:solidFill>
                  <a:srgbClr val="FF0000"/>
                </a:solidFill>
              </a:rPr>
              <a:t>矩阵相乘</a:t>
            </a:r>
            <a:r>
              <a:rPr lang="zh-CN" altLang="en-US"/>
              <a:t>密切相关。</a:t>
            </a:r>
            <a:endParaRPr lang="en-US" altLang="zh-CN"/>
          </a:p>
          <a:p>
            <a:r>
              <a:rPr kumimoji="1" lang="zh-CN" altLang="en-US"/>
              <a:t>将数据用矩阵的形式表示</a:t>
            </a:r>
          </a:p>
        </p:txBody>
      </p:sp>
      <p:pic>
        <p:nvPicPr>
          <p:cNvPr id="4" name="图片 3">
            <a:extLst>
              <a:ext uri="{FF2B5EF4-FFF2-40B4-BE49-F238E27FC236}">
                <a16:creationId xmlns:a16="http://schemas.microsoft.com/office/drawing/2014/main" id="{70F77F84-9DE3-4914-B198-61B8B911E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450" y="3865563"/>
            <a:ext cx="2997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下箭头 4">
            <a:extLst>
              <a:ext uri="{FF2B5EF4-FFF2-40B4-BE49-F238E27FC236}">
                <a16:creationId xmlns:a16="http://schemas.microsoft.com/office/drawing/2014/main" id="{F6B17F9D-F7FB-4D7D-99E5-0C0BA4DA76AE}"/>
              </a:ext>
            </a:extLst>
          </p:cNvPr>
          <p:cNvSpPr/>
          <p:nvPr/>
        </p:nvSpPr>
        <p:spPr>
          <a:xfrm>
            <a:off x="4289425" y="4838700"/>
            <a:ext cx="404813"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6" name="图片 5">
            <a:extLst>
              <a:ext uri="{FF2B5EF4-FFF2-40B4-BE49-F238E27FC236}">
                <a16:creationId xmlns:a16="http://schemas.microsoft.com/office/drawing/2014/main" id="{0DEE8BA6-3239-4300-8FB7-99B1D0337F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5507038"/>
            <a:ext cx="46990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6D07C83D-0BA7-4921-BD1A-D63E2EFBC023}"/>
              </a:ext>
            </a:extLst>
          </p:cNvPr>
          <p:cNvSpPr/>
          <p:nvPr/>
        </p:nvSpPr>
        <p:spPr>
          <a:xfrm>
            <a:off x="3686175" y="5534025"/>
            <a:ext cx="1220788" cy="427038"/>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8" name="矩形 7">
            <a:extLst>
              <a:ext uri="{FF2B5EF4-FFF2-40B4-BE49-F238E27FC236}">
                <a16:creationId xmlns:a16="http://schemas.microsoft.com/office/drawing/2014/main" id="{224175BA-1A16-404F-9BC5-34A14A6D299E}"/>
              </a:ext>
            </a:extLst>
          </p:cNvPr>
          <p:cNvSpPr/>
          <p:nvPr/>
        </p:nvSpPr>
        <p:spPr>
          <a:xfrm>
            <a:off x="5199063" y="5556250"/>
            <a:ext cx="1412875" cy="406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9" name="矩形 8">
            <a:extLst>
              <a:ext uri="{FF2B5EF4-FFF2-40B4-BE49-F238E27FC236}">
                <a16:creationId xmlns:a16="http://schemas.microsoft.com/office/drawing/2014/main" id="{B105C8DE-BC74-452D-93D3-C30D6663C869}"/>
              </a:ext>
            </a:extLst>
          </p:cNvPr>
          <p:cNvSpPr/>
          <p:nvPr/>
        </p:nvSpPr>
        <p:spPr>
          <a:xfrm>
            <a:off x="5294313" y="5999163"/>
            <a:ext cx="1220787" cy="427037"/>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10" name="矩形 9">
            <a:extLst>
              <a:ext uri="{FF2B5EF4-FFF2-40B4-BE49-F238E27FC236}">
                <a16:creationId xmlns:a16="http://schemas.microsoft.com/office/drawing/2014/main" id="{25F433DB-89BF-48F6-B3EB-A193A7C34D8A}"/>
              </a:ext>
            </a:extLst>
          </p:cNvPr>
          <p:cNvSpPr/>
          <p:nvPr/>
        </p:nvSpPr>
        <p:spPr>
          <a:xfrm>
            <a:off x="3619500" y="5995988"/>
            <a:ext cx="1349375" cy="406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13" name="矩形 12">
            <a:extLst>
              <a:ext uri="{FF2B5EF4-FFF2-40B4-BE49-F238E27FC236}">
                <a16:creationId xmlns:a16="http://schemas.microsoft.com/office/drawing/2014/main" id="{2FB614F3-4E4A-4769-9C79-25ED533E3329}"/>
              </a:ext>
            </a:extLst>
          </p:cNvPr>
          <p:cNvSpPr/>
          <p:nvPr/>
        </p:nvSpPr>
        <p:spPr>
          <a:xfrm>
            <a:off x="28575" y="4784725"/>
            <a:ext cx="9055100" cy="1806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defTabSz="4572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indent="-285750" defTabSz="45720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indent="-228600" defTabSz="4572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indent="-228600" defTabSz="4572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indent="-228600" defTabSz="4572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indent="-228600" defTabSz="4572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indent="-228600" defTabSz="4572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indent="-228600" defTabSz="4572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indent="-228600" defTabSz="4572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400">
                <a:solidFill>
                  <a:srgbClr val="002060"/>
                </a:solidFill>
              </a:rPr>
              <a:t>我们有</a:t>
            </a:r>
            <a:r>
              <a:rPr lang="zh-CN" altLang="en-US" sz="2400" i="1">
                <a:solidFill>
                  <a:srgbClr val="002060"/>
                </a:solidFill>
                <a:latin typeface="Times New Roman" panose="02020603050405020304" pitchFamily="18" charset="0"/>
                <a:cs typeface="Times New Roman" panose="02020603050405020304" pitchFamily="18" charset="0"/>
              </a:rPr>
              <a:t>m</a:t>
            </a:r>
            <a:r>
              <a:rPr lang="zh-CN" altLang="en-US" sz="2400">
                <a:solidFill>
                  <a:srgbClr val="002060"/>
                </a:solidFill>
              </a:rPr>
              <a:t>个</a:t>
            </a:r>
            <a:r>
              <a:rPr lang="zh-CN" altLang="en-US" sz="2400" i="1">
                <a:solidFill>
                  <a:srgbClr val="002060"/>
                </a:solidFill>
                <a:latin typeface="Times New Roman" panose="02020603050405020304" pitchFamily="18" charset="0"/>
                <a:cs typeface="Times New Roman" panose="02020603050405020304" pitchFamily="18" charset="0"/>
              </a:rPr>
              <a:t>n</a:t>
            </a:r>
            <a:r>
              <a:rPr lang="zh-CN" altLang="en-US" sz="2400">
                <a:solidFill>
                  <a:srgbClr val="002060"/>
                </a:solidFill>
              </a:rPr>
              <a:t>维数据记录，将其按列排成</a:t>
            </a:r>
            <a:r>
              <a:rPr lang="zh-CN" altLang="en-US" sz="2400" i="1">
                <a:solidFill>
                  <a:srgbClr val="002060"/>
                </a:solidFill>
                <a:latin typeface="Times New Roman" panose="02020603050405020304" pitchFamily="18" charset="0"/>
                <a:cs typeface="Times New Roman" panose="02020603050405020304" pitchFamily="18" charset="0"/>
              </a:rPr>
              <a:t>n</a:t>
            </a:r>
            <a:r>
              <a:rPr lang="zh-CN" altLang="en-US" sz="2400">
                <a:solidFill>
                  <a:srgbClr val="002060"/>
                </a:solidFill>
              </a:rPr>
              <a:t>乘</a:t>
            </a:r>
            <a:r>
              <a:rPr lang="zh-CN" altLang="en-US" sz="2400" i="1">
                <a:solidFill>
                  <a:srgbClr val="002060"/>
                </a:solidFill>
                <a:latin typeface="Times New Roman" panose="02020603050405020304" pitchFamily="18" charset="0"/>
                <a:cs typeface="Times New Roman" panose="02020603050405020304" pitchFamily="18" charset="0"/>
              </a:rPr>
              <a:t>m</a:t>
            </a:r>
            <a:r>
              <a:rPr lang="zh-CN" altLang="en-US" sz="2400">
                <a:solidFill>
                  <a:srgbClr val="002060"/>
                </a:solidFill>
              </a:rPr>
              <a:t>的矩阵 </a:t>
            </a:r>
            <a:r>
              <a:rPr lang="zh-CN" altLang="en-US" sz="2400" i="1">
                <a:solidFill>
                  <a:srgbClr val="002060"/>
                </a:solidFill>
              </a:rPr>
              <a:t>X</a:t>
            </a:r>
            <a:r>
              <a:rPr lang="zh-CN" altLang="en-US" sz="2400">
                <a:solidFill>
                  <a:srgbClr val="002060"/>
                </a:solidFill>
              </a:rPr>
              <a:t>，设                      则C是一个对称矩阵，其对角线是各个字段的方差，而第</a:t>
            </a:r>
            <a:r>
              <a:rPr lang="zh-CN" altLang="en-US" sz="2400" i="1">
                <a:solidFill>
                  <a:srgbClr val="002060"/>
                </a:solidFill>
                <a:latin typeface="Times New Roman" panose="02020603050405020304" pitchFamily="18" charset="0"/>
                <a:cs typeface="Times New Roman" panose="02020603050405020304" pitchFamily="18" charset="0"/>
              </a:rPr>
              <a:t>i</a:t>
            </a:r>
            <a:r>
              <a:rPr lang="zh-CN" altLang="en-US" sz="2400">
                <a:solidFill>
                  <a:srgbClr val="002060"/>
                </a:solidFill>
              </a:rPr>
              <a:t>行</a:t>
            </a:r>
            <a:r>
              <a:rPr lang="zh-CN" altLang="en-US" sz="2400" i="1">
                <a:solidFill>
                  <a:srgbClr val="002060"/>
                </a:solidFill>
                <a:latin typeface="Times New Roman" panose="02020603050405020304" pitchFamily="18" charset="0"/>
                <a:cs typeface="Times New Roman" panose="02020603050405020304" pitchFamily="18" charset="0"/>
              </a:rPr>
              <a:t>j</a:t>
            </a:r>
            <a:r>
              <a:rPr lang="zh-CN" altLang="en-US" sz="2400">
                <a:solidFill>
                  <a:srgbClr val="002060"/>
                </a:solidFill>
              </a:rPr>
              <a:t>列和</a:t>
            </a:r>
            <a:r>
              <a:rPr lang="zh-CN" altLang="en-US" sz="2400" i="1">
                <a:solidFill>
                  <a:srgbClr val="002060"/>
                </a:solidFill>
                <a:latin typeface="Times New Roman" panose="02020603050405020304" pitchFamily="18" charset="0"/>
                <a:cs typeface="Times New Roman" panose="02020603050405020304" pitchFamily="18" charset="0"/>
              </a:rPr>
              <a:t>j</a:t>
            </a:r>
            <a:r>
              <a:rPr lang="zh-CN" altLang="en-US" sz="2400">
                <a:solidFill>
                  <a:srgbClr val="002060"/>
                </a:solidFill>
              </a:rPr>
              <a:t>行</a:t>
            </a:r>
            <a:r>
              <a:rPr lang="zh-CN" altLang="en-US" sz="2400" i="1">
                <a:solidFill>
                  <a:srgbClr val="002060"/>
                </a:solidFill>
                <a:latin typeface="Times New Roman" panose="02020603050405020304" pitchFamily="18" charset="0"/>
                <a:cs typeface="Times New Roman" panose="02020603050405020304" pitchFamily="18" charset="0"/>
              </a:rPr>
              <a:t>i</a:t>
            </a:r>
            <a:r>
              <a:rPr lang="zh-CN" altLang="en-US" sz="2400">
                <a:solidFill>
                  <a:srgbClr val="002060"/>
                </a:solidFill>
              </a:rPr>
              <a:t>列元素相同，表示</a:t>
            </a:r>
            <a:r>
              <a:rPr lang="zh-CN" altLang="en-US" sz="2400" i="1">
                <a:solidFill>
                  <a:srgbClr val="002060"/>
                </a:solidFill>
                <a:latin typeface="Times New Roman" panose="02020603050405020304" pitchFamily="18" charset="0"/>
                <a:cs typeface="Times New Roman" panose="02020603050405020304" pitchFamily="18" charset="0"/>
              </a:rPr>
              <a:t>i</a:t>
            </a:r>
            <a:r>
              <a:rPr lang="zh-CN" altLang="en-US" sz="2400">
                <a:solidFill>
                  <a:srgbClr val="002060"/>
                </a:solidFill>
              </a:rPr>
              <a:t>和</a:t>
            </a:r>
            <a:r>
              <a:rPr lang="zh-CN" altLang="en-US" sz="2400" i="1">
                <a:solidFill>
                  <a:srgbClr val="002060"/>
                </a:solidFill>
                <a:latin typeface="Times New Roman" panose="02020603050405020304" pitchFamily="18" charset="0"/>
                <a:cs typeface="Times New Roman" panose="02020603050405020304" pitchFamily="18" charset="0"/>
              </a:rPr>
              <a:t>j</a:t>
            </a:r>
            <a:r>
              <a:rPr lang="zh-CN" altLang="en-US" sz="2400">
                <a:solidFill>
                  <a:srgbClr val="002060"/>
                </a:solidFill>
              </a:rPr>
              <a:t>两个字段的协方差。</a:t>
            </a:r>
          </a:p>
        </p:txBody>
      </p:sp>
      <p:sp>
        <p:nvSpPr>
          <p:cNvPr id="11" name="文本框 10">
            <a:extLst>
              <a:ext uri="{FF2B5EF4-FFF2-40B4-BE49-F238E27FC236}">
                <a16:creationId xmlns:a16="http://schemas.microsoft.com/office/drawing/2014/main" id="{FCB5E0B7-0F4E-4633-8E40-6713A6CBE39F}"/>
              </a:ext>
            </a:extLst>
          </p:cNvPr>
          <p:cNvSpPr txBox="1">
            <a:spLocks noRot="1" noChangeAspect="1" noMove="1" noResize="1" noEditPoints="1" noAdjustHandles="1" noChangeArrowheads="1" noChangeShapeType="1" noTextEdit="1"/>
          </p:cNvSpPr>
          <p:nvPr/>
        </p:nvSpPr>
        <p:spPr>
          <a:xfrm>
            <a:off x="7825361" y="5013315"/>
            <a:ext cx="1177182" cy="518604"/>
          </a:xfrm>
          <a:prstGeom prst="rect">
            <a:avLst/>
          </a:prstGeom>
          <a:blipFill>
            <a:blip r:embed="rId5"/>
            <a:stretch>
              <a:fillRect l="-6383" r="-7447" b="-26190"/>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ppt_x"/>
                                          </p:val>
                                        </p:tav>
                                        <p:tav tm="100000">
                                          <p:val>
                                            <p:strVal val="#ppt_x"/>
                                          </p:val>
                                        </p:tav>
                                      </p:tavLst>
                                    </p:anim>
                                    <p:anim calcmode="lin" valueType="num">
                                      <p:cBhvr additive="base">
                                        <p:cTn id="5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222EA38-827B-4512-A8F2-B1C73EDDF6B5}"/>
              </a:ext>
            </a:extLst>
          </p:cNvPr>
          <p:cNvSpPr>
            <a:spLocks noGrp="1"/>
          </p:cNvSpPr>
          <p:nvPr>
            <p:ph idx="1"/>
          </p:nvPr>
        </p:nvSpPr>
        <p:spPr>
          <a:xfrm>
            <a:off x="225425" y="1728788"/>
            <a:ext cx="8632825" cy="5003800"/>
          </a:xfrm>
        </p:spPr>
        <p:txBody>
          <a:bodyPr>
            <a:normAutofit/>
          </a:bodyPr>
          <a:lstStyle/>
          <a:p>
            <a:pPr>
              <a:lnSpc>
                <a:spcPct val="90000"/>
              </a:lnSpc>
            </a:pPr>
            <a:r>
              <a:rPr lang="zh-CN" altLang="en-US" sz="3000"/>
              <a:t>设原始数据矩阵</a:t>
            </a:r>
            <a:r>
              <a:rPr lang="en-US" altLang="zh-CN" sz="3000" i="1"/>
              <a:t>X</a:t>
            </a:r>
            <a:r>
              <a:rPr lang="zh-CN" altLang="en-US" sz="3000"/>
              <a:t>对应的协方差矩阵为</a:t>
            </a:r>
            <a:r>
              <a:rPr lang="en-US" altLang="zh-CN" sz="3000" i="1"/>
              <a:t>C</a:t>
            </a:r>
            <a:r>
              <a:rPr lang="zh-CN" altLang="en-US" sz="3000"/>
              <a:t>，</a:t>
            </a:r>
            <a:endParaRPr lang="en-US" altLang="zh-CN" sz="3000"/>
          </a:p>
          <a:p>
            <a:pPr>
              <a:lnSpc>
                <a:spcPct val="90000"/>
              </a:lnSpc>
            </a:pPr>
            <a:r>
              <a:rPr lang="en-US" altLang="zh-CN" sz="3000" i="1"/>
              <a:t>P</a:t>
            </a:r>
            <a:r>
              <a:rPr lang="zh-CN" altLang="en-US" sz="3000"/>
              <a:t>是一组基按行组成的矩阵，设</a:t>
            </a:r>
            <a:r>
              <a:rPr lang="en-US" altLang="zh-CN" sz="3000" i="1"/>
              <a:t>Y=PX</a:t>
            </a:r>
            <a:r>
              <a:rPr lang="zh-CN" altLang="en-US" sz="3000"/>
              <a:t>，则</a:t>
            </a:r>
            <a:r>
              <a:rPr lang="en-US" altLang="zh-CN" sz="3000" i="1"/>
              <a:t>Y</a:t>
            </a:r>
            <a:r>
              <a:rPr lang="zh-CN" altLang="en-US" sz="3000"/>
              <a:t>为</a:t>
            </a:r>
            <a:r>
              <a:rPr lang="en-US" altLang="zh-CN" sz="3000" i="1"/>
              <a:t>X</a:t>
            </a:r>
            <a:r>
              <a:rPr lang="zh-CN" altLang="en-US" sz="3000"/>
              <a:t>对</a:t>
            </a:r>
            <a:r>
              <a:rPr lang="en-US" altLang="zh-CN" sz="3000" i="1"/>
              <a:t>P</a:t>
            </a:r>
            <a:r>
              <a:rPr lang="zh-CN" altLang="en-US" sz="3000"/>
              <a:t>做基变换后的数据。 </a:t>
            </a:r>
            <a:endParaRPr lang="en-US" altLang="zh-CN" sz="3000"/>
          </a:p>
          <a:p>
            <a:pPr>
              <a:lnSpc>
                <a:spcPct val="90000"/>
              </a:lnSpc>
            </a:pPr>
            <a:r>
              <a:rPr lang="zh-CN" altLang="en-US" sz="3000"/>
              <a:t>设</a:t>
            </a:r>
            <a:r>
              <a:rPr lang="en-US" altLang="zh-CN" sz="3000" i="1"/>
              <a:t>Y</a:t>
            </a:r>
            <a:r>
              <a:rPr lang="zh-CN" altLang="en-US" sz="3000"/>
              <a:t>的协方差矩阵为</a:t>
            </a:r>
            <a:r>
              <a:rPr lang="en-US" altLang="zh-CN" sz="3000" i="1"/>
              <a:t>D</a:t>
            </a:r>
          </a:p>
          <a:p>
            <a:pPr>
              <a:lnSpc>
                <a:spcPct val="90000"/>
              </a:lnSpc>
            </a:pPr>
            <a:endParaRPr lang="en-US" altLang="zh-CN" sz="3000"/>
          </a:p>
          <a:p>
            <a:pPr>
              <a:lnSpc>
                <a:spcPct val="90000"/>
              </a:lnSpc>
            </a:pPr>
            <a:endParaRPr lang="en-US" altLang="zh-CN" sz="3000"/>
          </a:p>
          <a:p>
            <a:pPr>
              <a:lnSpc>
                <a:spcPct val="90000"/>
              </a:lnSpc>
            </a:pPr>
            <a:r>
              <a:rPr kumimoji="1" lang="en-US" altLang="zh-CN" sz="3000"/>
              <a:t>Reminding:</a:t>
            </a:r>
            <a:r>
              <a:rPr kumimoji="1" lang="zh-CN" altLang="en-US" sz="3000"/>
              <a:t> </a:t>
            </a:r>
            <a:r>
              <a:rPr lang="zh-CN" altLang="en-US" sz="3000"/>
              <a:t>各字段两两间协方差为</a:t>
            </a:r>
            <a:r>
              <a:rPr lang="en-US" altLang="zh-CN" sz="3000"/>
              <a:t>0</a:t>
            </a:r>
          </a:p>
          <a:p>
            <a:pPr>
              <a:lnSpc>
                <a:spcPct val="90000"/>
              </a:lnSpc>
            </a:pPr>
            <a:r>
              <a:rPr lang="zh-CN" altLang="en-US" sz="3000"/>
              <a:t>降维优化等价于将</a:t>
            </a:r>
            <a:r>
              <a:rPr lang="en-US" altLang="zh-CN" sz="3000">
                <a:solidFill>
                  <a:srgbClr val="FF0000"/>
                </a:solidFill>
              </a:rPr>
              <a:t>D</a:t>
            </a:r>
            <a:r>
              <a:rPr lang="zh-CN" altLang="en-US" sz="3000">
                <a:solidFill>
                  <a:srgbClr val="FF0000"/>
                </a:solidFill>
              </a:rPr>
              <a:t>矩阵对角化</a:t>
            </a:r>
            <a:r>
              <a:rPr lang="en-US" altLang="zh-CN" sz="3000"/>
              <a:t>:</a:t>
            </a:r>
            <a:r>
              <a:rPr lang="zh-CN" altLang="en-US" sz="3000"/>
              <a:t> 即除对角线外的其它元素化为</a:t>
            </a:r>
            <a:r>
              <a:rPr lang="en-US" altLang="zh-CN" sz="3000"/>
              <a:t>0</a:t>
            </a:r>
            <a:r>
              <a:rPr lang="zh-CN" altLang="en-US" sz="3000"/>
              <a:t>，并且在对角线上将元素按大小从上到下排列，这样我们就达到了优化目的。</a:t>
            </a:r>
            <a:endParaRPr lang="en-US" altLang="zh-CN" sz="3000"/>
          </a:p>
        </p:txBody>
      </p:sp>
      <p:pic>
        <p:nvPicPr>
          <p:cNvPr id="7" name="图片 6">
            <a:extLst>
              <a:ext uri="{FF2B5EF4-FFF2-40B4-BE49-F238E27FC236}">
                <a16:creationId xmlns:a16="http://schemas.microsoft.com/office/drawing/2014/main" id="{B45B032B-50EF-445D-8D01-884A74115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733800"/>
            <a:ext cx="26336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标题 1">
            <a:extLst>
              <a:ext uri="{FF2B5EF4-FFF2-40B4-BE49-F238E27FC236}">
                <a16:creationId xmlns:a16="http://schemas.microsoft.com/office/drawing/2014/main" id="{607E1E16-4A63-49F5-B980-2FF979AA96C5}"/>
              </a:ext>
            </a:extLst>
          </p:cNvPr>
          <p:cNvSpPr>
            <a:spLocks noGrp="1" noChangeArrowheads="1"/>
          </p:cNvSpPr>
          <p:nvPr>
            <p:ph type="title"/>
          </p:nvPr>
        </p:nvSpPr>
        <p:spPr>
          <a:xfrm>
            <a:off x="628650" y="365125"/>
            <a:ext cx="7886700" cy="1325563"/>
          </a:xfrm>
        </p:spPr>
        <p:txBody>
          <a:bodyPr/>
          <a:lstStyle/>
          <a:p>
            <a:r>
              <a:rPr kumimoji="1" lang="zh-CN" altLang="en-US"/>
              <a:t>协方差矩阵对角化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a:extLst>
              <a:ext uri="{FF2B5EF4-FFF2-40B4-BE49-F238E27FC236}">
                <a16:creationId xmlns:a16="http://schemas.microsoft.com/office/drawing/2014/main" id="{ACDEA8E7-03BE-4500-A162-5F6018CD730F}"/>
              </a:ext>
            </a:extLst>
          </p:cNvPr>
          <p:cNvSpPr>
            <a:spLocks noGrp="1" noChangeArrowheads="1"/>
          </p:cNvSpPr>
          <p:nvPr>
            <p:ph type="title"/>
          </p:nvPr>
        </p:nvSpPr>
        <p:spPr/>
        <p:txBody>
          <a:bodyPr/>
          <a:lstStyle/>
          <a:p>
            <a:r>
              <a:rPr kumimoji="1" lang="zh-CN" altLang="en-US"/>
              <a:t>协方差矩阵对角化</a:t>
            </a:r>
          </a:p>
        </p:txBody>
      </p:sp>
      <p:sp>
        <p:nvSpPr>
          <p:cNvPr id="64514" name="内容占位符 2">
            <a:extLst>
              <a:ext uri="{FF2B5EF4-FFF2-40B4-BE49-F238E27FC236}">
                <a16:creationId xmlns:a16="http://schemas.microsoft.com/office/drawing/2014/main" id="{6E6E1434-7617-450E-8198-FBC976D759BD}"/>
              </a:ext>
            </a:extLst>
          </p:cNvPr>
          <p:cNvSpPr>
            <a:spLocks noGrp="1" noChangeArrowheads="1"/>
          </p:cNvSpPr>
          <p:nvPr>
            <p:ph idx="1"/>
          </p:nvPr>
        </p:nvSpPr>
        <p:spPr/>
        <p:txBody>
          <a:bodyPr/>
          <a:lstStyle/>
          <a:p>
            <a:r>
              <a:rPr lang="zh-CN" altLang="en-US"/>
              <a:t>原数据矩阵与基变换后矩阵协方差矩阵</a:t>
            </a:r>
            <a:r>
              <a:rPr lang="en-US" altLang="zh-CN" i="1"/>
              <a:t>C</a:t>
            </a:r>
            <a:r>
              <a:rPr lang="zh-CN" altLang="en-US"/>
              <a:t>和</a:t>
            </a:r>
            <a:r>
              <a:rPr lang="en-US" altLang="zh-CN" i="1"/>
              <a:t>D</a:t>
            </a:r>
            <a:r>
              <a:rPr lang="zh-CN" altLang="en-US"/>
              <a:t>之间的关系是怎样的呢？</a:t>
            </a:r>
            <a:endParaRPr kumimoji="1" lang="zh-CN" altLang="en-US"/>
          </a:p>
        </p:txBody>
      </p:sp>
      <p:pic>
        <p:nvPicPr>
          <p:cNvPr id="4" name="图片 3">
            <a:extLst>
              <a:ext uri="{FF2B5EF4-FFF2-40B4-BE49-F238E27FC236}">
                <a16:creationId xmlns:a16="http://schemas.microsoft.com/office/drawing/2014/main" id="{32883B52-49EE-4A72-B242-84C10D815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650" y="2843213"/>
            <a:ext cx="3014663" cy="23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3FCE77EB-0CE9-45EA-BC3F-600431989618}"/>
              </a:ext>
            </a:extLst>
          </p:cNvPr>
          <p:cNvSpPr/>
          <p:nvPr/>
        </p:nvSpPr>
        <p:spPr>
          <a:xfrm>
            <a:off x="1455738" y="5248275"/>
            <a:ext cx="5932487" cy="1246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solidFill>
                  <a:srgbClr val="FF0000"/>
                </a:solidFill>
                <a:ea typeface="黑体" panose="02010609060101010101" pitchFamily="49" charset="-122"/>
              </a:rPr>
              <a:t>降维问题的优化目标</a:t>
            </a:r>
            <a:r>
              <a:rPr lang="zh-CN" altLang="en-US" sz="2400">
                <a:solidFill>
                  <a:schemeClr val="tx1"/>
                </a:solidFill>
                <a:ea typeface="黑体" panose="02010609060101010101" pitchFamily="49" charset="-122"/>
              </a:rPr>
              <a:t>：寻找一个矩阵</a:t>
            </a:r>
            <a:r>
              <a:rPr lang="en-US" altLang="zh-CN" sz="2400" i="1">
                <a:solidFill>
                  <a:schemeClr val="tx1"/>
                </a:solidFill>
                <a:ea typeface="黑体" panose="02010609060101010101" pitchFamily="49" charset="-122"/>
              </a:rPr>
              <a:t>P</a:t>
            </a:r>
            <a:r>
              <a:rPr lang="zh-CN" altLang="en-US" sz="2400">
                <a:solidFill>
                  <a:schemeClr val="tx1"/>
                </a:solidFill>
                <a:ea typeface="黑体" panose="02010609060101010101" pitchFamily="49" charset="-122"/>
              </a:rPr>
              <a:t>，使得原始协方差矩阵</a:t>
            </a:r>
            <a:r>
              <a:rPr lang="en-US" altLang="zh-CN" sz="2400" i="1">
                <a:solidFill>
                  <a:schemeClr val="tx1"/>
                </a:solidFill>
                <a:ea typeface="黑体" panose="02010609060101010101" pitchFamily="49" charset="-122"/>
              </a:rPr>
              <a:t>C</a:t>
            </a:r>
            <a:r>
              <a:rPr lang="zh-CN" altLang="en-US" sz="2400">
                <a:solidFill>
                  <a:schemeClr val="tx1"/>
                </a:solidFill>
                <a:ea typeface="黑体" panose="02010609060101010101" pitchFamily="49" charset="-122"/>
              </a:rPr>
              <a:t>对角化。</a:t>
            </a:r>
            <a:endParaRPr kumimoji="1" lang="zh-CN" altLang="en-US" sz="2400">
              <a:solidFill>
                <a:schemeClr val="tx1"/>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a:extLst>
              <a:ext uri="{FF2B5EF4-FFF2-40B4-BE49-F238E27FC236}">
                <a16:creationId xmlns:a16="http://schemas.microsoft.com/office/drawing/2014/main" id="{4930B14A-A8AA-486B-B58E-667D231C2C1E}"/>
              </a:ext>
            </a:extLst>
          </p:cNvPr>
          <p:cNvSpPr>
            <a:spLocks noGrp="1" noChangeArrowheads="1"/>
          </p:cNvSpPr>
          <p:nvPr>
            <p:ph type="title"/>
          </p:nvPr>
        </p:nvSpPr>
        <p:spPr/>
        <p:txBody>
          <a:bodyPr/>
          <a:lstStyle/>
          <a:p>
            <a:r>
              <a:rPr lang="zh-CN" altLang="en-US">
                <a:solidFill>
                  <a:srgbClr val="1A1A1A"/>
                </a:solidFill>
                <a:latin typeface="-apple-system"/>
              </a:rPr>
              <a:t>实对称矩阵对角化</a:t>
            </a:r>
            <a:endParaRPr kumimoji="1" lang="zh-CN" altLang="en-US"/>
          </a:p>
        </p:txBody>
      </p:sp>
      <p:sp>
        <p:nvSpPr>
          <p:cNvPr id="65538" name="矩形 11">
            <a:extLst>
              <a:ext uri="{FF2B5EF4-FFF2-40B4-BE49-F238E27FC236}">
                <a16:creationId xmlns:a16="http://schemas.microsoft.com/office/drawing/2014/main" id="{F4876122-285F-431E-BBBE-48F5772ACF07}"/>
              </a:ext>
            </a:extLst>
          </p:cNvPr>
          <p:cNvSpPr>
            <a:spLocks noChangeArrowheads="1"/>
          </p:cNvSpPr>
          <p:nvPr/>
        </p:nvSpPr>
        <p:spPr bwMode="auto">
          <a:xfrm>
            <a:off x="5410200" y="6437313"/>
            <a:ext cx="3473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a:solidFill>
                  <a:srgbClr val="1A1A1A"/>
                </a:solidFill>
                <a:latin typeface="-apple-system"/>
                <a:ea typeface="宋体" panose="02010600030101010101" pitchFamily="2" charset="-122"/>
              </a:rPr>
              <a:t>线性代数 “实对称矩阵对角化”</a:t>
            </a:r>
            <a:endParaRPr lang="zh-CN" altLang="en-US" sz="2000">
              <a:solidFill>
                <a:schemeClr val="hlink"/>
              </a:solidFill>
              <a:ea typeface="宋体" panose="02010600030101010101" pitchFamily="2" charset="-122"/>
            </a:endParaRPr>
          </a:p>
        </p:txBody>
      </p:sp>
      <p:sp>
        <p:nvSpPr>
          <p:cNvPr id="65539" name="内容占位符 4">
            <a:extLst>
              <a:ext uri="{FF2B5EF4-FFF2-40B4-BE49-F238E27FC236}">
                <a16:creationId xmlns:a16="http://schemas.microsoft.com/office/drawing/2014/main" id="{28539910-7E8E-411E-A311-814BFFE31983}"/>
              </a:ext>
            </a:extLst>
          </p:cNvPr>
          <p:cNvSpPr>
            <a:spLocks noGrp="1" noChangeArrowheads="1"/>
          </p:cNvSpPr>
          <p:nvPr>
            <p:ph idx="1"/>
          </p:nvPr>
        </p:nvSpPr>
        <p:spPr>
          <a:xfrm>
            <a:off x="457200" y="1600200"/>
            <a:ext cx="8382000" cy="3733800"/>
          </a:xfrm>
        </p:spPr>
        <p:txBody>
          <a:bodyPr/>
          <a:lstStyle/>
          <a:p>
            <a:r>
              <a:rPr kumimoji="1" lang="zh-CN" altLang="en-US"/>
              <a:t>实对称矩阵性质</a:t>
            </a:r>
            <a:endParaRPr kumimoji="1" lang="en-US" altLang="zh-CN"/>
          </a:p>
          <a:p>
            <a:pPr lvl="1"/>
            <a:r>
              <a:rPr lang="zh-CN" altLang="en-US"/>
              <a:t>任何一个实对称矩阵，都可以正交对角化。</a:t>
            </a:r>
            <a:endParaRPr lang="en-US" altLang="zh-CN"/>
          </a:p>
          <a:p>
            <a:pPr lvl="1"/>
            <a:r>
              <a:rPr lang="zh-CN" altLang="en-US"/>
              <a:t>实对称矩阵的特征值都是实数。</a:t>
            </a:r>
            <a:endParaRPr lang="en-US" altLang="zh-CN"/>
          </a:p>
          <a:p>
            <a:pPr lvl="1"/>
            <a:r>
              <a:rPr lang="zh-CN" altLang="en-US"/>
              <a:t>实对称矩阵不同特征值所对应的特征向量必定正交。</a:t>
            </a:r>
            <a:endParaRPr lang="en-US" altLang="zh-CN"/>
          </a:p>
          <a:p>
            <a:pPr lvl="1"/>
            <a:r>
              <a:rPr lang="zh-CN" altLang="en-US"/>
              <a:t>实对称矩阵相同特征值所对应的特征向量必定线性无关。</a:t>
            </a:r>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a:extLst>
              <a:ext uri="{FF2B5EF4-FFF2-40B4-BE49-F238E27FC236}">
                <a16:creationId xmlns:a16="http://schemas.microsoft.com/office/drawing/2014/main" id="{D1D9B770-968F-4EDF-91FA-D2766705287B}"/>
              </a:ext>
            </a:extLst>
          </p:cNvPr>
          <p:cNvSpPr>
            <a:spLocks noGrp="1" noChangeArrowheads="1"/>
          </p:cNvSpPr>
          <p:nvPr>
            <p:ph type="title"/>
          </p:nvPr>
        </p:nvSpPr>
        <p:spPr/>
        <p:txBody>
          <a:bodyPr/>
          <a:lstStyle/>
          <a:p>
            <a:r>
              <a:rPr lang="zh-CN" altLang="en-US">
                <a:solidFill>
                  <a:srgbClr val="1A1A1A"/>
                </a:solidFill>
                <a:latin typeface="-apple-system"/>
              </a:rPr>
              <a:t>实对称矩阵对角化</a:t>
            </a:r>
            <a:endParaRPr kumimoji="1" lang="zh-CN" altLang="en-US"/>
          </a:p>
        </p:txBody>
      </p:sp>
      <p:pic>
        <p:nvPicPr>
          <p:cNvPr id="11" name="图片 10">
            <a:extLst>
              <a:ext uri="{FF2B5EF4-FFF2-40B4-BE49-F238E27FC236}">
                <a16:creationId xmlns:a16="http://schemas.microsoft.com/office/drawing/2014/main" id="{15E8BE9D-78D3-4A3E-8513-72CE046F6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3886200"/>
            <a:ext cx="41021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矩形 11">
            <a:extLst>
              <a:ext uri="{FF2B5EF4-FFF2-40B4-BE49-F238E27FC236}">
                <a16:creationId xmlns:a16="http://schemas.microsoft.com/office/drawing/2014/main" id="{67759B9E-D332-4BBA-82AC-3C8098573A55}"/>
              </a:ext>
            </a:extLst>
          </p:cNvPr>
          <p:cNvSpPr>
            <a:spLocks noChangeArrowheads="1"/>
          </p:cNvSpPr>
          <p:nvPr/>
        </p:nvSpPr>
        <p:spPr bwMode="auto">
          <a:xfrm>
            <a:off x="5410200" y="6437313"/>
            <a:ext cx="3473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a:solidFill>
                  <a:srgbClr val="1A1A1A"/>
                </a:solidFill>
                <a:latin typeface="-apple-system"/>
                <a:ea typeface="宋体" panose="02010600030101010101" pitchFamily="2" charset="-122"/>
              </a:rPr>
              <a:t>线性代数 “实对称矩阵对角化”</a:t>
            </a:r>
            <a:endParaRPr lang="zh-CN" altLang="en-US" sz="2000">
              <a:solidFill>
                <a:schemeClr val="hlink"/>
              </a:solidFill>
              <a:ea typeface="宋体" panose="02010600030101010101" pitchFamily="2" charset="-122"/>
            </a:endParaRPr>
          </a:p>
        </p:txBody>
      </p:sp>
      <p:sp>
        <p:nvSpPr>
          <p:cNvPr id="14" name="下箭头 13">
            <a:extLst>
              <a:ext uri="{FF2B5EF4-FFF2-40B4-BE49-F238E27FC236}">
                <a16:creationId xmlns:a16="http://schemas.microsoft.com/office/drawing/2014/main" id="{871074ED-9585-40A0-A40A-EB7BF31E28F6}"/>
              </a:ext>
            </a:extLst>
          </p:cNvPr>
          <p:cNvSpPr/>
          <p:nvPr/>
        </p:nvSpPr>
        <p:spPr>
          <a:xfrm>
            <a:off x="2746375" y="5048250"/>
            <a:ext cx="225425" cy="3095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grpSp>
        <p:nvGrpSpPr>
          <p:cNvPr id="17" name="组 16">
            <a:extLst>
              <a:ext uri="{FF2B5EF4-FFF2-40B4-BE49-F238E27FC236}">
                <a16:creationId xmlns:a16="http://schemas.microsoft.com/office/drawing/2014/main" id="{6E1D7293-1A3D-48E1-ADD8-833C7595F279}"/>
              </a:ext>
            </a:extLst>
          </p:cNvPr>
          <p:cNvGrpSpPr>
            <a:grpSpLocks/>
          </p:cNvGrpSpPr>
          <p:nvPr/>
        </p:nvGrpSpPr>
        <p:grpSpPr bwMode="auto">
          <a:xfrm>
            <a:off x="2476500" y="5392738"/>
            <a:ext cx="1014413" cy="479425"/>
            <a:chOff x="2251282" y="5822623"/>
            <a:chExt cx="1014349" cy="479669"/>
          </a:xfrm>
        </p:grpSpPr>
        <p:pic>
          <p:nvPicPr>
            <p:cNvPr id="67592" name="图片 14">
              <a:extLst>
                <a:ext uri="{FF2B5EF4-FFF2-40B4-BE49-F238E27FC236}">
                  <a16:creationId xmlns:a16="http://schemas.microsoft.com/office/drawing/2014/main" id="{9F384E27-90AE-4D75-8996-002998004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5031" y="5822623"/>
              <a:ext cx="9906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E009665D-3F01-45C9-A02D-5AFAAB615D6E}"/>
                </a:ext>
              </a:extLst>
            </p:cNvPr>
            <p:cNvSpPr/>
            <p:nvPr/>
          </p:nvSpPr>
          <p:spPr>
            <a:xfrm>
              <a:off x="2251282" y="5822623"/>
              <a:ext cx="990538" cy="479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grpSp>
      <p:sp>
        <p:nvSpPr>
          <p:cNvPr id="67590" name="内容占位符 4">
            <a:extLst>
              <a:ext uri="{FF2B5EF4-FFF2-40B4-BE49-F238E27FC236}">
                <a16:creationId xmlns:a16="http://schemas.microsoft.com/office/drawing/2014/main" id="{DC869B8B-19C8-46BA-B3C0-2B89C160B52F}"/>
              </a:ext>
            </a:extLst>
          </p:cNvPr>
          <p:cNvSpPr>
            <a:spLocks noGrp="1" noChangeArrowheads="1"/>
          </p:cNvSpPr>
          <p:nvPr>
            <p:ph idx="1"/>
          </p:nvPr>
        </p:nvSpPr>
        <p:spPr>
          <a:xfrm>
            <a:off x="457200" y="1600200"/>
            <a:ext cx="8382000" cy="3733800"/>
          </a:xfrm>
        </p:spPr>
        <p:txBody>
          <a:bodyPr/>
          <a:lstStyle/>
          <a:p>
            <a:r>
              <a:rPr lang="zh-CN" altLang="en-US"/>
              <a:t>一个</a:t>
            </a:r>
            <a:r>
              <a:rPr lang="zh-CN" altLang="zh-CN"/>
              <a:t>n</a:t>
            </a:r>
            <a:r>
              <a:rPr lang="zh-CN" altLang="en-US"/>
              <a:t>行</a:t>
            </a:r>
            <a:r>
              <a:rPr lang="zh-CN" altLang="zh-CN"/>
              <a:t>n</a:t>
            </a:r>
            <a:r>
              <a:rPr lang="zh-CN" altLang="en-US"/>
              <a:t>列的实对称矩阵一定可以找到</a:t>
            </a:r>
            <a:r>
              <a:rPr lang="zh-CN" altLang="zh-CN"/>
              <a:t>n</a:t>
            </a:r>
            <a:r>
              <a:rPr lang="zh-CN" altLang="en-US"/>
              <a:t>个单位正交特征向量，设这</a:t>
            </a:r>
            <a:r>
              <a:rPr lang="zh-CN" altLang="zh-CN"/>
              <a:t>n</a:t>
            </a:r>
            <a:r>
              <a:rPr lang="zh-CN" altLang="en-US"/>
              <a:t>个特征向量为</a:t>
            </a:r>
            <a:r>
              <a:rPr lang="zh-CN" altLang="zh-CN"/>
              <a:t>e</a:t>
            </a:r>
            <a:r>
              <a:rPr lang="zh-CN" altLang="zh-CN" baseline="-25000"/>
              <a:t>1</a:t>
            </a:r>
            <a:r>
              <a:rPr lang="zh-CN" altLang="zh-CN"/>
              <a:t>,e</a:t>
            </a:r>
            <a:r>
              <a:rPr lang="zh-CN" altLang="zh-CN" baseline="-25000"/>
              <a:t>2</a:t>
            </a:r>
            <a:r>
              <a:rPr lang="zh-CN" altLang="zh-CN"/>
              <a:t>,⋯,e</a:t>
            </a:r>
            <a:r>
              <a:rPr lang="zh-CN" altLang="zh-CN" baseline="-25000"/>
              <a:t>n</a:t>
            </a:r>
            <a:r>
              <a:rPr lang="zh-CN" altLang="zh-CN"/>
              <a:t>，</a:t>
            </a:r>
            <a:r>
              <a:rPr lang="zh-CN" altLang="en-US"/>
              <a:t>我们将其按列组成矩阵：</a:t>
            </a:r>
            <a:endParaRPr kumimoji="1" lang="zh-CN" altLang="en-US"/>
          </a:p>
        </p:txBody>
      </p:sp>
      <p:pic>
        <p:nvPicPr>
          <p:cNvPr id="67591" name="图片 9">
            <a:extLst>
              <a:ext uri="{FF2B5EF4-FFF2-40B4-BE49-F238E27FC236}">
                <a16:creationId xmlns:a16="http://schemas.microsoft.com/office/drawing/2014/main" id="{9AA365FF-657B-4C8E-8B0D-7E163C3610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1663" y="3230563"/>
            <a:ext cx="30130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a:extLst>
              <a:ext uri="{FF2B5EF4-FFF2-40B4-BE49-F238E27FC236}">
                <a16:creationId xmlns:a16="http://schemas.microsoft.com/office/drawing/2014/main" id="{8CFF9AE9-51B4-4C9F-8D08-80D0AAB995C4}"/>
              </a:ext>
            </a:extLst>
          </p:cNvPr>
          <p:cNvSpPr>
            <a:spLocks noGrp="1" noChangeArrowheads="1"/>
          </p:cNvSpPr>
          <p:nvPr>
            <p:ph type="title"/>
          </p:nvPr>
        </p:nvSpPr>
        <p:spPr/>
        <p:txBody>
          <a:bodyPr/>
          <a:lstStyle/>
          <a:p>
            <a:r>
              <a:rPr lang="zh-CN" altLang="en-US">
                <a:solidFill>
                  <a:srgbClr val="1A1A1A"/>
                </a:solidFill>
                <a:latin typeface="-apple-system"/>
              </a:rPr>
              <a:t>实对称矩阵对角化</a:t>
            </a:r>
            <a:endParaRPr kumimoji="1" lang="zh-CN" altLang="en-US"/>
          </a:p>
        </p:txBody>
      </p:sp>
      <p:sp>
        <p:nvSpPr>
          <p:cNvPr id="68610" name="矩形 11">
            <a:extLst>
              <a:ext uri="{FF2B5EF4-FFF2-40B4-BE49-F238E27FC236}">
                <a16:creationId xmlns:a16="http://schemas.microsoft.com/office/drawing/2014/main" id="{27103C9A-6D83-497F-B6B5-CA48440260F1}"/>
              </a:ext>
            </a:extLst>
          </p:cNvPr>
          <p:cNvSpPr>
            <a:spLocks noChangeArrowheads="1"/>
          </p:cNvSpPr>
          <p:nvPr/>
        </p:nvSpPr>
        <p:spPr bwMode="auto">
          <a:xfrm>
            <a:off x="5410200" y="6437313"/>
            <a:ext cx="3473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a:solidFill>
                  <a:srgbClr val="1A1A1A"/>
                </a:solidFill>
                <a:latin typeface="-apple-system"/>
                <a:ea typeface="宋体" panose="02010600030101010101" pitchFamily="2" charset="-122"/>
              </a:rPr>
              <a:t>线性代数 “实对称矩阵对角化”</a:t>
            </a:r>
            <a:endParaRPr lang="zh-CN" altLang="en-US" sz="2000">
              <a:solidFill>
                <a:schemeClr val="hlink"/>
              </a:solidFill>
              <a:ea typeface="宋体" panose="02010600030101010101" pitchFamily="2" charset="-122"/>
            </a:endParaRPr>
          </a:p>
        </p:txBody>
      </p:sp>
      <p:pic>
        <p:nvPicPr>
          <p:cNvPr id="18" name="矩形 17">
            <a:extLst>
              <a:ext uri="{FF2B5EF4-FFF2-40B4-BE49-F238E27FC236}">
                <a16:creationId xmlns:a16="http://schemas.microsoft.com/office/drawing/2014/main" id="{0D163699-EE35-4518-9258-67DD6D9CD2B3}"/>
              </a:ext>
            </a:extLst>
          </p:cNvPr>
          <p:cNvPicPr>
            <a:picLocks noRot="1" noChangeAspect="1" noMove="1" noResize="1" noEditPoints="1" noAdjustHandle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300" y="2413000"/>
            <a:ext cx="8064500" cy="213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a:extLst>
              <a:ext uri="{FF2B5EF4-FFF2-40B4-BE49-F238E27FC236}">
                <a16:creationId xmlns:a16="http://schemas.microsoft.com/office/drawing/2014/main" id="{2CB6BA78-C648-4598-99B9-7B105BDDD705}"/>
              </a:ext>
            </a:extLst>
          </p:cNvPr>
          <p:cNvSpPr>
            <a:spLocks noGrp="1" noChangeArrowheads="1"/>
          </p:cNvSpPr>
          <p:nvPr>
            <p:ph type="title"/>
          </p:nvPr>
        </p:nvSpPr>
        <p:spPr/>
        <p:txBody>
          <a:bodyPr/>
          <a:lstStyle/>
          <a:p>
            <a:r>
              <a:rPr kumimoji="1" lang="en-US" altLang="zh-CN"/>
              <a:t>PCA</a:t>
            </a:r>
            <a:r>
              <a:rPr kumimoji="1" lang="zh-CN" altLang="en-US"/>
              <a:t>算法步骤</a:t>
            </a:r>
          </a:p>
        </p:txBody>
      </p:sp>
      <p:sp>
        <p:nvSpPr>
          <p:cNvPr id="69634" name="内容占位符 2">
            <a:extLst>
              <a:ext uri="{FF2B5EF4-FFF2-40B4-BE49-F238E27FC236}">
                <a16:creationId xmlns:a16="http://schemas.microsoft.com/office/drawing/2014/main" id="{1B0BCFE5-A6A4-4BB3-9BFB-AFC922598BAC}"/>
              </a:ext>
            </a:extLst>
          </p:cNvPr>
          <p:cNvSpPr>
            <a:spLocks noGrp="1" noChangeArrowheads="1"/>
          </p:cNvSpPr>
          <p:nvPr>
            <p:ph idx="1"/>
          </p:nvPr>
        </p:nvSpPr>
        <p:spPr/>
        <p:txBody>
          <a:bodyPr/>
          <a:lstStyle/>
          <a:p>
            <a:r>
              <a:rPr lang="zh-CN" altLang="en-US"/>
              <a:t>设有</a:t>
            </a:r>
            <a:r>
              <a:rPr lang="en-US" altLang="zh-CN"/>
              <a:t>m</a:t>
            </a:r>
            <a:r>
              <a:rPr lang="zh-CN" altLang="en-US"/>
              <a:t>条</a:t>
            </a:r>
            <a:r>
              <a:rPr lang="en-US" altLang="zh-CN"/>
              <a:t>n</a:t>
            </a:r>
            <a:r>
              <a:rPr lang="zh-CN" altLang="en-US"/>
              <a:t>维数据</a:t>
            </a:r>
            <a:endParaRPr lang="en-US" altLang="zh-CN"/>
          </a:p>
          <a:p>
            <a:pPr lvl="1"/>
            <a:r>
              <a:rPr lang="zh-CN" altLang="en-US"/>
              <a:t>将原始数据按列组成</a:t>
            </a:r>
            <a:r>
              <a:rPr lang="en-US" altLang="zh-CN"/>
              <a:t>n</a:t>
            </a:r>
            <a:r>
              <a:rPr lang="zh-CN" altLang="en-US"/>
              <a:t>行</a:t>
            </a:r>
            <a:r>
              <a:rPr lang="en-US" altLang="zh-CN"/>
              <a:t>m</a:t>
            </a:r>
            <a:r>
              <a:rPr lang="zh-CN" altLang="en-US"/>
              <a:t>列矩阵</a:t>
            </a:r>
            <a:r>
              <a:rPr lang="en-US" altLang="zh-CN"/>
              <a:t>X</a:t>
            </a:r>
          </a:p>
          <a:p>
            <a:pPr lvl="1"/>
            <a:r>
              <a:rPr lang="zh-CN" altLang="en-US"/>
              <a:t>将</a:t>
            </a:r>
            <a:r>
              <a:rPr lang="en-US" altLang="zh-CN"/>
              <a:t>X</a:t>
            </a:r>
            <a:r>
              <a:rPr lang="zh-CN" altLang="en-US"/>
              <a:t>的每一行（代表一个属性字段）进行零均值化，即减去这一行的均值</a:t>
            </a:r>
            <a:endParaRPr lang="en-US" altLang="zh-CN"/>
          </a:p>
          <a:p>
            <a:pPr lvl="1"/>
            <a:r>
              <a:rPr lang="zh-CN" altLang="en-US"/>
              <a:t>求出协方差矩阵</a:t>
            </a:r>
            <a:endParaRPr lang="en-US" altLang="zh-CN"/>
          </a:p>
          <a:p>
            <a:pPr lvl="1"/>
            <a:r>
              <a:rPr lang="zh-CN" altLang="en-US"/>
              <a:t>求出协方差矩阵的特征值及对应的特征向量</a:t>
            </a:r>
            <a:endParaRPr lang="en-US" altLang="zh-CN"/>
          </a:p>
          <a:p>
            <a:pPr lvl="1"/>
            <a:r>
              <a:rPr lang="zh-CN" altLang="en-US"/>
              <a:t>将特征向量按对应特征值大小从上到下按行排列成矩阵，取前</a:t>
            </a:r>
            <a:r>
              <a:rPr lang="en-US" altLang="zh-CN"/>
              <a:t>k</a:t>
            </a:r>
            <a:r>
              <a:rPr lang="zh-CN" altLang="en-US"/>
              <a:t>行组成矩阵</a:t>
            </a:r>
            <a:r>
              <a:rPr lang="en-US" altLang="zh-CN"/>
              <a:t>P</a:t>
            </a:r>
          </a:p>
          <a:p>
            <a:pPr lvl="1"/>
            <a:r>
              <a:rPr lang="en-US" altLang="zh-CN"/>
              <a:t>Y=PX</a:t>
            </a:r>
            <a:r>
              <a:rPr lang="zh-CN" altLang="en-US"/>
              <a:t>即为降维到</a:t>
            </a:r>
            <a:r>
              <a:rPr lang="en-US" altLang="zh-CN"/>
              <a:t>k</a:t>
            </a:r>
            <a:r>
              <a:rPr lang="zh-CN" altLang="en-US"/>
              <a:t>维后的数据</a:t>
            </a:r>
            <a:endParaRPr kumimoji="1" lang="zh-CN" altLang="en-US"/>
          </a:p>
        </p:txBody>
      </p:sp>
      <p:sp>
        <p:nvSpPr>
          <p:cNvPr id="9" name="文本框 8">
            <a:extLst>
              <a:ext uri="{FF2B5EF4-FFF2-40B4-BE49-F238E27FC236}">
                <a16:creationId xmlns:a16="http://schemas.microsoft.com/office/drawing/2014/main" id="{FCFFC98D-07C4-4A70-8236-939AD444255E}"/>
              </a:ext>
            </a:extLst>
          </p:cNvPr>
          <p:cNvSpPr txBox="1">
            <a:spLocks noRot="1" noChangeAspect="1" noMove="1" noResize="1" noEditPoints="1" noAdjustHandles="1" noChangeArrowheads="1" noChangeShapeType="1" noTextEdit="1"/>
          </p:cNvSpPr>
          <p:nvPr/>
        </p:nvSpPr>
        <p:spPr>
          <a:xfrm>
            <a:off x="3733800" y="3505200"/>
            <a:ext cx="1177182" cy="518604"/>
          </a:xfrm>
          <a:prstGeom prst="rect">
            <a:avLst/>
          </a:prstGeom>
          <a:blipFill>
            <a:blip r:embed="rId2"/>
            <a:stretch>
              <a:fillRect l="-6383" r="-7447" b="-26829"/>
            </a:stretch>
          </a:blipFill>
        </p:spPr>
        <p:txBody>
          <a:bodyPr/>
          <a:lstStyle/>
          <a:p>
            <a:pPr>
              <a:defRPr/>
            </a:pPr>
            <a:r>
              <a:rPr lang="zh-CN" altLang="en-US">
                <a:noFill/>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a:extLst>
              <a:ext uri="{FF2B5EF4-FFF2-40B4-BE49-F238E27FC236}">
                <a16:creationId xmlns:a16="http://schemas.microsoft.com/office/drawing/2014/main" id="{045240B2-DDB0-4640-A821-ED2E028CA3CD}"/>
              </a:ext>
            </a:extLst>
          </p:cNvPr>
          <p:cNvSpPr>
            <a:spLocks noGrp="1" noChangeArrowheads="1"/>
          </p:cNvSpPr>
          <p:nvPr>
            <p:ph type="title"/>
          </p:nvPr>
        </p:nvSpPr>
        <p:spPr/>
        <p:txBody>
          <a:bodyPr/>
          <a:lstStyle/>
          <a:p>
            <a:endParaRPr kumimoji="1" lang="zh-CN" altLang="en-US"/>
          </a:p>
        </p:txBody>
      </p:sp>
      <p:pic>
        <p:nvPicPr>
          <p:cNvPr id="70658" name="图片 4">
            <a:extLst>
              <a:ext uri="{FF2B5EF4-FFF2-40B4-BE49-F238E27FC236}">
                <a16:creationId xmlns:a16="http://schemas.microsoft.com/office/drawing/2014/main" id="{1D308135-4FCA-4715-A7CE-7EFD28C51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825" y="630238"/>
            <a:ext cx="6581775" cy="597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内容占位符 5">
            <a:extLst>
              <a:ext uri="{FF2B5EF4-FFF2-40B4-BE49-F238E27FC236}">
                <a16:creationId xmlns:a16="http://schemas.microsoft.com/office/drawing/2014/main" id="{23095D4F-D22E-42E5-A155-AA27484ACCE7}"/>
              </a:ext>
            </a:extLst>
          </p:cNvPr>
          <p:cNvSpPr>
            <a:spLocks noGrp="1" noChangeArrowheads="1"/>
          </p:cNvSpPr>
          <p:nvPr>
            <p:ph idx="1"/>
          </p:nvPr>
        </p:nvSpPr>
        <p:spPr/>
        <p:txBody>
          <a:bodyPr/>
          <a:lstStyle/>
          <a:p>
            <a:endParaRPr kumimoji="1"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圖片 65">
            <a:extLst>
              <a:ext uri="{FF2B5EF4-FFF2-40B4-BE49-F238E27FC236}">
                <a16:creationId xmlns:a16="http://schemas.microsoft.com/office/drawing/2014/main" id="{FB30DF25-5821-4D19-8B82-25CE8EB59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5113" y="1962150"/>
            <a:ext cx="1282700"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2" name="標題 1">
            <a:extLst>
              <a:ext uri="{FF2B5EF4-FFF2-40B4-BE49-F238E27FC236}">
                <a16:creationId xmlns:a16="http://schemas.microsoft.com/office/drawing/2014/main" id="{45AC2945-1A22-4144-8126-B7F25FF22297}"/>
              </a:ext>
            </a:extLst>
          </p:cNvPr>
          <p:cNvSpPr>
            <a:spLocks noGrp="1" noChangeArrowheads="1"/>
          </p:cNvSpPr>
          <p:nvPr>
            <p:ph type="title"/>
          </p:nvPr>
        </p:nvSpPr>
        <p:spPr/>
        <p:txBody>
          <a:bodyPr/>
          <a:lstStyle/>
          <a:p>
            <a:r>
              <a:rPr lang="en-US" altLang="zh-TW"/>
              <a:t>PCA – Another Point of View</a:t>
            </a:r>
            <a:endParaRPr lang="zh-TW" altLang="en-US"/>
          </a:p>
        </p:txBody>
      </p:sp>
      <p:pic>
        <p:nvPicPr>
          <p:cNvPr id="71683" name="圖片 4">
            <a:extLst>
              <a:ext uri="{FF2B5EF4-FFF2-40B4-BE49-F238E27FC236}">
                <a16:creationId xmlns:a16="http://schemas.microsoft.com/office/drawing/2014/main" id="{D9A6556E-B931-490D-8C1E-0966BE6572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3287713"/>
            <a:ext cx="1557337"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圖片 8">
            <a:extLst>
              <a:ext uri="{FF2B5EF4-FFF2-40B4-BE49-F238E27FC236}">
                <a16:creationId xmlns:a16="http://schemas.microsoft.com/office/drawing/2014/main" id="{6AB7C329-BFED-45F1-8560-3C4867BB0C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2763" y="3362325"/>
            <a:ext cx="1638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圖片 9">
            <a:extLst>
              <a:ext uri="{FF2B5EF4-FFF2-40B4-BE49-F238E27FC236}">
                <a16:creationId xmlns:a16="http://schemas.microsoft.com/office/drawing/2014/main" id="{FB8E5038-F5D9-4A97-825E-37E2F7674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1888" y="3346450"/>
            <a:ext cx="1533525"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圖片 10">
            <a:extLst>
              <a:ext uri="{FF2B5EF4-FFF2-40B4-BE49-F238E27FC236}">
                <a16:creationId xmlns:a16="http://schemas.microsoft.com/office/drawing/2014/main" id="{BFD2A3B7-F9C7-4917-A362-A732EF779E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5463" y="3375025"/>
            <a:ext cx="15525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字方塊 11">
            <a:extLst>
              <a:ext uri="{FF2B5EF4-FFF2-40B4-BE49-F238E27FC236}">
                <a16:creationId xmlns:a16="http://schemas.microsoft.com/office/drawing/2014/main" id="{20F11F7A-37A8-46A9-B2CA-246BD5615E10}"/>
              </a:ext>
            </a:extLst>
          </p:cNvPr>
          <p:cNvSpPr txBox="1">
            <a:spLocks noRot="1" noChangeAspect="1" noMove="1" noResize="1" noEditPoints="1" noAdjustHandles="1" noChangeArrowheads="1" noChangeShapeType="1" noTextEdit="1"/>
          </p:cNvSpPr>
          <p:nvPr/>
        </p:nvSpPr>
        <p:spPr>
          <a:xfrm>
            <a:off x="2423318" y="3870669"/>
            <a:ext cx="730083" cy="523220"/>
          </a:xfrm>
          <a:prstGeom prst="rect">
            <a:avLst/>
          </a:prstGeom>
          <a:blipFill>
            <a:blip r:embed="rId7"/>
            <a:stretch>
              <a:fillRect/>
            </a:stretch>
          </a:blipFill>
        </p:spPr>
        <p:txBody>
          <a:bodyPr/>
          <a:lstStyle/>
          <a:p>
            <a:pPr>
              <a:defRPr/>
            </a:pPr>
            <a:r>
              <a:rPr lang="zh-CN" altLang="en-US">
                <a:noFill/>
              </a:rPr>
              <a:t> </a:t>
            </a:r>
          </a:p>
        </p:txBody>
      </p:sp>
      <p:sp>
        <p:nvSpPr>
          <p:cNvPr id="13" name="文字方塊 12">
            <a:extLst>
              <a:ext uri="{FF2B5EF4-FFF2-40B4-BE49-F238E27FC236}">
                <a16:creationId xmlns:a16="http://schemas.microsoft.com/office/drawing/2014/main" id="{04B1CEB5-041B-42A3-A5E3-A07C34EA67D5}"/>
              </a:ext>
            </a:extLst>
          </p:cNvPr>
          <p:cNvSpPr txBox="1">
            <a:spLocks noChangeArrowheads="1"/>
          </p:cNvSpPr>
          <p:nvPr/>
        </p:nvSpPr>
        <p:spPr bwMode="auto">
          <a:xfrm>
            <a:off x="4376738" y="3870325"/>
            <a:ext cx="73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4" name="文字方塊 13">
            <a:extLst>
              <a:ext uri="{FF2B5EF4-FFF2-40B4-BE49-F238E27FC236}">
                <a16:creationId xmlns:a16="http://schemas.microsoft.com/office/drawing/2014/main" id="{5F50EDC5-AA30-42FB-A73B-CB2DD5384F49}"/>
              </a:ext>
            </a:extLst>
          </p:cNvPr>
          <p:cNvSpPr txBox="1">
            <a:spLocks noChangeArrowheads="1"/>
          </p:cNvSpPr>
          <p:nvPr/>
        </p:nvSpPr>
        <p:spPr bwMode="auto">
          <a:xfrm>
            <a:off x="6310313" y="3870325"/>
            <a:ext cx="73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grpSp>
        <p:nvGrpSpPr>
          <p:cNvPr id="71690" name="群組 35">
            <a:extLst>
              <a:ext uri="{FF2B5EF4-FFF2-40B4-BE49-F238E27FC236}">
                <a16:creationId xmlns:a16="http://schemas.microsoft.com/office/drawing/2014/main" id="{638DE611-866B-484A-8BFE-04AE33413A80}"/>
              </a:ext>
            </a:extLst>
          </p:cNvPr>
          <p:cNvGrpSpPr>
            <a:grpSpLocks/>
          </p:cNvGrpSpPr>
          <p:nvPr/>
        </p:nvGrpSpPr>
        <p:grpSpPr bwMode="auto">
          <a:xfrm>
            <a:off x="1311275" y="1962150"/>
            <a:ext cx="7681913" cy="1325563"/>
            <a:chOff x="782948" y="4490093"/>
            <a:chExt cx="7682646" cy="1325181"/>
          </a:xfrm>
        </p:grpSpPr>
        <p:pic>
          <p:nvPicPr>
            <p:cNvPr id="71712" name="圖片 36">
              <a:extLst>
                <a:ext uri="{FF2B5EF4-FFF2-40B4-BE49-F238E27FC236}">
                  <a16:creationId xmlns:a16="http://schemas.microsoft.com/office/drawing/2014/main" id="{B181DBCF-EA55-45A0-B929-C4C341832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948" y="4490093"/>
              <a:ext cx="1395776" cy="1290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3" name="圖片 38">
              <a:extLst>
                <a:ext uri="{FF2B5EF4-FFF2-40B4-BE49-F238E27FC236}">
                  <a16:creationId xmlns:a16="http://schemas.microsoft.com/office/drawing/2014/main" id="{425720EB-9AE9-40D7-A2C7-F6BD2788E6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277" y="4549716"/>
              <a:ext cx="1297396" cy="1265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4" name="圖片 39">
              <a:extLst>
                <a:ext uri="{FF2B5EF4-FFF2-40B4-BE49-F238E27FC236}">
                  <a16:creationId xmlns:a16="http://schemas.microsoft.com/office/drawing/2014/main" id="{1AB170B7-1588-409A-9BE7-27010E75DC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0183" y="4531333"/>
              <a:ext cx="13239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5" name="圖片 40">
              <a:extLst>
                <a:ext uri="{FF2B5EF4-FFF2-40B4-BE49-F238E27FC236}">
                  <a16:creationId xmlns:a16="http://schemas.microsoft.com/office/drawing/2014/main" id="{C9941FF9-B075-4DBC-9AAC-434607E5F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5270" y="4507854"/>
              <a:ext cx="1325524" cy="1257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6" name="文字方塊 41">
              <a:extLst>
                <a:ext uri="{FF2B5EF4-FFF2-40B4-BE49-F238E27FC236}">
                  <a16:creationId xmlns:a16="http://schemas.microsoft.com/office/drawing/2014/main" id="{7F74A92B-681D-40A7-9E85-E875479F051F}"/>
                </a:ext>
              </a:extLst>
            </p:cNvPr>
            <p:cNvSpPr txBox="1">
              <a:spLocks noChangeArrowheads="1"/>
            </p:cNvSpPr>
            <p:nvPr/>
          </p:nvSpPr>
          <p:spPr bwMode="auto">
            <a:xfrm>
              <a:off x="7524673" y="4972082"/>
              <a:ext cx="9409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800" b="1">
                  <a:solidFill>
                    <a:schemeClr val="hlink"/>
                  </a:solidFill>
                  <a:ea typeface="宋体" panose="02010600030101010101" pitchFamily="2" charset="-122"/>
                </a:rPr>
                <a:t>…….</a:t>
              </a:r>
              <a:endParaRPr lang="zh-TW" altLang="en-US" sz="2800" b="1">
                <a:solidFill>
                  <a:schemeClr val="hlink"/>
                </a:solidFill>
                <a:ea typeface="宋体" panose="02010600030101010101" pitchFamily="2" charset="-122"/>
              </a:endParaRPr>
            </a:p>
          </p:txBody>
        </p:sp>
        <p:sp>
          <p:nvSpPr>
            <p:cNvPr id="71717" name="文字方塊 42">
              <a:extLst>
                <a:ext uri="{FF2B5EF4-FFF2-40B4-BE49-F238E27FC236}">
                  <a16:creationId xmlns:a16="http://schemas.microsoft.com/office/drawing/2014/main" id="{CB62CD9A-383D-4096-B477-DDB90670F6F7}"/>
                </a:ext>
              </a:extLst>
            </p:cNvPr>
            <p:cNvSpPr txBox="1">
              <a:spLocks noChangeArrowheads="1"/>
            </p:cNvSpPr>
            <p:nvPr/>
          </p:nvSpPr>
          <p:spPr bwMode="auto">
            <a:xfrm>
              <a:off x="1256994" y="5233692"/>
              <a:ext cx="1103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a:t>
              </a:r>
              <a:r>
                <a:rPr lang="en-US" altLang="zh-TW" sz="2400" baseline="30000">
                  <a:solidFill>
                    <a:schemeClr val="hlink"/>
                  </a:solidFill>
                  <a:ea typeface="宋体" panose="02010600030101010101" pitchFamily="2" charset="-122"/>
                </a:rPr>
                <a:t>1</a:t>
              </a:r>
              <a:endParaRPr lang="zh-TW" altLang="en-US" sz="2400" baseline="30000">
                <a:solidFill>
                  <a:schemeClr val="hlink"/>
                </a:solidFill>
                <a:ea typeface="宋体" panose="02010600030101010101" pitchFamily="2" charset="-122"/>
              </a:endParaRPr>
            </a:p>
          </p:txBody>
        </p:sp>
        <p:sp>
          <p:nvSpPr>
            <p:cNvPr id="71718" name="文字方塊 43">
              <a:extLst>
                <a:ext uri="{FF2B5EF4-FFF2-40B4-BE49-F238E27FC236}">
                  <a16:creationId xmlns:a16="http://schemas.microsoft.com/office/drawing/2014/main" id="{BC0E79FC-3A84-4EA3-B469-02F51EADD153}"/>
                </a:ext>
              </a:extLst>
            </p:cNvPr>
            <p:cNvSpPr txBox="1">
              <a:spLocks noChangeArrowheads="1"/>
            </p:cNvSpPr>
            <p:nvPr/>
          </p:nvSpPr>
          <p:spPr bwMode="auto">
            <a:xfrm>
              <a:off x="2644555" y="5249612"/>
              <a:ext cx="1103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a:t>
              </a:r>
              <a:r>
                <a:rPr lang="en-US" altLang="zh-TW" sz="2400" baseline="30000">
                  <a:solidFill>
                    <a:schemeClr val="hlink"/>
                  </a:solidFill>
                  <a:ea typeface="宋体" panose="02010600030101010101" pitchFamily="2" charset="-122"/>
                </a:rPr>
                <a:t>2</a:t>
              </a:r>
              <a:endParaRPr lang="zh-TW" altLang="en-US" sz="2400" baseline="30000">
                <a:solidFill>
                  <a:schemeClr val="hlink"/>
                </a:solidFill>
                <a:ea typeface="宋体" panose="02010600030101010101" pitchFamily="2" charset="-122"/>
              </a:endParaRPr>
            </a:p>
          </p:txBody>
        </p:sp>
        <p:sp>
          <p:nvSpPr>
            <p:cNvPr id="71719" name="文字方塊 44">
              <a:extLst>
                <a:ext uri="{FF2B5EF4-FFF2-40B4-BE49-F238E27FC236}">
                  <a16:creationId xmlns:a16="http://schemas.microsoft.com/office/drawing/2014/main" id="{1C2A9627-0F96-4CEA-9697-4C231577A9F8}"/>
                </a:ext>
              </a:extLst>
            </p:cNvPr>
            <p:cNvSpPr txBox="1">
              <a:spLocks noChangeArrowheads="1"/>
            </p:cNvSpPr>
            <p:nvPr/>
          </p:nvSpPr>
          <p:spPr bwMode="auto">
            <a:xfrm>
              <a:off x="3975631" y="5264469"/>
              <a:ext cx="1103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a:t>
              </a:r>
              <a:r>
                <a:rPr lang="en-US" altLang="zh-TW" sz="2400" baseline="30000">
                  <a:solidFill>
                    <a:schemeClr val="hlink"/>
                  </a:solidFill>
                  <a:ea typeface="宋体" panose="02010600030101010101" pitchFamily="2" charset="-122"/>
                </a:rPr>
                <a:t>3</a:t>
              </a:r>
              <a:endParaRPr lang="zh-TW" altLang="en-US" sz="2400" baseline="30000">
                <a:solidFill>
                  <a:schemeClr val="hlink"/>
                </a:solidFill>
                <a:ea typeface="宋体" panose="02010600030101010101" pitchFamily="2" charset="-122"/>
              </a:endParaRPr>
            </a:p>
          </p:txBody>
        </p:sp>
        <p:sp>
          <p:nvSpPr>
            <p:cNvPr id="71720" name="文字方塊 45">
              <a:extLst>
                <a:ext uri="{FF2B5EF4-FFF2-40B4-BE49-F238E27FC236}">
                  <a16:creationId xmlns:a16="http://schemas.microsoft.com/office/drawing/2014/main" id="{268D9F25-E6D7-43C5-BA69-6B749B904595}"/>
                </a:ext>
              </a:extLst>
            </p:cNvPr>
            <p:cNvSpPr txBox="1">
              <a:spLocks noChangeArrowheads="1"/>
            </p:cNvSpPr>
            <p:nvPr/>
          </p:nvSpPr>
          <p:spPr bwMode="auto">
            <a:xfrm>
              <a:off x="5415473" y="5293101"/>
              <a:ext cx="1103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a:t>
              </a:r>
              <a:r>
                <a:rPr lang="en-US" altLang="zh-TW" sz="2400" baseline="30000">
                  <a:solidFill>
                    <a:schemeClr val="hlink"/>
                  </a:solidFill>
                  <a:ea typeface="宋体" panose="02010600030101010101" pitchFamily="2" charset="-122"/>
                </a:rPr>
                <a:t>4</a:t>
              </a:r>
              <a:endParaRPr lang="zh-TW" altLang="en-US" sz="2400" baseline="30000">
                <a:solidFill>
                  <a:schemeClr val="hlink"/>
                </a:solidFill>
                <a:ea typeface="宋体" panose="02010600030101010101" pitchFamily="2" charset="-122"/>
              </a:endParaRPr>
            </a:p>
          </p:txBody>
        </p:sp>
        <p:sp>
          <p:nvSpPr>
            <p:cNvPr id="71721" name="文字方塊 46">
              <a:extLst>
                <a:ext uri="{FF2B5EF4-FFF2-40B4-BE49-F238E27FC236}">
                  <a16:creationId xmlns:a16="http://schemas.microsoft.com/office/drawing/2014/main" id="{402FAD6B-CC79-4838-8E81-612248941CF3}"/>
                </a:ext>
              </a:extLst>
            </p:cNvPr>
            <p:cNvSpPr txBox="1">
              <a:spLocks noChangeArrowheads="1"/>
            </p:cNvSpPr>
            <p:nvPr/>
          </p:nvSpPr>
          <p:spPr bwMode="auto">
            <a:xfrm>
              <a:off x="6646781" y="5293100"/>
              <a:ext cx="1103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a:t>
              </a:r>
              <a:r>
                <a:rPr lang="en-US" altLang="zh-TW" sz="2400" baseline="30000">
                  <a:solidFill>
                    <a:schemeClr val="hlink"/>
                  </a:solidFill>
                  <a:ea typeface="宋体" panose="02010600030101010101" pitchFamily="2" charset="-122"/>
                </a:rPr>
                <a:t>5</a:t>
              </a:r>
              <a:endParaRPr lang="zh-TW" altLang="en-US" sz="2400" baseline="30000">
                <a:solidFill>
                  <a:schemeClr val="hlink"/>
                </a:solidFill>
                <a:ea typeface="宋体" panose="02010600030101010101" pitchFamily="2" charset="-122"/>
              </a:endParaRPr>
            </a:p>
          </p:txBody>
        </p:sp>
      </p:grpSp>
      <p:pic>
        <p:nvPicPr>
          <p:cNvPr id="58" name="文字方塊 57">
            <a:extLst>
              <a:ext uri="{FF2B5EF4-FFF2-40B4-BE49-F238E27FC236}">
                <a16:creationId xmlns:a16="http://schemas.microsoft.com/office/drawing/2014/main" id="{F1D315D7-FF73-4DF3-8D02-6D9D58A59CB3}"/>
              </a:ext>
            </a:extLst>
          </p:cNvPr>
          <p:cNvPicPr>
            <a:picLocks noRot="1" noChangeAspect="1" noMove="1" noResize="1" noEditPoints="1" noAdjustHandles="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5168900"/>
            <a:ext cx="5930900" cy="444500"/>
          </a:xfrm>
          <a:prstGeom prst="rect">
            <a:avLst/>
          </a:prstGeom>
          <a:noFill/>
          <a:extLst>
            <a:ext uri="{909E8E84-426E-40DD-AFC4-6F175D3DCCD1}">
              <a14:hiddenFill xmlns:a14="http://schemas.microsoft.com/office/drawing/2010/main">
                <a:solidFill>
                  <a:srgbClr val="FFFFFF"/>
                </a:solidFill>
              </a14:hiddenFill>
            </a:ext>
          </a:extLst>
        </p:spPr>
      </p:pic>
      <p:sp>
        <p:nvSpPr>
          <p:cNvPr id="59" name="文字方塊 58">
            <a:extLst>
              <a:ext uri="{FF2B5EF4-FFF2-40B4-BE49-F238E27FC236}">
                <a16:creationId xmlns:a16="http://schemas.microsoft.com/office/drawing/2014/main" id="{8235F17D-9ECD-4830-9C88-80A060881FA4}"/>
              </a:ext>
            </a:extLst>
          </p:cNvPr>
          <p:cNvSpPr txBox="1">
            <a:spLocks noChangeArrowheads="1"/>
          </p:cNvSpPr>
          <p:nvPr/>
        </p:nvSpPr>
        <p:spPr bwMode="auto">
          <a:xfrm>
            <a:off x="474663" y="5645150"/>
            <a:ext cx="1597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Pixels in a digit image</a:t>
            </a:r>
            <a:endParaRPr lang="zh-TW" altLang="en-US" sz="2400">
              <a:solidFill>
                <a:schemeClr val="hlink"/>
              </a:solidFill>
              <a:ea typeface="宋体" panose="02010600030101010101" pitchFamily="2" charset="-122"/>
            </a:endParaRPr>
          </a:p>
        </p:txBody>
      </p:sp>
      <p:sp>
        <p:nvSpPr>
          <p:cNvPr id="60" name="文字方塊 59">
            <a:extLst>
              <a:ext uri="{FF2B5EF4-FFF2-40B4-BE49-F238E27FC236}">
                <a16:creationId xmlns:a16="http://schemas.microsoft.com/office/drawing/2014/main" id="{2D344894-F2DC-4E95-AD95-F370CB3E4EAA}"/>
              </a:ext>
            </a:extLst>
          </p:cNvPr>
          <p:cNvSpPr txBox="1">
            <a:spLocks noChangeArrowheads="1"/>
          </p:cNvSpPr>
          <p:nvPr/>
        </p:nvSpPr>
        <p:spPr bwMode="auto">
          <a:xfrm>
            <a:off x="2416175" y="6061075"/>
            <a:ext cx="2922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component</a:t>
            </a:r>
            <a:endParaRPr lang="zh-TW" altLang="en-US" sz="2400">
              <a:solidFill>
                <a:schemeClr val="hlink"/>
              </a:solidFill>
              <a:ea typeface="宋体" panose="02010600030101010101" pitchFamily="2" charset="-122"/>
            </a:endParaRPr>
          </a:p>
        </p:txBody>
      </p:sp>
      <p:cxnSp>
        <p:nvCxnSpPr>
          <p:cNvPr id="61" name="直線單箭頭接點 60">
            <a:extLst>
              <a:ext uri="{FF2B5EF4-FFF2-40B4-BE49-F238E27FC236}">
                <a16:creationId xmlns:a16="http://schemas.microsoft.com/office/drawing/2014/main" id="{4F28D188-4D71-4BB1-9CB5-E3ED62D6EC9C}"/>
              </a:ext>
            </a:extLst>
          </p:cNvPr>
          <p:cNvCxnSpPr/>
          <p:nvPr/>
        </p:nvCxnSpPr>
        <p:spPr>
          <a:xfrm>
            <a:off x="2266950" y="5619750"/>
            <a:ext cx="860425" cy="522288"/>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737D48BD-F209-4AF2-B6CE-09FD54B0E9CD}"/>
              </a:ext>
            </a:extLst>
          </p:cNvPr>
          <p:cNvCxnSpPr/>
          <p:nvPr/>
        </p:nvCxnSpPr>
        <p:spPr>
          <a:xfrm>
            <a:off x="3371850" y="5600700"/>
            <a:ext cx="280988" cy="52070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3FD6AC9F-7B65-4562-94DF-4A2658B69890}"/>
              </a:ext>
            </a:extLst>
          </p:cNvPr>
          <p:cNvCxnSpPr/>
          <p:nvPr/>
        </p:nvCxnSpPr>
        <p:spPr>
          <a:xfrm flipH="1">
            <a:off x="4303713" y="5584825"/>
            <a:ext cx="827087" cy="5365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BF4E57B0-F400-4B0A-9D2E-02C8CE12E133}"/>
              </a:ext>
            </a:extLst>
          </p:cNvPr>
          <p:cNvSpPr txBox="1">
            <a:spLocks noRot="1" noChangeAspect="1" noMove="1" noResize="1" noEditPoints="1" noAdjustHandles="1" noChangeArrowheads="1" noChangeShapeType="1" noTextEdit="1"/>
          </p:cNvSpPr>
          <p:nvPr/>
        </p:nvSpPr>
        <p:spPr>
          <a:xfrm>
            <a:off x="6421654" y="4993774"/>
            <a:ext cx="739946" cy="1587422"/>
          </a:xfrm>
          <a:prstGeom prst="rect">
            <a:avLst/>
          </a:prstGeom>
          <a:blipFill>
            <a:blip r:embed="rId11"/>
            <a:stretch>
              <a:fillRect b="-3175"/>
            </a:stretch>
          </a:blipFill>
        </p:spPr>
        <p:txBody>
          <a:bodyPr/>
          <a:lstStyle/>
          <a:p>
            <a:pPr>
              <a:defRPr/>
            </a:pPr>
            <a:r>
              <a:rPr lang="zh-CN" altLang="en-US">
                <a:noFill/>
              </a:rPr>
              <a:t> </a:t>
            </a:r>
          </a:p>
        </p:txBody>
      </p:sp>
      <p:sp>
        <p:nvSpPr>
          <p:cNvPr id="65" name="文字方塊 64">
            <a:extLst>
              <a:ext uri="{FF2B5EF4-FFF2-40B4-BE49-F238E27FC236}">
                <a16:creationId xmlns:a16="http://schemas.microsoft.com/office/drawing/2014/main" id="{2AF96364-4124-4BC4-B7CC-577B89BED96D}"/>
              </a:ext>
            </a:extLst>
          </p:cNvPr>
          <p:cNvSpPr txBox="1">
            <a:spLocks noChangeArrowheads="1"/>
          </p:cNvSpPr>
          <p:nvPr/>
        </p:nvSpPr>
        <p:spPr bwMode="auto">
          <a:xfrm>
            <a:off x="7099300" y="5372100"/>
            <a:ext cx="18780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Represent a digit image</a:t>
            </a:r>
            <a:endParaRPr lang="zh-TW" altLang="en-US" sz="2400">
              <a:solidFill>
                <a:schemeClr val="hlink"/>
              </a:solidFill>
              <a:ea typeface="宋体" panose="02010600030101010101" pitchFamily="2" charset="-122"/>
            </a:endParaRPr>
          </a:p>
        </p:txBody>
      </p:sp>
      <p:sp>
        <p:nvSpPr>
          <p:cNvPr id="71699" name="文字方塊 2">
            <a:extLst>
              <a:ext uri="{FF2B5EF4-FFF2-40B4-BE49-F238E27FC236}">
                <a16:creationId xmlns:a16="http://schemas.microsoft.com/office/drawing/2014/main" id="{0AEF3636-7CC9-4E48-B7FD-1A5934CB8706}"/>
              </a:ext>
            </a:extLst>
          </p:cNvPr>
          <p:cNvSpPr txBox="1">
            <a:spLocks noChangeArrowheads="1"/>
          </p:cNvSpPr>
          <p:nvPr/>
        </p:nvSpPr>
        <p:spPr bwMode="auto">
          <a:xfrm>
            <a:off x="284163" y="1504950"/>
            <a:ext cx="2671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Basic Component:</a:t>
            </a:r>
            <a:endParaRPr lang="zh-TW" altLang="en-US" sz="2400">
              <a:solidFill>
                <a:schemeClr val="hlink"/>
              </a:solidFill>
              <a:ea typeface="宋体" panose="02010600030101010101" pitchFamily="2" charset="-122"/>
            </a:endParaRPr>
          </a:p>
        </p:txBody>
      </p:sp>
      <p:sp>
        <p:nvSpPr>
          <p:cNvPr id="8" name="文字方塊 7">
            <a:extLst>
              <a:ext uri="{FF2B5EF4-FFF2-40B4-BE49-F238E27FC236}">
                <a16:creationId xmlns:a16="http://schemas.microsoft.com/office/drawing/2014/main" id="{C27F9BCA-E362-416B-8FB1-192CE350CB8F}"/>
              </a:ext>
            </a:extLst>
          </p:cNvPr>
          <p:cNvSpPr txBox="1"/>
          <p:nvPr/>
        </p:nvSpPr>
        <p:spPr>
          <a:xfrm>
            <a:off x="2139950" y="2085975"/>
            <a:ext cx="425450" cy="461963"/>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eaLnBrk="1" hangingPunct="1">
              <a:spcBef>
                <a:spcPct val="50000"/>
              </a:spcBef>
              <a:defRPr/>
            </a:pPr>
            <a:r>
              <a:rPr lang="en-US" altLang="zh-TW" sz="2400" dirty="0"/>
              <a:t>1</a:t>
            </a:r>
            <a:endParaRPr lang="zh-TW" altLang="en-US" sz="2400" dirty="0"/>
          </a:p>
        </p:txBody>
      </p:sp>
      <p:sp>
        <p:nvSpPr>
          <p:cNvPr id="35" name="文字方塊 34">
            <a:extLst>
              <a:ext uri="{FF2B5EF4-FFF2-40B4-BE49-F238E27FC236}">
                <a16:creationId xmlns:a16="http://schemas.microsoft.com/office/drawing/2014/main" id="{1368873B-F469-41E4-B306-2C8CB0BAB037}"/>
              </a:ext>
            </a:extLst>
          </p:cNvPr>
          <p:cNvSpPr txBox="1"/>
          <p:nvPr/>
        </p:nvSpPr>
        <p:spPr>
          <a:xfrm>
            <a:off x="3603625" y="2074863"/>
            <a:ext cx="342900" cy="468312"/>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eaLnBrk="1" hangingPunct="1">
              <a:spcBef>
                <a:spcPct val="50000"/>
              </a:spcBef>
              <a:defRPr/>
            </a:pPr>
            <a:r>
              <a:rPr lang="en-US" altLang="zh-TW" sz="2400" dirty="0"/>
              <a:t>0</a:t>
            </a:r>
            <a:endParaRPr lang="zh-TW" altLang="en-US" sz="2400" dirty="0"/>
          </a:p>
        </p:txBody>
      </p:sp>
      <p:sp>
        <p:nvSpPr>
          <p:cNvPr id="48" name="文字方塊 47">
            <a:extLst>
              <a:ext uri="{FF2B5EF4-FFF2-40B4-BE49-F238E27FC236}">
                <a16:creationId xmlns:a16="http://schemas.microsoft.com/office/drawing/2014/main" id="{0802795C-71B8-4AEC-AC45-0C58A4F6D6A3}"/>
              </a:ext>
            </a:extLst>
          </p:cNvPr>
          <p:cNvSpPr txBox="1"/>
          <p:nvPr/>
        </p:nvSpPr>
        <p:spPr>
          <a:xfrm>
            <a:off x="4903788" y="2082800"/>
            <a:ext cx="342900" cy="466725"/>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eaLnBrk="1" hangingPunct="1">
              <a:spcBef>
                <a:spcPct val="50000"/>
              </a:spcBef>
              <a:defRPr/>
            </a:pPr>
            <a:r>
              <a:rPr lang="en-US" altLang="zh-TW" sz="2400" dirty="0"/>
              <a:t>1</a:t>
            </a:r>
            <a:endParaRPr lang="zh-TW" altLang="en-US" sz="2400" dirty="0"/>
          </a:p>
        </p:txBody>
      </p:sp>
      <p:sp>
        <p:nvSpPr>
          <p:cNvPr id="49" name="文字方塊 48">
            <a:extLst>
              <a:ext uri="{FF2B5EF4-FFF2-40B4-BE49-F238E27FC236}">
                <a16:creationId xmlns:a16="http://schemas.microsoft.com/office/drawing/2014/main" id="{D6D52DBC-2E29-466B-BDFD-DAC3721D67F5}"/>
              </a:ext>
            </a:extLst>
          </p:cNvPr>
          <p:cNvSpPr txBox="1"/>
          <p:nvPr/>
        </p:nvSpPr>
        <p:spPr>
          <a:xfrm>
            <a:off x="6303963" y="2074863"/>
            <a:ext cx="342900" cy="466725"/>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eaLnBrk="1" hangingPunct="1">
              <a:spcBef>
                <a:spcPct val="50000"/>
              </a:spcBef>
              <a:defRPr/>
            </a:pPr>
            <a:r>
              <a:rPr lang="en-US" altLang="zh-TW" sz="2400" dirty="0"/>
              <a:t>0</a:t>
            </a:r>
            <a:endParaRPr lang="zh-TW" altLang="en-US" sz="2400" dirty="0"/>
          </a:p>
        </p:txBody>
      </p:sp>
      <p:sp>
        <p:nvSpPr>
          <p:cNvPr id="50" name="文字方塊 49">
            <a:extLst>
              <a:ext uri="{FF2B5EF4-FFF2-40B4-BE49-F238E27FC236}">
                <a16:creationId xmlns:a16="http://schemas.microsoft.com/office/drawing/2014/main" id="{A6A49003-469D-44A4-8616-754C9B774E4B}"/>
              </a:ext>
            </a:extLst>
          </p:cNvPr>
          <p:cNvSpPr txBox="1"/>
          <p:nvPr/>
        </p:nvSpPr>
        <p:spPr>
          <a:xfrm>
            <a:off x="7605713" y="2082800"/>
            <a:ext cx="342900" cy="466725"/>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eaLnBrk="1" hangingPunct="1">
              <a:spcBef>
                <a:spcPct val="50000"/>
              </a:spcBef>
              <a:defRPr/>
            </a:pPr>
            <a:r>
              <a:rPr lang="en-US" altLang="zh-TW" sz="2400" dirty="0"/>
              <a:t>1</a:t>
            </a:r>
            <a:endParaRPr lang="zh-TW" altLang="en-US" sz="2400" dirty="0"/>
          </a:p>
        </p:txBody>
      </p:sp>
      <p:sp>
        <p:nvSpPr>
          <p:cNvPr id="51" name="文字方塊 50">
            <a:extLst>
              <a:ext uri="{FF2B5EF4-FFF2-40B4-BE49-F238E27FC236}">
                <a16:creationId xmlns:a16="http://schemas.microsoft.com/office/drawing/2014/main" id="{242E7462-A21C-4DE2-B43B-93227F0DDFBB}"/>
              </a:ext>
            </a:extLst>
          </p:cNvPr>
          <p:cNvSpPr txBox="1">
            <a:spLocks noRot="1" noChangeAspect="1" noMove="1" noResize="1" noEditPoints="1" noAdjustHandles="1" noChangeArrowheads="1" noChangeShapeType="1" noTextEdit="1"/>
          </p:cNvSpPr>
          <p:nvPr/>
        </p:nvSpPr>
        <p:spPr>
          <a:xfrm>
            <a:off x="310666" y="3063475"/>
            <a:ext cx="454292" cy="2059025"/>
          </a:xfrm>
          <a:prstGeom prst="rect">
            <a:avLst/>
          </a:prstGeom>
          <a:blipFill>
            <a:blip r:embed="rId12"/>
            <a:stretch>
              <a:fillRect b="-3681"/>
            </a:stretch>
          </a:blipFill>
        </p:spPr>
        <p:txBody>
          <a:bodyPr/>
          <a:lstStyle/>
          <a:p>
            <a:pPr>
              <a:defRPr/>
            </a:pPr>
            <a:r>
              <a:rPr lang="zh-CN" altLang="en-US">
                <a:noFill/>
              </a:rPr>
              <a:t> </a:t>
            </a:r>
          </a:p>
        </p:txBody>
      </p:sp>
      <p:sp>
        <p:nvSpPr>
          <p:cNvPr id="52" name="文字方塊 51">
            <a:extLst>
              <a:ext uri="{FF2B5EF4-FFF2-40B4-BE49-F238E27FC236}">
                <a16:creationId xmlns:a16="http://schemas.microsoft.com/office/drawing/2014/main" id="{3FE3FE0E-D098-4373-A5B9-D759C4887D58}"/>
              </a:ext>
            </a:extLst>
          </p:cNvPr>
          <p:cNvSpPr txBox="1"/>
          <p:nvPr/>
        </p:nvSpPr>
        <p:spPr>
          <a:xfrm>
            <a:off x="3976688" y="4302125"/>
            <a:ext cx="522287" cy="4619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spcBef>
                <a:spcPct val="50000"/>
              </a:spcBef>
              <a:defRPr/>
            </a:pPr>
            <a:r>
              <a:rPr lang="en-US" altLang="zh-TW" sz="2400" dirty="0"/>
              <a:t>u</a:t>
            </a:r>
            <a:r>
              <a:rPr lang="en-US" altLang="zh-TW" sz="2400" baseline="30000" dirty="0"/>
              <a:t>1</a:t>
            </a:r>
            <a:endParaRPr lang="zh-TW" altLang="en-US" sz="2400" baseline="30000" dirty="0"/>
          </a:p>
        </p:txBody>
      </p:sp>
      <p:sp>
        <p:nvSpPr>
          <p:cNvPr id="53" name="文字方塊 52">
            <a:extLst>
              <a:ext uri="{FF2B5EF4-FFF2-40B4-BE49-F238E27FC236}">
                <a16:creationId xmlns:a16="http://schemas.microsoft.com/office/drawing/2014/main" id="{263842FB-6D4C-43E8-A06F-777B68DC2CF6}"/>
              </a:ext>
            </a:extLst>
          </p:cNvPr>
          <p:cNvSpPr txBox="1"/>
          <p:nvPr/>
        </p:nvSpPr>
        <p:spPr>
          <a:xfrm>
            <a:off x="5811838" y="4302125"/>
            <a:ext cx="517525" cy="4619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spcBef>
                <a:spcPct val="50000"/>
              </a:spcBef>
              <a:defRPr/>
            </a:pPr>
            <a:r>
              <a:rPr lang="en-US" altLang="zh-TW" sz="2400" dirty="0"/>
              <a:t>u</a:t>
            </a:r>
            <a:r>
              <a:rPr lang="en-US" altLang="zh-TW" sz="2400" baseline="30000" dirty="0"/>
              <a:t>3</a:t>
            </a:r>
            <a:endParaRPr lang="zh-TW" altLang="en-US" sz="2400" baseline="30000" dirty="0"/>
          </a:p>
        </p:txBody>
      </p:sp>
      <p:sp>
        <p:nvSpPr>
          <p:cNvPr id="54" name="文字方塊 53">
            <a:extLst>
              <a:ext uri="{FF2B5EF4-FFF2-40B4-BE49-F238E27FC236}">
                <a16:creationId xmlns:a16="http://schemas.microsoft.com/office/drawing/2014/main" id="{32B917BB-0775-479E-A099-0625DB4951DF}"/>
              </a:ext>
            </a:extLst>
          </p:cNvPr>
          <p:cNvSpPr txBox="1"/>
          <p:nvPr/>
        </p:nvSpPr>
        <p:spPr>
          <a:xfrm>
            <a:off x="7831138" y="4286250"/>
            <a:ext cx="447675" cy="4619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spcBef>
                <a:spcPct val="50000"/>
              </a:spcBef>
              <a:defRPr/>
            </a:pPr>
            <a:r>
              <a:rPr lang="en-US" altLang="zh-TW" sz="2400" dirty="0"/>
              <a:t>u</a:t>
            </a:r>
            <a:r>
              <a:rPr lang="en-US" altLang="zh-TW" sz="2400" baseline="30000" dirty="0"/>
              <a:t>5</a:t>
            </a:r>
            <a:endParaRPr lang="zh-TW" altLang="en-US" sz="2400" baseline="30000" dirty="0"/>
          </a:p>
        </p:txBody>
      </p:sp>
      <p:sp>
        <p:nvSpPr>
          <p:cNvPr id="55" name="文字方塊 54">
            <a:extLst>
              <a:ext uri="{FF2B5EF4-FFF2-40B4-BE49-F238E27FC236}">
                <a16:creationId xmlns:a16="http://schemas.microsoft.com/office/drawing/2014/main" id="{F176E384-4598-4AE4-BB25-438B3C7067AB}"/>
              </a:ext>
            </a:extLst>
          </p:cNvPr>
          <p:cNvSpPr txBox="1"/>
          <p:nvPr/>
        </p:nvSpPr>
        <p:spPr>
          <a:xfrm>
            <a:off x="2759075" y="3443288"/>
            <a:ext cx="520700" cy="461962"/>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400" dirty="0"/>
              <a:t>1x</a:t>
            </a:r>
            <a:endParaRPr lang="zh-TW" altLang="en-US" sz="2400" baseline="30000" dirty="0"/>
          </a:p>
        </p:txBody>
      </p:sp>
      <p:sp>
        <p:nvSpPr>
          <p:cNvPr id="56" name="文字方塊 55">
            <a:extLst>
              <a:ext uri="{FF2B5EF4-FFF2-40B4-BE49-F238E27FC236}">
                <a16:creationId xmlns:a16="http://schemas.microsoft.com/office/drawing/2014/main" id="{754A3617-C082-4962-969C-54096EE2FC4A}"/>
              </a:ext>
            </a:extLst>
          </p:cNvPr>
          <p:cNvSpPr txBox="1"/>
          <p:nvPr/>
        </p:nvSpPr>
        <p:spPr>
          <a:xfrm>
            <a:off x="4741863" y="3432175"/>
            <a:ext cx="522287" cy="461963"/>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400" dirty="0"/>
              <a:t>1x</a:t>
            </a:r>
            <a:endParaRPr lang="zh-TW" altLang="en-US" sz="2400" baseline="30000" dirty="0"/>
          </a:p>
        </p:txBody>
      </p:sp>
      <p:sp>
        <p:nvSpPr>
          <p:cNvPr id="57" name="文字方塊 56">
            <a:extLst>
              <a:ext uri="{FF2B5EF4-FFF2-40B4-BE49-F238E27FC236}">
                <a16:creationId xmlns:a16="http://schemas.microsoft.com/office/drawing/2014/main" id="{DE88ED5F-7BE3-4242-9E2B-B8958BF5637B}"/>
              </a:ext>
            </a:extLst>
          </p:cNvPr>
          <p:cNvSpPr txBox="1"/>
          <p:nvPr/>
        </p:nvSpPr>
        <p:spPr>
          <a:xfrm>
            <a:off x="6675438" y="3425825"/>
            <a:ext cx="522287" cy="460375"/>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altLang="zh-TW" sz="2400" dirty="0"/>
              <a:t>1x</a:t>
            </a:r>
            <a:endParaRPr lang="zh-TW" altLang="en-US" sz="2400" baseline="30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59" grpId="0"/>
      <p:bldP spid="60" grpId="0"/>
      <p:bldP spid="65" grpId="0"/>
      <p:bldP spid="8" grpId="0" animBg="1"/>
      <p:bldP spid="35" grpId="0" animBg="1"/>
      <p:bldP spid="48" grpId="0" animBg="1"/>
      <p:bldP spid="49" grpId="0" animBg="1"/>
      <p:bldP spid="50" grpId="0" animBg="1"/>
      <p:bldP spid="52" grpId="0" animBg="1"/>
      <p:bldP spid="53" grpId="0" animBg="1"/>
      <p:bldP spid="54" grpId="0" animBg="1"/>
      <p:bldP spid="55" grpId="0" animBg="1"/>
      <p:bldP spid="56" grpId="0" animBg="1"/>
      <p:bldP spid="5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標題 1">
            <a:extLst>
              <a:ext uri="{FF2B5EF4-FFF2-40B4-BE49-F238E27FC236}">
                <a16:creationId xmlns:a16="http://schemas.microsoft.com/office/drawing/2014/main" id="{4D04AE0A-66E4-42E0-A108-63168B74C39D}"/>
              </a:ext>
            </a:extLst>
          </p:cNvPr>
          <p:cNvSpPr>
            <a:spLocks noGrp="1" noChangeArrowheads="1"/>
          </p:cNvSpPr>
          <p:nvPr>
            <p:ph type="title"/>
          </p:nvPr>
        </p:nvSpPr>
        <p:spPr/>
        <p:txBody>
          <a:bodyPr/>
          <a:lstStyle/>
          <a:p>
            <a:r>
              <a:rPr lang="en-US" altLang="zh-TW"/>
              <a:t>PCA – Another Point of View</a:t>
            </a:r>
            <a:endParaRPr lang="zh-TW" altLang="en-US"/>
          </a:p>
        </p:txBody>
      </p:sp>
      <p:pic>
        <p:nvPicPr>
          <p:cNvPr id="25" name="文字方塊 24">
            <a:extLst>
              <a:ext uri="{FF2B5EF4-FFF2-40B4-BE49-F238E27FC236}">
                <a16:creationId xmlns:a16="http://schemas.microsoft.com/office/drawing/2014/main" id="{D7A65494-214F-405A-9172-EDD26C4AA837}"/>
              </a:ext>
            </a:extLst>
          </p:cNvPr>
          <p:cNvPicPr>
            <a:picLocks noRot="1" noChangeAspect="1" noMove="1" noResize="1" noEditPoints="1" noAdjustHandle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0" y="2908300"/>
            <a:ext cx="6502400" cy="1460500"/>
          </a:xfrm>
          <a:prstGeom prst="rect">
            <a:avLst/>
          </a:prstGeom>
          <a:noFill/>
          <a:extLst>
            <a:ext uri="{909E8E84-426E-40DD-AFC4-6F175D3DCCD1}">
              <a14:hiddenFill xmlns:a14="http://schemas.microsoft.com/office/drawing/2010/main">
                <a:solidFill>
                  <a:srgbClr val="FFFFFF"/>
                </a:solidFill>
              </a14:hiddenFill>
            </a:ext>
          </a:extLst>
        </p:spPr>
      </p:pic>
      <p:pic>
        <p:nvPicPr>
          <p:cNvPr id="29" name="文字方塊 28">
            <a:extLst>
              <a:ext uri="{FF2B5EF4-FFF2-40B4-BE49-F238E27FC236}">
                <a16:creationId xmlns:a16="http://schemas.microsoft.com/office/drawing/2014/main" id="{4BD55BE6-C69E-4B2D-8BDB-915D0BB9F397}"/>
              </a:ext>
            </a:extLst>
          </p:cNvPr>
          <p:cNvPicPr>
            <a:picLocks noRot="1" noChangeAspect="1" noMove="1" noResize="1" noEditPoints="1" noAdjustHandles="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 y="4889500"/>
            <a:ext cx="2755900" cy="1790700"/>
          </a:xfrm>
          <a:prstGeom prst="rect">
            <a:avLst/>
          </a:prstGeom>
          <a:noFill/>
          <a:extLst>
            <a:ext uri="{909E8E84-426E-40DD-AFC4-6F175D3DCCD1}">
              <a14:hiddenFill xmlns:a14="http://schemas.microsoft.com/office/drawing/2010/main">
                <a:solidFill>
                  <a:srgbClr val="FFFFFF"/>
                </a:solidFill>
              </a14:hiddenFill>
            </a:ext>
          </a:extLst>
        </p:spPr>
      </p:pic>
      <p:sp>
        <p:nvSpPr>
          <p:cNvPr id="30" name="文字方塊 29">
            <a:extLst>
              <a:ext uri="{FF2B5EF4-FFF2-40B4-BE49-F238E27FC236}">
                <a16:creationId xmlns:a16="http://schemas.microsoft.com/office/drawing/2014/main" id="{BF8D4E04-3D00-470E-AF6E-03BDE2123835}"/>
              </a:ext>
            </a:extLst>
          </p:cNvPr>
          <p:cNvSpPr txBox="1">
            <a:spLocks noRot="1" noChangeAspect="1" noMove="1" noResize="1" noEditPoints="1" noAdjustHandles="1" noChangeArrowheads="1" noChangeShapeType="1" noTextEdit="1"/>
          </p:cNvSpPr>
          <p:nvPr/>
        </p:nvSpPr>
        <p:spPr>
          <a:xfrm>
            <a:off x="1727721" y="4368447"/>
            <a:ext cx="1271374" cy="430887"/>
          </a:xfrm>
          <a:prstGeom prst="rect">
            <a:avLst/>
          </a:prstGeom>
          <a:blipFill>
            <a:blip r:embed="rId4"/>
            <a:stretch>
              <a:fillRect l="-2970" r="-4950" b="-5714"/>
            </a:stretch>
          </a:blipFill>
        </p:spPr>
        <p:txBody>
          <a:bodyPr/>
          <a:lstStyle/>
          <a:p>
            <a:pPr>
              <a:defRPr/>
            </a:pPr>
            <a:r>
              <a:rPr lang="zh-CN" altLang="en-US">
                <a:noFill/>
              </a:rPr>
              <a:t> </a:t>
            </a:r>
          </a:p>
        </p:txBody>
      </p:sp>
      <p:sp>
        <p:nvSpPr>
          <p:cNvPr id="31" name="矩形 30">
            <a:extLst>
              <a:ext uri="{FF2B5EF4-FFF2-40B4-BE49-F238E27FC236}">
                <a16:creationId xmlns:a16="http://schemas.microsoft.com/office/drawing/2014/main" id="{EE71ABF6-10FA-417D-92CB-800395EE50CE}"/>
              </a:ext>
            </a:extLst>
          </p:cNvPr>
          <p:cNvSpPr>
            <a:spLocks noChangeArrowheads="1"/>
          </p:cNvSpPr>
          <p:nvPr/>
        </p:nvSpPr>
        <p:spPr bwMode="auto">
          <a:xfrm>
            <a:off x="4770438" y="6286500"/>
            <a:ext cx="4354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Proof in [Bishop, Chapter 12.1.2]</a:t>
            </a:r>
            <a:endParaRPr lang="zh-TW" altLang="en-US" sz="2400">
              <a:solidFill>
                <a:schemeClr val="hlink"/>
              </a:solidFill>
              <a:ea typeface="宋体" panose="02010600030101010101" pitchFamily="2" charset="-122"/>
            </a:endParaRPr>
          </a:p>
        </p:txBody>
      </p:sp>
      <p:pic>
        <p:nvPicPr>
          <p:cNvPr id="32" name="文字方塊 31">
            <a:extLst>
              <a:ext uri="{FF2B5EF4-FFF2-40B4-BE49-F238E27FC236}">
                <a16:creationId xmlns:a16="http://schemas.microsoft.com/office/drawing/2014/main" id="{58C31AA1-35E9-4756-9462-0FAD6F8D1F4A}"/>
              </a:ext>
            </a:extLst>
          </p:cNvPr>
          <p:cNvPicPr>
            <a:picLocks noRot="1" noChangeAspect="1" noMove="1" noResize="1" noEditPoints="1" noAdjustHandles="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6800" y="4889500"/>
            <a:ext cx="5080000" cy="1397000"/>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a:extLst>
              <a:ext uri="{FF2B5EF4-FFF2-40B4-BE49-F238E27FC236}">
                <a16:creationId xmlns:a16="http://schemas.microsoft.com/office/drawing/2014/main" id="{3B97E513-BA06-45AF-8E69-08017B23220C}"/>
              </a:ext>
            </a:extLst>
          </p:cNvPr>
          <p:cNvSpPr txBox="1">
            <a:spLocks noRot="1" noChangeAspect="1" noMove="1" noResize="1" noEditPoints="1" noAdjustHandles="1" noChangeArrowheads="1" noChangeShapeType="1" noTextEdit="1"/>
          </p:cNvSpPr>
          <p:nvPr/>
        </p:nvSpPr>
        <p:spPr>
          <a:xfrm>
            <a:off x="6543417" y="1408470"/>
            <a:ext cx="808458" cy="430887"/>
          </a:xfrm>
          <a:prstGeom prst="rect">
            <a:avLst/>
          </a:prstGeom>
          <a:blipFill>
            <a:blip r:embed="rId6"/>
            <a:stretch>
              <a:fillRect t="-14286"/>
            </a:stretch>
          </a:blipFill>
        </p:spPr>
        <p:txBody>
          <a:bodyPr/>
          <a:lstStyle/>
          <a:p>
            <a:pPr>
              <a:defRPr/>
            </a:pPr>
            <a:r>
              <a:rPr lang="zh-CN" altLang="en-US">
                <a:noFill/>
              </a:rPr>
              <a:t> </a:t>
            </a:r>
          </a:p>
        </p:txBody>
      </p:sp>
      <p:cxnSp>
        <p:nvCxnSpPr>
          <p:cNvPr id="6" name="直線接點 5">
            <a:extLst>
              <a:ext uri="{FF2B5EF4-FFF2-40B4-BE49-F238E27FC236}">
                <a16:creationId xmlns:a16="http://schemas.microsoft.com/office/drawing/2014/main" id="{E0D84620-EAA5-4C7D-9CD4-5ED35F80F10F}"/>
              </a:ext>
            </a:extLst>
          </p:cNvPr>
          <p:cNvCxnSpPr/>
          <p:nvPr/>
        </p:nvCxnSpPr>
        <p:spPr>
          <a:xfrm>
            <a:off x="1838325" y="2060575"/>
            <a:ext cx="52816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261810F1-890E-4D9F-AA39-0B89D5083665}"/>
              </a:ext>
            </a:extLst>
          </p:cNvPr>
          <p:cNvCxnSpPr/>
          <p:nvPr/>
        </p:nvCxnSpPr>
        <p:spPr>
          <a:xfrm>
            <a:off x="1860550" y="1752600"/>
            <a:ext cx="0" cy="320675"/>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2E7A50A0-C607-4024-8F74-C300031F3810}"/>
              </a:ext>
            </a:extLst>
          </p:cNvPr>
          <p:cNvCxnSpPr/>
          <p:nvPr/>
        </p:nvCxnSpPr>
        <p:spPr>
          <a:xfrm>
            <a:off x="7119938" y="1752600"/>
            <a:ext cx="0" cy="307975"/>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C47149E7-26AF-4F46-882F-B44160C6EA60}"/>
              </a:ext>
            </a:extLst>
          </p:cNvPr>
          <p:cNvSpPr txBox="1">
            <a:spLocks noChangeArrowheads="1"/>
          </p:cNvSpPr>
          <p:nvPr/>
        </p:nvSpPr>
        <p:spPr bwMode="auto">
          <a:xfrm>
            <a:off x="144463" y="2095500"/>
            <a:ext cx="4308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Reconstruction error:</a:t>
            </a:r>
            <a:endParaRPr lang="zh-TW" altLang="en-US" sz="2400">
              <a:solidFill>
                <a:schemeClr val="hlink"/>
              </a:solidFill>
              <a:ea typeface="宋体" panose="02010600030101010101" pitchFamily="2" charset="-122"/>
            </a:endParaRPr>
          </a:p>
        </p:txBody>
      </p:sp>
      <p:pic>
        <p:nvPicPr>
          <p:cNvPr id="9" name="文字方塊 8">
            <a:extLst>
              <a:ext uri="{FF2B5EF4-FFF2-40B4-BE49-F238E27FC236}">
                <a16:creationId xmlns:a16="http://schemas.microsoft.com/office/drawing/2014/main" id="{FF180654-8030-4EE3-AD7E-57B22340D3B1}"/>
              </a:ext>
            </a:extLst>
          </p:cNvPr>
          <p:cNvPicPr>
            <a:picLocks noRot="1" noChangeAspect="1" noMove="1" noResize="1" noEditPoints="1" noAdjustHandles="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2298700"/>
            <a:ext cx="5080000" cy="482600"/>
          </a:xfrm>
          <a:prstGeom prst="rect">
            <a:avLst/>
          </a:prstGeom>
          <a:noFill/>
          <a:extLst>
            <a:ext uri="{909E8E84-426E-40DD-AFC4-6F175D3DCCD1}">
              <a14:hiddenFill xmlns:a14="http://schemas.microsoft.com/office/drawing/2010/main">
                <a:solidFill>
                  <a:srgbClr val="FFFFFF"/>
                </a:solidFill>
              </a14:hiddenFill>
            </a:ext>
          </a:extLst>
        </p:spPr>
      </p:pic>
      <p:sp>
        <p:nvSpPr>
          <p:cNvPr id="23" name="文字方塊 22">
            <a:extLst>
              <a:ext uri="{FF2B5EF4-FFF2-40B4-BE49-F238E27FC236}">
                <a16:creationId xmlns:a16="http://schemas.microsoft.com/office/drawing/2014/main" id="{C77D85DF-A8B6-4E9B-9592-4C0584B3C579}"/>
              </a:ext>
            </a:extLst>
          </p:cNvPr>
          <p:cNvSpPr txBox="1">
            <a:spLocks noRot="1" noChangeAspect="1" noMove="1" noResize="1" noEditPoints="1" noAdjustHandles="1" noChangeArrowheads="1" noChangeShapeType="1" noTextEdit="1"/>
          </p:cNvSpPr>
          <p:nvPr/>
        </p:nvSpPr>
        <p:spPr>
          <a:xfrm>
            <a:off x="6249685" y="4331193"/>
            <a:ext cx="808458" cy="430887"/>
          </a:xfrm>
          <a:prstGeom prst="rect">
            <a:avLst/>
          </a:prstGeom>
          <a:blipFill>
            <a:blip r:embed="rId8"/>
            <a:stretch>
              <a:fillRect t="-11429"/>
            </a:stretch>
          </a:blipFill>
        </p:spPr>
        <p:txBody>
          <a:bodyPr/>
          <a:lstStyle/>
          <a:p>
            <a:pPr>
              <a:defRPr/>
            </a:pPr>
            <a:r>
              <a:rPr lang="zh-CN" altLang="en-US">
                <a:noFill/>
              </a:rPr>
              <a:t> </a:t>
            </a:r>
          </a:p>
        </p:txBody>
      </p:sp>
      <p:cxnSp>
        <p:nvCxnSpPr>
          <p:cNvPr id="15" name="直線接點 14">
            <a:extLst>
              <a:ext uri="{FF2B5EF4-FFF2-40B4-BE49-F238E27FC236}">
                <a16:creationId xmlns:a16="http://schemas.microsoft.com/office/drawing/2014/main" id="{426470C7-AD02-476D-BB5A-4FAAA103D92E}"/>
              </a:ext>
            </a:extLst>
          </p:cNvPr>
          <p:cNvCxnSpPr/>
          <p:nvPr/>
        </p:nvCxnSpPr>
        <p:spPr>
          <a:xfrm>
            <a:off x="5805488" y="4300538"/>
            <a:ext cx="1771650" cy="0"/>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9C1C59D1-A5F1-47A5-B92C-98E266254D28}"/>
              </a:ext>
            </a:extLst>
          </p:cNvPr>
          <p:cNvSpPr txBox="1">
            <a:spLocks noChangeArrowheads="1"/>
          </p:cNvSpPr>
          <p:nvPr/>
        </p:nvSpPr>
        <p:spPr bwMode="auto">
          <a:xfrm>
            <a:off x="414338" y="4343400"/>
            <a:ext cx="1423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PCA:</a:t>
            </a:r>
            <a:endParaRPr lang="zh-TW" altLang="en-US" sz="2400">
              <a:solidFill>
                <a:schemeClr val="hlink"/>
              </a:solidFill>
              <a:ea typeface="宋体" panose="02010600030101010101" pitchFamily="2" charset="-122"/>
            </a:endParaRPr>
          </a:p>
        </p:txBody>
      </p:sp>
      <p:sp>
        <p:nvSpPr>
          <p:cNvPr id="28" name="文字方塊 27">
            <a:extLst>
              <a:ext uri="{FF2B5EF4-FFF2-40B4-BE49-F238E27FC236}">
                <a16:creationId xmlns:a16="http://schemas.microsoft.com/office/drawing/2014/main" id="{984E134E-B6BF-4876-91BB-B0E795D8935F}"/>
              </a:ext>
            </a:extLst>
          </p:cNvPr>
          <p:cNvSpPr txBox="1">
            <a:spLocks noRot="1" noChangeAspect="1" noMove="1" noResize="1" noEditPoints="1" noAdjustHandles="1" noChangeArrowheads="1" noChangeShapeType="1" noTextEdit="1"/>
          </p:cNvSpPr>
          <p:nvPr/>
        </p:nvSpPr>
        <p:spPr>
          <a:xfrm>
            <a:off x="994641" y="1408471"/>
            <a:ext cx="5922044" cy="430887"/>
          </a:xfrm>
          <a:prstGeom prst="rect">
            <a:avLst/>
          </a:prstGeom>
          <a:blipFill>
            <a:blip r:embed="rId9"/>
            <a:stretch>
              <a:fillRect b="-14286"/>
            </a:stretch>
          </a:blipFill>
        </p:spPr>
        <p:txBody>
          <a:bodyPr/>
          <a:lstStyle/>
          <a:p>
            <a:pPr>
              <a:defRPr/>
            </a:pPr>
            <a:r>
              <a:rPr lang="zh-CN" altLang="en-US">
                <a:noFill/>
              </a:rPr>
              <a:t> </a:t>
            </a:r>
          </a:p>
        </p:txBody>
      </p:sp>
      <p:sp>
        <p:nvSpPr>
          <p:cNvPr id="21" name="矩形 20">
            <a:extLst>
              <a:ext uri="{FF2B5EF4-FFF2-40B4-BE49-F238E27FC236}">
                <a16:creationId xmlns:a16="http://schemas.microsoft.com/office/drawing/2014/main" id="{98CACE8F-209D-4DCE-AB5B-45D1B7467610}"/>
              </a:ext>
            </a:extLst>
          </p:cNvPr>
          <p:cNvSpPr>
            <a:spLocks noRot="1" noChangeAspect="1" noMove="1" noResize="1" noEditPoints="1" noAdjustHandles="1" noChangeArrowheads="1" noChangeShapeType="1" noTextEdit="1"/>
          </p:cNvSpPr>
          <p:nvPr/>
        </p:nvSpPr>
        <p:spPr>
          <a:xfrm>
            <a:off x="1221351" y="2436329"/>
            <a:ext cx="2296013" cy="461665"/>
          </a:xfrm>
          <a:prstGeom prst="rect">
            <a:avLst/>
          </a:prstGeom>
          <a:blipFill>
            <a:blip r:embed="rId10"/>
            <a:stretch>
              <a:fillRect t="-2778" b="-22222"/>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8" grpId="0"/>
      <p:bldP spid="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BA78767C-DFE7-4F4B-8A12-814371EC92FF}"/>
              </a:ext>
            </a:extLst>
          </p:cNvPr>
          <p:cNvSpPr txBox="1">
            <a:spLocks noRot="1" noChangeAspect="1" noMove="1" noResize="1" noEditPoints="1" noAdjustHandles="1" noChangeArrowheads="1" noChangeShapeType="1" noTextEdit="1"/>
          </p:cNvSpPr>
          <p:nvPr/>
        </p:nvSpPr>
        <p:spPr>
          <a:xfrm>
            <a:off x="6546383" y="284520"/>
            <a:ext cx="808458" cy="430887"/>
          </a:xfrm>
          <a:prstGeom prst="rect">
            <a:avLst/>
          </a:prstGeom>
          <a:blipFill>
            <a:blip r:embed="rId3"/>
            <a:stretch>
              <a:fillRect t="-11429"/>
            </a:stretch>
          </a:blipFill>
        </p:spPr>
        <p:txBody>
          <a:bodyPr/>
          <a:lstStyle/>
          <a:p>
            <a:pPr>
              <a:defRPr/>
            </a:pPr>
            <a:r>
              <a:rPr lang="zh-CN" altLang="en-US">
                <a:noFill/>
              </a:rPr>
              <a:t> </a:t>
            </a:r>
          </a:p>
        </p:txBody>
      </p:sp>
      <p:cxnSp>
        <p:nvCxnSpPr>
          <p:cNvPr id="5" name="直線接點 4">
            <a:extLst>
              <a:ext uri="{FF2B5EF4-FFF2-40B4-BE49-F238E27FC236}">
                <a16:creationId xmlns:a16="http://schemas.microsoft.com/office/drawing/2014/main" id="{7C74AEE4-1E0D-4292-9837-E68E14ABCCC9}"/>
              </a:ext>
            </a:extLst>
          </p:cNvPr>
          <p:cNvCxnSpPr/>
          <p:nvPr/>
        </p:nvCxnSpPr>
        <p:spPr>
          <a:xfrm>
            <a:off x="1841500" y="936625"/>
            <a:ext cx="52816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3009FED9-586C-4052-96F1-3DEC54C824EC}"/>
              </a:ext>
            </a:extLst>
          </p:cNvPr>
          <p:cNvCxnSpPr/>
          <p:nvPr/>
        </p:nvCxnSpPr>
        <p:spPr>
          <a:xfrm>
            <a:off x="1863725" y="628650"/>
            <a:ext cx="0" cy="320675"/>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B623F778-1B2F-499F-8C37-CCDFFCCFBF64}"/>
              </a:ext>
            </a:extLst>
          </p:cNvPr>
          <p:cNvCxnSpPr/>
          <p:nvPr/>
        </p:nvCxnSpPr>
        <p:spPr>
          <a:xfrm>
            <a:off x="7123113" y="628650"/>
            <a:ext cx="0" cy="307975"/>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4757" name="文字方塊 7">
            <a:extLst>
              <a:ext uri="{FF2B5EF4-FFF2-40B4-BE49-F238E27FC236}">
                <a16:creationId xmlns:a16="http://schemas.microsoft.com/office/drawing/2014/main" id="{C23AAF26-A261-4536-A307-C47F6823AF22}"/>
              </a:ext>
            </a:extLst>
          </p:cNvPr>
          <p:cNvSpPr txBox="1">
            <a:spLocks noChangeArrowheads="1"/>
          </p:cNvSpPr>
          <p:nvPr/>
        </p:nvSpPr>
        <p:spPr bwMode="auto">
          <a:xfrm>
            <a:off x="147638" y="971550"/>
            <a:ext cx="4308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Reconstruction error:</a:t>
            </a:r>
            <a:endParaRPr lang="zh-TW" altLang="en-US" sz="2400">
              <a:solidFill>
                <a:schemeClr val="hlink"/>
              </a:solidFill>
              <a:ea typeface="宋体" panose="02010600030101010101" pitchFamily="2" charset="-122"/>
            </a:endParaRPr>
          </a:p>
        </p:txBody>
      </p:sp>
      <p:pic>
        <p:nvPicPr>
          <p:cNvPr id="10" name="文字方塊 9">
            <a:extLst>
              <a:ext uri="{FF2B5EF4-FFF2-40B4-BE49-F238E27FC236}">
                <a16:creationId xmlns:a16="http://schemas.microsoft.com/office/drawing/2014/main" id="{1201EFCA-F24E-40AD-AF38-0BD9730C6E96}"/>
              </a:ext>
            </a:extLst>
          </p:cNvPr>
          <p:cNvPicPr>
            <a:picLocks noRot="1" noChangeAspect="1" noMove="1" noResize="1" noEditPoints="1" noAdjustHandles="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79400"/>
            <a:ext cx="5930900" cy="44450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03519FC4-AC4D-481A-9026-45CBCD4B539B}"/>
              </a:ext>
            </a:extLst>
          </p:cNvPr>
          <p:cNvSpPr>
            <a:spLocks noRot="1" noChangeAspect="1" noMove="1" noResize="1" noEditPoints="1" noAdjustHandles="1" noChangeArrowheads="1" noChangeShapeType="1" noTextEdit="1"/>
          </p:cNvSpPr>
          <p:nvPr/>
        </p:nvSpPr>
        <p:spPr>
          <a:xfrm>
            <a:off x="1224317" y="1312379"/>
            <a:ext cx="2296013" cy="461665"/>
          </a:xfrm>
          <a:prstGeom prst="rect">
            <a:avLst/>
          </a:prstGeom>
          <a:blipFill>
            <a:blip r:embed="rId5"/>
            <a:stretch>
              <a:fillRect b="-18421"/>
            </a:stretch>
          </a:blipFill>
        </p:spPr>
        <p:txBody>
          <a:bodyPr/>
          <a:lstStyle/>
          <a:p>
            <a:pPr>
              <a:defRPr/>
            </a:pPr>
            <a:r>
              <a:rPr lang="zh-CN" altLang="en-US">
                <a:noFill/>
              </a:rPr>
              <a:t> </a:t>
            </a:r>
          </a:p>
        </p:txBody>
      </p:sp>
      <p:sp>
        <p:nvSpPr>
          <p:cNvPr id="12" name="文字方塊 11">
            <a:extLst>
              <a:ext uri="{FF2B5EF4-FFF2-40B4-BE49-F238E27FC236}">
                <a16:creationId xmlns:a16="http://schemas.microsoft.com/office/drawing/2014/main" id="{1E3AA958-8674-4B38-B052-699699EA16E8}"/>
              </a:ext>
            </a:extLst>
          </p:cNvPr>
          <p:cNvSpPr txBox="1">
            <a:spLocks noRot="1" noChangeAspect="1" noMove="1" noResize="1" noEditPoints="1" noAdjustHandles="1" noChangeArrowheads="1" noChangeShapeType="1" noTextEdit="1"/>
          </p:cNvSpPr>
          <p:nvPr/>
        </p:nvSpPr>
        <p:spPr>
          <a:xfrm>
            <a:off x="2722056" y="2022184"/>
            <a:ext cx="3608615" cy="373564"/>
          </a:xfrm>
          <a:prstGeom prst="rect">
            <a:avLst/>
          </a:prstGeom>
          <a:blipFill>
            <a:blip r:embed="rId6"/>
            <a:stretch>
              <a:fillRect l="-1754" b="-16129"/>
            </a:stretch>
          </a:blipFill>
        </p:spPr>
        <p:txBody>
          <a:bodyPr/>
          <a:lstStyle/>
          <a:p>
            <a:pPr>
              <a:defRPr/>
            </a:pPr>
            <a:r>
              <a:rPr lang="zh-CN" altLang="en-US">
                <a:noFill/>
              </a:rPr>
              <a:t> </a:t>
            </a:r>
          </a:p>
        </p:txBody>
      </p:sp>
      <p:sp>
        <p:nvSpPr>
          <p:cNvPr id="13" name="文字方塊 12">
            <a:extLst>
              <a:ext uri="{FF2B5EF4-FFF2-40B4-BE49-F238E27FC236}">
                <a16:creationId xmlns:a16="http://schemas.microsoft.com/office/drawing/2014/main" id="{283A1488-5B39-4CCF-B56F-27DE308D00E1}"/>
              </a:ext>
            </a:extLst>
          </p:cNvPr>
          <p:cNvSpPr txBox="1">
            <a:spLocks noRot="1" noChangeAspect="1" noMove="1" noResize="1" noEditPoints="1" noAdjustHandles="1" noChangeArrowheads="1" noChangeShapeType="1" noTextEdit="1"/>
          </p:cNvSpPr>
          <p:nvPr/>
        </p:nvSpPr>
        <p:spPr>
          <a:xfrm>
            <a:off x="2722056" y="2547990"/>
            <a:ext cx="3608615" cy="374333"/>
          </a:xfrm>
          <a:prstGeom prst="rect">
            <a:avLst/>
          </a:prstGeom>
          <a:blipFill>
            <a:blip r:embed="rId7"/>
            <a:stretch>
              <a:fillRect l="-1754" b="-16667"/>
            </a:stretch>
          </a:blipFill>
        </p:spPr>
        <p:txBody>
          <a:bodyPr/>
          <a:lstStyle/>
          <a:p>
            <a:pPr>
              <a:defRPr/>
            </a:pPr>
            <a:r>
              <a:rPr lang="zh-CN" altLang="en-US">
                <a:noFill/>
              </a:rPr>
              <a:t> </a:t>
            </a:r>
          </a:p>
        </p:txBody>
      </p:sp>
      <p:sp>
        <p:nvSpPr>
          <p:cNvPr id="14" name="文字方塊 13">
            <a:extLst>
              <a:ext uri="{FF2B5EF4-FFF2-40B4-BE49-F238E27FC236}">
                <a16:creationId xmlns:a16="http://schemas.microsoft.com/office/drawing/2014/main" id="{96A3635F-ED9B-46E9-92AD-F4AD9B8FA2D2}"/>
              </a:ext>
            </a:extLst>
          </p:cNvPr>
          <p:cNvSpPr txBox="1">
            <a:spLocks noRot="1" noChangeAspect="1" noMove="1" noResize="1" noEditPoints="1" noAdjustHandles="1" noChangeArrowheads="1" noChangeShapeType="1" noTextEdit="1"/>
          </p:cNvSpPr>
          <p:nvPr/>
        </p:nvSpPr>
        <p:spPr>
          <a:xfrm>
            <a:off x="2722056" y="3076752"/>
            <a:ext cx="3608615" cy="376193"/>
          </a:xfrm>
          <a:prstGeom prst="rect">
            <a:avLst/>
          </a:prstGeom>
          <a:blipFill>
            <a:blip r:embed="rId8"/>
            <a:stretch>
              <a:fillRect l="-1754" b="-16129"/>
            </a:stretch>
          </a:blipFill>
        </p:spPr>
        <p:txBody>
          <a:bodyPr/>
          <a:lstStyle/>
          <a:p>
            <a:pPr>
              <a:defRPr/>
            </a:pPr>
            <a:r>
              <a:rPr lang="zh-CN" altLang="en-US">
                <a:noFill/>
              </a:rPr>
              <a:t> </a:t>
            </a:r>
          </a:p>
        </p:txBody>
      </p:sp>
      <p:sp>
        <p:nvSpPr>
          <p:cNvPr id="15" name="文字方塊 14">
            <a:extLst>
              <a:ext uri="{FF2B5EF4-FFF2-40B4-BE49-F238E27FC236}">
                <a16:creationId xmlns:a16="http://schemas.microsoft.com/office/drawing/2014/main" id="{E42E426A-0058-4E75-9216-97058842B06E}"/>
              </a:ext>
            </a:extLst>
          </p:cNvPr>
          <p:cNvSpPr txBox="1">
            <a:spLocks noChangeArrowheads="1"/>
          </p:cNvSpPr>
          <p:nvPr/>
        </p:nvSpPr>
        <p:spPr bwMode="auto">
          <a:xfrm rot="5400000">
            <a:off x="4165600" y="3630613"/>
            <a:ext cx="7350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6" name="矩形 15">
            <a:extLst>
              <a:ext uri="{FF2B5EF4-FFF2-40B4-BE49-F238E27FC236}">
                <a16:creationId xmlns:a16="http://schemas.microsoft.com/office/drawing/2014/main" id="{6407E4F2-3135-46BC-96CA-8C3EF9B85D54}"/>
              </a:ext>
            </a:extLst>
          </p:cNvPr>
          <p:cNvSpPr/>
          <p:nvPr/>
        </p:nvSpPr>
        <p:spPr>
          <a:xfrm>
            <a:off x="996950" y="4319588"/>
            <a:ext cx="2293938" cy="1751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8" name="矩形 17">
            <a:extLst>
              <a:ext uri="{FF2B5EF4-FFF2-40B4-BE49-F238E27FC236}">
                <a16:creationId xmlns:a16="http://schemas.microsoft.com/office/drawing/2014/main" id="{6F3C7587-CC81-4BE0-B64E-31DCF2D267CB}"/>
              </a:ext>
            </a:extLst>
          </p:cNvPr>
          <p:cNvSpPr/>
          <p:nvPr/>
        </p:nvSpPr>
        <p:spPr>
          <a:xfrm>
            <a:off x="6410325" y="4541838"/>
            <a:ext cx="2008188" cy="1289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20" name="矩形 19">
            <a:extLst>
              <a:ext uri="{FF2B5EF4-FFF2-40B4-BE49-F238E27FC236}">
                <a16:creationId xmlns:a16="http://schemas.microsoft.com/office/drawing/2014/main" id="{DDDC521C-D20B-442A-AA2A-ADBEFD89A1AA}"/>
              </a:ext>
            </a:extLst>
          </p:cNvPr>
          <p:cNvSpPr/>
          <p:nvPr/>
        </p:nvSpPr>
        <p:spPr>
          <a:xfrm>
            <a:off x="1206500" y="4519613"/>
            <a:ext cx="355600" cy="13112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35" name="文字方塊 34">
            <a:extLst>
              <a:ext uri="{FF2B5EF4-FFF2-40B4-BE49-F238E27FC236}">
                <a16:creationId xmlns:a16="http://schemas.microsoft.com/office/drawing/2014/main" id="{DD3CE0E0-24D3-4B64-BC2C-2B6B72E4C0BE}"/>
              </a:ext>
            </a:extLst>
          </p:cNvPr>
          <p:cNvSpPr txBox="1">
            <a:spLocks noRot="1" noChangeAspect="1" noMove="1" noResize="1" noEditPoints="1" noAdjustHandles="1" noChangeArrowheads="1" noChangeShapeType="1" noTextEdit="1"/>
          </p:cNvSpPr>
          <p:nvPr/>
        </p:nvSpPr>
        <p:spPr>
          <a:xfrm>
            <a:off x="3605897" y="4959843"/>
            <a:ext cx="346249" cy="430887"/>
          </a:xfrm>
          <a:prstGeom prst="rect">
            <a:avLst/>
          </a:prstGeom>
          <a:blipFill>
            <a:blip r:embed="rId9"/>
            <a:stretch>
              <a:fillRect l="-10714" r="-10714"/>
            </a:stretch>
          </a:blipFill>
        </p:spPr>
        <p:txBody>
          <a:bodyPr/>
          <a:lstStyle/>
          <a:p>
            <a:pPr>
              <a:defRPr/>
            </a:pPr>
            <a:r>
              <a:rPr lang="zh-CN" altLang="en-US">
                <a:noFill/>
              </a:rPr>
              <a:t> </a:t>
            </a:r>
          </a:p>
        </p:txBody>
      </p:sp>
      <p:sp>
        <p:nvSpPr>
          <p:cNvPr id="39" name="矩形 38">
            <a:extLst>
              <a:ext uri="{FF2B5EF4-FFF2-40B4-BE49-F238E27FC236}">
                <a16:creationId xmlns:a16="http://schemas.microsoft.com/office/drawing/2014/main" id="{218D5A70-90AB-475D-B697-B6D9155C8715}"/>
              </a:ext>
            </a:extLst>
          </p:cNvPr>
          <p:cNvSpPr/>
          <p:nvPr/>
        </p:nvSpPr>
        <p:spPr>
          <a:xfrm>
            <a:off x="1684338" y="4519613"/>
            <a:ext cx="354012" cy="13112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40" name="矩形 39">
            <a:extLst>
              <a:ext uri="{FF2B5EF4-FFF2-40B4-BE49-F238E27FC236}">
                <a16:creationId xmlns:a16="http://schemas.microsoft.com/office/drawing/2014/main" id="{80A6B337-C28B-4806-82C2-C2E66B0F6DC6}"/>
              </a:ext>
            </a:extLst>
          </p:cNvPr>
          <p:cNvSpPr/>
          <p:nvPr/>
        </p:nvSpPr>
        <p:spPr>
          <a:xfrm>
            <a:off x="2160588" y="4519613"/>
            <a:ext cx="355600" cy="13112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42" name="文字方塊 41">
            <a:extLst>
              <a:ext uri="{FF2B5EF4-FFF2-40B4-BE49-F238E27FC236}">
                <a16:creationId xmlns:a16="http://schemas.microsoft.com/office/drawing/2014/main" id="{FC82E107-D14D-42C8-9A7E-787AF6660D24}"/>
              </a:ext>
            </a:extLst>
          </p:cNvPr>
          <p:cNvSpPr txBox="1">
            <a:spLocks noChangeArrowheads="1"/>
          </p:cNvSpPr>
          <p:nvPr/>
        </p:nvSpPr>
        <p:spPr bwMode="auto">
          <a:xfrm rot="10800000">
            <a:off x="2546350" y="5057775"/>
            <a:ext cx="736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43" name="矩形 42">
            <a:extLst>
              <a:ext uri="{FF2B5EF4-FFF2-40B4-BE49-F238E27FC236}">
                <a16:creationId xmlns:a16="http://schemas.microsoft.com/office/drawing/2014/main" id="{423ADEB4-99E8-4B9F-895E-B2522DE63B15}"/>
              </a:ext>
            </a:extLst>
          </p:cNvPr>
          <p:cNvSpPr/>
          <p:nvPr/>
        </p:nvSpPr>
        <p:spPr>
          <a:xfrm>
            <a:off x="4227513" y="4343400"/>
            <a:ext cx="1736725" cy="1751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44" name="矩形 43">
            <a:extLst>
              <a:ext uri="{FF2B5EF4-FFF2-40B4-BE49-F238E27FC236}">
                <a16:creationId xmlns:a16="http://schemas.microsoft.com/office/drawing/2014/main" id="{BFDBBA9F-BB78-4FBD-8485-EDF15B546634}"/>
              </a:ext>
            </a:extLst>
          </p:cNvPr>
          <p:cNvSpPr/>
          <p:nvPr/>
        </p:nvSpPr>
        <p:spPr>
          <a:xfrm>
            <a:off x="4384675" y="4576763"/>
            <a:ext cx="492125" cy="13096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spcBef>
                <a:spcPct val="50000"/>
              </a:spcBef>
              <a:defRPr/>
            </a:pPr>
            <a:r>
              <a:rPr lang="en-US" altLang="zh-TW" sz="2400" dirty="0"/>
              <a:t>u</a:t>
            </a:r>
            <a:r>
              <a:rPr lang="en-US" altLang="zh-TW" sz="2400" baseline="30000" dirty="0"/>
              <a:t>1</a:t>
            </a:r>
            <a:endParaRPr lang="zh-TW" altLang="en-US" sz="2400" baseline="30000" dirty="0"/>
          </a:p>
        </p:txBody>
      </p:sp>
      <p:sp>
        <p:nvSpPr>
          <p:cNvPr id="47" name="文字方塊 46">
            <a:extLst>
              <a:ext uri="{FF2B5EF4-FFF2-40B4-BE49-F238E27FC236}">
                <a16:creationId xmlns:a16="http://schemas.microsoft.com/office/drawing/2014/main" id="{79E88622-906D-4A00-8C37-F245FA68223D}"/>
              </a:ext>
            </a:extLst>
          </p:cNvPr>
          <p:cNvSpPr txBox="1">
            <a:spLocks noChangeArrowheads="1"/>
          </p:cNvSpPr>
          <p:nvPr/>
        </p:nvSpPr>
        <p:spPr bwMode="auto">
          <a:xfrm rot="10800000">
            <a:off x="5367338" y="5116513"/>
            <a:ext cx="736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48" name="文字方塊 47">
            <a:extLst>
              <a:ext uri="{FF2B5EF4-FFF2-40B4-BE49-F238E27FC236}">
                <a16:creationId xmlns:a16="http://schemas.microsoft.com/office/drawing/2014/main" id="{77914C6C-1556-4F4D-B0B2-6741267E0FA8}"/>
              </a:ext>
            </a:extLst>
          </p:cNvPr>
          <p:cNvSpPr txBox="1">
            <a:spLocks noRot="1" noChangeAspect="1" noMove="1" noResize="1" noEditPoints="1" noAdjustHandles="1" noChangeArrowheads="1" noChangeShapeType="1" noTextEdit="1"/>
          </p:cNvSpPr>
          <p:nvPr/>
        </p:nvSpPr>
        <p:spPr>
          <a:xfrm>
            <a:off x="6533009" y="5117779"/>
            <a:ext cx="434868" cy="373564"/>
          </a:xfrm>
          <a:prstGeom prst="rect">
            <a:avLst/>
          </a:prstGeom>
          <a:blipFill>
            <a:blip r:embed="rId10"/>
            <a:stretch>
              <a:fillRect/>
            </a:stretch>
          </a:blipFill>
        </p:spPr>
        <p:txBody>
          <a:bodyPr/>
          <a:lstStyle/>
          <a:p>
            <a:pPr>
              <a:defRPr/>
            </a:pPr>
            <a:r>
              <a:rPr lang="zh-CN" altLang="en-US">
                <a:noFill/>
              </a:rPr>
              <a:t> </a:t>
            </a:r>
          </a:p>
        </p:txBody>
      </p:sp>
      <p:sp>
        <p:nvSpPr>
          <p:cNvPr id="49" name="文字方塊 48">
            <a:extLst>
              <a:ext uri="{FF2B5EF4-FFF2-40B4-BE49-F238E27FC236}">
                <a16:creationId xmlns:a16="http://schemas.microsoft.com/office/drawing/2014/main" id="{2355B80B-684B-4EE5-808B-BB2F2326B084}"/>
              </a:ext>
            </a:extLst>
          </p:cNvPr>
          <p:cNvSpPr txBox="1">
            <a:spLocks noRot="1" noChangeAspect="1" noMove="1" noResize="1" noEditPoints="1" noAdjustHandles="1" noChangeArrowheads="1" noChangeShapeType="1" noTextEdit="1"/>
          </p:cNvSpPr>
          <p:nvPr/>
        </p:nvSpPr>
        <p:spPr>
          <a:xfrm>
            <a:off x="6533009" y="4661058"/>
            <a:ext cx="434868" cy="373564"/>
          </a:xfrm>
          <a:prstGeom prst="rect">
            <a:avLst/>
          </a:prstGeom>
          <a:blipFill>
            <a:blip r:embed="rId11"/>
            <a:stretch>
              <a:fillRect/>
            </a:stretch>
          </a:blipFill>
        </p:spPr>
        <p:txBody>
          <a:bodyPr/>
          <a:lstStyle/>
          <a:p>
            <a:pPr>
              <a:defRPr/>
            </a:pPr>
            <a:r>
              <a:rPr lang="zh-CN" altLang="en-US">
                <a:noFill/>
              </a:rPr>
              <a:t> </a:t>
            </a:r>
          </a:p>
        </p:txBody>
      </p:sp>
      <p:sp>
        <p:nvSpPr>
          <p:cNvPr id="50" name="文字方塊 49">
            <a:extLst>
              <a:ext uri="{FF2B5EF4-FFF2-40B4-BE49-F238E27FC236}">
                <a16:creationId xmlns:a16="http://schemas.microsoft.com/office/drawing/2014/main" id="{3DB90CCD-FEDC-40EA-9FCE-E67C1FE93D7B}"/>
              </a:ext>
            </a:extLst>
          </p:cNvPr>
          <p:cNvSpPr txBox="1">
            <a:spLocks noChangeArrowheads="1"/>
          </p:cNvSpPr>
          <p:nvPr/>
        </p:nvSpPr>
        <p:spPr bwMode="auto">
          <a:xfrm rot="5400000">
            <a:off x="6488113" y="5410200"/>
            <a:ext cx="736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51" name="文字方塊 50">
            <a:extLst>
              <a:ext uri="{FF2B5EF4-FFF2-40B4-BE49-F238E27FC236}">
                <a16:creationId xmlns:a16="http://schemas.microsoft.com/office/drawing/2014/main" id="{49BD0014-76F4-4845-BF31-1518BABD0039}"/>
              </a:ext>
            </a:extLst>
          </p:cNvPr>
          <p:cNvSpPr txBox="1">
            <a:spLocks noRot="1" noChangeAspect="1" noMove="1" noResize="1" noEditPoints="1" noAdjustHandles="1" noChangeArrowheads="1" noChangeShapeType="1" noTextEdit="1"/>
          </p:cNvSpPr>
          <p:nvPr/>
        </p:nvSpPr>
        <p:spPr>
          <a:xfrm>
            <a:off x="7029355" y="5095481"/>
            <a:ext cx="434868" cy="374333"/>
          </a:xfrm>
          <a:prstGeom prst="rect">
            <a:avLst/>
          </a:prstGeom>
          <a:blipFill>
            <a:blip r:embed="rId12"/>
            <a:stretch>
              <a:fillRect/>
            </a:stretch>
          </a:blipFill>
        </p:spPr>
        <p:txBody>
          <a:bodyPr/>
          <a:lstStyle/>
          <a:p>
            <a:pPr>
              <a:defRPr/>
            </a:pPr>
            <a:r>
              <a:rPr lang="zh-CN" altLang="en-US">
                <a:noFill/>
              </a:rPr>
              <a:t> </a:t>
            </a:r>
          </a:p>
        </p:txBody>
      </p:sp>
      <p:sp>
        <p:nvSpPr>
          <p:cNvPr id="52" name="文字方塊 51">
            <a:extLst>
              <a:ext uri="{FF2B5EF4-FFF2-40B4-BE49-F238E27FC236}">
                <a16:creationId xmlns:a16="http://schemas.microsoft.com/office/drawing/2014/main" id="{11FD2CDA-A3CA-43D5-BD52-4E69C8682491}"/>
              </a:ext>
            </a:extLst>
          </p:cNvPr>
          <p:cNvSpPr txBox="1">
            <a:spLocks noRot="1" noChangeAspect="1" noMove="1" noResize="1" noEditPoints="1" noAdjustHandles="1" noChangeArrowheads="1" noChangeShapeType="1" noTextEdit="1"/>
          </p:cNvSpPr>
          <p:nvPr/>
        </p:nvSpPr>
        <p:spPr>
          <a:xfrm>
            <a:off x="7029355" y="4638760"/>
            <a:ext cx="434868" cy="373628"/>
          </a:xfrm>
          <a:prstGeom prst="rect">
            <a:avLst/>
          </a:prstGeom>
          <a:blipFill>
            <a:blip r:embed="rId13"/>
            <a:stretch>
              <a:fillRect/>
            </a:stretch>
          </a:blipFill>
        </p:spPr>
        <p:txBody>
          <a:bodyPr/>
          <a:lstStyle/>
          <a:p>
            <a:pPr>
              <a:defRPr/>
            </a:pPr>
            <a:r>
              <a:rPr lang="zh-CN" altLang="en-US">
                <a:noFill/>
              </a:rPr>
              <a:t> </a:t>
            </a:r>
          </a:p>
        </p:txBody>
      </p:sp>
      <p:sp>
        <p:nvSpPr>
          <p:cNvPr id="53" name="文字方塊 52">
            <a:extLst>
              <a:ext uri="{FF2B5EF4-FFF2-40B4-BE49-F238E27FC236}">
                <a16:creationId xmlns:a16="http://schemas.microsoft.com/office/drawing/2014/main" id="{DB5C6B93-B987-4B46-A238-746BE13BBA46}"/>
              </a:ext>
            </a:extLst>
          </p:cNvPr>
          <p:cNvSpPr txBox="1">
            <a:spLocks noChangeArrowheads="1"/>
          </p:cNvSpPr>
          <p:nvPr/>
        </p:nvSpPr>
        <p:spPr bwMode="auto">
          <a:xfrm rot="5400000">
            <a:off x="6984207" y="5388769"/>
            <a:ext cx="736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54" name="文字方塊 53">
            <a:extLst>
              <a:ext uri="{FF2B5EF4-FFF2-40B4-BE49-F238E27FC236}">
                <a16:creationId xmlns:a16="http://schemas.microsoft.com/office/drawing/2014/main" id="{F1BBBFAB-6DA2-44BB-9295-66DACF1A09D9}"/>
              </a:ext>
            </a:extLst>
          </p:cNvPr>
          <p:cNvSpPr txBox="1">
            <a:spLocks noRot="1" noChangeAspect="1" noMove="1" noResize="1" noEditPoints="1" noAdjustHandles="1" noChangeArrowheads="1" noChangeShapeType="1" noTextEdit="1"/>
          </p:cNvSpPr>
          <p:nvPr/>
        </p:nvSpPr>
        <p:spPr>
          <a:xfrm>
            <a:off x="7537970" y="5117779"/>
            <a:ext cx="434868" cy="376193"/>
          </a:xfrm>
          <a:prstGeom prst="rect">
            <a:avLst/>
          </a:prstGeom>
          <a:blipFill>
            <a:blip r:embed="rId14"/>
            <a:stretch>
              <a:fillRect/>
            </a:stretch>
          </a:blipFill>
        </p:spPr>
        <p:txBody>
          <a:bodyPr/>
          <a:lstStyle/>
          <a:p>
            <a:pPr>
              <a:defRPr/>
            </a:pPr>
            <a:r>
              <a:rPr lang="zh-CN" altLang="en-US">
                <a:noFill/>
              </a:rPr>
              <a:t> </a:t>
            </a:r>
          </a:p>
        </p:txBody>
      </p:sp>
      <p:sp>
        <p:nvSpPr>
          <p:cNvPr id="55" name="文字方塊 54">
            <a:extLst>
              <a:ext uri="{FF2B5EF4-FFF2-40B4-BE49-F238E27FC236}">
                <a16:creationId xmlns:a16="http://schemas.microsoft.com/office/drawing/2014/main" id="{29DE5B46-0F4A-4E47-9994-E56AF2BCC052}"/>
              </a:ext>
            </a:extLst>
          </p:cNvPr>
          <p:cNvSpPr txBox="1">
            <a:spLocks noRot="1" noChangeAspect="1" noMove="1" noResize="1" noEditPoints="1" noAdjustHandles="1" noChangeArrowheads="1" noChangeShapeType="1" noTextEdit="1"/>
          </p:cNvSpPr>
          <p:nvPr/>
        </p:nvSpPr>
        <p:spPr>
          <a:xfrm>
            <a:off x="7537970" y="4661058"/>
            <a:ext cx="434868" cy="375424"/>
          </a:xfrm>
          <a:prstGeom prst="rect">
            <a:avLst/>
          </a:prstGeom>
          <a:blipFill>
            <a:blip r:embed="rId15"/>
            <a:stretch>
              <a:fillRect/>
            </a:stretch>
          </a:blipFill>
        </p:spPr>
        <p:txBody>
          <a:bodyPr/>
          <a:lstStyle/>
          <a:p>
            <a:pPr>
              <a:defRPr/>
            </a:pPr>
            <a:r>
              <a:rPr lang="zh-CN" altLang="en-US">
                <a:noFill/>
              </a:rPr>
              <a:t> </a:t>
            </a:r>
          </a:p>
        </p:txBody>
      </p:sp>
      <p:sp>
        <p:nvSpPr>
          <p:cNvPr id="56" name="文字方塊 55">
            <a:extLst>
              <a:ext uri="{FF2B5EF4-FFF2-40B4-BE49-F238E27FC236}">
                <a16:creationId xmlns:a16="http://schemas.microsoft.com/office/drawing/2014/main" id="{1DBD8E74-349E-4F3A-80DE-F77949E8E225}"/>
              </a:ext>
            </a:extLst>
          </p:cNvPr>
          <p:cNvSpPr txBox="1">
            <a:spLocks noChangeArrowheads="1"/>
          </p:cNvSpPr>
          <p:nvPr/>
        </p:nvSpPr>
        <p:spPr bwMode="auto">
          <a:xfrm rot="5400000">
            <a:off x="7493001" y="5410200"/>
            <a:ext cx="736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37" name="文字方塊 36">
            <a:extLst>
              <a:ext uri="{FF2B5EF4-FFF2-40B4-BE49-F238E27FC236}">
                <a16:creationId xmlns:a16="http://schemas.microsoft.com/office/drawing/2014/main" id="{5C8167E1-3518-4D98-A339-FC16FE9B82CC}"/>
              </a:ext>
            </a:extLst>
          </p:cNvPr>
          <p:cNvSpPr txBox="1"/>
          <p:nvPr/>
        </p:nvSpPr>
        <p:spPr>
          <a:xfrm>
            <a:off x="3028950" y="5405438"/>
            <a:ext cx="1403350" cy="830262"/>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eaLnBrk="1" hangingPunct="1">
              <a:spcBef>
                <a:spcPct val="50000"/>
              </a:spcBef>
              <a:defRPr/>
            </a:pPr>
            <a:r>
              <a:rPr lang="en-US" altLang="zh-TW" sz="2400" dirty="0"/>
              <a:t>Minimize Error</a:t>
            </a:r>
            <a:endParaRPr lang="zh-TW" altLang="en-US" sz="2400" dirty="0"/>
          </a:p>
        </p:txBody>
      </p:sp>
      <p:sp>
        <p:nvSpPr>
          <p:cNvPr id="23" name="文字方塊 22">
            <a:extLst>
              <a:ext uri="{FF2B5EF4-FFF2-40B4-BE49-F238E27FC236}">
                <a16:creationId xmlns:a16="http://schemas.microsoft.com/office/drawing/2014/main" id="{9527FA64-BA36-4D92-B0C1-55F25EB24823}"/>
              </a:ext>
            </a:extLst>
          </p:cNvPr>
          <p:cNvSpPr txBox="1"/>
          <p:nvPr/>
        </p:nvSpPr>
        <p:spPr>
          <a:xfrm>
            <a:off x="1440603" y="5556432"/>
            <a:ext cx="1342823" cy="46166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spcBef>
                <a:spcPct val="50000"/>
              </a:spcBef>
              <a:defRPr/>
            </a:pPr>
            <a:r>
              <a:rPr lang="en-US" altLang="zh-TW" sz="2400" dirty="0"/>
              <a:t>Matrix X</a:t>
            </a:r>
            <a:endParaRPr lang="zh-TW" altLang="en-US" sz="2400" dirty="0"/>
          </a:p>
        </p:txBody>
      </p:sp>
      <p:sp>
        <p:nvSpPr>
          <p:cNvPr id="57" name="矩形 56">
            <a:extLst>
              <a:ext uri="{FF2B5EF4-FFF2-40B4-BE49-F238E27FC236}">
                <a16:creationId xmlns:a16="http://schemas.microsoft.com/office/drawing/2014/main" id="{480CF067-411A-4C63-A507-B571A5DEA62A}"/>
              </a:ext>
            </a:extLst>
          </p:cNvPr>
          <p:cNvSpPr/>
          <p:nvPr/>
        </p:nvSpPr>
        <p:spPr>
          <a:xfrm>
            <a:off x="4992688" y="4576763"/>
            <a:ext cx="493712" cy="13096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spcBef>
                <a:spcPct val="50000"/>
              </a:spcBef>
              <a:defRPr/>
            </a:pPr>
            <a:r>
              <a:rPr lang="en-US" altLang="zh-TW" sz="2400" dirty="0"/>
              <a:t>u</a:t>
            </a:r>
            <a:r>
              <a:rPr lang="en-US" altLang="zh-TW" sz="2400" baseline="30000" dirty="0"/>
              <a:t>2</a:t>
            </a:r>
            <a:endParaRPr lang="zh-TW" altLang="en-US" sz="2400" baseline="30000" dirty="0"/>
          </a:p>
        </p:txBody>
      </p:sp>
      <p:cxnSp>
        <p:nvCxnSpPr>
          <p:cNvPr id="59" name="直線接點 58">
            <a:extLst>
              <a:ext uri="{FF2B5EF4-FFF2-40B4-BE49-F238E27FC236}">
                <a16:creationId xmlns:a16="http://schemas.microsoft.com/office/drawing/2014/main" id="{99131C2B-50D8-4ABD-91D7-420F46E4FA25}"/>
              </a:ext>
            </a:extLst>
          </p:cNvPr>
          <p:cNvCxnSpPr/>
          <p:nvPr/>
        </p:nvCxnSpPr>
        <p:spPr>
          <a:xfrm>
            <a:off x="2713038" y="2386013"/>
            <a:ext cx="9017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360F9C3D-A67A-44A6-9497-BA1615872654}"/>
              </a:ext>
            </a:extLst>
          </p:cNvPr>
          <p:cNvCxnSpPr/>
          <p:nvPr/>
        </p:nvCxnSpPr>
        <p:spPr>
          <a:xfrm>
            <a:off x="4271963" y="2386013"/>
            <a:ext cx="2413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52851323-5583-4DF9-A8FD-28DA218F564D}"/>
              </a:ext>
            </a:extLst>
          </p:cNvPr>
          <p:cNvCxnSpPr/>
          <p:nvPr/>
        </p:nvCxnSpPr>
        <p:spPr>
          <a:xfrm>
            <a:off x="3959225" y="2395538"/>
            <a:ext cx="2413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A2719827-0552-4AF7-97F8-1B0B2A42897B}"/>
              </a:ext>
            </a:extLst>
          </p:cNvPr>
          <p:cNvCxnSpPr/>
          <p:nvPr/>
        </p:nvCxnSpPr>
        <p:spPr>
          <a:xfrm>
            <a:off x="5238750" y="2386013"/>
            <a:ext cx="24288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B52C0447-C941-433A-AB47-833497522187}"/>
              </a:ext>
            </a:extLst>
          </p:cNvPr>
          <p:cNvCxnSpPr/>
          <p:nvPr/>
        </p:nvCxnSpPr>
        <p:spPr>
          <a:xfrm>
            <a:off x="4926013" y="2395538"/>
            <a:ext cx="24288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71F41765-FF21-4709-90B1-96F3B8DD8B19}"/>
              </a:ext>
            </a:extLst>
          </p:cNvPr>
          <p:cNvCxnSpPr>
            <a:endCxn id="20" idx="0"/>
          </p:cNvCxnSpPr>
          <p:nvPr/>
        </p:nvCxnSpPr>
        <p:spPr>
          <a:xfrm flipH="1">
            <a:off x="1384300" y="2395538"/>
            <a:ext cx="1412875" cy="21240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4794" name="图片 1">
            <a:extLst>
              <a:ext uri="{FF2B5EF4-FFF2-40B4-BE49-F238E27FC236}">
                <a16:creationId xmlns:a16="http://schemas.microsoft.com/office/drawing/2014/main" id="{86D05810-03A0-49CC-93BD-ACC6FA8085B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00525" y="1201738"/>
            <a:ext cx="427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5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1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8"/>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8" grpId="0" animBg="1"/>
      <p:bldP spid="20" grpId="0" animBg="1"/>
      <p:bldP spid="39" grpId="0" animBg="1"/>
      <p:bldP spid="40" grpId="0" animBg="1"/>
      <p:bldP spid="42" grpId="0"/>
      <p:bldP spid="43" grpId="0" animBg="1"/>
      <p:bldP spid="44" grpId="0" animBg="1"/>
      <p:bldP spid="47" grpId="0"/>
      <p:bldP spid="50" grpId="0"/>
      <p:bldP spid="53" grpId="0"/>
      <p:bldP spid="56" grpId="0"/>
      <p:bldP spid="37" grpId="0" animBg="1"/>
      <p:bldP spid="5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32A9C7E-E7A6-4474-AADD-08AC751BC7F9}"/>
              </a:ext>
            </a:extLst>
          </p:cNvPr>
          <p:cNvSpPr/>
          <p:nvPr/>
        </p:nvSpPr>
        <p:spPr>
          <a:xfrm>
            <a:off x="1052513" y="860425"/>
            <a:ext cx="2293937"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5" name="矩形 4">
            <a:extLst>
              <a:ext uri="{FF2B5EF4-FFF2-40B4-BE49-F238E27FC236}">
                <a16:creationId xmlns:a16="http://schemas.microsoft.com/office/drawing/2014/main" id="{25DFAFBA-0AB2-4785-B4B0-23DE6BB0A309}"/>
              </a:ext>
            </a:extLst>
          </p:cNvPr>
          <p:cNvSpPr/>
          <p:nvPr/>
        </p:nvSpPr>
        <p:spPr>
          <a:xfrm>
            <a:off x="6465888" y="1084263"/>
            <a:ext cx="2008187" cy="1287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6" name="矩形 5">
            <a:extLst>
              <a:ext uri="{FF2B5EF4-FFF2-40B4-BE49-F238E27FC236}">
                <a16:creationId xmlns:a16="http://schemas.microsoft.com/office/drawing/2014/main" id="{6346DCEA-795C-47ED-A580-E1B9381EBE7A}"/>
              </a:ext>
            </a:extLst>
          </p:cNvPr>
          <p:cNvSpPr/>
          <p:nvPr/>
        </p:nvSpPr>
        <p:spPr>
          <a:xfrm>
            <a:off x="1262063" y="1062038"/>
            <a:ext cx="354012" cy="13096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7" name="文字方塊 6">
            <a:extLst>
              <a:ext uri="{FF2B5EF4-FFF2-40B4-BE49-F238E27FC236}">
                <a16:creationId xmlns:a16="http://schemas.microsoft.com/office/drawing/2014/main" id="{F178AA3D-6BC1-4906-9F8B-46F78B0A19FF}"/>
              </a:ext>
            </a:extLst>
          </p:cNvPr>
          <p:cNvSpPr txBox="1">
            <a:spLocks noRot="1" noChangeAspect="1" noMove="1" noResize="1" noEditPoints="1" noAdjustHandles="1" noChangeArrowheads="1" noChangeShapeType="1" noTextEdit="1"/>
          </p:cNvSpPr>
          <p:nvPr/>
        </p:nvSpPr>
        <p:spPr>
          <a:xfrm>
            <a:off x="3390795" y="3626314"/>
            <a:ext cx="346249" cy="430887"/>
          </a:xfrm>
          <a:prstGeom prst="rect">
            <a:avLst/>
          </a:prstGeom>
          <a:blipFill>
            <a:blip r:embed="rId2"/>
            <a:stretch>
              <a:fillRect l="-10714" r="-10714"/>
            </a:stretch>
          </a:blipFill>
        </p:spPr>
        <p:txBody>
          <a:bodyPr/>
          <a:lstStyle/>
          <a:p>
            <a:pPr>
              <a:defRPr/>
            </a:pPr>
            <a:r>
              <a:rPr lang="zh-CN" altLang="en-US">
                <a:noFill/>
              </a:rPr>
              <a:t> </a:t>
            </a:r>
          </a:p>
        </p:txBody>
      </p:sp>
      <p:sp>
        <p:nvSpPr>
          <p:cNvPr id="8" name="矩形 7">
            <a:extLst>
              <a:ext uri="{FF2B5EF4-FFF2-40B4-BE49-F238E27FC236}">
                <a16:creationId xmlns:a16="http://schemas.microsoft.com/office/drawing/2014/main" id="{28E00544-21D3-4C3E-8AF5-A49ACB98C4CD}"/>
              </a:ext>
            </a:extLst>
          </p:cNvPr>
          <p:cNvSpPr/>
          <p:nvPr/>
        </p:nvSpPr>
        <p:spPr>
          <a:xfrm>
            <a:off x="1738313" y="1062038"/>
            <a:ext cx="355600" cy="13096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9" name="矩形 8">
            <a:extLst>
              <a:ext uri="{FF2B5EF4-FFF2-40B4-BE49-F238E27FC236}">
                <a16:creationId xmlns:a16="http://schemas.microsoft.com/office/drawing/2014/main" id="{E7027E80-B2D4-416F-A77B-D5F4CD108F7D}"/>
              </a:ext>
            </a:extLst>
          </p:cNvPr>
          <p:cNvSpPr/>
          <p:nvPr/>
        </p:nvSpPr>
        <p:spPr>
          <a:xfrm>
            <a:off x="2216150" y="1062038"/>
            <a:ext cx="355600" cy="13096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endParaRPr lang="zh-TW" altLang="en-US" sz="2400" baseline="30000" dirty="0"/>
          </a:p>
        </p:txBody>
      </p:sp>
      <p:sp>
        <p:nvSpPr>
          <p:cNvPr id="76807" name="文字方塊 9">
            <a:extLst>
              <a:ext uri="{FF2B5EF4-FFF2-40B4-BE49-F238E27FC236}">
                <a16:creationId xmlns:a16="http://schemas.microsoft.com/office/drawing/2014/main" id="{F14AB0F9-1D8B-4767-B41D-7BA488558BF5}"/>
              </a:ext>
            </a:extLst>
          </p:cNvPr>
          <p:cNvSpPr txBox="1">
            <a:spLocks noChangeArrowheads="1"/>
          </p:cNvSpPr>
          <p:nvPr/>
        </p:nvSpPr>
        <p:spPr bwMode="auto">
          <a:xfrm rot="10800000">
            <a:off x="2601913" y="1598613"/>
            <a:ext cx="735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1" name="矩形 10">
            <a:extLst>
              <a:ext uri="{FF2B5EF4-FFF2-40B4-BE49-F238E27FC236}">
                <a16:creationId xmlns:a16="http://schemas.microsoft.com/office/drawing/2014/main" id="{5B20397C-1868-4725-9381-964ACD5E45D0}"/>
              </a:ext>
            </a:extLst>
          </p:cNvPr>
          <p:cNvSpPr/>
          <p:nvPr/>
        </p:nvSpPr>
        <p:spPr>
          <a:xfrm>
            <a:off x="4283075" y="884238"/>
            <a:ext cx="1735138"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2" name="矩形 11">
            <a:extLst>
              <a:ext uri="{FF2B5EF4-FFF2-40B4-BE49-F238E27FC236}">
                <a16:creationId xmlns:a16="http://schemas.microsoft.com/office/drawing/2014/main" id="{64C7E853-5A17-45FB-8BEC-FEFC1A933294}"/>
              </a:ext>
            </a:extLst>
          </p:cNvPr>
          <p:cNvSpPr/>
          <p:nvPr/>
        </p:nvSpPr>
        <p:spPr>
          <a:xfrm>
            <a:off x="4440238" y="1117600"/>
            <a:ext cx="492125" cy="13112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spcBef>
                <a:spcPct val="50000"/>
              </a:spcBef>
              <a:defRPr/>
            </a:pPr>
            <a:r>
              <a:rPr lang="en-US" altLang="zh-TW" sz="2400" dirty="0"/>
              <a:t>u</a:t>
            </a:r>
            <a:r>
              <a:rPr lang="en-US" altLang="zh-TW" sz="2400" baseline="30000" dirty="0"/>
              <a:t>1</a:t>
            </a:r>
            <a:endParaRPr lang="zh-TW" altLang="en-US" sz="2400" baseline="30000" dirty="0"/>
          </a:p>
        </p:txBody>
      </p:sp>
      <p:sp>
        <p:nvSpPr>
          <p:cNvPr id="76810" name="文字方塊 12">
            <a:extLst>
              <a:ext uri="{FF2B5EF4-FFF2-40B4-BE49-F238E27FC236}">
                <a16:creationId xmlns:a16="http://schemas.microsoft.com/office/drawing/2014/main" id="{13931966-35DE-47BF-B246-CF3965F0E760}"/>
              </a:ext>
            </a:extLst>
          </p:cNvPr>
          <p:cNvSpPr txBox="1">
            <a:spLocks noChangeArrowheads="1"/>
          </p:cNvSpPr>
          <p:nvPr/>
        </p:nvSpPr>
        <p:spPr bwMode="auto">
          <a:xfrm rot="10800000">
            <a:off x="5422900" y="1657350"/>
            <a:ext cx="735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4" name="文字方塊 13">
            <a:extLst>
              <a:ext uri="{FF2B5EF4-FFF2-40B4-BE49-F238E27FC236}">
                <a16:creationId xmlns:a16="http://schemas.microsoft.com/office/drawing/2014/main" id="{0CEF477E-7158-4BA2-AF51-DA9988F8280C}"/>
              </a:ext>
            </a:extLst>
          </p:cNvPr>
          <p:cNvSpPr txBox="1">
            <a:spLocks noRot="1" noChangeAspect="1" noMove="1" noResize="1" noEditPoints="1" noAdjustHandles="1" noChangeArrowheads="1" noChangeShapeType="1" noTextEdit="1"/>
          </p:cNvSpPr>
          <p:nvPr/>
        </p:nvSpPr>
        <p:spPr>
          <a:xfrm>
            <a:off x="6587996" y="1659191"/>
            <a:ext cx="434868" cy="373564"/>
          </a:xfrm>
          <a:prstGeom prst="rect">
            <a:avLst/>
          </a:prstGeom>
          <a:blipFill>
            <a:blip r:embed="rId3"/>
            <a:stretch>
              <a:fillRect/>
            </a:stretch>
          </a:blipFill>
        </p:spPr>
        <p:txBody>
          <a:bodyPr/>
          <a:lstStyle/>
          <a:p>
            <a:pPr>
              <a:defRPr/>
            </a:pPr>
            <a:r>
              <a:rPr lang="zh-CN" altLang="en-US">
                <a:noFill/>
              </a:rPr>
              <a:t> </a:t>
            </a:r>
          </a:p>
        </p:txBody>
      </p:sp>
      <p:sp>
        <p:nvSpPr>
          <p:cNvPr id="15" name="文字方塊 14">
            <a:extLst>
              <a:ext uri="{FF2B5EF4-FFF2-40B4-BE49-F238E27FC236}">
                <a16:creationId xmlns:a16="http://schemas.microsoft.com/office/drawing/2014/main" id="{2038DA10-A2B8-409D-843D-708EC1FB3BAA}"/>
              </a:ext>
            </a:extLst>
          </p:cNvPr>
          <p:cNvSpPr txBox="1">
            <a:spLocks noRot="1" noChangeAspect="1" noMove="1" noResize="1" noEditPoints="1" noAdjustHandles="1" noChangeArrowheads="1" noChangeShapeType="1" noTextEdit="1"/>
          </p:cNvSpPr>
          <p:nvPr/>
        </p:nvSpPr>
        <p:spPr>
          <a:xfrm>
            <a:off x="6587996" y="1202470"/>
            <a:ext cx="434868" cy="373564"/>
          </a:xfrm>
          <a:prstGeom prst="rect">
            <a:avLst/>
          </a:prstGeom>
          <a:blipFill>
            <a:blip r:embed="rId4"/>
            <a:stretch>
              <a:fillRect/>
            </a:stretch>
          </a:blipFill>
        </p:spPr>
        <p:txBody>
          <a:bodyPr/>
          <a:lstStyle/>
          <a:p>
            <a:pPr>
              <a:defRPr/>
            </a:pPr>
            <a:r>
              <a:rPr lang="zh-CN" altLang="en-US">
                <a:noFill/>
              </a:rPr>
              <a:t> </a:t>
            </a:r>
          </a:p>
        </p:txBody>
      </p:sp>
      <p:sp>
        <p:nvSpPr>
          <p:cNvPr id="76813" name="文字方塊 15">
            <a:extLst>
              <a:ext uri="{FF2B5EF4-FFF2-40B4-BE49-F238E27FC236}">
                <a16:creationId xmlns:a16="http://schemas.microsoft.com/office/drawing/2014/main" id="{3CAC0D7D-3039-4705-AF56-E4CF74958205}"/>
              </a:ext>
            </a:extLst>
          </p:cNvPr>
          <p:cNvSpPr txBox="1">
            <a:spLocks noChangeArrowheads="1"/>
          </p:cNvSpPr>
          <p:nvPr/>
        </p:nvSpPr>
        <p:spPr bwMode="auto">
          <a:xfrm rot="5400000">
            <a:off x="6543676" y="1952625"/>
            <a:ext cx="7350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17" name="文字方塊 16">
            <a:extLst>
              <a:ext uri="{FF2B5EF4-FFF2-40B4-BE49-F238E27FC236}">
                <a16:creationId xmlns:a16="http://schemas.microsoft.com/office/drawing/2014/main" id="{674CEF9E-8CCA-49C7-BE4D-0A0B5A33792C}"/>
              </a:ext>
            </a:extLst>
          </p:cNvPr>
          <p:cNvSpPr txBox="1">
            <a:spLocks noRot="1" noChangeAspect="1" noMove="1" noResize="1" noEditPoints="1" noAdjustHandles="1" noChangeArrowheads="1" noChangeShapeType="1" noTextEdit="1"/>
          </p:cNvSpPr>
          <p:nvPr/>
        </p:nvSpPr>
        <p:spPr>
          <a:xfrm>
            <a:off x="7084342" y="1636893"/>
            <a:ext cx="434868" cy="374333"/>
          </a:xfrm>
          <a:prstGeom prst="rect">
            <a:avLst/>
          </a:prstGeom>
          <a:blipFill>
            <a:blip r:embed="rId5"/>
            <a:stretch>
              <a:fillRect/>
            </a:stretch>
          </a:blipFill>
        </p:spPr>
        <p:txBody>
          <a:bodyPr/>
          <a:lstStyle/>
          <a:p>
            <a:pPr>
              <a:defRPr/>
            </a:pPr>
            <a:r>
              <a:rPr lang="zh-CN" altLang="en-US">
                <a:noFill/>
              </a:rPr>
              <a:t> </a:t>
            </a:r>
          </a:p>
        </p:txBody>
      </p:sp>
      <p:sp>
        <p:nvSpPr>
          <p:cNvPr id="18" name="文字方塊 17">
            <a:extLst>
              <a:ext uri="{FF2B5EF4-FFF2-40B4-BE49-F238E27FC236}">
                <a16:creationId xmlns:a16="http://schemas.microsoft.com/office/drawing/2014/main" id="{700FBA1D-4442-4F51-9B36-8C8D4F5C3E8C}"/>
              </a:ext>
            </a:extLst>
          </p:cNvPr>
          <p:cNvSpPr txBox="1">
            <a:spLocks noRot="1" noChangeAspect="1" noMove="1" noResize="1" noEditPoints="1" noAdjustHandles="1" noChangeArrowheads="1" noChangeShapeType="1" noTextEdit="1"/>
          </p:cNvSpPr>
          <p:nvPr/>
        </p:nvSpPr>
        <p:spPr>
          <a:xfrm>
            <a:off x="7084342" y="1180172"/>
            <a:ext cx="434868" cy="373628"/>
          </a:xfrm>
          <a:prstGeom prst="rect">
            <a:avLst/>
          </a:prstGeom>
          <a:blipFill>
            <a:blip r:embed="rId6"/>
            <a:stretch>
              <a:fillRect/>
            </a:stretch>
          </a:blipFill>
        </p:spPr>
        <p:txBody>
          <a:bodyPr/>
          <a:lstStyle/>
          <a:p>
            <a:pPr>
              <a:defRPr/>
            </a:pPr>
            <a:r>
              <a:rPr lang="zh-CN" altLang="en-US">
                <a:noFill/>
              </a:rPr>
              <a:t> </a:t>
            </a:r>
          </a:p>
        </p:txBody>
      </p:sp>
      <p:sp>
        <p:nvSpPr>
          <p:cNvPr id="76816" name="文字方塊 18">
            <a:extLst>
              <a:ext uri="{FF2B5EF4-FFF2-40B4-BE49-F238E27FC236}">
                <a16:creationId xmlns:a16="http://schemas.microsoft.com/office/drawing/2014/main" id="{611B0E83-78BF-4C64-B38F-F5C502B24FF2}"/>
              </a:ext>
            </a:extLst>
          </p:cNvPr>
          <p:cNvSpPr txBox="1">
            <a:spLocks noChangeArrowheads="1"/>
          </p:cNvSpPr>
          <p:nvPr/>
        </p:nvSpPr>
        <p:spPr bwMode="auto">
          <a:xfrm rot="5400000">
            <a:off x="7039770" y="1929606"/>
            <a:ext cx="735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20" name="文字方塊 19">
            <a:extLst>
              <a:ext uri="{FF2B5EF4-FFF2-40B4-BE49-F238E27FC236}">
                <a16:creationId xmlns:a16="http://schemas.microsoft.com/office/drawing/2014/main" id="{5FE6A811-E6E7-44D0-92BD-AD0A413B083F}"/>
              </a:ext>
            </a:extLst>
          </p:cNvPr>
          <p:cNvSpPr txBox="1">
            <a:spLocks noRot="1" noChangeAspect="1" noMove="1" noResize="1" noEditPoints="1" noAdjustHandles="1" noChangeArrowheads="1" noChangeShapeType="1" noTextEdit="1"/>
          </p:cNvSpPr>
          <p:nvPr/>
        </p:nvSpPr>
        <p:spPr>
          <a:xfrm>
            <a:off x="7592957" y="1659191"/>
            <a:ext cx="434868" cy="376193"/>
          </a:xfrm>
          <a:prstGeom prst="rect">
            <a:avLst/>
          </a:prstGeom>
          <a:blipFill>
            <a:blip r:embed="rId7"/>
            <a:stretch>
              <a:fillRect/>
            </a:stretch>
          </a:blipFill>
        </p:spPr>
        <p:txBody>
          <a:bodyPr/>
          <a:lstStyle/>
          <a:p>
            <a:pPr>
              <a:defRPr/>
            </a:pPr>
            <a:r>
              <a:rPr lang="zh-CN" altLang="en-US">
                <a:noFill/>
              </a:rPr>
              <a:t> </a:t>
            </a:r>
          </a:p>
        </p:txBody>
      </p:sp>
      <p:sp>
        <p:nvSpPr>
          <p:cNvPr id="21" name="文字方塊 20">
            <a:extLst>
              <a:ext uri="{FF2B5EF4-FFF2-40B4-BE49-F238E27FC236}">
                <a16:creationId xmlns:a16="http://schemas.microsoft.com/office/drawing/2014/main" id="{F96CED8C-3DAE-4C76-9EE2-94CE2AA66766}"/>
              </a:ext>
            </a:extLst>
          </p:cNvPr>
          <p:cNvSpPr txBox="1">
            <a:spLocks noRot="1" noChangeAspect="1" noMove="1" noResize="1" noEditPoints="1" noAdjustHandles="1" noChangeArrowheads="1" noChangeShapeType="1" noTextEdit="1"/>
          </p:cNvSpPr>
          <p:nvPr/>
        </p:nvSpPr>
        <p:spPr>
          <a:xfrm>
            <a:off x="7592957" y="1202470"/>
            <a:ext cx="434868" cy="375424"/>
          </a:xfrm>
          <a:prstGeom prst="rect">
            <a:avLst/>
          </a:prstGeom>
          <a:blipFill>
            <a:blip r:embed="rId8"/>
            <a:stretch>
              <a:fillRect/>
            </a:stretch>
          </a:blipFill>
        </p:spPr>
        <p:txBody>
          <a:bodyPr/>
          <a:lstStyle/>
          <a:p>
            <a:pPr>
              <a:defRPr/>
            </a:pPr>
            <a:r>
              <a:rPr lang="zh-CN" altLang="en-US">
                <a:noFill/>
              </a:rPr>
              <a:t> </a:t>
            </a:r>
          </a:p>
        </p:txBody>
      </p:sp>
      <p:sp>
        <p:nvSpPr>
          <p:cNvPr id="76819" name="文字方塊 21">
            <a:extLst>
              <a:ext uri="{FF2B5EF4-FFF2-40B4-BE49-F238E27FC236}">
                <a16:creationId xmlns:a16="http://schemas.microsoft.com/office/drawing/2014/main" id="{D544DA22-2C13-43AF-93F3-0AF7519E4B98}"/>
              </a:ext>
            </a:extLst>
          </p:cNvPr>
          <p:cNvSpPr txBox="1">
            <a:spLocks noChangeArrowheads="1"/>
          </p:cNvSpPr>
          <p:nvPr/>
        </p:nvSpPr>
        <p:spPr bwMode="auto">
          <a:xfrm rot="5400000">
            <a:off x="7548563" y="1952625"/>
            <a:ext cx="7350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800">
                <a:solidFill>
                  <a:schemeClr val="hlink"/>
                </a:solidFill>
                <a:ea typeface="宋体" panose="02010600030101010101" pitchFamily="2" charset="-122"/>
              </a:rPr>
              <a:t>…</a:t>
            </a:r>
            <a:endParaRPr lang="zh-TW" altLang="en-US" sz="2800">
              <a:solidFill>
                <a:schemeClr val="hlink"/>
              </a:solidFill>
              <a:ea typeface="宋体" panose="02010600030101010101" pitchFamily="2" charset="-122"/>
            </a:endParaRPr>
          </a:p>
        </p:txBody>
      </p:sp>
      <p:sp>
        <p:nvSpPr>
          <p:cNvPr id="23" name="文字方塊 22">
            <a:extLst>
              <a:ext uri="{FF2B5EF4-FFF2-40B4-BE49-F238E27FC236}">
                <a16:creationId xmlns:a16="http://schemas.microsoft.com/office/drawing/2014/main" id="{082EAC4D-3EE1-457C-B7EF-7267E178A185}"/>
              </a:ext>
            </a:extLst>
          </p:cNvPr>
          <p:cNvSpPr txBox="1"/>
          <p:nvPr/>
        </p:nvSpPr>
        <p:spPr>
          <a:xfrm>
            <a:off x="3082925" y="1946275"/>
            <a:ext cx="1404938" cy="831850"/>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eaLnBrk="1" hangingPunct="1">
              <a:spcBef>
                <a:spcPct val="50000"/>
              </a:spcBef>
              <a:defRPr/>
            </a:pPr>
            <a:r>
              <a:rPr lang="en-US" altLang="zh-TW" sz="2400" dirty="0"/>
              <a:t>Minimize Error</a:t>
            </a:r>
            <a:endParaRPr lang="zh-TW" altLang="en-US" sz="2400" dirty="0"/>
          </a:p>
        </p:txBody>
      </p:sp>
      <p:sp>
        <p:nvSpPr>
          <p:cNvPr id="24" name="文字方塊 23">
            <a:extLst>
              <a:ext uri="{FF2B5EF4-FFF2-40B4-BE49-F238E27FC236}">
                <a16:creationId xmlns:a16="http://schemas.microsoft.com/office/drawing/2014/main" id="{599F996B-E419-4643-880B-E88209DC31DA}"/>
              </a:ext>
            </a:extLst>
          </p:cNvPr>
          <p:cNvSpPr txBox="1"/>
          <p:nvPr/>
        </p:nvSpPr>
        <p:spPr>
          <a:xfrm>
            <a:off x="1495590" y="2097844"/>
            <a:ext cx="1342823" cy="46166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spcBef>
                <a:spcPct val="50000"/>
              </a:spcBef>
              <a:defRPr/>
            </a:pPr>
            <a:r>
              <a:rPr lang="en-US" altLang="zh-TW" sz="2400" dirty="0"/>
              <a:t>Matrix X</a:t>
            </a:r>
            <a:endParaRPr lang="zh-TW" altLang="en-US" sz="2400" dirty="0"/>
          </a:p>
        </p:txBody>
      </p:sp>
      <p:sp>
        <p:nvSpPr>
          <p:cNvPr id="25" name="矩形 24">
            <a:extLst>
              <a:ext uri="{FF2B5EF4-FFF2-40B4-BE49-F238E27FC236}">
                <a16:creationId xmlns:a16="http://schemas.microsoft.com/office/drawing/2014/main" id="{092E39E1-9556-41C5-BB18-B49F61EAD7EB}"/>
              </a:ext>
            </a:extLst>
          </p:cNvPr>
          <p:cNvSpPr/>
          <p:nvPr/>
        </p:nvSpPr>
        <p:spPr>
          <a:xfrm>
            <a:off x="5048250" y="1117600"/>
            <a:ext cx="492125" cy="13112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spcBef>
                <a:spcPct val="50000"/>
              </a:spcBef>
              <a:defRPr/>
            </a:pPr>
            <a:r>
              <a:rPr lang="en-US" altLang="zh-TW" sz="2400" dirty="0"/>
              <a:t>u</a:t>
            </a:r>
            <a:r>
              <a:rPr lang="en-US" altLang="zh-TW" sz="2400" baseline="30000" dirty="0"/>
              <a:t>2</a:t>
            </a:r>
            <a:endParaRPr lang="zh-TW" altLang="en-US" sz="2400" baseline="30000" dirty="0"/>
          </a:p>
        </p:txBody>
      </p:sp>
      <p:sp>
        <p:nvSpPr>
          <p:cNvPr id="26" name="文字方塊 25">
            <a:extLst>
              <a:ext uri="{FF2B5EF4-FFF2-40B4-BE49-F238E27FC236}">
                <a16:creationId xmlns:a16="http://schemas.microsoft.com/office/drawing/2014/main" id="{AC0F05BE-7501-4EC7-B676-93E8571F1735}"/>
              </a:ext>
            </a:extLst>
          </p:cNvPr>
          <p:cNvSpPr txBox="1">
            <a:spLocks noRot="1" noChangeAspect="1" noMove="1" noResize="1" noEditPoints="1" noAdjustHandles="1" noChangeArrowheads="1" noChangeShapeType="1" noTextEdit="1"/>
          </p:cNvSpPr>
          <p:nvPr/>
        </p:nvSpPr>
        <p:spPr>
          <a:xfrm>
            <a:off x="967417" y="256139"/>
            <a:ext cx="989374" cy="373564"/>
          </a:xfrm>
          <a:prstGeom prst="rect">
            <a:avLst/>
          </a:prstGeom>
          <a:blipFill>
            <a:blip r:embed="rId9"/>
            <a:stretch>
              <a:fillRect/>
            </a:stretch>
          </a:blipFill>
        </p:spPr>
        <p:txBody>
          <a:bodyPr/>
          <a:lstStyle/>
          <a:p>
            <a:pPr>
              <a:defRPr/>
            </a:pPr>
            <a:r>
              <a:rPr lang="zh-CN" altLang="en-US">
                <a:noFill/>
              </a:rPr>
              <a:t> </a:t>
            </a:r>
          </a:p>
        </p:txBody>
      </p:sp>
      <p:cxnSp>
        <p:nvCxnSpPr>
          <p:cNvPr id="27" name="直線單箭頭接點 26">
            <a:extLst>
              <a:ext uri="{FF2B5EF4-FFF2-40B4-BE49-F238E27FC236}">
                <a16:creationId xmlns:a16="http://schemas.microsoft.com/office/drawing/2014/main" id="{F733E736-B3FF-467E-8122-E5A6F52D941B}"/>
              </a:ext>
            </a:extLst>
          </p:cNvPr>
          <p:cNvCxnSpPr>
            <a:endCxn id="6" idx="0"/>
          </p:cNvCxnSpPr>
          <p:nvPr/>
        </p:nvCxnSpPr>
        <p:spPr>
          <a:xfrm flipH="1">
            <a:off x="1438275" y="595313"/>
            <a:ext cx="4763" cy="4667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91376ED7-B413-48BA-AE19-9A53C368960D}"/>
              </a:ext>
            </a:extLst>
          </p:cNvPr>
          <p:cNvSpPr/>
          <p:nvPr/>
        </p:nvSpPr>
        <p:spPr>
          <a:xfrm>
            <a:off x="1925638" y="3182938"/>
            <a:ext cx="1187450" cy="1392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r>
              <a:rPr lang="en-US" altLang="zh-TW" sz="2800" dirty="0"/>
              <a:t>X</a:t>
            </a:r>
            <a:endParaRPr lang="zh-TW" altLang="en-US" sz="2800" dirty="0"/>
          </a:p>
        </p:txBody>
      </p:sp>
      <p:sp>
        <p:nvSpPr>
          <p:cNvPr id="31" name="矩形 30">
            <a:extLst>
              <a:ext uri="{FF2B5EF4-FFF2-40B4-BE49-F238E27FC236}">
                <a16:creationId xmlns:a16="http://schemas.microsoft.com/office/drawing/2014/main" id="{BF7A76C3-2D85-4213-A0BE-3398F64214FA}"/>
              </a:ext>
            </a:extLst>
          </p:cNvPr>
          <p:cNvSpPr/>
          <p:nvPr/>
        </p:nvSpPr>
        <p:spPr>
          <a:xfrm>
            <a:off x="3973513" y="3141663"/>
            <a:ext cx="931862" cy="13922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r>
              <a:rPr lang="en-US" altLang="zh-TW" sz="2800" dirty="0"/>
              <a:t>U</a:t>
            </a:r>
            <a:endParaRPr lang="zh-TW" altLang="en-US" sz="2800" baseline="-25000" dirty="0"/>
          </a:p>
        </p:txBody>
      </p:sp>
      <p:sp>
        <p:nvSpPr>
          <p:cNvPr id="32" name="矩形 31">
            <a:extLst>
              <a:ext uri="{FF2B5EF4-FFF2-40B4-BE49-F238E27FC236}">
                <a16:creationId xmlns:a16="http://schemas.microsoft.com/office/drawing/2014/main" id="{2A69F612-3B30-4598-A116-237D1F67A575}"/>
              </a:ext>
            </a:extLst>
          </p:cNvPr>
          <p:cNvSpPr/>
          <p:nvPr/>
        </p:nvSpPr>
        <p:spPr>
          <a:xfrm>
            <a:off x="5027613" y="3162300"/>
            <a:ext cx="771525" cy="7175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r>
              <a:rPr lang="zh-TW" altLang="en-US" sz="2800" dirty="0"/>
              <a:t>∑</a:t>
            </a:r>
          </a:p>
        </p:txBody>
      </p:sp>
      <p:sp>
        <p:nvSpPr>
          <p:cNvPr id="33" name="矩形 32">
            <a:extLst>
              <a:ext uri="{FF2B5EF4-FFF2-40B4-BE49-F238E27FC236}">
                <a16:creationId xmlns:a16="http://schemas.microsoft.com/office/drawing/2014/main" id="{CFCD9728-3A0E-4401-B46A-09AA843C2336}"/>
              </a:ext>
            </a:extLst>
          </p:cNvPr>
          <p:cNvSpPr/>
          <p:nvPr/>
        </p:nvSpPr>
        <p:spPr>
          <a:xfrm>
            <a:off x="5997575" y="3162300"/>
            <a:ext cx="1200150" cy="70643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spcBef>
                <a:spcPct val="50000"/>
              </a:spcBef>
              <a:defRPr/>
            </a:pPr>
            <a:r>
              <a:rPr lang="en-US" altLang="zh-TW" sz="2800" dirty="0"/>
              <a:t>V</a:t>
            </a:r>
            <a:endParaRPr lang="zh-TW" altLang="en-US" sz="2800" baseline="30000" dirty="0"/>
          </a:p>
        </p:txBody>
      </p:sp>
      <p:sp>
        <p:nvSpPr>
          <p:cNvPr id="35" name="文字方塊 34">
            <a:extLst>
              <a:ext uri="{FF2B5EF4-FFF2-40B4-BE49-F238E27FC236}">
                <a16:creationId xmlns:a16="http://schemas.microsoft.com/office/drawing/2014/main" id="{9DE7896B-5A0E-435D-8086-9561B4A218E0}"/>
              </a:ext>
            </a:extLst>
          </p:cNvPr>
          <p:cNvSpPr txBox="1">
            <a:spLocks noChangeArrowheads="1"/>
          </p:cNvSpPr>
          <p:nvPr/>
        </p:nvSpPr>
        <p:spPr bwMode="auto">
          <a:xfrm>
            <a:off x="2020888" y="2720975"/>
            <a:ext cx="995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M x N</a:t>
            </a:r>
            <a:endParaRPr lang="zh-TW" altLang="en-US" sz="2400">
              <a:solidFill>
                <a:schemeClr val="hlink"/>
              </a:solidFill>
              <a:ea typeface="宋体" panose="02010600030101010101" pitchFamily="2" charset="-122"/>
            </a:endParaRPr>
          </a:p>
        </p:txBody>
      </p:sp>
      <p:sp>
        <p:nvSpPr>
          <p:cNvPr id="36" name="文字方塊 35">
            <a:extLst>
              <a:ext uri="{FF2B5EF4-FFF2-40B4-BE49-F238E27FC236}">
                <a16:creationId xmlns:a16="http://schemas.microsoft.com/office/drawing/2014/main" id="{3A238F3B-1B10-4FFC-A0DA-815A5DF0488B}"/>
              </a:ext>
            </a:extLst>
          </p:cNvPr>
          <p:cNvSpPr txBox="1">
            <a:spLocks noChangeArrowheads="1"/>
          </p:cNvSpPr>
          <p:nvPr/>
        </p:nvSpPr>
        <p:spPr bwMode="auto">
          <a:xfrm>
            <a:off x="4914900" y="2749550"/>
            <a:ext cx="995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K x K</a:t>
            </a:r>
            <a:endParaRPr lang="zh-TW" altLang="en-US" sz="2400">
              <a:solidFill>
                <a:schemeClr val="hlink"/>
              </a:solidFill>
              <a:ea typeface="宋体" panose="02010600030101010101" pitchFamily="2" charset="-122"/>
            </a:endParaRPr>
          </a:p>
        </p:txBody>
      </p:sp>
      <p:sp>
        <p:nvSpPr>
          <p:cNvPr id="37" name="文字方塊 36">
            <a:extLst>
              <a:ext uri="{FF2B5EF4-FFF2-40B4-BE49-F238E27FC236}">
                <a16:creationId xmlns:a16="http://schemas.microsoft.com/office/drawing/2014/main" id="{ACDB1F7A-062A-4CEE-91E2-6289388CB93B}"/>
              </a:ext>
            </a:extLst>
          </p:cNvPr>
          <p:cNvSpPr txBox="1">
            <a:spLocks noChangeArrowheads="1"/>
          </p:cNvSpPr>
          <p:nvPr/>
        </p:nvSpPr>
        <p:spPr bwMode="auto">
          <a:xfrm>
            <a:off x="6083300" y="2714625"/>
            <a:ext cx="996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K x N</a:t>
            </a:r>
            <a:endParaRPr lang="zh-TW" altLang="en-US" sz="2400">
              <a:solidFill>
                <a:schemeClr val="hlink"/>
              </a:solidFill>
              <a:ea typeface="宋体" panose="02010600030101010101" pitchFamily="2" charset="-122"/>
            </a:endParaRPr>
          </a:p>
        </p:txBody>
      </p:sp>
      <p:sp>
        <p:nvSpPr>
          <p:cNvPr id="38" name="文字方塊 37">
            <a:extLst>
              <a:ext uri="{FF2B5EF4-FFF2-40B4-BE49-F238E27FC236}">
                <a16:creationId xmlns:a16="http://schemas.microsoft.com/office/drawing/2014/main" id="{9837D9A8-08BB-41CF-AA9C-B8F8F4B6C0B3}"/>
              </a:ext>
            </a:extLst>
          </p:cNvPr>
          <p:cNvSpPr txBox="1">
            <a:spLocks noChangeArrowheads="1"/>
          </p:cNvSpPr>
          <p:nvPr/>
        </p:nvSpPr>
        <p:spPr bwMode="auto">
          <a:xfrm>
            <a:off x="3938588" y="2713038"/>
            <a:ext cx="996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M x K</a:t>
            </a:r>
            <a:endParaRPr lang="zh-TW" altLang="en-US" sz="2400">
              <a:solidFill>
                <a:schemeClr val="hlink"/>
              </a:solidFill>
              <a:ea typeface="宋体" panose="02010600030101010101" pitchFamily="2" charset="-122"/>
            </a:endParaRPr>
          </a:p>
        </p:txBody>
      </p:sp>
      <p:sp>
        <p:nvSpPr>
          <p:cNvPr id="40" name="文字方塊 39">
            <a:extLst>
              <a:ext uri="{FF2B5EF4-FFF2-40B4-BE49-F238E27FC236}">
                <a16:creationId xmlns:a16="http://schemas.microsoft.com/office/drawing/2014/main" id="{2CB5E00C-D61C-49FC-BF5D-1F7CEFB05195}"/>
              </a:ext>
            </a:extLst>
          </p:cNvPr>
          <p:cNvSpPr txBox="1">
            <a:spLocks noRot="1" noChangeAspect="1" noMove="1" noResize="1" noEditPoints="1" noAdjustHandles="1" noChangeArrowheads="1" noChangeShapeType="1" noTextEdit="1"/>
          </p:cNvSpPr>
          <p:nvPr/>
        </p:nvSpPr>
        <p:spPr>
          <a:xfrm>
            <a:off x="3610624" y="1488593"/>
            <a:ext cx="346249" cy="430887"/>
          </a:xfrm>
          <a:prstGeom prst="rect">
            <a:avLst/>
          </a:prstGeom>
          <a:blipFill>
            <a:blip r:embed="rId10"/>
            <a:stretch>
              <a:fillRect l="-10345" r="-6897"/>
            </a:stretch>
          </a:blipFill>
        </p:spPr>
        <p:txBody>
          <a:bodyPr/>
          <a:lstStyle/>
          <a:p>
            <a:pPr>
              <a:defRPr/>
            </a:pPr>
            <a:r>
              <a:rPr lang="zh-CN" altLang="en-US">
                <a:noFill/>
              </a:rPr>
              <a:t> </a:t>
            </a:r>
          </a:p>
        </p:txBody>
      </p:sp>
      <p:sp>
        <p:nvSpPr>
          <p:cNvPr id="41" name="文字方塊 40">
            <a:extLst>
              <a:ext uri="{FF2B5EF4-FFF2-40B4-BE49-F238E27FC236}">
                <a16:creationId xmlns:a16="http://schemas.microsoft.com/office/drawing/2014/main" id="{01F70E7F-6B3A-4D25-96CD-36F6EA477868}"/>
              </a:ext>
            </a:extLst>
          </p:cNvPr>
          <p:cNvSpPr txBox="1">
            <a:spLocks noChangeArrowheads="1"/>
          </p:cNvSpPr>
          <p:nvPr/>
        </p:nvSpPr>
        <p:spPr bwMode="auto">
          <a:xfrm>
            <a:off x="966788" y="4616450"/>
            <a:ext cx="72659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K columns of U: a set of orthonormal eigen vectors corresponding to the K largest eigenvalues of XX</a:t>
            </a:r>
            <a:r>
              <a:rPr lang="en-US" altLang="zh-TW" sz="2400" baseline="30000">
                <a:solidFill>
                  <a:schemeClr val="hlink"/>
                </a:solidFill>
                <a:ea typeface="宋体" panose="02010600030101010101" pitchFamily="2" charset="-122"/>
              </a:rPr>
              <a:t>T</a:t>
            </a:r>
            <a:r>
              <a:rPr lang="en-US" altLang="zh-TW" sz="2400">
                <a:solidFill>
                  <a:schemeClr val="hlink"/>
                </a:solidFill>
                <a:ea typeface="宋体" panose="02010600030101010101" pitchFamily="2" charset="-122"/>
              </a:rPr>
              <a:t> </a:t>
            </a:r>
            <a:endParaRPr lang="zh-TW" altLang="en-US" sz="2400">
              <a:solidFill>
                <a:schemeClr val="hlink"/>
              </a:solidFill>
              <a:ea typeface="宋体" panose="02010600030101010101" pitchFamily="2" charset="-122"/>
            </a:endParaRPr>
          </a:p>
        </p:txBody>
      </p:sp>
      <p:sp>
        <p:nvSpPr>
          <p:cNvPr id="42" name="矩形 41">
            <a:extLst>
              <a:ext uri="{FF2B5EF4-FFF2-40B4-BE49-F238E27FC236}">
                <a16:creationId xmlns:a16="http://schemas.microsoft.com/office/drawing/2014/main" id="{AC98CDA6-4322-4810-A45B-7B330BCC8BA2}"/>
              </a:ext>
            </a:extLst>
          </p:cNvPr>
          <p:cNvSpPr/>
          <p:nvPr/>
        </p:nvSpPr>
        <p:spPr>
          <a:xfrm>
            <a:off x="4905375" y="5500688"/>
            <a:ext cx="4010025" cy="522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spcBef>
                <a:spcPct val="50000"/>
              </a:spcBef>
              <a:defRPr/>
            </a:pPr>
            <a:r>
              <a:rPr lang="en-US" altLang="zh-TW" sz="2400" dirty="0"/>
              <a:t>This is the solution of PCA</a:t>
            </a:r>
            <a:endParaRPr lang="zh-TW"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5" grpId="0"/>
      <p:bldP spid="36" grpId="0"/>
      <p:bldP spid="37" grpId="0"/>
      <p:bldP spid="38" grpId="0"/>
      <p:bldP spid="41" grpId="0"/>
      <p:bldP spid="42"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7825" name="群組 3">
            <a:extLst>
              <a:ext uri="{FF2B5EF4-FFF2-40B4-BE49-F238E27FC236}">
                <a16:creationId xmlns:a16="http://schemas.microsoft.com/office/drawing/2014/main" id="{CB359B6B-52ED-4CF8-AF3F-9C91AA610AEE}"/>
              </a:ext>
            </a:extLst>
          </p:cNvPr>
          <p:cNvGrpSpPr>
            <a:grpSpLocks/>
          </p:cNvGrpSpPr>
          <p:nvPr/>
        </p:nvGrpSpPr>
        <p:grpSpPr bwMode="auto">
          <a:xfrm>
            <a:off x="496888" y="336550"/>
            <a:ext cx="8102600" cy="877888"/>
            <a:chOff x="535550" y="5384411"/>
            <a:chExt cx="8102395" cy="878168"/>
          </a:xfrm>
        </p:grpSpPr>
        <p:sp>
          <p:nvSpPr>
            <p:cNvPr id="77849" name="文字方塊 32">
              <a:extLst>
                <a:ext uri="{FF2B5EF4-FFF2-40B4-BE49-F238E27FC236}">
                  <a16:creationId xmlns:a16="http://schemas.microsoft.com/office/drawing/2014/main" id="{9093E298-53A7-4199-BDFC-C635C162EEC0}"/>
                </a:ext>
              </a:extLst>
            </p:cNvPr>
            <p:cNvSpPr txBox="1">
              <a:spLocks noChangeArrowheads="1"/>
            </p:cNvSpPr>
            <p:nvPr/>
          </p:nvSpPr>
          <p:spPr bwMode="auto">
            <a:xfrm>
              <a:off x="790883" y="5416834"/>
              <a:ext cx="5579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PCA looks like a neural network with one hidden layer (linear activation function)</a:t>
              </a:r>
              <a:endParaRPr lang="zh-TW" altLang="en-US" sz="2400">
                <a:solidFill>
                  <a:schemeClr val="hlink"/>
                </a:solidFill>
                <a:ea typeface="宋体" panose="02010600030101010101" pitchFamily="2" charset="-122"/>
              </a:endParaRPr>
            </a:p>
          </p:txBody>
        </p:sp>
        <p:sp>
          <p:nvSpPr>
            <p:cNvPr id="34" name="文字方塊 33">
              <a:extLst>
                <a:ext uri="{FF2B5EF4-FFF2-40B4-BE49-F238E27FC236}">
                  <a16:creationId xmlns:a16="http://schemas.microsoft.com/office/drawing/2014/main" id="{E91FAFA0-73F2-4E95-9E44-6F2F97BFCB43}"/>
                </a:ext>
              </a:extLst>
            </p:cNvPr>
            <p:cNvSpPr txBox="1"/>
            <p:nvPr/>
          </p:nvSpPr>
          <p:spPr>
            <a:xfrm>
              <a:off x="6370071" y="5601499"/>
              <a:ext cx="2059246"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eaLnBrk="1" hangingPunct="1">
                <a:spcBef>
                  <a:spcPct val="50000"/>
                </a:spcBef>
                <a:defRPr/>
              </a:pPr>
              <a:r>
                <a:rPr lang="en-US" altLang="zh-TW" sz="2400" dirty="0"/>
                <a:t>Autoencoder</a:t>
              </a:r>
              <a:endParaRPr lang="zh-TW" altLang="en-US" sz="2400" dirty="0"/>
            </a:p>
          </p:txBody>
        </p:sp>
        <p:sp>
          <p:nvSpPr>
            <p:cNvPr id="3" name="矩形 2">
              <a:extLst>
                <a:ext uri="{FF2B5EF4-FFF2-40B4-BE49-F238E27FC236}">
                  <a16:creationId xmlns:a16="http://schemas.microsoft.com/office/drawing/2014/main" id="{4715AD39-2310-4063-930D-5FDF48A1C420}"/>
                </a:ext>
              </a:extLst>
            </p:cNvPr>
            <p:cNvSpPr/>
            <p:nvPr/>
          </p:nvSpPr>
          <p:spPr>
            <a:xfrm>
              <a:off x="535550" y="5384411"/>
              <a:ext cx="8102395" cy="878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grpSp>
      <p:pic>
        <p:nvPicPr>
          <p:cNvPr id="15" name="文字方塊 14">
            <a:extLst>
              <a:ext uri="{FF2B5EF4-FFF2-40B4-BE49-F238E27FC236}">
                <a16:creationId xmlns:a16="http://schemas.microsoft.com/office/drawing/2014/main" id="{A7849A47-90E3-4B7B-84E1-5DA048AF7DFC}"/>
              </a:ext>
            </a:extLst>
          </p:cNvPr>
          <p:cNvPicPr>
            <a:picLocks noRot="1" noChangeAspect="1" noMove="1" noResize="1" noEditPoints="1" noAdjustHandles="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00" y="1346200"/>
            <a:ext cx="7607300" cy="482600"/>
          </a:xfrm>
          <a:prstGeom prst="rect">
            <a:avLst/>
          </a:prstGeom>
          <a:noFill/>
          <a:extLst>
            <a:ext uri="{909E8E84-426E-40DD-AFC4-6F175D3DCCD1}">
              <a14:hiddenFill xmlns:a14="http://schemas.microsoft.com/office/drawing/2010/main">
                <a:solidFill>
                  <a:srgbClr val="FFFFFF"/>
                </a:solidFill>
              </a14:hiddenFill>
            </a:ext>
          </a:extLst>
        </p:spPr>
      </p:pic>
      <p:sp>
        <p:nvSpPr>
          <p:cNvPr id="16" name="文字方塊 15">
            <a:extLst>
              <a:ext uri="{FF2B5EF4-FFF2-40B4-BE49-F238E27FC236}">
                <a16:creationId xmlns:a16="http://schemas.microsoft.com/office/drawing/2014/main" id="{F58572FB-F7CD-4B43-9D9B-7C1077C3CBD3}"/>
              </a:ext>
            </a:extLst>
          </p:cNvPr>
          <p:cNvSpPr txBox="1">
            <a:spLocks noChangeArrowheads="1"/>
          </p:cNvSpPr>
          <p:nvPr/>
        </p:nvSpPr>
        <p:spPr bwMode="auto">
          <a:xfrm>
            <a:off x="4318000" y="1838325"/>
            <a:ext cx="4500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To minimize reconstruction error:</a:t>
            </a:r>
            <a:endParaRPr lang="zh-TW" altLang="en-US" sz="2400">
              <a:solidFill>
                <a:schemeClr val="hlink"/>
              </a:solidFill>
              <a:ea typeface="宋体" panose="02010600030101010101" pitchFamily="2" charset="-122"/>
            </a:endParaRPr>
          </a:p>
        </p:txBody>
      </p:sp>
      <p:sp>
        <p:nvSpPr>
          <p:cNvPr id="17" name="文字方塊 16">
            <a:extLst>
              <a:ext uri="{FF2B5EF4-FFF2-40B4-BE49-F238E27FC236}">
                <a16:creationId xmlns:a16="http://schemas.microsoft.com/office/drawing/2014/main" id="{19A6569F-6741-404E-A3B5-414B412FD028}"/>
              </a:ext>
            </a:extLst>
          </p:cNvPr>
          <p:cNvSpPr txBox="1">
            <a:spLocks noRot="1" noChangeAspect="1" noMove="1" noResize="1" noEditPoints="1" noAdjustHandles="1" noChangeArrowheads="1" noChangeShapeType="1" noTextEdit="1"/>
          </p:cNvSpPr>
          <p:nvPr/>
        </p:nvSpPr>
        <p:spPr>
          <a:xfrm>
            <a:off x="5930085" y="2310887"/>
            <a:ext cx="2677431" cy="468205"/>
          </a:xfrm>
          <a:prstGeom prst="rect">
            <a:avLst/>
          </a:prstGeom>
          <a:blipFill>
            <a:blip r:embed="rId4"/>
            <a:stretch>
              <a:fillRect b="-2632"/>
            </a:stretch>
          </a:blipFill>
        </p:spPr>
        <p:txBody>
          <a:bodyPr/>
          <a:lstStyle/>
          <a:p>
            <a:pPr>
              <a:defRPr/>
            </a:pPr>
            <a:r>
              <a:rPr lang="zh-CN" altLang="en-US">
                <a:noFill/>
              </a:rPr>
              <a:t> </a:t>
            </a:r>
          </a:p>
        </p:txBody>
      </p:sp>
      <p:grpSp>
        <p:nvGrpSpPr>
          <p:cNvPr id="7" name="群組 6">
            <a:extLst>
              <a:ext uri="{FF2B5EF4-FFF2-40B4-BE49-F238E27FC236}">
                <a16:creationId xmlns:a16="http://schemas.microsoft.com/office/drawing/2014/main" id="{ADEDF5D0-8DE8-4F8D-987D-351D47384927}"/>
              </a:ext>
            </a:extLst>
          </p:cNvPr>
          <p:cNvGrpSpPr>
            <a:grpSpLocks/>
          </p:cNvGrpSpPr>
          <p:nvPr/>
        </p:nvGrpSpPr>
        <p:grpSpPr bwMode="auto">
          <a:xfrm>
            <a:off x="995363" y="3608388"/>
            <a:ext cx="544512" cy="2727325"/>
            <a:chOff x="994609" y="3607827"/>
            <a:chExt cx="545431" cy="2727153"/>
          </a:xfrm>
        </p:grpSpPr>
        <p:sp>
          <p:nvSpPr>
            <p:cNvPr id="6" name="橢圓 5">
              <a:extLst>
                <a:ext uri="{FF2B5EF4-FFF2-40B4-BE49-F238E27FC236}">
                  <a16:creationId xmlns:a16="http://schemas.microsoft.com/office/drawing/2014/main" id="{CB294CA9-56DD-4DA4-A68F-BE3DD1E0648D}"/>
                </a:ext>
              </a:extLst>
            </p:cNvPr>
            <p:cNvSpPr/>
            <p:nvPr/>
          </p:nvSpPr>
          <p:spPr>
            <a:xfrm>
              <a:off x="994609" y="3607827"/>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8" name="橢圓 37">
              <a:extLst>
                <a:ext uri="{FF2B5EF4-FFF2-40B4-BE49-F238E27FC236}">
                  <a16:creationId xmlns:a16="http://schemas.microsoft.com/office/drawing/2014/main" id="{4655E0AE-DDA7-4FD0-916C-170FE14EC926}"/>
                </a:ext>
              </a:extLst>
            </p:cNvPr>
            <p:cNvSpPr/>
            <p:nvPr/>
          </p:nvSpPr>
          <p:spPr>
            <a:xfrm>
              <a:off x="994609" y="4698370"/>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9" name="橢圓 38">
              <a:extLst>
                <a:ext uri="{FF2B5EF4-FFF2-40B4-BE49-F238E27FC236}">
                  <a16:creationId xmlns:a16="http://schemas.microsoft.com/office/drawing/2014/main" id="{3A4C98E2-0954-4408-B7C0-75221B6F98B7}"/>
                </a:ext>
              </a:extLst>
            </p:cNvPr>
            <p:cNvSpPr/>
            <p:nvPr/>
          </p:nvSpPr>
          <p:spPr>
            <a:xfrm>
              <a:off x="994609" y="5788914"/>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grpSp>
      <p:grpSp>
        <p:nvGrpSpPr>
          <p:cNvPr id="11" name="群組 10">
            <a:extLst>
              <a:ext uri="{FF2B5EF4-FFF2-40B4-BE49-F238E27FC236}">
                <a16:creationId xmlns:a16="http://schemas.microsoft.com/office/drawing/2014/main" id="{84BA9480-222C-45F0-BA61-B8180A03EC0E}"/>
              </a:ext>
            </a:extLst>
          </p:cNvPr>
          <p:cNvGrpSpPr>
            <a:grpSpLocks/>
          </p:cNvGrpSpPr>
          <p:nvPr/>
        </p:nvGrpSpPr>
        <p:grpSpPr bwMode="auto">
          <a:xfrm>
            <a:off x="3360738" y="4152900"/>
            <a:ext cx="546100" cy="546100"/>
            <a:chOff x="3360821" y="4153258"/>
            <a:chExt cx="545431" cy="545431"/>
          </a:xfrm>
        </p:grpSpPr>
        <p:sp>
          <p:nvSpPr>
            <p:cNvPr id="22" name="橢圓 21">
              <a:extLst>
                <a:ext uri="{FF2B5EF4-FFF2-40B4-BE49-F238E27FC236}">
                  <a16:creationId xmlns:a16="http://schemas.microsoft.com/office/drawing/2014/main" id="{AB17EBBE-9687-4468-804B-B3967199AA09}"/>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9" name="直線接點 8">
              <a:extLst>
                <a:ext uri="{FF2B5EF4-FFF2-40B4-BE49-F238E27FC236}">
                  <a16:creationId xmlns:a16="http://schemas.microsoft.com/office/drawing/2014/main" id="{BB75007B-7E0C-4115-ABB6-13BC04153D83}"/>
                </a:ext>
              </a:extLst>
            </p:cNvPr>
            <p:cNvCxnSpPr/>
            <p:nvPr/>
          </p:nvCxnSpPr>
          <p:spPr>
            <a:xfrm flipH="1">
              <a:off x="3471810" y="4265833"/>
              <a:ext cx="339309" cy="3646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 name="直線單箭頭接點 18">
            <a:extLst>
              <a:ext uri="{FF2B5EF4-FFF2-40B4-BE49-F238E27FC236}">
                <a16:creationId xmlns:a16="http://schemas.microsoft.com/office/drawing/2014/main" id="{3C2191C8-013D-4E97-90C8-2F399DA1260E}"/>
              </a:ext>
            </a:extLst>
          </p:cNvPr>
          <p:cNvCxnSpPr>
            <a:endCxn id="22" idx="2"/>
          </p:cNvCxnSpPr>
          <p:nvPr/>
        </p:nvCxnSpPr>
        <p:spPr>
          <a:xfrm>
            <a:off x="1554163" y="3905250"/>
            <a:ext cx="1806575" cy="5207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149AB4EA-B18D-45BB-9D38-C22B785F11F9}"/>
              </a:ext>
            </a:extLst>
          </p:cNvPr>
          <p:cNvCxnSpPr>
            <a:endCxn id="22" idx="2"/>
          </p:cNvCxnSpPr>
          <p:nvPr/>
        </p:nvCxnSpPr>
        <p:spPr>
          <a:xfrm flipV="1">
            <a:off x="1547813" y="4425950"/>
            <a:ext cx="1812925" cy="5826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C9210D02-A96B-4A28-BE6C-67A4E8F8FE25}"/>
              </a:ext>
            </a:extLst>
          </p:cNvPr>
          <p:cNvCxnSpPr>
            <a:endCxn id="22" idx="2"/>
          </p:cNvCxnSpPr>
          <p:nvPr/>
        </p:nvCxnSpPr>
        <p:spPr>
          <a:xfrm flipV="1">
            <a:off x="1520825" y="4425950"/>
            <a:ext cx="1839913" cy="1654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字方塊 56">
            <a:extLst>
              <a:ext uri="{FF2B5EF4-FFF2-40B4-BE49-F238E27FC236}">
                <a16:creationId xmlns:a16="http://schemas.microsoft.com/office/drawing/2014/main" id="{53B03C30-17FB-49AC-955A-C4BAC0818D1E}"/>
              </a:ext>
            </a:extLst>
          </p:cNvPr>
          <p:cNvSpPr txBox="1">
            <a:spLocks noRot="1" noChangeAspect="1" noMove="1" noResize="1" noEditPoints="1" noAdjustHandles="1" noChangeArrowheads="1" noChangeShapeType="1" noTextEdit="1"/>
          </p:cNvSpPr>
          <p:nvPr/>
        </p:nvSpPr>
        <p:spPr>
          <a:xfrm>
            <a:off x="1876930" y="3632988"/>
            <a:ext cx="451342" cy="372859"/>
          </a:xfrm>
          <a:prstGeom prst="rect">
            <a:avLst/>
          </a:prstGeom>
          <a:blipFill>
            <a:blip r:embed="rId5"/>
            <a:stretch>
              <a:fillRect l="-8333" r="-5556" b="-20000"/>
            </a:stretch>
          </a:blipFill>
        </p:spPr>
        <p:txBody>
          <a:bodyPr/>
          <a:lstStyle/>
          <a:p>
            <a:pPr>
              <a:defRPr/>
            </a:pPr>
            <a:r>
              <a:rPr lang="zh-CN" altLang="en-US">
                <a:noFill/>
              </a:rPr>
              <a:t> </a:t>
            </a:r>
          </a:p>
        </p:txBody>
      </p:sp>
      <p:sp>
        <p:nvSpPr>
          <p:cNvPr id="58" name="文字方塊 57">
            <a:extLst>
              <a:ext uri="{FF2B5EF4-FFF2-40B4-BE49-F238E27FC236}">
                <a16:creationId xmlns:a16="http://schemas.microsoft.com/office/drawing/2014/main" id="{601DEDDF-A23B-44D5-A631-2EBF63402181}"/>
              </a:ext>
            </a:extLst>
          </p:cNvPr>
          <p:cNvSpPr txBox="1">
            <a:spLocks noRot="1" noChangeAspect="1" noMove="1" noResize="1" noEditPoints="1" noAdjustHandles="1" noChangeArrowheads="1" noChangeShapeType="1" noTextEdit="1"/>
          </p:cNvSpPr>
          <p:nvPr/>
        </p:nvSpPr>
        <p:spPr>
          <a:xfrm>
            <a:off x="1876930" y="4417402"/>
            <a:ext cx="451341" cy="373564"/>
          </a:xfrm>
          <a:prstGeom prst="rect">
            <a:avLst/>
          </a:prstGeom>
          <a:blipFill>
            <a:blip r:embed="rId6"/>
            <a:stretch>
              <a:fillRect l="-8333" r="-5556" b="-20690"/>
            </a:stretch>
          </a:blipFill>
        </p:spPr>
        <p:txBody>
          <a:bodyPr/>
          <a:lstStyle/>
          <a:p>
            <a:pPr>
              <a:defRPr/>
            </a:pPr>
            <a:r>
              <a:rPr lang="zh-CN" altLang="en-US">
                <a:noFill/>
              </a:rPr>
              <a:t> </a:t>
            </a:r>
          </a:p>
        </p:txBody>
      </p:sp>
      <p:sp>
        <p:nvSpPr>
          <p:cNvPr id="59" name="文字方塊 58">
            <a:extLst>
              <a:ext uri="{FF2B5EF4-FFF2-40B4-BE49-F238E27FC236}">
                <a16:creationId xmlns:a16="http://schemas.microsoft.com/office/drawing/2014/main" id="{C4B99F48-5F2F-4CC9-8604-EF3A21A842CC}"/>
              </a:ext>
            </a:extLst>
          </p:cNvPr>
          <p:cNvSpPr txBox="1">
            <a:spLocks noRot="1" noChangeAspect="1" noMove="1" noResize="1" noEditPoints="1" noAdjustHandles="1" noChangeArrowheads="1" noChangeShapeType="1" noTextEdit="1"/>
          </p:cNvSpPr>
          <p:nvPr/>
        </p:nvSpPr>
        <p:spPr>
          <a:xfrm>
            <a:off x="1879129" y="5049965"/>
            <a:ext cx="451341" cy="375424"/>
          </a:xfrm>
          <a:prstGeom prst="rect">
            <a:avLst/>
          </a:prstGeom>
          <a:blipFill>
            <a:blip r:embed="rId7"/>
            <a:stretch>
              <a:fillRect l="-8108" r="-2703" b="-16667"/>
            </a:stretch>
          </a:blipFill>
        </p:spPr>
        <p:txBody>
          <a:bodyPr/>
          <a:lstStyle/>
          <a:p>
            <a:pPr>
              <a:defRPr/>
            </a:pPr>
            <a:r>
              <a:rPr lang="zh-CN" altLang="en-US">
                <a:noFill/>
              </a:rPr>
              <a:t> </a:t>
            </a:r>
          </a:p>
        </p:txBody>
      </p:sp>
      <p:sp>
        <p:nvSpPr>
          <p:cNvPr id="60" name="文字方塊 59">
            <a:extLst>
              <a:ext uri="{FF2B5EF4-FFF2-40B4-BE49-F238E27FC236}">
                <a16:creationId xmlns:a16="http://schemas.microsoft.com/office/drawing/2014/main" id="{D48D44BA-3A76-427B-9E4C-DB74A03DF8C4}"/>
              </a:ext>
            </a:extLst>
          </p:cNvPr>
          <p:cNvSpPr txBox="1">
            <a:spLocks noRot="1" noChangeAspect="1" noMove="1" noResize="1" noEditPoints="1" noAdjustHandles="1" noChangeArrowheads="1" noChangeShapeType="1" noTextEdit="1"/>
          </p:cNvSpPr>
          <p:nvPr/>
        </p:nvSpPr>
        <p:spPr>
          <a:xfrm>
            <a:off x="3715473" y="3840077"/>
            <a:ext cx="603169" cy="468205"/>
          </a:xfrm>
          <a:prstGeom prst="rect">
            <a:avLst/>
          </a:prstGeom>
          <a:blipFill>
            <a:blip r:embed="rId8"/>
            <a:stretch>
              <a:fillRect/>
            </a:stretch>
          </a:blipFill>
        </p:spPr>
        <p:txBody>
          <a:bodyPr/>
          <a:lstStyle/>
          <a:p>
            <a:pPr>
              <a:defRPr/>
            </a:pPr>
            <a:r>
              <a:rPr lang="zh-CN" altLang="en-US">
                <a:noFill/>
              </a:rPr>
              <a:t> </a:t>
            </a:r>
          </a:p>
        </p:txBody>
      </p:sp>
      <p:sp>
        <p:nvSpPr>
          <p:cNvPr id="72" name="文字方塊 71">
            <a:extLst>
              <a:ext uri="{FF2B5EF4-FFF2-40B4-BE49-F238E27FC236}">
                <a16:creationId xmlns:a16="http://schemas.microsoft.com/office/drawing/2014/main" id="{AF67BCBC-9217-4913-9D3A-F37107C29E64}"/>
              </a:ext>
            </a:extLst>
          </p:cNvPr>
          <p:cNvSpPr txBox="1">
            <a:spLocks noRot="1" noChangeAspect="1" noMove="1" noResize="1" noEditPoints="1" noAdjustHandles="1" noChangeArrowheads="1" noChangeShapeType="1" noTextEdit="1"/>
          </p:cNvSpPr>
          <p:nvPr/>
        </p:nvSpPr>
        <p:spPr>
          <a:xfrm>
            <a:off x="499592" y="3014578"/>
            <a:ext cx="1184066" cy="468205"/>
          </a:xfrm>
          <a:prstGeom prst="rect">
            <a:avLst/>
          </a:prstGeom>
          <a:blipFill>
            <a:blip r:embed="rId9"/>
            <a:stretch>
              <a:fillRect t="-7895" b="-23684"/>
            </a:stretch>
          </a:blipFill>
        </p:spPr>
        <p:txBody>
          <a:bodyPr/>
          <a:lstStyle/>
          <a:p>
            <a:pPr>
              <a:defRPr/>
            </a:pPr>
            <a:r>
              <a:rPr lang="zh-CN" altLang="en-US">
                <a:noFill/>
              </a:rPr>
              <a:t> </a:t>
            </a:r>
          </a:p>
        </p:txBody>
      </p:sp>
      <p:sp>
        <p:nvSpPr>
          <p:cNvPr id="73" name="文字方塊 72">
            <a:extLst>
              <a:ext uri="{FF2B5EF4-FFF2-40B4-BE49-F238E27FC236}">
                <a16:creationId xmlns:a16="http://schemas.microsoft.com/office/drawing/2014/main" id="{C692A8EF-9233-462A-A1C9-7D824DB37585}"/>
              </a:ext>
            </a:extLst>
          </p:cNvPr>
          <p:cNvSpPr txBox="1">
            <a:spLocks noRot="1" noChangeAspect="1" noMove="1" noResize="1" noEditPoints="1" noAdjustHandles="1" noChangeArrowheads="1" noChangeShapeType="1" noTextEdit="1"/>
          </p:cNvSpPr>
          <p:nvPr/>
        </p:nvSpPr>
        <p:spPr>
          <a:xfrm>
            <a:off x="680608" y="1846490"/>
            <a:ext cx="1820627" cy="1038489"/>
          </a:xfrm>
          <a:prstGeom prst="rect">
            <a:avLst/>
          </a:prstGeom>
          <a:blipFill>
            <a:blip r:embed="rId10"/>
            <a:stretch>
              <a:fillRect l="-29861" t="-114458" r="-694" b="-174699"/>
            </a:stretch>
          </a:blipFill>
        </p:spPr>
        <p:txBody>
          <a:bodyPr/>
          <a:lstStyle/>
          <a:p>
            <a:pPr>
              <a:defRPr/>
            </a:pPr>
            <a:r>
              <a:rPr lang="zh-CN" altLang="en-US">
                <a:noFill/>
              </a:rPr>
              <a:t> </a:t>
            </a:r>
          </a:p>
        </p:txBody>
      </p:sp>
      <p:sp>
        <p:nvSpPr>
          <p:cNvPr id="74" name="箭號: 左-右雙向 73">
            <a:extLst>
              <a:ext uri="{FF2B5EF4-FFF2-40B4-BE49-F238E27FC236}">
                <a16:creationId xmlns:a16="http://schemas.microsoft.com/office/drawing/2014/main" id="{1D4929CD-BEC9-42B0-9809-CBA6E97DE02C}"/>
              </a:ext>
            </a:extLst>
          </p:cNvPr>
          <p:cNvSpPr/>
          <p:nvPr/>
        </p:nvSpPr>
        <p:spPr>
          <a:xfrm>
            <a:off x="2501900" y="2239963"/>
            <a:ext cx="512763" cy="304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75" name="文字方塊 74">
            <a:extLst>
              <a:ext uri="{FF2B5EF4-FFF2-40B4-BE49-F238E27FC236}">
                <a16:creationId xmlns:a16="http://schemas.microsoft.com/office/drawing/2014/main" id="{DA732ECC-8493-43E7-B7E9-A2FA1BA5CA63}"/>
              </a:ext>
            </a:extLst>
          </p:cNvPr>
          <p:cNvSpPr txBox="1">
            <a:spLocks noRot="1" noChangeAspect="1" noMove="1" noResize="1" noEditPoints="1" noAdjustHandles="1" noChangeArrowheads="1" noChangeShapeType="1" noTextEdit="1"/>
          </p:cNvSpPr>
          <p:nvPr/>
        </p:nvSpPr>
        <p:spPr>
          <a:xfrm>
            <a:off x="3032127" y="2157520"/>
            <a:ext cx="926942" cy="369332"/>
          </a:xfrm>
          <a:prstGeom prst="rect">
            <a:avLst/>
          </a:prstGeom>
          <a:blipFill>
            <a:blip r:embed="rId11"/>
            <a:stretch>
              <a:fillRect/>
            </a:stretch>
          </a:blipFill>
        </p:spPr>
        <p:txBody>
          <a:bodyPr/>
          <a:lstStyle/>
          <a:p>
            <a:pPr>
              <a:defRPr/>
            </a:pPr>
            <a:r>
              <a:rPr lang="zh-CN" altLang="en-US">
                <a:noFill/>
              </a:rPr>
              <a:t> </a:t>
            </a:r>
          </a:p>
        </p:txBody>
      </p:sp>
      <p:sp>
        <p:nvSpPr>
          <p:cNvPr id="76" name="文字方塊 75">
            <a:extLst>
              <a:ext uri="{FF2B5EF4-FFF2-40B4-BE49-F238E27FC236}">
                <a16:creationId xmlns:a16="http://schemas.microsoft.com/office/drawing/2014/main" id="{D95B720A-E181-43C7-AFCF-96A08D0E470E}"/>
              </a:ext>
            </a:extLst>
          </p:cNvPr>
          <p:cNvSpPr txBox="1">
            <a:spLocks noRot="1" noChangeAspect="1" noMove="1" noResize="1" noEditPoints="1" noAdjustHandles="1" noChangeArrowheads="1" noChangeShapeType="1" noTextEdit="1"/>
          </p:cNvSpPr>
          <p:nvPr/>
        </p:nvSpPr>
        <p:spPr>
          <a:xfrm>
            <a:off x="62824" y="4514022"/>
            <a:ext cx="926942" cy="369332"/>
          </a:xfrm>
          <a:prstGeom prst="rect">
            <a:avLst/>
          </a:prstGeom>
          <a:blipFill>
            <a:blip r:embed="rId12"/>
            <a:stretch>
              <a:fillRect/>
            </a:stretch>
          </a:blipFill>
        </p:spPr>
        <p:txBody>
          <a:bodyPr/>
          <a:lstStyle/>
          <a:p>
            <a:pPr>
              <a:defRPr/>
            </a:pPr>
            <a:r>
              <a:rPr lang="zh-CN" altLang="en-US">
                <a:noFill/>
              </a:rPr>
              <a:t> </a:t>
            </a:r>
          </a:p>
        </p:txBody>
      </p:sp>
      <p:sp>
        <p:nvSpPr>
          <p:cNvPr id="77" name="左大括弧 76">
            <a:extLst>
              <a:ext uri="{FF2B5EF4-FFF2-40B4-BE49-F238E27FC236}">
                <a16:creationId xmlns:a16="http://schemas.microsoft.com/office/drawing/2014/main" id="{EE0284EE-E9B6-4084-A705-13B296DBEEFD}"/>
              </a:ext>
            </a:extLst>
          </p:cNvPr>
          <p:cNvSpPr/>
          <p:nvPr/>
        </p:nvSpPr>
        <p:spPr>
          <a:xfrm>
            <a:off x="917575" y="3584575"/>
            <a:ext cx="153988" cy="2751138"/>
          </a:xfrm>
          <a:prstGeom prst="leftBrace">
            <a:avLst>
              <a:gd name="adj1" fmla="val 35999"/>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4" grpId="0" animBg="1"/>
      <p:bldP spid="77"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9873" name="群組 3">
            <a:extLst>
              <a:ext uri="{FF2B5EF4-FFF2-40B4-BE49-F238E27FC236}">
                <a16:creationId xmlns:a16="http://schemas.microsoft.com/office/drawing/2014/main" id="{0D5E8DE1-D520-4C09-9ABF-2A6B86DCD4BD}"/>
              </a:ext>
            </a:extLst>
          </p:cNvPr>
          <p:cNvGrpSpPr>
            <a:grpSpLocks/>
          </p:cNvGrpSpPr>
          <p:nvPr/>
        </p:nvGrpSpPr>
        <p:grpSpPr bwMode="auto">
          <a:xfrm>
            <a:off x="496888" y="336550"/>
            <a:ext cx="8102600" cy="877888"/>
            <a:chOff x="535550" y="5384411"/>
            <a:chExt cx="8102395" cy="878168"/>
          </a:xfrm>
        </p:grpSpPr>
        <p:sp>
          <p:nvSpPr>
            <p:cNvPr id="79904" name="文字方塊 32">
              <a:extLst>
                <a:ext uri="{FF2B5EF4-FFF2-40B4-BE49-F238E27FC236}">
                  <a16:creationId xmlns:a16="http://schemas.microsoft.com/office/drawing/2014/main" id="{C13435F6-871C-47A2-924B-CFF5928673EF}"/>
                </a:ext>
              </a:extLst>
            </p:cNvPr>
            <p:cNvSpPr txBox="1">
              <a:spLocks noChangeArrowheads="1"/>
            </p:cNvSpPr>
            <p:nvPr/>
          </p:nvSpPr>
          <p:spPr bwMode="auto">
            <a:xfrm>
              <a:off x="790883" y="5416834"/>
              <a:ext cx="5579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PCA looks like a neural network with one hidden layer (linear activation function)</a:t>
              </a:r>
              <a:endParaRPr lang="zh-TW" altLang="en-US" sz="2400">
                <a:solidFill>
                  <a:schemeClr val="hlink"/>
                </a:solidFill>
                <a:ea typeface="宋体" panose="02010600030101010101" pitchFamily="2" charset="-122"/>
              </a:endParaRPr>
            </a:p>
          </p:txBody>
        </p:sp>
        <p:sp>
          <p:nvSpPr>
            <p:cNvPr id="34" name="文字方塊 33">
              <a:extLst>
                <a:ext uri="{FF2B5EF4-FFF2-40B4-BE49-F238E27FC236}">
                  <a16:creationId xmlns:a16="http://schemas.microsoft.com/office/drawing/2014/main" id="{2FFDB523-C3D2-417F-91EF-2624F37809E1}"/>
                </a:ext>
              </a:extLst>
            </p:cNvPr>
            <p:cNvSpPr txBox="1"/>
            <p:nvPr/>
          </p:nvSpPr>
          <p:spPr>
            <a:xfrm>
              <a:off x="6370071" y="5601499"/>
              <a:ext cx="2059246"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eaLnBrk="1" hangingPunct="1">
                <a:spcBef>
                  <a:spcPct val="50000"/>
                </a:spcBef>
                <a:defRPr/>
              </a:pPr>
              <a:r>
                <a:rPr lang="en-US" altLang="zh-TW" sz="2400" dirty="0"/>
                <a:t>Autoencoder</a:t>
              </a:r>
              <a:endParaRPr lang="zh-TW" altLang="en-US" sz="2400" dirty="0"/>
            </a:p>
          </p:txBody>
        </p:sp>
        <p:sp>
          <p:nvSpPr>
            <p:cNvPr id="3" name="矩形 2">
              <a:extLst>
                <a:ext uri="{FF2B5EF4-FFF2-40B4-BE49-F238E27FC236}">
                  <a16:creationId xmlns:a16="http://schemas.microsoft.com/office/drawing/2014/main" id="{0161BDFD-A748-4534-B57D-92995924BC01}"/>
                </a:ext>
              </a:extLst>
            </p:cNvPr>
            <p:cNvSpPr/>
            <p:nvPr/>
          </p:nvSpPr>
          <p:spPr>
            <a:xfrm>
              <a:off x="535550" y="5384411"/>
              <a:ext cx="8102395" cy="878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grpSp>
      <p:grpSp>
        <p:nvGrpSpPr>
          <p:cNvPr id="79874" name="群組 6">
            <a:extLst>
              <a:ext uri="{FF2B5EF4-FFF2-40B4-BE49-F238E27FC236}">
                <a16:creationId xmlns:a16="http://schemas.microsoft.com/office/drawing/2014/main" id="{9AF89301-9526-4FA3-96FE-713257733F1E}"/>
              </a:ext>
            </a:extLst>
          </p:cNvPr>
          <p:cNvGrpSpPr>
            <a:grpSpLocks/>
          </p:cNvGrpSpPr>
          <p:nvPr/>
        </p:nvGrpSpPr>
        <p:grpSpPr bwMode="auto">
          <a:xfrm>
            <a:off x="995363" y="3608388"/>
            <a:ext cx="544512" cy="2727325"/>
            <a:chOff x="994609" y="3607827"/>
            <a:chExt cx="545431" cy="2727153"/>
          </a:xfrm>
        </p:grpSpPr>
        <p:sp>
          <p:nvSpPr>
            <p:cNvPr id="6" name="橢圓 5">
              <a:extLst>
                <a:ext uri="{FF2B5EF4-FFF2-40B4-BE49-F238E27FC236}">
                  <a16:creationId xmlns:a16="http://schemas.microsoft.com/office/drawing/2014/main" id="{63337190-8141-4282-B446-16E215A33EEC}"/>
                </a:ext>
              </a:extLst>
            </p:cNvPr>
            <p:cNvSpPr/>
            <p:nvPr/>
          </p:nvSpPr>
          <p:spPr>
            <a:xfrm>
              <a:off x="994609" y="3607827"/>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8" name="橢圓 37">
              <a:extLst>
                <a:ext uri="{FF2B5EF4-FFF2-40B4-BE49-F238E27FC236}">
                  <a16:creationId xmlns:a16="http://schemas.microsoft.com/office/drawing/2014/main" id="{A022310E-72C4-46AA-A591-DD753CE1D278}"/>
                </a:ext>
              </a:extLst>
            </p:cNvPr>
            <p:cNvSpPr/>
            <p:nvPr/>
          </p:nvSpPr>
          <p:spPr>
            <a:xfrm>
              <a:off x="994609" y="4698370"/>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9" name="橢圓 38">
              <a:extLst>
                <a:ext uri="{FF2B5EF4-FFF2-40B4-BE49-F238E27FC236}">
                  <a16:creationId xmlns:a16="http://schemas.microsoft.com/office/drawing/2014/main" id="{56F297D7-0EFA-468C-AD38-74EFF6E03624}"/>
                </a:ext>
              </a:extLst>
            </p:cNvPr>
            <p:cNvSpPr/>
            <p:nvPr/>
          </p:nvSpPr>
          <p:spPr>
            <a:xfrm>
              <a:off x="994609" y="5788914"/>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grpSp>
      <p:grpSp>
        <p:nvGrpSpPr>
          <p:cNvPr id="79875" name="群組 10">
            <a:extLst>
              <a:ext uri="{FF2B5EF4-FFF2-40B4-BE49-F238E27FC236}">
                <a16:creationId xmlns:a16="http://schemas.microsoft.com/office/drawing/2014/main" id="{EB0693DD-D09C-495D-A41C-9A9DF956DC7F}"/>
              </a:ext>
            </a:extLst>
          </p:cNvPr>
          <p:cNvGrpSpPr>
            <a:grpSpLocks/>
          </p:cNvGrpSpPr>
          <p:nvPr/>
        </p:nvGrpSpPr>
        <p:grpSpPr bwMode="auto">
          <a:xfrm>
            <a:off x="3360738" y="4152900"/>
            <a:ext cx="546100" cy="546100"/>
            <a:chOff x="3360821" y="4153258"/>
            <a:chExt cx="545431" cy="545431"/>
          </a:xfrm>
        </p:grpSpPr>
        <p:sp>
          <p:nvSpPr>
            <p:cNvPr id="22" name="橢圓 21">
              <a:extLst>
                <a:ext uri="{FF2B5EF4-FFF2-40B4-BE49-F238E27FC236}">
                  <a16:creationId xmlns:a16="http://schemas.microsoft.com/office/drawing/2014/main" id="{D2ACA09B-CF0C-4F29-BB74-FF4CEBD30498}"/>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9" name="直線接點 8">
              <a:extLst>
                <a:ext uri="{FF2B5EF4-FFF2-40B4-BE49-F238E27FC236}">
                  <a16:creationId xmlns:a16="http://schemas.microsoft.com/office/drawing/2014/main" id="{6C966FC1-7A1B-4FD7-9ADE-E54631BC0868}"/>
                </a:ext>
              </a:extLst>
            </p:cNvPr>
            <p:cNvCxnSpPr/>
            <p:nvPr/>
          </p:nvCxnSpPr>
          <p:spPr>
            <a:xfrm flipH="1">
              <a:off x="3471810" y="4265833"/>
              <a:ext cx="339309" cy="3646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8" name="群組 47">
            <a:extLst>
              <a:ext uri="{FF2B5EF4-FFF2-40B4-BE49-F238E27FC236}">
                <a16:creationId xmlns:a16="http://schemas.microsoft.com/office/drawing/2014/main" id="{71A3C708-9F3A-41CC-94AA-E5AEA7C8D997}"/>
              </a:ext>
            </a:extLst>
          </p:cNvPr>
          <p:cNvGrpSpPr>
            <a:grpSpLocks/>
          </p:cNvGrpSpPr>
          <p:nvPr/>
        </p:nvGrpSpPr>
        <p:grpSpPr bwMode="auto">
          <a:xfrm>
            <a:off x="3360738" y="5322888"/>
            <a:ext cx="546100" cy="544512"/>
            <a:chOff x="3360821" y="4153258"/>
            <a:chExt cx="545431" cy="545431"/>
          </a:xfrm>
        </p:grpSpPr>
        <p:sp>
          <p:nvSpPr>
            <p:cNvPr id="49" name="橢圓 48">
              <a:extLst>
                <a:ext uri="{FF2B5EF4-FFF2-40B4-BE49-F238E27FC236}">
                  <a16:creationId xmlns:a16="http://schemas.microsoft.com/office/drawing/2014/main" id="{5E9F6449-AAD1-4207-B867-8F01B67B2DF0}"/>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50" name="直線接點 49">
              <a:extLst>
                <a:ext uri="{FF2B5EF4-FFF2-40B4-BE49-F238E27FC236}">
                  <a16:creationId xmlns:a16="http://schemas.microsoft.com/office/drawing/2014/main" id="{A9F160FC-1C0B-4FC9-B061-B8EDC795BDFD}"/>
                </a:ext>
              </a:extLst>
            </p:cNvPr>
            <p:cNvCxnSpPr/>
            <p:nvPr/>
          </p:nvCxnSpPr>
          <p:spPr>
            <a:xfrm flipH="1">
              <a:off x="3471810" y="4264571"/>
              <a:ext cx="339309" cy="3673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 name="直線單箭頭接點 18">
            <a:extLst>
              <a:ext uri="{FF2B5EF4-FFF2-40B4-BE49-F238E27FC236}">
                <a16:creationId xmlns:a16="http://schemas.microsoft.com/office/drawing/2014/main" id="{9B9C5FF3-E16A-441E-BC66-3EBB48DD6C29}"/>
              </a:ext>
            </a:extLst>
          </p:cNvPr>
          <p:cNvCxnSpPr>
            <a:endCxn id="22" idx="2"/>
          </p:cNvCxnSpPr>
          <p:nvPr/>
        </p:nvCxnSpPr>
        <p:spPr>
          <a:xfrm>
            <a:off x="1554163" y="3905250"/>
            <a:ext cx="1806575" cy="5207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54B8B93D-2E87-48B0-B53E-7C9CFA6DF5B7}"/>
              </a:ext>
            </a:extLst>
          </p:cNvPr>
          <p:cNvCxnSpPr>
            <a:endCxn id="22" idx="2"/>
          </p:cNvCxnSpPr>
          <p:nvPr/>
        </p:nvCxnSpPr>
        <p:spPr>
          <a:xfrm flipV="1">
            <a:off x="1547813" y="4425950"/>
            <a:ext cx="1812925" cy="5826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52CCB334-8C41-4A5E-8BCE-4281152048FF}"/>
              </a:ext>
            </a:extLst>
          </p:cNvPr>
          <p:cNvCxnSpPr>
            <a:endCxn id="22" idx="2"/>
          </p:cNvCxnSpPr>
          <p:nvPr/>
        </p:nvCxnSpPr>
        <p:spPr>
          <a:xfrm flipV="1">
            <a:off x="1520825" y="4425950"/>
            <a:ext cx="1839913" cy="1654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8BEC62E7-9181-4FBC-A41C-B9DEE33EEE42}"/>
              </a:ext>
            </a:extLst>
          </p:cNvPr>
          <p:cNvSpPr txBox="1">
            <a:spLocks noRot="1" noChangeAspect="1" noMove="1" noResize="1" noEditPoints="1" noAdjustHandles="1" noChangeArrowheads="1" noChangeShapeType="1" noTextEdit="1"/>
          </p:cNvSpPr>
          <p:nvPr/>
        </p:nvSpPr>
        <p:spPr>
          <a:xfrm>
            <a:off x="3742702" y="3956417"/>
            <a:ext cx="603167" cy="468205"/>
          </a:xfrm>
          <a:prstGeom prst="rect">
            <a:avLst/>
          </a:prstGeom>
          <a:blipFill>
            <a:blip r:embed="rId3"/>
            <a:stretch>
              <a:fillRect/>
            </a:stretch>
          </a:blipFill>
        </p:spPr>
        <p:txBody>
          <a:bodyPr/>
          <a:lstStyle/>
          <a:p>
            <a:pPr>
              <a:defRPr/>
            </a:pPr>
            <a:r>
              <a:rPr lang="zh-CN" altLang="en-US">
                <a:noFill/>
              </a:rPr>
              <a:t> </a:t>
            </a:r>
          </a:p>
        </p:txBody>
      </p:sp>
      <p:cxnSp>
        <p:nvCxnSpPr>
          <p:cNvPr id="44" name="直線單箭頭接點 43">
            <a:extLst>
              <a:ext uri="{FF2B5EF4-FFF2-40B4-BE49-F238E27FC236}">
                <a16:creationId xmlns:a16="http://schemas.microsoft.com/office/drawing/2014/main" id="{3A8CE22D-8531-4241-BDA3-D1221A2785EB}"/>
              </a:ext>
            </a:extLst>
          </p:cNvPr>
          <p:cNvCxnSpPr>
            <a:stCxn id="6" idx="6"/>
            <a:endCxn id="49" idx="2"/>
          </p:cNvCxnSpPr>
          <p:nvPr/>
        </p:nvCxnSpPr>
        <p:spPr>
          <a:xfrm>
            <a:off x="1539875" y="3879850"/>
            <a:ext cx="1820863" cy="17160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B5BDE067-C871-48F2-BD18-5B24DD5461E9}"/>
              </a:ext>
            </a:extLst>
          </p:cNvPr>
          <p:cNvCxnSpPr>
            <a:stCxn id="38" idx="6"/>
            <a:endCxn id="49" idx="2"/>
          </p:cNvCxnSpPr>
          <p:nvPr/>
        </p:nvCxnSpPr>
        <p:spPr>
          <a:xfrm>
            <a:off x="1539875" y="4972050"/>
            <a:ext cx="1820863" cy="6238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50F77AB6-8989-4CCE-ACD3-9127CCF4DDC5}"/>
              </a:ext>
            </a:extLst>
          </p:cNvPr>
          <p:cNvCxnSpPr>
            <a:stCxn id="39" idx="6"/>
            <a:endCxn id="49" idx="2"/>
          </p:cNvCxnSpPr>
          <p:nvPr/>
        </p:nvCxnSpPr>
        <p:spPr>
          <a:xfrm flipV="1">
            <a:off x="1539875" y="5595938"/>
            <a:ext cx="1820863" cy="4667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49DD6F81-FB6E-4B89-BAEB-E531686C3E9F}"/>
              </a:ext>
            </a:extLst>
          </p:cNvPr>
          <p:cNvSpPr txBox="1">
            <a:spLocks noRot="1" noChangeAspect="1" noMove="1" noResize="1" noEditPoints="1" noAdjustHandles="1" noChangeArrowheads="1" noChangeShapeType="1" noTextEdit="1"/>
          </p:cNvSpPr>
          <p:nvPr/>
        </p:nvSpPr>
        <p:spPr>
          <a:xfrm>
            <a:off x="2982727" y="4907717"/>
            <a:ext cx="457946" cy="373628"/>
          </a:xfrm>
          <a:prstGeom prst="rect">
            <a:avLst/>
          </a:prstGeom>
          <a:blipFill>
            <a:blip r:embed="rId4"/>
            <a:stretch>
              <a:fillRect l="-8108" r="-2703" b="-16129"/>
            </a:stretch>
          </a:blipFill>
        </p:spPr>
        <p:txBody>
          <a:bodyPr/>
          <a:lstStyle/>
          <a:p>
            <a:pPr>
              <a:defRPr/>
            </a:pPr>
            <a:r>
              <a:rPr lang="zh-CN" altLang="en-US">
                <a:noFill/>
              </a:rPr>
              <a:t> </a:t>
            </a:r>
          </a:p>
        </p:txBody>
      </p:sp>
      <p:sp>
        <p:nvSpPr>
          <p:cNvPr id="67" name="文字方塊 66">
            <a:extLst>
              <a:ext uri="{FF2B5EF4-FFF2-40B4-BE49-F238E27FC236}">
                <a16:creationId xmlns:a16="http://schemas.microsoft.com/office/drawing/2014/main" id="{A9873DBF-B9C1-4802-9BC3-C6ECA18F592A}"/>
              </a:ext>
            </a:extLst>
          </p:cNvPr>
          <p:cNvSpPr txBox="1">
            <a:spLocks noRot="1" noChangeAspect="1" noMove="1" noResize="1" noEditPoints="1" noAdjustHandles="1" noChangeArrowheads="1" noChangeShapeType="1" noTextEdit="1"/>
          </p:cNvSpPr>
          <p:nvPr/>
        </p:nvSpPr>
        <p:spPr>
          <a:xfrm>
            <a:off x="2343482" y="5345309"/>
            <a:ext cx="457946" cy="374333"/>
          </a:xfrm>
          <a:prstGeom prst="rect">
            <a:avLst/>
          </a:prstGeom>
          <a:blipFill>
            <a:blip r:embed="rId5"/>
            <a:stretch>
              <a:fillRect l="-8108" r="-2703" b="-20000"/>
            </a:stretch>
          </a:blipFill>
        </p:spPr>
        <p:txBody>
          <a:bodyPr/>
          <a:lstStyle/>
          <a:p>
            <a:pPr>
              <a:defRPr/>
            </a:pPr>
            <a:r>
              <a:rPr lang="zh-CN" altLang="en-US">
                <a:noFill/>
              </a:rPr>
              <a:t> </a:t>
            </a:r>
          </a:p>
        </p:txBody>
      </p:sp>
      <p:sp>
        <p:nvSpPr>
          <p:cNvPr id="68" name="文字方塊 67">
            <a:extLst>
              <a:ext uri="{FF2B5EF4-FFF2-40B4-BE49-F238E27FC236}">
                <a16:creationId xmlns:a16="http://schemas.microsoft.com/office/drawing/2014/main" id="{79F64511-5EF8-4009-BFF2-CE69299DEC2E}"/>
              </a:ext>
            </a:extLst>
          </p:cNvPr>
          <p:cNvSpPr txBox="1">
            <a:spLocks noRot="1" noChangeAspect="1" noMove="1" noResize="1" noEditPoints="1" noAdjustHandles="1" noChangeArrowheads="1" noChangeShapeType="1" noTextEdit="1"/>
          </p:cNvSpPr>
          <p:nvPr/>
        </p:nvSpPr>
        <p:spPr>
          <a:xfrm>
            <a:off x="2630159" y="5790751"/>
            <a:ext cx="457946" cy="376193"/>
          </a:xfrm>
          <a:prstGeom prst="rect">
            <a:avLst/>
          </a:prstGeom>
          <a:blipFill>
            <a:blip r:embed="rId6"/>
            <a:stretch>
              <a:fillRect l="-5405" r="-2703" b="-16667"/>
            </a:stretch>
          </a:blipFill>
        </p:spPr>
        <p:txBody>
          <a:bodyPr/>
          <a:lstStyle/>
          <a:p>
            <a:pPr>
              <a:defRPr/>
            </a:pPr>
            <a:r>
              <a:rPr lang="zh-CN" altLang="en-US">
                <a:noFill/>
              </a:rPr>
              <a:t> </a:t>
            </a:r>
          </a:p>
        </p:txBody>
      </p:sp>
      <p:sp>
        <p:nvSpPr>
          <p:cNvPr id="72" name="文字方塊 71">
            <a:extLst>
              <a:ext uri="{FF2B5EF4-FFF2-40B4-BE49-F238E27FC236}">
                <a16:creationId xmlns:a16="http://schemas.microsoft.com/office/drawing/2014/main" id="{7B73607C-C789-42B3-917D-A40A709639BD}"/>
              </a:ext>
            </a:extLst>
          </p:cNvPr>
          <p:cNvSpPr txBox="1">
            <a:spLocks noRot="1" noChangeAspect="1" noMove="1" noResize="1" noEditPoints="1" noAdjustHandles="1" noChangeArrowheads="1" noChangeShapeType="1" noTextEdit="1"/>
          </p:cNvSpPr>
          <p:nvPr/>
        </p:nvSpPr>
        <p:spPr>
          <a:xfrm>
            <a:off x="3742982" y="5086259"/>
            <a:ext cx="603169" cy="468205"/>
          </a:xfrm>
          <a:prstGeom prst="rect">
            <a:avLst/>
          </a:prstGeom>
          <a:blipFill>
            <a:blip r:embed="rId7"/>
            <a:stretch>
              <a:fillRect/>
            </a:stretch>
          </a:blipFill>
        </p:spPr>
        <p:txBody>
          <a:bodyPr/>
          <a:lstStyle/>
          <a:p>
            <a:pPr>
              <a:defRPr/>
            </a:pPr>
            <a:r>
              <a:rPr lang="zh-CN" altLang="en-US">
                <a:noFill/>
              </a:rPr>
              <a:t> </a:t>
            </a:r>
          </a:p>
        </p:txBody>
      </p:sp>
      <p:sp>
        <p:nvSpPr>
          <p:cNvPr id="73" name="文字方塊 72">
            <a:extLst>
              <a:ext uri="{FF2B5EF4-FFF2-40B4-BE49-F238E27FC236}">
                <a16:creationId xmlns:a16="http://schemas.microsoft.com/office/drawing/2014/main" id="{D0EB407C-1589-4FFE-A21C-7E36FBB448EE}"/>
              </a:ext>
            </a:extLst>
          </p:cNvPr>
          <p:cNvSpPr txBox="1">
            <a:spLocks noRot="1" noChangeAspect="1" noMove="1" noResize="1" noEditPoints="1" noAdjustHandles="1" noChangeArrowheads="1" noChangeShapeType="1" noTextEdit="1"/>
          </p:cNvSpPr>
          <p:nvPr/>
        </p:nvSpPr>
        <p:spPr>
          <a:xfrm>
            <a:off x="499592" y="3014578"/>
            <a:ext cx="1184066" cy="468205"/>
          </a:xfrm>
          <a:prstGeom prst="rect">
            <a:avLst/>
          </a:prstGeom>
          <a:blipFill>
            <a:blip r:embed="rId8"/>
            <a:stretch>
              <a:fillRect t="-7895" b="-23684"/>
            </a:stretch>
          </a:blipFill>
        </p:spPr>
        <p:txBody>
          <a:bodyPr/>
          <a:lstStyle/>
          <a:p>
            <a:pPr>
              <a:defRPr/>
            </a:pPr>
            <a:r>
              <a:rPr lang="zh-CN" altLang="en-US">
                <a:noFill/>
              </a:rPr>
              <a:t> </a:t>
            </a:r>
          </a:p>
        </p:txBody>
      </p:sp>
      <p:sp>
        <p:nvSpPr>
          <p:cNvPr id="88" name="文字方塊 87">
            <a:extLst>
              <a:ext uri="{FF2B5EF4-FFF2-40B4-BE49-F238E27FC236}">
                <a16:creationId xmlns:a16="http://schemas.microsoft.com/office/drawing/2014/main" id="{7A17A139-D961-42DB-9CE7-064A1F9AA242}"/>
              </a:ext>
            </a:extLst>
          </p:cNvPr>
          <p:cNvSpPr txBox="1">
            <a:spLocks noRot="1" noChangeAspect="1" noMove="1" noResize="1" noEditPoints="1" noAdjustHandles="1" noChangeArrowheads="1" noChangeShapeType="1" noTextEdit="1"/>
          </p:cNvSpPr>
          <p:nvPr/>
        </p:nvSpPr>
        <p:spPr>
          <a:xfrm>
            <a:off x="62824" y="4514022"/>
            <a:ext cx="926942" cy="369332"/>
          </a:xfrm>
          <a:prstGeom prst="rect">
            <a:avLst/>
          </a:prstGeom>
          <a:blipFill>
            <a:blip r:embed="rId9"/>
            <a:stretch>
              <a:fillRect/>
            </a:stretch>
          </a:blipFill>
        </p:spPr>
        <p:txBody>
          <a:bodyPr/>
          <a:lstStyle/>
          <a:p>
            <a:pPr>
              <a:defRPr/>
            </a:pPr>
            <a:r>
              <a:rPr lang="zh-CN" altLang="en-US">
                <a:noFill/>
              </a:rPr>
              <a:t> </a:t>
            </a:r>
          </a:p>
        </p:txBody>
      </p:sp>
      <p:sp>
        <p:nvSpPr>
          <p:cNvPr id="89" name="左大括弧 88">
            <a:extLst>
              <a:ext uri="{FF2B5EF4-FFF2-40B4-BE49-F238E27FC236}">
                <a16:creationId xmlns:a16="http://schemas.microsoft.com/office/drawing/2014/main" id="{62F2FD15-C260-450C-856B-495F717A2CEF}"/>
              </a:ext>
            </a:extLst>
          </p:cNvPr>
          <p:cNvSpPr/>
          <p:nvPr/>
        </p:nvSpPr>
        <p:spPr>
          <a:xfrm>
            <a:off x="917575" y="3584575"/>
            <a:ext cx="153988" cy="2751138"/>
          </a:xfrm>
          <a:prstGeom prst="leftBrace">
            <a:avLst>
              <a:gd name="adj1" fmla="val 35999"/>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pic>
        <p:nvPicPr>
          <p:cNvPr id="96" name="文字方塊 95">
            <a:extLst>
              <a:ext uri="{FF2B5EF4-FFF2-40B4-BE49-F238E27FC236}">
                <a16:creationId xmlns:a16="http://schemas.microsoft.com/office/drawing/2014/main" id="{D316248D-94CD-40E6-B130-EFB1F39A74A7}"/>
              </a:ext>
            </a:extLst>
          </p:cNvPr>
          <p:cNvPicPr>
            <a:picLocks noRot="1" noChangeAspect="1" noMove="1" noResize="1" noEditPoints="1" noAdjustHandles="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900" y="1346200"/>
            <a:ext cx="7607300" cy="482600"/>
          </a:xfrm>
          <a:prstGeom prst="rect">
            <a:avLst/>
          </a:prstGeom>
          <a:noFill/>
          <a:extLst>
            <a:ext uri="{909E8E84-426E-40DD-AFC4-6F175D3DCCD1}">
              <a14:hiddenFill xmlns:a14="http://schemas.microsoft.com/office/drawing/2010/main">
                <a:solidFill>
                  <a:srgbClr val="FFFFFF"/>
                </a:solidFill>
              </a14:hiddenFill>
            </a:ext>
          </a:extLst>
        </p:spPr>
      </p:pic>
      <p:sp>
        <p:nvSpPr>
          <p:cNvPr id="79892" name="文字方塊 96">
            <a:extLst>
              <a:ext uri="{FF2B5EF4-FFF2-40B4-BE49-F238E27FC236}">
                <a16:creationId xmlns:a16="http://schemas.microsoft.com/office/drawing/2014/main" id="{D57C3852-D68E-4E82-9E13-BBDF593C2251}"/>
              </a:ext>
            </a:extLst>
          </p:cNvPr>
          <p:cNvSpPr txBox="1">
            <a:spLocks noChangeArrowheads="1"/>
          </p:cNvSpPr>
          <p:nvPr/>
        </p:nvSpPr>
        <p:spPr bwMode="auto">
          <a:xfrm>
            <a:off x="4318000" y="1838325"/>
            <a:ext cx="4500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To minimize reconstruction error:</a:t>
            </a:r>
            <a:endParaRPr lang="zh-TW" altLang="en-US" sz="2400">
              <a:solidFill>
                <a:schemeClr val="hlink"/>
              </a:solidFill>
              <a:ea typeface="宋体" panose="02010600030101010101" pitchFamily="2" charset="-122"/>
            </a:endParaRPr>
          </a:p>
        </p:txBody>
      </p:sp>
      <p:sp>
        <p:nvSpPr>
          <p:cNvPr id="98" name="文字方塊 97">
            <a:extLst>
              <a:ext uri="{FF2B5EF4-FFF2-40B4-BE49-F238E27FC236}">
                <a16:creationId xmlns:a16="http://schemas.microsoft.com/office/drawing/2014/main" id="{2D63DB7E-C007-49EC-A4DB-553D6ADA5CDC}"/>
              </a:ext>
            </a:extLst>
          </p:cNvPr>
          <p:cNvSpPr txBox="1">
            <a:spLocks noRot="1" noChangeAspect="1" noMove="1" noResize="1" noEditPoints="1" noAdjustHandles="1" noChangeArrowheads="1" noChangeShapeType="1" noTextEdit="1"/>
          </p:cNvSpPr>
          <p:nvPr/>
        </p:nvSpPr>
        <p:spPr>
          <a:xfrm>
            <a:off x="5930085" y="2310887"/>
            <a:ext cx="2677431" cy="468205"/>
          </a:xfrm>
          <a:prstGeom prst="rect">
            <a:avLst/>
          </a:prstGeom>
          <a:blipFill>
            <a:blip r:embed="rId11"/>
            <a:stretch>
              <a:fillRect b="-2632"/>
            </a:stretch>
          </a:blipFill>
        </p:spPr>
        <p:txBody>
          <a:bodyPr/>
          <a:lstStyle/>
          <a:p>
            <a:pPr>
              <a:defRPr/>
            </a:pPr>
            <a:r>
              <a:rPr lang="zh-CN" altLang="en-US">
                <a:noFill/>
              </a:rPr>
              <a:t> </a:t>
            </a:r>
          </a:p>
        </p:txBody>
      </p:sp>
      <p:sp>
        <p:nvSpPr>
          <p:cNvPr id="99" name="文字方塊 98">
            <a:extLst>
              <a:ext uri="{FF2B5EF4-FFF2-40B4-BE49-F238E27FC236}">
                <a16:creationId xmlns:a16="http://schemas.microsoft.com/office/drawing/2014/main" id="{87B891BF-21E7-451B-97E2-1DED2AF3F4E9}"/>
              </a:ext>
            </a:extLst>
          </p:cNvPr>
          <p:cNvSpPr txBox="1">
            <a:spLocks noRot="1" noChangeAspect="1" noMove="1" noResize="1" noEditPoints="1" noAdjustHandles="1" noChangeArrowheads="1" noChangeShapeType="1" noTextEdit="1"/>
          </p:cNvSpPr>
          <p:nvPr/>
        </p:nvSpPr>
        <p:spPr>
          <a:xfrm>
            <a:off x="680608" y="1846490"/>
            <a:ext cx="1820627" cy="1038489"/>
          </a:xfrm>
          <a:prstGeom prst="rect">
            <a:avLst/>
          </a:prstGeom>
          <a:blipFill>
            <a:blip r:embed="rId12"/>
            <a:stretch>
              <a:fillRect l="-29861" t="-114458" r="-694" b="-174699"/>
            </a:stretch>
          </a:blipFill>
        </p:spPr>
        <p:txBody>
          <a:bodyPr/>
          <a:lstStyle/>
          <a:p>
            <a:pPr>
              <a:defRPr/>
            </a:pPr>
            <a:r>
              <a:rPr lang="zh-CN" altLang="en-US">
                <a:noFill/>
              </a:rPr>
              <a:t> </a:t>
            </a:r>
          </a:p>
        </p:txBody>
      </p:sp>
      <p:sp>
        <p:nvSpPr>
          <p:cNvPr id="100" name="箭號: 左-右雙向 99">
            <a:extLst>
              <a:ext uri="{FF2B5EF4-FFF2-40B4-BE49-F238E27FC236}">
                <a16:creationId xmlns:a16="http://schemas.microsoft.com/office/drawing/2014/main" id="{CC9C0EAD-F1E0-431A-8A5C-0397A51E5FBB}"/>
              </a:ext>
            </a:extLst>
          </p:cNvPr>
          <p:cNvSpPr/>
          <p:nvPr/>
        </p:nvSpPr>
        <p:spPr>
          <a:xfrm>
            <a:off x="2501900" y="2239963"/>
            <a:ext cx="512763" cy="304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01" name="文字方塊 100">
            <a:extLst>
              <a:ext uri="{FF2B5EF4-FFF2-40B4-BE49-F238E27FC236}">
                <a16:creationId xmlns:a16="http://schemas.microsoft.com/office/drawing/2014/main" id="{FB4304E3-C2F3-46F0-83D3-37CE69A4DB85}"/>
              </a:ext>
            </a:extLst>
          </p:cNvPr>
          <p:cNvSpPr txBox="1">
            <a:spLocks noRot="1" noChangeAspect="1" noMove="1" noResize="1" noEditPoints="1" noAdjustHandles="1" noChangeArrowheads="1" noChangeShapeType="1" noTextEdit="1"/>
          </p:cNvSpPr>
          <p:nvPr/>
        </p:nvSpPr>
        <p:spPr>
          <a:xfrm>
            <a:off x="3032127" y="2157520"/>
            <a:ext cx="926942" cy="369332"/>
          </a:xfrm>
          <a:prstGeom prst="rect">
            <a:avLst/>
          </a:prstGeom>
          <a:blipFill>
            <a:blip r:embed="rId13"/>
            <a:stretch>
              <a:fillRect/>
            </a:stretch>
          </a:blipFill>
        </p:spPr>
        <p:txBody>
          <a:bodyPr/>
          <a:lstStyle/>
          <a:p>
            <a:pPr>
              <a:defRPr/>
            </a:pPr>
            <a:r>
              <a:rPr lang="zh-CN" altLang="en-US">
                <a:noFill/>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1921" name="群組 3">
            <a:extLst>
              <a:ext uri="{FF2B5EF4-FFF2-40B4-BE49-F238E27FC236}">
                <a16:creationId xmlns:a16="http://schemas.microsoft.com/office/drawing/2014/main" id="{19F8005B-3083-410A-8C7F-2906E70A0636}"/>
              </a:ext>
            </a:extLst>
          </p:cNvPr>
          <p:cNvGrpSpPr>
            <a:grpSpLocks/>
          </p:cNvGrpSpPr>
          <p:nvPr/>
        </p:nvGrpSpPr>
        <p:grpSpPr bwMode="auto">
          <a:xfrm>
            <a:off x="496888" y="336550"/>
            <a:ext cx="8102600" cy="877888"/>
            <a:chOff x="535550" y="5384411"/>
            <a:chExt cx="8102395" cy="878168"/>
          </a:xfrm>
        </p:grpSpPr>
        <p:sp>
          <p:nvSpPr>
            <p:cNvPr id="81962" name="文字方塊 32">
              <a:extLst>
                <a:ext uri="{FF2B5EF4-FFF2-40B4-BE49-F238E27FC236}">
                  <a16:creationId xmlns:a16="http://schemas.microsoft.com/office/drawing/2014/main" id="{EE3FE3EE-CAF0-445F-A9ED-D18670DBDB5A}"/>
                </a:ext>
              </a:extLst>
            </p:cNvPr>
            <p:cNvSpPr txBox="1">
              <a:spLocks noChangeArrowheads="1"/>
            </p:cNvSpPr>
            <p:nvPr/>
          </p:nvSpPr>
          <p:spPr bwMode="auto">
            <a:xfrm>
              <a:off x="790883" y="5416834"/>
              <a:ext cx="5579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PCA looks like a neural network with one hidden layer (linear activation function)</a:t>
              </a:r>
              <a:endParaRPr lang="zh-TW" altLang="en-US" sz="2400">
                <a:solidFill>
                  <a:schemeClr val="hlink"/>
                </a:solidFill>
                <a:ea typeface="宋体" panose="02010600030101010101" pitchFamily="2" charset="-122"/>
              </a:endParaRPr>
            </a:p>
          </p:txBody>
        </p:sp>
        <p:sp>
          <p:nvSpPr>
            <p:cNvPr id="34" name="文字方塊 33">
              <a:extLst>
                <a:ext uri="{FF2B5EF4-FFF2-40B4-BE49-F238E27FC236}">
                  <a16:creationId xmlns:a16="http://schemas.microsoft.com/office/drawing/2014/main" id="{F80D4F68-F273-4451-AD12-602D6303FB2C}"/>
                </a:ext>
              </a:extLst>
            </p:cNvPr>
            <p:cNvSpPr txBox="1"/>
            <p:nvPr/>
          </p:nvSpPr>
          <p:spPr>
            <a:xfrm>
              <a:off x="6370070" y="5601499"/>
              <a:ext cx="1973829"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eaLnBrk="1" hangingPunct="1">
                <a:spcBef>
                  <a:spcPct val="50000"/>
                </a:spcBef>
                <a:defRPr/>
              </a:pPr>
              <a:r>
                <a:rPr lang="en-US" altLang="zh-TW" sz="2400" dirty="0"/>
                <a:t>Autoencoder</a:t>
              </a:r>
              <a:endParaRPr lang="zh-TW" altLang="en-US" sz="2400" dirty="0"/>
            </a:p>
          </p:txBody>
        </p:sp>
        <p:sp>
          <p:nvSpPr>
            <p:cNvPr id="3" name="矩形 2">
              <a:extLst>
                <a:ext uri="{FF2B5EF4-FFF2-40B4-BE49-F238E27FC236}">
                  <a16:creationId xmlns:a16="http://schemas.microsoft.com/office/drawing/2014/main" id="{A4781FA2-5E92-4FB7-B758-2B94321F1C2E}"/>
                </a:ext>
              </a:extLst>
            </p:cNvPr>
            <p:cNvSpPr/>
            <p:nvPr/>
          </p:nvSpPr>
          <p:spPr>
            <a:xfrm>
              <a:off x="535550" y="5384411"/>
              <a:ext cx="8102395" cy="878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grpSp>
      <p:grpSp>
        <p:nvGrpSpPr>
          <p:cNvPr id="81922" name="群組 6">
            <a:extLst>
              <a:ext uri="{FF2B5EF4-FFF2-40B4-BE49-F238E27FC236}">
                <a16:creationId xmlns:a16="http://schemas.microsoft.com/office/drawing/2014/main" id="{E9811986-7DFB-4F07-BAA1-DE7DF1DB1EA0}"/>
              </a:ext>
            </a:extLst>
          </p:cNvPr>
          <p:cNvGrpSpPr>
            <a:grpSpLocks/>
          </p:cNvGrpSpPr>
          <p:nvPr/>
        </p:nvGrpSpPr>
        <p:grpSpPr bwMode="auto">
          <a:xfrm>
            <a:off x="995363" y="3608388"/>
            <a:ext cx="544512" cy="2727325"/>
            <a:chOff x="994609" y="3607827"/>
            <a:chExt cx="545431" cy="2727153"/>
          </a:xfrm>
        </p:grpSpPr>
        <p:sp>
          <p:nvSpPr>
            <p:cNvPr id="6" name="橢圓 5">
              <a:extLst>
                <a:ext uri="{FF2B5EF4-FFF2-40B4-BE49-F238E27FC236}">
                  <a16:creationId xmlns:a16="http://schemas.microsoft.com/office/drawing/2014/main" id="{3DAD808A-2437-401C-9A15-D9549324C733}"/>
                </a:ext>
              </a:extLst>
            </p:cNvPr>
            <p:cNvSpPr/>
            <p:nvPr/>
          </p:nvSpPr>
          <p:spPr>
            <a:xfrm>
              <a:off x="994609" y="3607827"/>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8" name="橢圓 37">
              <a:extLst>
                <a:ext uri="{FF2B5EF4-FFF2-40B4-BE49-F238E27FC236}">
                  <a16:creationId xmlns:a16="http://schemas.microsoft.com/office/drawing/2014/main" id="{23B2CFF6-5CC0-4890-8E7C-E47E24E4C14C}"/>
                </a:ext>
              </a:extLst>
            </p:cNvPr>
            <p:cNvSpPr/>
            <p:nvPr/>
          </p:nvSpPr>
          <p:spPr>
            <a:xfrm>
              <a:off x="994609" y="4698370"/>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9" name="橢圓 38">
              <a:extLst>
                <a:ext uri="{FF2B5EF4-FFF2-40B4-BE49-F238E27FC236}">
                  <a16:creationId xmlns:a16="http://schemas.microsoft.com/office/drawing/2014/main" id="{FC65BF06-AC8F-4490-A81B-61B9DE01BC1C}"/>
                </a:ext>
              </a:extLst>
            </p:cNvPr>
            <p:cNvSpPr/>
            <p:nvPr/>
          </p:nvSpPr>
          <p:spPr>
            <a:xfrm>
              <a:off x="994609" y="5788914"/>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grpSp>
      <p:grpSp>
        <p:nvGrpSpPr>
          <p:cNvPr id="81923" name="群組 10">
            <a:extLst>
              <a:ext uri="{FF2B5EF4-FFF2-40B4-BE49-F238E27FC236}">
                <a16:creationId xmlns:a16="http://schemas.microsoft.com/office/drawing/2014/main" id="{6C36DFD9-2DA7-4759-9AFD-9F600E338A7B}"/>
              </a:ext>
            </a:extLst>
          </p:cNvPr>
          <p:cNvGrpSpPr>
            <a:grpSpLocks/>
          </p:cNvGrpSpPr>
          <p:nvPr/>
        </p:nvGrpSpPr>
        <p:grpSpPr bwMode="auto">
          <a:xfrm>
            <a:off x="3360738" y="4152900"/>
            <a:ext cx="546100" cy="546100"/>
            <a:chOff x="3360821" y="4153258"/>
            <a:chExt cx="545431" cy="545431"/>
          </a:xfrm>
        </p:grpSpPr>
        <p:sp>
          <p:nvSpPr>
            <p:cNvPr id="22" name="橢圓 21">
              <a:extLst>
                <a:ext uri="{FF2B5EF4-FFF2-40B4-BE49-F238E27FC236}">
                  <a16:creationId xmlns:a16="http://schemas.microsoft.com/office/drawing/2014/main" id="{CC7FAC05-30B5-464D-BA96-6D0A75F93E9C}"/>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9" name="直線接點 8">
              <a:extLst>
                <a:ext uri="{FF2B5EF4-FFF2-40B4-BE49-F238E27FC236}">
                  <a16:creationId xmlns:a16="http://schemas.microsoft.com/office/drawing/2014/main" id="{E75418FE-CEEC-406C-8133-BD31D92500D2}"/>
                </a:ext>
              </a:extLst>
            </p:cNvPr>
            <p:cNvCxnSpPr/>
            <p:nvPr/>
          </p:nvCxnSpPr>
          <p:spPr>
            <a:xfrm flipH="1">
              <a:off x="3471810" y="4265833"/>
              <a:ext cx="339309" cy="3646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1924" name="群組 47">
            <a:extLst>
              <a:ext uri="{FF2B5EF4-FFF2-40B4-BE49-F238E27FC236}">
                <a16:creationId xmlns:a16="http://schemas.microsoft.com/office/drawing/2014/main" id="{0CDB7B01-525A-4AE1-8A62-A38DD6CE2A20}"/>
              </a:ext>
            </a:extLst>
          </p:cNvPr>
          <p:cNvGrpSpPr>
            <a:grpSpLocks/>
          </p:cNvGrpSpPr>
          <p:nvPr/>
        </p:nvGrpSpPr>
        <p:grpSpPr bwMode="auto">
          <a:xfrm>
            <a:off x="3360738" y="5322888"/>
            <a:ext cx="546100" cy="544512"/>
            <a:chOff x="3360821" y="4153258"/>
            <a:chExt cx="545431" cy="545431"/>
          </a:xfrm>
        </p:grpSpPr>
        <p:sp>
          <p:nvSpPr>
            <p:cNvPr id="49" name="橢圓 48">
              <a:extLst>
                <a:ext uri="{FF2B5EF4-FFF2-40B4-BE49-F238E27FC236}">
                  <a16:creationId xmlns:a16="http://schemas.microsoft.com/office/drawing/2014/main" id="{BDF4B250-FD74-4D80-8184-ED08A0DE3304}"/>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50" name="直線接點 49">
              <a:extLst>
                <a:ext uri="{FF2B5EF4-FFF2-40B4-BE49-F238E27FC236}">
                  <a16:creationId xmlns:a16="http://schemas.microsoft.com/office/drawing/2014/main" id="{80B1F45B-EF4A-4849-A3B4-109347451380}"/>
                </a:ext>
              </a:extLst>
            </p:cNvPr>
            <p:cNvCxnSpPr/>
            <p:nvPr/>
          </p:nvCxnSpPr>
          <p:spPr>
            <a:xfrm flipH="1">
              <a:off x="3471810" y="4264571"/>
              <a:ext cx="339309" cy="3673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 name="直線單箭頭接點 18">
            <a:extLst>
              <a:ext uri="{FF2B5EF4-FFF2-40B4-BE49-F238E27FC236}">
                <a16:creationId xmlns:a16="http://schemas.microsoft.com/office/drawing/2014/main" id="{0CCF8716-188D-4FC0-A887-9BA9DCC29ADE}"/>
              </a:ext>
            </a:extLst>
          </p:cNvPr>
          <p:cNvCxnSpPr>
            <a:endCxn id="22" idx="2"/>
          </p:cNvCxnSpPr>
          <p:nvPr/>
        </p:nvCxnSpPr>
        <p:spPr>
          <a:xfrm>
            <a:off x="1554163" y="3905250"/>
            <a:ext cx="1806575" cy="5207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ECAFF-FD69-4A5A-932E-575A5FF43FC7}"/>
              </a:ext>
            </a:extLst>
          </p:cNvPr>
          <p:cNvCxnSpPr>
            <a:endCxn id="22" idx="2"/>
          </p:cNvCxnSpPr>
          <p:nvPr/>
        </p:nvCxnSpPr>
        <p:spPr>
          <a:xfrm flipV="1">
            <a:off x="1547813" y="4425950"/>
            <a:ext cx="1812925" cy="5826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E583DC45-F2C1-48A8-AFF2-074B92CA97AC}"/>
              </a:ext>
            </a:extLst>
          </p:cNvPr>
          <p:cNvCxnSpPr>
            <a:endCxn id="22" idx="2"/>
          </p:cNvCxnSpPr>
          <p:nvPr/>
        </p:nvCxnSpPr>
        <p:spPr>
          <a:xfrm flipV="1">
            <a:off x="1520825" y="4425950"/>
            <a:ext cx="1839913" cy="1654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5AE26566-7D77-4DD5-9586-AC27B9A4D404}"/>
              </a:ext>
            </a:extLst>
          </p:cNvPr>
          <p:cNvSpPr txBox="1">
            <a:spLocks noRot="1" noChangeAspect="1" noMove="1" noResize="1" noEditPoints="1" noAdjustHandles="1" noChangeArrowheads="1" noChangeShapeType="1" noTextEdit="1"/>
          </p:cNvSpPr>
          <p:nvPr/>
        </p:nvSpPr>
        <p:spPr>
          <a:xfrm>
            <a:off x="3742702" y="3956417"/>
            <a:ext cx="603167" cy="468205"/>
          </a:xfrm>
          <a:prstGeom prst="rect">
            <a:avLst/>
          </a:prstGeom>
          <a:blipFill>
            <a:blip r:embed="rId3"/>
            <a:stretch>
              <a:fillRect/>
            </a:stretch>
          </a:blipFill>
        </p:spPr>
        <p:txBody>
          <a:bodyPr/>
          <a:lstStyle/>
          <a:p>
            <a:pPr>
              <a:defRPr/>
            </a:pPr>
            <a:r>
              <a:rPr lang="zh-CN" altLang="en-US">
                <a:noFill/>
              </a:rPr>
              <a:t> </a:t>
            </a:r>
          </a:p>
        </p:txBody>
      </p:sp>
      <p:cxnSp>
        <p:nvCxnSpPr>
          <p:cNvPr id="44" name="直線單箭頭接點 43">
            <a:extLst>
              <a:ext uri="{FF2B5EF4-FFF2-40B4-BE49-F238E27FC236}">
                <a16:creationId xmlns:a16="http://schemas.microsoft.com/office/drawing/2014/main" id="{FFE3F030-DBBA-465E-98F0-DBDDF80790BA}"/>
              </a:ext>
            </a:extLst>
          </p:cNvPr>
          <p:cNvCxnSpPr>
            <a:stCxn id="6" idx="6"/>
            <a:endCxn id="49" idx="2"/>
          </p:cNvCxnSpPr>
          <p:nvPr/>
        </p:nvCxnSpPr>
        <p:spPr>
          <a:xfrm>
            <a:off x="1539875" y="3879850"/>
            <a:ext cx="1820863" cy="17160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187E52E5-09A8-4FC0-910E-86E4336ED53B}"/>
              </a:ext>
            </a:extLst>
          </p:cNvPr>
          <p:cNvCxnSpPr>
            <a:stCxn id="38" idx="6"/>
            <a:endCxn id="49" idx="2"/>
          </p:cNvCxnSpPr>
          <p:nvPr/>
        </p:nvCxnSpPr>
        <p:spPr>
          <a:xfrm>
            <a:off x="1539875" y="4972050"/>
            <a:ext cx="1820863" cy="6238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0AC4ACC8-FC83-41B0-804D-8DADF87F50A9}"/>
              </a:ext>
            </a:extLst>
          </p:cNvPr>
          <p:cNvCxnSpPr>
            <a:stCxn id="39" idx="6"/>
            <a:endCxn id="49" idx="2"/>
          </p:cNvCxnSpPr>
          <p:nvPr/>
        </p:nvCxnSpPr>
        <p:spPr>
          <a:xfrm flipV="1">
            <a:off x="1539875" y="5595938"/>
            <a:ext cx="1820863" cy="4667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6E088F65-3E8A-412C-9923-0928535948F8}"/>
              </a:ext>
            </a:extLst>
          </p:cNvPr>
          <p:cNvSpPr txBox="1">
            <a:spLocks noRot="1" noChangeAspect="1" noMove="1" noResize="1" noEditPoints="1" noAdjustHandles="1" noChangeArrowheads="1" noChangeShapeType="1" noTextEdit="1"/>
          </p:cNvSpPr>
          <p:nvPr/>
        </p:nvSpPr>
        <p:spPr>
          <a:xfrm>
            <a:off x="2982727" y="4907717"/>
            <a:ext cx="457946" cy="373628"/>
          </a:xfrm>
          <a:prstGeom prst="rect">
            <a:avLst/>
          </a:prstGeom>
          <a:blipFill>
            <a:blip r:embed="rId4"/>
            <a:stretch>
              <a:fillRect l="-8108" r="-2703" b="-16129"/>
            </a:stretch>
          </a:blipFill>
        </p:spPr>
        <p:txBody>
          <a:bodyPr/>
          <a:lstStyle/>
          <a:p>
            <a:pPr>
              <a:defRPr/>
            </a:pPr>
            <a:r>
              <a:rPr lang="zh-CN" altLang="en-US">
                <a:noFill/>
              </a:rPr>
              <a:t> </a:t>
            </a:r>
          </a:p>
        </p:txBody>
      </p:sp>
      <p:sp>
        <p:nvSpPr>
          <p:cNvPr id="67" name="文字方塊 66">
            <a:extLst>
              <a:ext uri="{FF2B5EF4-FFF2-40B4-BE49-F238E27FC236}">
                <a16:creationId xmlns:a16="http://schemas.microsoft.com/office/drawing/2014/main" id="{176A1699-799E-46B4-8B06-E712D1FFBFA1}"/>
              </a:ext>
            </a:extLst>
          </p:cNvPr>
          <p:cNvSpPr txBox="1">
            <a:spLocks noRot="1" noChangeAspect="1" noMove="1" noResize="1" noEditPoints="1" noAdjustHandles="1" noChangeArrowheads="1" noChangeShapeType="1" noTextEdit="1"/>
          </p:cNvSpPr>
          <p:nvPr/>
        </p:nvSpPr>
        <p:spPr>
          <a:xfrm>
            <a:off x="2343482" y="5345309"/>
            <a:ext cx="457946" cy="374333"/>
          </a:xfrm>
          <a:prstGeom prst="rect">
            <a:avLst/>
          </a:prstGeom>
          <a:blipFill>
            <a:blip r:embed="rId5"/>
            <a:stretch>
              <a:fillRect l="-8108" r="-2703" b="-20000"/>
            </a:stretch>
          </a:blipFill>
        </p:spPr>
        <p:txBody>
          <a:bodyPr/>
          <a:lstStyle/>
          <a:p>
            <a:pPr>
              <a:defRPr/>
            </a:pPr>
            <a:r>
              <a:rPr lang="zh-CN" altLang="en-US">
                <a:noFill/>
              </a:rPr>
              <a:t> </a:t>
            </a:r>
          </a:p>
        </p:txBody>
      </p:sp>
      <p:sp>
        <p:nvSpPr>
          <p:cNvPr id="68" name="文字方塊 67">
            <a:extLst>
              <a:ext uri="{FF2B5EF4-FFF2-40B4-BE49-F238E27FC236}">
                <a16:creationId xmlns:a16="http://schemas.microsoft.com/office/drawing/2014/main" id="{279D0901-D0E4-4F01-80B1-627B011DCCEB}"/>
              </a:ext>
            </a:extLst>
          </p:cNvPr>
          <p:cNvSpPr txBox="1">
            <a:spLocks noRot="1" noChangeAspect="1" noMove="1" noResize="1" noEditPoints="1" noAdjustHandles="1" noChangeArrowheads="1" noChangeShapeType="1" noTextEdit="1"/>
          </p:cNvSpPr>
          <p:nvPr/>
        </p:nvSpPr>
        <p:spPr>
          <a:xfrm>
            <a:off x="2630159" y="5790751"/>
            <a:ext cx="457946" cy="376193"/>
          </a:xfrm>
          <a:prstGeom prst="rect">
            <a:avLst/>
          </a:prstGeom>
          <a:blipFill>
            <a:blip r:embed="rId6"/>
            <a:stretch>
              <a:fillRect l="-5405" r="-2703" b="-16667"/>
            </a:stretch>
          </a:blipFill>
        </p:spPr>
        <p:txBody>
          <a:bodyPr/>
          <a:lstStyle/>
          <a:p>
            <a:pPr>
              <a:defRPr/>
            </a:pPr>
            <a:r>
              <a:rPr lang="zh-CN" altLang="en-US">
                <a:noFill/>
              </a:rPr>
              <a:t> </a:t>
            </a:r>
          </a:p>
        </p:txBody>
      </p:sp>
      <p:sp>
        <p:nvSpPr>
          <p:cNvPr id="72" name="文字方塊 71">
            <a:extLst>
              <a:ext uri="{FF2B5EF4-FFF2-40B4-BE49-F238E27FC236}">
                <a16:creationId xmlns:a16="http://schemas.microsoft.com/office/drawing/2014/main" id="{CC7EF931-D4FF-4DFB-8BB8-21D1CE7EDB07}"/>
              </a:ext>
            </a:extLst>
          </p:cNvPr>
          <p:cNvSpPr txBox="1">
            <a:spLocks noRot="1" noChangeAspect="1" noMove="1" noResize="1" noEditPoints="1" noAdjustHandles="1" noChangeArrowheads="1" noChangeShapeType="1" noTextEdit="1"/>
          </p:cNvSpPr>
          <p:nvPr/>
        </p:nvSpPr>
        <p:spPr>
          <a:xfrm>
            <a:off x="3742982" y="5086259"/>
            <a:ext cx="603169" cy="468205"/>
          </a:xfrm>
          <a:prstGeom prst="rect">
            <a:avLst/>
          </a:prstGeom>
          <a:blipFill>
            <a:blip r:embed="rId7"/>
            <a:stretch>
              <a:fillRect/>
            </a:stretch>
          </a:blipFill>
        </p:spPr>
        <p:txBody>
          <a:bodyPr/>
          <a:lstStyle/>
          <a:p>
            <a:pPr>
              <a:defRPr/>
            </a:pPr>
            <a:r>
              <a:rPr lang="zh-CN" altLang="en-US">
                <a:noFill/>
              </a:rPr>
              <a:t> </a:t>
            </a:r>
          </a:p>
        </p:txBody>
      </p:sp>
      <p:sp>
        <p:nvSpPr>
          <p:cNvPr id="73" name="文字方塊 72">
            <a:extLst>
              <a:ext uri="{FF2B5EF4-FFF2-40B4-BE49-F238E27FC236}">
                <a16:creationId xmlns:a16="http://schemas.microsoft.com/office/drawing/2014/main" id="{321B3564-D66D-4918-9041-AC762BA14BC9}"/>
              </a:ext>
            </a:extLst>
          </p:cNvPr>
          <p:cNvSpPr txBox="1">
            <a:spLocks noRot="1" noChangeAspect="1" noMove="1" noResize="1" noEditPoints="1" noAdjustHandles="1" noChangeArrowheads="1" noChangeShapeType="1" noTextEdit="1"/>
          </p:cNvSpPr>
          <p:nvPr/>
        </p:nvSpPr>
        <p:spPr>
          <a:xfrm>
            <a:off x="499592" y="3014578"/>
            <a:ext cx="1184066" cy="468205"/>
          </a:xfrm>
          <a:prstGeom prst="rect">
            <a:avLst/>
          </a:prstGeom>
          <a:blipFill>
            <a:blip r:embed="rId8"/>
            <a:stretch>
              <a:fillRect t="-7895" b="-23684"/>
            </a:stretch>
          </a:blipFill>
        </p:spPr>
        <p:txBody>
          <a:bodyPr/>
          <a:lstStyle/>
          <a:p>
            <a:pPr>
              <a:defRPr/>
            </a:pPr>
            <a:r>
              <a:rPr lang="zh-CN" altLang="en-US">
                <a:noFill/>
              </a:rPr>
              <a:t> </a:t>
            </a:r>
          </a:p>
        </p:txBody>
      </p:sp>
      <p:sp>
        <p:nvSpPr>
          <p:cNvPr id="88" name="文字方塊 87">
            <a:extLst>
              <a:ext uri="{FF2B5EF4-FFF2-40B4-BE49-F238E27FC236}">
                <a16:creationId xmlns:a16="http://schemas.microsoft.com/office/drawing/2014/main" id="{F98457A6-910F-4137-9412-DB95093972C2}"/>
              </a:ext>
            </a:extLst>
          </p:cNvPr>
          <p:cNvSpPr txBox="1">
            <a:spLocks noRot="1" noChangeAspect="1" noMove="1" noResize="1" noEditPoints="1" noAdjustHandles="1" noChangeArrowheads="1" noChangeShapeType="1" noTextEdit="1"/>
          </p:cNvSpPr>
          <p:nvPr/>
        </p:nvSpPr>
        <p:spPr>
          <a:xfrm>
            <a:off x="62824" y="4514022"/>
            <a:ext cx="926942" cy="369332"/>
          </a:xfrm>
          <a:prstGeom prst="rect">
            <a:avLst/>
          </a:prstGeom>
          <a:blipFill>
            <a:blip r:embed="rId9"/>
            <a:stretch>
              <a:fillRect/>
            </a:stretch>
          </a:blipFill>
        </p:spPr>
        <p:txBody>
          <a:bodyPr/>
          <a:lstStyle/>
          <a:p>
            <a:pPr>
              <a:defRPr/>
            </a:pPr>
            <a:r>
              <a:rPr lang="zh-CN" altLang="en-US">
                <a:noFill/>
              </a:rPr>
              <a:t> </a:t>
            </a:r>
          </a:p>
        </p:txBody>
      </p:sp>
      <p:sp>
        <p:nvSpPr>
          <p:cNvPr id="89" name="左大括弧 88">
            <a:extLst>
              <a:ext uri="{FF2B5EF4-FFF2-40B4-BE49-F238E27FC236}">
                <a16:creationId xmlns:a16="http://schemas.microsoft.com/office/drawing/2014/main" id="{8C083058-5490-491E-BA98-C3BC5BB54CB5}"/>
              </a:ext>
            </a:extLst>
          </p:cNvPr>
          <p:cNvSpPr/>
          <p:nvPr/>
        </p:nvSpPr>
        <p:spPr>
          <a:xfrm>
            <a:off x="917575" y="3584575"/>
            <a:ext cx="153988" cy="2751138"/>
          </a:xfrm>
          <a:prstGeom prst="leftBrace">
            <a:avLst>
              <a:gd name="adj1" fmla="val 35999"/>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pic>
        <p:nvPicPr>
          <p:cNvPr id="96" name="文字方塊 95">
            <a:extLst>
              <a:ext uri="{FF2B5EF4-FFF2-40B4-BE49-F238E27FC236}">
                <a16:creationId xmlns:a16="http://schemas.microsoft.com/office/drawing/2014/main" id="{8DF8A453-388E-4EFF-96F8-D39F7AAAE4DF}"/>
              </a:ext>
            </a:extLst>
          </p:cNvPr>
          <p:cNvPicPr>
            <a:picLocks noRot="1" noChangeAspect="1" noMove="1" noResize="1" noEditPoints="1" noAdjustHandles="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900" y="1346200"/>
            <a:ext cx="7607300" cy="482600"/>
          </a:xfrm>
          <a:prstGeom prst="rect">
            <a:avLst/>
          </a:prstGeom>
          <a:noFill/>
          <a:extLst>
            <a:ext uri="{909E8E84-426E-40DD-AFC4-6F175D3DCCD1}">
              <a14:hiddenFill xmlns:a14="http://schemas.microsoft.com/office/drawing/2010/main">
                <a:solidFill>
                  <a:srgbClr val="FFFFFF"/>
                </a:solidFill>
              </a14:hiddenFill>
            </a:ext>
          </a:extLst>
        </p:spPr>
      </p:pic>
      <p:sp>
        <p:nvSpPr>
          <p:cNvPr id="81940" name="文字方塊 96">
            <a:extLst>
              <a:ext uri="{FF2B5EF4-FFF2-40B4-BE49-F238E27FC236}">
                <a16:creationId xmlns:a16="http://schemas.microsoft.com/office/drawing/2014/main" id="{8DDB5436-97D3-4DA8-8B00-6C4A3E0A0233}"/>
              </a:ext>
            </a:extLst>
          </p:cNvPr>
          <p:cNvSpPr txBox="1">
            <a:spLocks noChangeArrowheads="1"/>
          </p:cNvSpPr>
          <p:nvPr/>
        </p:nvSpPr>
        <p:spPr bwMode="auto">
          <a:xfrm>
            <a:off x="4318000" y="1838325"/>
            <a:ext cx="4500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To minimize reconstruction error:</a:t>
            </a:r>
            <a:endParaRPr lang="zh-TW" altLang="en-US" sz="2400">
              <a:solidFill>
                <a:schemeClr val="hlink"/>
              </a:solidFill>
              <a:ea typeface="宋体" panose="02010600030101010101" pitchFamily="2" charset="-122"/>
            </a:endParaRPr>
          </a:p>
        </p:txBody>
      </p:sp>
      <p:sp>
        <p:nvSpPr>
          <p:cNvPr id="98" name="文字方塊 97">
            <a:extLst>
              <a:ext uri="{FF2B5EF4-FFF2-40B4-BE49-F238E27FC236}">
                <a16:creationId xmlns:a16="http://schemas.microsoft.com/office/drawing/2014/main" id="{F9F8B2EE-195A-42A1-BF4B-E974D0A7A0A1}"/>
              </a:ext>
            </a:extLst>
          </p:cNvPr>
          <p:cNvSpPr txBox="1">
            <a:spLocks noRot="1" noChangeAspect="1" noMove="1" noResize="1" noEditPoints="1" noAdjustHandles="1" noChangeArrowheads="1" noChangeShapeType="1" noTextEdit="1"/>
          </p:cNvSpPr>
          <p:nvPr/>
        </p:nvSpPr>
        <p:spPr>
          <a:xfrm>
            <a:off x="5930085" y="2310887"/>
            <a:ext cx="2677431" cy="468205"/>
          </a:xfrm>
          <a:prstGeom prst="rect">
            <a:avLst/>
          </a:prstGeom>
          <a:blipFill>
            <a:blip r:embed="rId11"/>
            <a:stretch>
              <a:fillRect b="-2632"/>
            </a:stretch>
          </a:blipFill>
        </p:spPr>
        <p:txBody>
          <a:bodyPr/>
          <a:lstStyle/>
          <a:p>
            <a:pPr>
              <a:defRPr/>
            </a:pPr>
            <a:r>
              <a:rPr lang="zh-CN" altLang="en-US">
                <a:noFill/>
              </a:rPr>
              <a:t> </a:t>
            </a:r>
          </a:p>
        </p:txBody>
      </p:sp>
      <p:sp>
        <p:nvSpPr>
          <p:cNvPr id="99" name="文字方塊 98">
            <a:extLst>
              <a:ext uri="{FF2B5EF4-FFF2-40B4-BE49-F238E27FC236}">
                <a16:creationId xmlns:a16="http://schemas.microsoft.com/office/drawing/2014/main" id="{6AD8F776-06C7-4894-98D6-9CDAC17FBA14}"/>
              </a:ext>
            </a:extLst>
          </p:cNvPr>
          <p:cNvSpPr txBox="1">
            <a:spLocks noRot="1" noChangeAspect="1" noMove="1" noResize="1" noEditPoints="1" noAdjustHandles="1" noChangeArrowheads="1" noChangeShapeType="1" noTextEdit="1"/>
          </p:cNvSpPr>
          <p:nvPr/>
        </p:nvSpPr>
        <p:spPr>
          <a:xfrm>
            <a:off x="680608" y="1846490"/>
            <a:ext cx="1820627" cy="1038489"/>
          </a:xfrm>
          <a:prstGeom prst="rect">
            <a:avLst/>
          </a:prstGeom>
          <a:blipFill>
            <a:blip r:embed="rId12"/>
            <a:stretch>
              <a:fillRect l="-29861" t="-114458" r="-694" b="-174699"/>
            </a:stretch>
          </a:blipFill>
        </p:spPr>
        <p:txBody>
          <a:bodyPr/>
          <a:lstStyle/>
          <a:p>
            <a:pPr>
              <a:defRPr/>
            </a:pPr>
            <a:r>
              <a:rPr lang="zh-CN" altLang="en-US">
                <a:noFill/>
              </a:rPr>
              <a:t> </a:t>
            </a:r>
          </a:p>
        </p:txBody>
      </p:sp>
      <p:sp>
        <p:nvSpPr>
          <p:cNvPr id="100" name="箭號: 左-右雙向 99">
            <a:extLst>
              <a:ext uri="{FF2B5EF4-FFF2-40B4-BE49-F238E27FC236}">
                <a16:creationId xmlns:a16="http://schemas.microsoft.com/office/drawing/2014/main" id="{0E211066-59A8-451B-8901-36BFFE366702}"/>
              </a:ext>
            </a:extLst>
          </p:cNvPr>
          <p:cNvSpPr/>
          <p:nvPr/>
        </p:nvSpPr>
        <p:spPr>
          <a:xfrm>
            <a:off x="2501900" y="2239963"/>
            <a:ext cx="512763" cy="304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01" name="文字方塊 100">
            <a:extLst>
              <a:ext uri="{FF2B5EF4-FFF2-40B4-BE49-F238E27FC236}">
                <a16:creationId xmlns:a16="http://schemas.microsoft.com/office/drawing/2014/main" id="{83785B6E-FEF6-4374-A4C1-EE4967F10188}"/>
              </a:ext>
            </a:extLst>
          </p:cNvPr>
          <p:cNvSpPr txBox="1">
            <a:spLocks noRot="1" noChangeAspect="1" noMove="1" noResize="1" noEditPoints="1" noAdjustHandles="1" noChangeArrowheads="1" noChangeShapeType="1" noTextEdit="1"/>
          </p:cNvSpPr>
          <p:nvPr/>
        </p:nvSpPr>
        <p:spPr>
          <a:xfrm>
            <a:off x="3032127" y="2157520"/>
            <a:ext cx="926942" cy="369332"/>
          </a:xfrm>
          <a:prstGeom prst="rect">
            <a:avLst/>
          </a:prstGeom>
          <a:blipFill>
            <a:blip r:embed="rId13"/>
            <a:stretch>
              <a:fillRect/>
            </a:stretch>
          </a:blipFill>
        </p:spPr>
        <p:txBody>
          <a:bodyPr/>
          <a:lstStyle/>
          <a:p>
            <a:pPr>
              <a:defRPr/>
            </a:pPr>
            <a:r>
              <a:rPr lang="zh-CN" altLang="en-US">
                <a:noFill/>
              </a:rPr>
              <a:t> </a:t>
            </a:r>
          </a:p>
        </p:txBody>
      </p:sp>
      <p:grpSp>
        <p:nvGrpSpPr>
          <p:cNvPr id="57" name="群組 56">
            <a:extLst>
              <a:ext uri="{FF2B5EF4-FFF2-40B4-BE49-F238E27FC236}">
                <a16:creationId xmlns:a16="http://schemas.microsoft.com/office/drawing/2014/main" id="{6EAD0E0B-67F6-4B02-B4BF-208880E763AC}"/>
              </a:ext>
            </a:extLst>
          </p:cNvPr>
          <p:cNvGrpSpPr>
            <a:grpSpLocks/>
          </p:cNvGrpSpPr>
          <p:nvPr/>
        </p:nvGrpSpPr>
        <p:grpSpPr bwMode="auto">
          <a:xfrm>
            <a:off x="5673725" y="3686175"/>
            <a:ext cx="546100" cy="2727325"/>
            <a:chOff x="994609" y="3607827"/>
            <a:chExt cx="545431" cy="2727153"/>
          </a:xfrm>
        </p:grpSpPr>
        <p:sp>
          <p:nvSpPr>
            <p:cNvPr id="58" name="橢圓 57">
              <a:extLst>
                <a:ext uri="{FF2B5EF4-FFF2-40B4-BE49-F238E27FC236}">
                  <a16:creationId xmlns:a16="http://schemas.microsoft.com/office/drawing/2014/main" id="{40436D70-39FF-4B05-982F-D4B1D2DCEA51}"/>
                </a:ext>
              </a:extLst>
            </p:cNvPr>
            <p:cNvSpPr>
              <a:spLocks noRot="1" noChangeAspect="1" noMove="1" noResize="1" noEditPoints="1" noAdjustHandles="1" noChangeArrowheads="1" noChangeShapeType="1" noTextEdit="1"/>
            </p:cNvSpPr>
            <p:nvPr/>
          </p:nvSpPr>
          <p:spPr>
            <a:xfrm>
              <a:off x="994609" y="3607827"/>
              <a:ext cx="545431" cy="545431"/>
            </a:xfrm>
            <a:prstGeom prst="ellipse">
              <a:avLst/>
            </a:prstGeom>
            <a:blipFill>
              <a:blip r:embed="rId14"/>
              <a:stretch>
                <a:fillRect/>
              </a:stretch>
            </a:blipFill>
          </p:spPr>
          <p:txBody>
            <a:bodyPr/>
            <a:lstStyle/>
            <a:p>
              <a:pPr>
                <a:defRPr/>
              </a:pPr>
              <a:r>
                <a:rPr lang="zh-CN" altLang="en-US">
                  <a:noFill/>
                </a:rPr>
                <a:t> </a:t>
              </a:r>
            </a:p>
          </p:txBody>
        </p:sp>
        <p:sp>
          <p:nvSpPr>
            <p:cNvPr id="59" name="橢圓 58">
              <a:extLst>
                <a:ext uri="{FF2B5EF4-FFF2-40B4-BE49-F238E27FC236}">
                  <a16:creationId xmlns:a16="http://schemas.microsoft.com/office/drawing/2014/main" id="{6B1CE54B-0D8C-4617-B29A-F68DB6E7CAED}"/>
                </a:ext>
              </a:extLst>
            </p:cNvPr>
            <p:cNvSpPr>
              <a:spLocks noRot="1" noChangeAspect="1" noMove="1" noResize="1" noEditPoints="1" noAdjustHandles="1" noChangeArrowheads="1" noChangeShapeType="1" noTextEdit="1"/>
            </p:cNvSpPr>
            <p:nvPr/>
          </p:nvSpPr>
          <p:spPr>
            <a:xfrm>
              <a:off x="994609" y="4698688"/>
              <a:ext cx="545431" cy="545431"/>
            </a:xfrm>
            <a:prstGeom prst="ellipse">
              <a:avLst/>
            </a:prstGeom>
            <a:blipFill>
              <a:blip r:embed="rId15"/>
              <a:stretch>
                <a:fillRect/>
              </a:stretch>
            </a:blipFill>
          </p:spPr>
          <p:txBody>
            <a:bodyPr/>
            <a:lstStyle/>
            <a:p>
              <a:pPr>
                <a:defRPr/>
              </a:pPr>
              <a:r>
                <a:rPr lang="zh-CN" altLang="en-US">
                  <a:noFill/>
                </a:rPr>
                <a:t> </a:t>
              </a:r>
            </a:p>
          </p:txBody>
        </p:sp>
        <p:sp>
          <p:nvSpPr>
            <p:cNvPr id="64" name="橢圓 63">
              <a:extLst>
                <a:ext uri="{FF2B5EF4-FFF2-40B4-BE49-F238E27FC236}">
                  <a16:creationId xmlns:a16="http://schemas.microsoft.com/office/drawing/2014/main" id="{38DF1873-EF7A-435C-93A2-281D5503EF83}"/>
                </a:ext>
              </a:extLst>
            </p:cNvPr>
            <p:cNvSpPr>
              <a:spLocks noRot="1" noChangeAspect="1" noMove="1" noResize="1" noEditPoints="1" noAdjustHandles="1" noChangeArrowheads="1" noChangeShapeType="1" noTextEdit="1"/>
            </p:cNvSpPr>
            <p:nvPr/>
          </p:nvSpPr>
          <p:spPr>
            <a:xfrm>
              <a:off x="994609" y="5789549"/>
              <a:ext cx="545431" cy="545431"/>
            </a:xfrm>
            <a:prstGeom prst="ellipse">
              <a:avLst/>
            </a:prstGeom>
            <a:blipFill>
              <a:blip r:embed="rId16"/>
              <a:stretch>
                <a:fillRect/>
              </a:stretch>
            </a:blipFill>
          </p:spPr>
          <p:txBody>
            <a:bodyPr/>
            <a:lstStyle/>
            <a:p>
              <a:pPr>
                <a:defRPr/>
              </a:pPr>
              <a:r>
                <a:rPr lang="zh-CN" altLang="en-US">
                  <a:noFill/>
                </a:rPr>
                <a:t> </a:t>
              </a:r>
            </a:p>
          </p:txBody>
        </p:sp>
      </p:grpSp>
      <p:cxnSp>
        <p:nvCxnSpPr>
          <p:cNvPr id="65" name="直線單箭頭接點 64">
            <a:extLst>
              <a:ext uri="{FF2B5EF4-FFF2-40B4-BE49-F238E27FC236}">
                <a16:creationId xmlns:a16="http://schemas.microsoft.com/office/drawing/2014/main" id="{341FE607-ED18-4BAE-BA6A-0416795E57F0}"/>
              </a:ext>
            </a:extLst>
          </p:cNvPr>
          <p:cNvCxnSpPr>
            <a:endCxn id="58" idx="2"/>
          </p:cNvCxnSpPr>
          <p:nvPr/>
        </p:nvCxnSpPr>
        <p:spPr>
          <a:xfrm flipV="1">
            <a:off x="3886200" y="3959225"/>
            <a:ext cx="1787525" cy="4587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0399816F-25D7-4B95-8E4B-D46C2F6E25AA}"/>
              </a:ext>
            </a:extLst>
          </p:cNvPr>
          <p:cNvCxnSpPr>
            <a:endCxn id="59" idx="2"/>
          </p:cNvCxnSpPr>
          <p:nvPr/>
        </p:nvCxnSpPr>
        <p:spPr>
          <a:xfrm>
            <a:off x="3906838" y="4425950"/>
            <a:ext cx="1766887" cy="6238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40DF6347-BB89-4BAA-8B82-573FD80F0A22}"/>
              </a:ext>
            </a:extLst>
          </p:cNvPr>
          <p:cNvCxnSpPr>
            <a:endCxn id="64" idx="2"/>
          </p:cNvCxnSpPr>
          <p:nvPr/>
        </p:nvCxnSpPr>
        <p:spPr>
          <a:xfrm>
            <a:off x="3906838" y="4425950"/>
            <a:ext cx="1766887" cy="17145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字方塊 74">
            <a:extLst>
              <a:ext uri="{FF2B5EF4-FFF2-40B4-BE49-F238E27FC236}">
                <a16:creationId xmlns:a16="http://schemas.microsoft.com/office/drawing/2014/main" id="{39E0526C-33F4-482F-B43C-5FA225E184C0}"/>
              </a:ext>
            </a:extLst>
          </p:cNvPr>
          <p:cNvSpPr txBox="1">
            <a:spLocks noRot="1" noChangeAspect="1" noMove="1" noResize="1" noEditPoints="1" noAdjustHandles="1" noChangeArrowheads="1" noChangeShapeType="1" noTextEdit="1"/>
          </p:cNvSpPr>
          <p:nvPr/>
        </p:nvSpPr>
        <p:spPr>
          <a:xfrm>
            <a:off x="4660338" y="3724370"/>
            <a:ext cx="451342" cy="372859"/>
          </a:xfrm>
          <a:prstGeom prst="rect">
            <a:avLst/>
          </a:prstGeom>
          <a:blipFill>
            <a:blip r:embed="rId17"/>
            <a:stretch>
              <a:fillRect l="-8333" r="-5556" b="-16129"/>
            </a:stretch>
          </a:blipFill>
        </p:spPr>
        <p:txBody>
          <a:bodyPr/>
          <a:lstStyle/>
          <a:p>
            <a:pPr>
              <a:defRPr/>
            </a:pPr>
            <a:r>
              <a:rPr lang="zh-CN" altLang="en-US">
                <a:noFill/>
              </a:rPr>
              <a:t> </a:t>
            </a:r>
          </a:p>
        </p:txBody>
      </p:sp>
      <p:sp>
        <p:nvSpPr>
          <p:cNvPr id="76" name="文字方塊 75">
            <a:extLst>
              <a:ext uri="{FF2B5EF4-FFF2-40B4-BE49-F238E27FC236}">
                <a16:creationId xmlns:a16="http://schemas.microsoft.com/office/drawing/2014/main" id="{7655B1CA-7FDC-4E9B-88D8-27CE9D8A45C6}"/>
              </a:ext>
            </a:extLst>
          </p:cNvPr>
          <p:cNvSpPr txBox="1">
            <a:spLocks noRot="1" noChangeAspect="1" noMove="1" noResize="1" noEditPoints="1" noAdjustHandles="1" noChangeArrowheads="1" noChangeShapeType="1" noTextEdit="1"/>
          </p:cNvSpPr>
          <p:nvPr/>
        </p:nvSpPr>
        <p:spPr>
          <a:xfrm>
            <a:off x="4660338" y="4349648"/>
            <a:ext cx="451341" cy="373564"/>
          </a:xfrm>
          <a:prstGeom prst="rect">
            <a:avLst/>
          </a:prstGeom>
          <a:blipFill>
            <a:blip r:embed="rId18"/>
            <a:stretch>
              <a:fillRect l="-8333" r="-5556" b="-16129"/>
            </a:stretch>
          </a:blipFill>
        </p:spPr>
        <p:txBody>
          <a:bodyPr/>
          <a:lstStyle/>
          <a:p>
            <a:pPr>
              <a:defRPr/>
            </a:pPr>
            <a:r>
              <a:rPr lang="zh-CN" altLang="en-US">
                <a:noFill/>
              </a:rPr>
              <a:t> </a:t>
            </a:r>
          </a:p>
        </p:txBody>
      </p:sp>
      <p:sp>
        <p:nvSpPr>
          <p:cNvPr id="77" name="文字方塊 76">
            <a:extLst>
              <a:ext uri="{FF2B5EF4-FFF2-40B4-BE49-F238E27FC236}">
                <a16:creationId xmlns:a16="http://schemas.microsoft.com/office/drawing/2014/main" id="{C76B51F0-2949-4501-8DB7-FE4584F2D755}"/>
              </a:ext>
            </a:extLst>
          </p:cNvPr>
          <p:cNvSpPr txBox="1">
            <a:spLocks noRot="1" noChangeAspect="1" noMove="1" noResize="1" noEditPoints="1" noAdjustHandles="1" noChangeArrowheads="1" noChangeShapeType="1" noTextEdit="1"/>
          </p:cNvSpPr>
          <p:nvPr/>
        </p:nvSpPr>
        <p:spPr>
          <a:xfrm>
            <a:off x="4660338" y="4964010"/>
            <a:ext cx="451341" cy="375424"/>
          </a:xfrm>
          <a:prstGeom prst="rect">
            <a:avLst/>
          </a:prstGeom>
          <a:blipFill>
            <a:blip r:embed="rId19"/>
            <a:stretch>
              <a:fillRect l="-8333" r="-5556" b="-16667"/>
            </a:stretch>
          </a:blipFill>
        </p:spPr>
        <p:txBody>
          <a:bodyPr/>
          <a:lstStyle/>
          <a:p>
            <a:pPr>
              <a:defRPr/>
            </a:pPr>
            <a:r>
              <a:rPr lang="zh-CN" altLang="en-US">
                <a:noFill/>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3969" name="群組 3">
            <a:extLst>
              <a:ext uri="{FF2B5EF4-FFF2-40B4-BE49-F238E27FC236}">
                <a16:creationId xmlns:a16="http://schemas.microsoft.com/office/drawing/2014/main" id="{E6435EF9-1868-4AC7-957E-0EED5633C47B}"/>
              </a:ext>
            </a:extLst>
          </p:cNvPr>
          <p:cNvGrpSpPr>
            <a:grpSpLocks/>
          </p:cNvGrpSpPr>
          <p:nvPr/>
        </p:nvGrpSpPr>
        <p:grpSpPr bwMode="auto">
          <a:xfrm>
            <a:off x="496888" y="336550"/>
            <a:ext cx="8102600" cy="877888"/>
            <a:chOff x="535550" y="5384411"/>
            <a:chExt cx="8102395" cy="878168"/>
          </a:xfrm>
        </p:grpSpPr>
        <p:sp>
          <p:nvSpPr>
            <p:cNvPr id="84026" name="文字方塊 32">
              <a:extLst>
                <a:ext uri="{FF2B5EF4-FFF2-40B4-BE49-F238E27FC236}">
                  <a16:creationId xmlns:a16="http://schemas.microsoft.com/office/drawing/2014/main" id="{0394442F-F01D-434E-80C6-17D84B00D39C}"/>
                </a:ext>
              </a:extLst>
            </p:cNvPr>
            <p:cNvSpPr txBox="1">
              <a:spLocks noChangeArrowheads="1"/>
            </p:cNvSpPr>
            <p:nvPr/>
          </p:nvSpPr>
          <p:spPr bwMode="auto">
            <a:xfrm>
              <a:off x="790883" y="5416834"/>
              <a:ext cx="5579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PCA looks like a neural network with one hidden layer (linear activation function)</a:t>
              </a:r>
              <a:endParaRPr lang="zh-TW" altLang="en-US" sz="2400">
                <a:solidFill>
                  <a:schemeClr val="hlink"/>
                </a:solidFill>
                <a:ea typeface="宋体" panose="02010600030101010101" pitchFamily="2" charset="-122"/>
              </a:endParaRPr>
            </a:p>
          </p:txBody>
        </p:sp>
        <p:sp>
          <p:nvSpPr>
            <p:cNvPr id="34" name="文字方塊 33">
              <a:extLst>
                <a:ext uri="{FF2B5EF4-FFF2-40B4-BE49-F238E27FC236}">
                  <a16:creationId xmlns:a16="http://schemas.microsoft.com/office/drawing/2014/main" id="{1E45F29E-9F2A-4A86-A5B6-271238D09E71}"/>
                </a:ext>
              </a:extLst>
            </p:cNvPr>
            <p:cNvSpPr txBox="1"/>
            <p:nvPr/>
          </p:nvSpPr>
          <p:spPr>
            <a:xfrm>
              <a:off x="6370071" y="5601499"/>
              <a:ext cx="1919362"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eaLnBrk="1" hangingPunct="1">
                <a:spcBef>
                  <a:spcPct val="50000"/>
                </a:spcBef>
                <a:defRPr/>
              </a:pPr>
              <a:r>
                <a:rPr lang="en-US" altLang="zh-TW" sz="2400" dirty="0"/>
                <a:t>Autoencoder</a:t>
              </a:r>
              <a:endParaRPr lang="zh-TW" altLang="en-US" sz="2400" dirty="0"/>
            </a:p>
          </p:txBody>
        </p:sp>
        <p:sp>
          <p:nvSpPr>
            <p:cNvPr id="3" name="矩形 2">
              <a:extLst>
                <a:ext uri="{FF2B5EF4-FFF2-40B4-BE49-F238E27FC236}">
                  <a16:creationId xmlns:a16="http://schemas.microsoft.com/office/drawing/2014/main" id="{C77CD363-F71F-4621-BA22-B7077CFBA80A}"/>
                </a:ext>
              </a:extLst>
            </p:cNvPr>
            <p:cNvSpPr/>
            <p:nvPr/>
          </p:nvSpPr>
          <p:spPr>
            <a:xfrm>
              <a:off x="535550" y="5384411"/>
              <a:ext cx="8102395" cy="878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grpSp>
      <p:grpSp>
        <p:nvGrpSpPr>
          <p:cNvPr id="83970" name="群組 6">
            <a:extLst>
              <a:ext uri="{FF2B5EF4-FFF2-40B4-BE49-F238E27FC236}">
                <a16:creationId xmlns:a16="http://schemas.microsoft.com/office/drawing/2014/main" id="{4AA74289-98DB-4355-8FB9-6646E63AAA58}"/>
              </a:ext>
            </a:extLst>
          </p:cNvPr>
          <p:cNvGrpSpPr>
            <a:grpSpLocks/>
          </p:cNvGrpSpPr>
          <p:nvPr/>
        </p:nvGrpSpPr>
        <p:grpSpPr bwMode="auto">
          <a:xfrm>
            <a:off x="995363" y="3608388"/>
            <a:ext cx="544512" cy="2727325"/>
            <a:chOff x="994609" y="3607827"/>
            <a:chExt cx="545431" cy="2727153"/>
          </a:xfrm>
        </p:grpSpPr>
        <p:sp>
          <p:nvSpPr>
            <p:cNvPr id="6" name="橢圓 5">
              <a:extLst>
                <a:ext uri="{FF2B5EF4-FFF2-40B4-BE49-F238E27FC236}">
                  <a16:creationId xmlns:a16="http://schemas.microsoft.com/office/drawing/2014/main" id="{F38216B7-6330-4CA8-AC1E-347424898940}"/>
                </a:ext>
              </a:extLst>
            </p:cNvPr>
            <p:cNvSpPr/>
            <p:nvPr/>
          </p:nvSpPr>
          <p:spPr>
            <a:xfrm>
              <a:off x="994609" y="3607827"/>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8" name="橢圓 37">
              <a:extLst>
                <a:ext uri="{FF2B5EF4-FFF2-40B4-BE49-F238E27FC236}">
                  <a16:creationId xmlns:a16="http://schemas.microsoft.com/office/drawing/2014/main" id="{E2CB7A33-D293-4FF3-A34B-C2B4D06D54D8}"/>
                </a:ext>
              </a:extLst>
            </p:cNvPr>
            <p:cNvSpPr/>
            <p:nvPr/>
          </p:nvSpPr>
          <p:spPr>
            <a:xfrm>
              <a:off x="994609" y="4698370"/>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sp>
          <p:nvSpPr>
            <p:cNvPr id="39" name="橢圓 38">
              <a:extLst>
                <a:ext uri="{FF2B5EF4-FFF2-40B4-BE49-F238E27FC236}">
                  <a16:creationId xmlns:a16="http://schemas.microsoft.com/office/drawing/2014/main" id="{2867DF64-4F25-4622-9439-53822B619CD7}"/>
                </a:ext>
              </a:extLst>
            </p:cNvPr>
            <p:cNvSpPr/>
            <p:nvPr/>
          </p:nvSpPr>
          <p:spPr>
            <a:xfrm>
              <a:off x="994609" y="5788914"/>
              <a:ext cx="545431" cy="546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sz="2400" dirty="0"/>
            </a:p>
          </p:txBody>
        </p:sp>
      </p:grpSp>
      <p:grpSp>
        <p:nvGrpSpPr>
          <p:cNvPr id="83971" name="群組 10">
            <a:extLst>
              <a:ext uri="{FF2B5EF4-FFF2-40B4-BE49-F238E27FC236}">
                <a16:creationId xmlns:a16="http://schemas.microsoft.com/office/drawing/2014/main" id="{8138593A-C88E-49D4-AB58-4F090C417D7F}"/>
              </a:ext>
            </a:extLst>
          </p:cNvPr>
          <p:cNvGrpSpPr>
            <a:grpSpLocks/>
          </p:cNvGrpSpPr>
          <p:nvPr/>
        </p:nvGrpSpPr>
        <p:grpSpPr bwMode="auto">
          <a:xfrm>
            <a:off x="3360738" y="4152900"/>
            <a:ext cx="546100" cy="546100"/>
            <a:chOff x="3360821" y="4153258"/>
            <a:chExt cx="545431" cy="545431"/>
          </a:xfrm>
        </p:grpSpPr>
        <p:sp>
          <p:nvSpPr>
            <p:cNvPr id="22" name="橢圓 21">
              <a:extLst>
                <a:ext uri="{FF2B5EF4-FFF2-40B4-BE49-F238E27FC236}">
                  <a16:creationId xmlns:a16="http://schemas.microsoft.com/office/drawing/2014/main" id="{6743354C-396F-4FA6-9C56-58CE4759ACC5}"/>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9" name="直線接點 8">
              <a:extLst>
                <a:ext uri="{FF2B5EF4-FFF2-40B4-BE49-F238E27FC236}">
                  <a16:creationId xmlns:a16="http://schemas.microsoft.com/office/drawing/2014/main" id="{DD5E8C33-D32F-40BE-9E12-0FAEF5559614}"/>
                </a:ext>
              </a:extLst>
            </p:cNvPr>
            <p:cNvCxnSpPr/>
            <p:nvPr/>
          </p:nvCxnSpPr>
          <p:spPr>
            <a:xfrm flipH="1">
              <a:off x="3471810" y="4265833"/>
              <a:ext cx="339309" cy="3646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3972" name="群組 47">
            <a:extLst>
              <a:ext uri="{FF2B5EF4-FFF2-40B4-BE49-F238E27FC236}">
                <a16:creationId xmlns:a16="http://schemas.microsoft.com/office/drawing/2014/main" id="{D29C5AF9-71A8-40BB-8DA6-FE58B4D92A4F}"/>
              </a:ext>
            </a:extLst>
          </p:cNvPr>
          <p:cNvGrpSpPr>
            <a:grpSpLocks/>
          </p:cNvGrpSpPr>
          <p:nvPr/>
        </p:nvGrpSpPr>
        <p:grpSpPr bwMode="auto">
          <a:xfrm>
            <a:off x="3360738" y="5322888"/>
            <a:ext cx="546100" cy="544512"/>
            <a:chOff x="3360821" y="4153258"/>
            <a:chExt cx="545431" cy="545431"/>
          </a:xfrm>
        </p:grpSpPr>
        <p:sp>
          <p:nvSpPr>
            <p:cNvPr id="49" name="橢圓 48">
              <a:extLst>
                <a:ext uri="{FF2B5EF4-FFF2-40B4-BE49-F238E27FC236}">
                  <a16:creationId xmlns:a16="http://schemas.microsoft.com/office/drawing/2014/main" id="{5EA6F830-8C97-417B-BF3B-C08D1860D964}"/>
                </a:ext>
              </a:extLst>
            </p:cNvPr>
            <p:cNvSpPr/>
            <p:nvPr/>
          </p:nvSpPr>
          <p:spPr>
            <a:xfrm>
              <a:off x="3360821" y="4153258"/>
              <a:ext cx="545431" cy="545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cxnSp>
          <p:nvCxnSpPr>
            <p:cNvPr id="50" name="直線接點 49">
              <a:extLst>
                <a:ext uri="{FF2B5EF4-FFF2-40B4-BE49-F238E27FC236}">
                  <a16:creationId xmlns:a16="http://schemas.microsoft.com/office/drawing/2014/main" id="{0BB6AAD1-A590-4A48-A585-64775C366015}"/>
                </a:ext>
              </a:extLst>
            </p:cNvPr>
            <p:cNvCxnSpPr/>
            <p:nvPr/>
          </p:nvCxnSpPr>
          <p:spPr>
            <a:xfrm flipH="1">
              <a:off x="3471810" y="4264571"/>
              <a:ext cx="339309" cy="3673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 name="直線單箭頭接點 18">
            <a:extLst>
              <a:ext uri="{FF2B5EF4-FFF2-40B4-BE49-F238E27FC236}">
                <a16:creationId xmlns:a16="http://schemas.microsoft.com/office/drawing/2014/main" id="{3D95DED7-A57B-4FFE-9607-EEA38A64BDE9}"/>
              </a:ext>
            </a:extLst>
          </p:cNvPr>
          <p:cNvCxnSpPr>
            <a:endCxn id="22" idx="2"/>
          </p:cNvCxnSpPr>
          <p:nvPr/>
        </p:nvCxnSpPr>
        <p:spPr>
          <a:xfrm>
            <a:off x="1554163" y="3905250"/>
            <a:ext cx="1806575" cy="5207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ADCBCB5E-7C5F-4877-B95E-6A2E0A7747DA}"/>
              </a:ext>
            </a:extLst>
          </p:cNvPr>
          <p:cNvCxnSpPr>
            <a:endCxn id="22" idx="2"/>
          </p:cNvCxnSpPr>
          <p:nvPr/>
        </p:nvCxnSpPr>
        <p:spPr>
          <a:xfrm flipV="1">
            <a:off x="1547813" y="4425950"/>
            <a:ext cx="1812925" cy="5826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4194FCB0-90D1-4FEC-A9F5-9A673AB082A3}"/>
              </a:ext>
            </a:extLst>
          </p:cNvPr>
          <p:cNvCxnSpPr>
            <a:endCxn id="22" idx="2"/>
          </p:cNvCxnSpPr>
          <p:nvPr/>
        </p:nvCxnSpPr>
        <p:spPr>
          <a:xfrm flipV="1">
            <a:off x="1520825" y="4425950"/>
            <a:ext cx="1839913" cy="1654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28720366-7221-4802-8767-F1C6F868F913}"/>
              </a:ext>
            </a:extLst>
          </p:cNvPr>
          <p:cNvSpPr txBox="1">
            <a:spLocks noRot="1" noChangeAspect="1" noMove="1" noResize="1" noEditPoints="1" noAdjustHandles="1" noChangeArrowheads="1" noChangeShapeType="1" noTextEdit="1"/>
          </p:cNvSpPr>
          <p:nvPr/>
        </p:nvSpPr>
        <p:spPr>
          <a:xfrm>
            <a:off x="3742702" y="3956417"/>
            <a:ext cx="603167" cy="468205"/>
          </a:xfrm>
          <a:prstGeom prst="rect">
            <a:avLst/>
          </a:prstGeom>
          <a:blipFill>
            <a:blip r:embed="rId3"/>
            <a:stretch>
              <a:fillRect/>
            </a:stretch>
          </a:blipFill>
        </p:spPr>
        <p:txBody>
          <a:bodyPr/>
          <a:lstStyle/>
          <a:p>
            <a:pPr>
              <a:defRPr/>
            </a:pPr>
            <a:r>
              <a:rPr lang="zh-CN" altLang="en-US">
                <a:noFill/>
              </a:rPr>
              <a:t> </a:t>
            </a:r>
          </a:p>
        </p:txBody>
      </p:sp>
      <p:cxnSp>
        <p:nvCxnSpPr>
          <p:cNvPr id="44" name="直線單箭頭接點 43">
            <a:extLst>
              <a:ext uri="{FF2B5EF4-FFF2-40B4-BE49-F238E27FC236}">
                <a16:creationId xmlns:a16="http://schemas.microsoft.com/office/drawing/2014/main" id="{3E125F1D-DE51-4BAA-BEC8-CC2F7DED631B}"/>
              </a:ext>
            </a:extLst>
          </p:cNvPr>
          <p:cNvCxnSpPr>
            <a:stCxn id="6" idx="6"/>
            <a:endCxn id="49" idx="2"/>
          </p:cNvCxnSpPr>
          <p:nvPr/>
        </p:nvCxnSpPr>
        <p:spPr>
          <a:xfrm>
            <a:off x="1539875" y="3879850"/>
            <a:ext cx="1820863" cy="17160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AF8D0E97-4E81-4C57-B486-5D58725C5C97}"/>
              </a:ext>
            </a:extLst>
          </p:cNvPr>
          <p:cNvCxnSpPr>
            <a:stCxn id="38" idx="6"/>
            <a:endCxn id="49" idx="2"/>
          </p:cNvCxnSpPr>
          <p:nvPr/>
        </p:nvCxnSpPr>
        <p:spPr>
          <a:xfrm>
            <a:off x="1539875" y="4972050"/>
            <a:ext cx="1820863" cy="6238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6D452C2C-176F-40F8-A80F-22A26E8FDF43}"/>
              </a:ext>
            </a:extLst>
          </p:cNvPr>
          <p:cNvCxnSpPr>
            <a:stCxn id="39" idx="6"/>
            <a:endCxn id="49" idx="2"/>
          </p:cNvCxnSpPr>
          <p:nvPr/>
        </p:nvCxnSpPr>
        <p:spPr>
          <a:xfrm flipV="1">
            <a:off x="1539875" y="5595938"/>
            <a:ext cx="1820863" cy="4667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8D0EF55E-C19C-4FEB-B5BC-1BBCA1FC2DA6}"/>
              </a:ext>
            </a:extLst>
          </p:cNvPr>
          <p:cNvSpPr txBox="1">
            <a:spLocks noRot="1" noChangeAspect="1" noMove="1" noResize="1" noEditPoints="1" noAdjustHandles="1" noChangeArrowheads="1" noChangeShapeType="1" noTextEdit="1"/>
          </p:cNvSpPr>
          <p:nvPr/>
        </p:nvSpPr>
        <p:spPr>
          <a:xfrm>
            <a:off x="2982727" y="4907717"/>
            <a:ext cx="457946" cy="373628"/>
          </a:xfrm>
          <a:prstGeom prst="rect">
            <a:avLst/>
          </a:prstGeom>
          <a:blipFill>
            <a:blip r:embed="rId4"/>
            <a:stretch>
              <a:fillRect l="-8108" r="-2703" b="-16129"/>
            </a:stretch>
          </a:blipFill>
        </p:spPr>
        <p:txBody>
          <a:bodyPr/>
          <a:lstStyle/>
          <a:p>
            <a:pPr>
              <a:defRPr/>
            </a:pPr>
            <a:r>
              <a:rPr lang="zh-CN" altLang="en-US">
                <a:noFill/>
              </a:rPr>
              <a:t> </a:t>
            </a:r>
          </a:p>
        </p:txBody>
      </p:sp>
      <p:sp>
        <p:nvSpPr>
          <p:cNvPr id="67" name="文字方塊 66">
            <a:extLst>
              <a:ext uri="{FF2B5EF4-FFF2-40B4-BE49-F238E27FC236}">
                <a16:creationId xmlns:a16="http://schemas.microsoft.com/office/drawing/2014/main" id="{4F94CCF7-7118-4B55-8EE6-116EE94D2320}"/>
              </a:ext>
            </a:extLst>
          </p:cNvPr>
          <p:cNvSpPr txBox="1">
            <a:spLocks noRot="1" noChangeAspect="1" noMove="1" noResize="1" noEditPoints="1" noAdjustHandles="1" noChangeArrowheads="1" noChangeShapeType="1" noTextEdit="1"/>
          </p:cNvSpPr>
          <p:nvPr/>
        </p:nvSpPr>
        <p:spPr>
          <a:xfrm>
            <a:off x="2343482" y="5345309"/>
            <a:ext cx="457946" cy="374333"/>
          </a:xfrm>
          <a:prstGeom prst="rect">
            <a:avLst/>
          </a:prstGeom>
          <a:blipFill>
            <a:blip r:embed="rId5"/>
            <a:stretch>
              <a:fillRect l="-8108" r="-2703" b="-20000"/>
            </a:stretch>
          </a:blipFill>
        </p:spPr>
        <p:txBody>
          <a:bodyPr/>
          <a:lstStyle/>
          <a:p>
            <a:pPr>
              <a:defRPr/>
            </a:pPr>
            <a:r>
              <a:rPr lang="zh-CN" altLang="en-US">
                <a:noFill/>
              </a:rPr>
              <a:t> </a:t>
            </a:r>
          </a:p>
        </p:txBody>
      </p:sp>
      <p:sp>
        <p:nvSpPr>
          <p:cNvPr id="68" name="文字方塊 67">
            <a:extLst>
              <a:ext uri="{FF2B5EF4-FFF2-40B4-BE49-F238E27FC236}">
                <a16:creationId xmlns:a16="http://schemas.microsoft.com/office/drawing/2014/main" id="{1AE68702-6434-4D6A-9240-79652D9C4934}"/>
              </a:ext>
            </a:extLst>
          </p:cNvPr>
          <p:cNvSpPr txBox="1">
            <a:spLocks noRot="1" noChangeAspect="1" noMove="1" noResize="1" noEditPoints="1" noAdjustHandles="1" noChangeArrowheads="1" noChangeShapeType="1" noTextEdit="1"/>
          </p:cNvSpPr>
          <p:nvPr/>
        </p:nvSpPr>
        <p:spPr>
          <a:xfrm>
            <a:off x="2630159" y="5790751"/>
            <a:ext cx="457946" cy="376193"/>
          </a:xfrm>
          <a:prstGeom prst="rect">
            <a:avLst/>
          </a:prstGeom>
          <a:blipFill>
            <a:blip r:embed="rId6"/>
            <a:stretch>
              <a:fillRect l="-5405" r="-2703" b="-16667"/>
            </a:stretch>
          </a:blipFill>
        </p:spPr>
        <p:txBody>
          <a:bodyPr/>
          <a:lstStyle/>
          <a:p>
            <a:pPr>
              <a:defRPr/>
            </a:pPr>
            <a:r>
              <a:rPr lang="zh-CN" altLang="en-US">
                <a:noFill/>
              </a:rPr>
              <a:t> </a:t>
            </a:r>
          </a:p>
        </p:txBody>
      </p:sp>
      <p:sp>
        <p:nvSpPr>
          <p:cNvPr id="72" name="文字方塊 71">
            <a:extLst>
              <a:ext uri="{FF2B5EF4-FFF2-40B4-BE49-F238E27FC236}">
                <a16:creationId xmlns:a16="http://schemas.microsoft.com/office/drawing/2014/main" id="{FB86A8D0-B23D-4479-AB51-36C5ED1247D1}"/>
              </a:ext>
            </a:extLst>
          </p:cNvPr>
          <p:cNvSpPr txBox="1">
            <a:spLocks noRot="1" noChangeAspect="1" noMove="1" noResize="1" noEditPoints="1" noAdjustHandles="1" noChangeArrowheads="1" noChangeShapeType="1" noTextEdit="1"/>
          </p:cNvSpPr>
          <p:nvPr/>
        </p:nvSpPr>
        <p:spPr>
          <a:xfrm>
            <a:off x="3742982" y="5086259"/>
            <a:ext cx="603169" cy="468205"/>
          </a:xfrm>
          <a:prstGeom prst="rect">
            <a:avLst/>
          </a:prstGeom>
          <a:blipFill>
            <a:blip r:embed="rId7"/>
            <a:stretch>
              <a:fillRect/>
            </a:stretch>
          </a:blipFill>
        </p:spPr>
        <p:txBody>
          <a:bodyPr/>
          <a:lstStyle/>
          <a:p>
            <a:pPr>
              <a:defRPr/>
            </a:pPr>
            <a:r>
              <a:rPr lang="zh-CN" altLang="en-US">
                <a:noFill/>
              </a:rPr>
              <a:t> </a:t>
            </a:r>
          </a:p>
        </p:txBody>
      </p:sp>
      <p:sp>
        <p:nvSpPr>
          <p:cNvPr id="73" name="文字方塊 72">
            <a:extLst>
              <a:ext uri="{FF2B5EF4-FFF2-40B4-BE49-F238E27FC236}">
                <a16:creationId xmlns:a16="http://schemas.microsoft.com/office/drawing/2014/main" id="{CD71BAD8-F747-4474-898B-3FE20C6F76F3}"/>
              </a:ext>
            </a:extLst>
          </p:cNvPr>
          <p:cNvSpPr txBox="1">
            <a:spLocks noRot="1" noChangeAspect="1" noMove="1" noResize="1" noEditPoints="1" noAdjustHandles="1" noChangeArrowheads="1" noChangeShapeType="1" noTextEdit="1"/>
          </p:cNvSpPr>
          <p:nvPr/>
        </p:nvSpPr>
        <p:spPr>
          <a:xfrm>
            <a:off x="499592" y="3014578"/>
            <a:ext cx="1184066" cy="468205"/>
          </a:xfrm>
          <a:prstGeom prst="rect">
            <a:avLst/>
          </a:prstGeom>
          <a:blipFill>
            <a:blip r:embed="rId8"/>
            <a:stretch>
              <a:fillRect t="-7895" b="-23684"/>
            </a:stretch>
          </a:blipFill>
        </p:spPr>
        <p:txBody>
          <a:bodyPr/>
          <a:lstStyle/>
          <a:p>
            <a:pPr>
              <a:defRPr/>
            </a:pPr>
            <a:r>
              <a:rPr lang="zh-CN" altLang="en-US">
                <a:noFill/>
              </a:rPr>
              <a:t> </a:t>
            </a:r>
          </a:p>
        </p:txBody>
      </p:sp>
      <p:sp>
        <p:nvSpPr>
          <p:cNvPr id="88" name="文字方塊 87">
            <a:extLst>
              <a:ext uri="{FF2B5EF4-FFF2-40B4-BE49-F238E27FC236}">
                <a16:creationId xmlns:a16="http://schemas.microsoft.com/office/drawing/2014/main" id="{54AB50CF-BD78-4719-BC98-0ADF3D304B52}"/>
              </a:ext>
            </a:extLst>
          </p:cNvPr>
          <p:cNvSpPr txBox="1">
            <a:spLocks noRot="1" noChangeAspect="1" noMove="1" noResize="1" noEditPoints="1" noAdjustHandles="1" noChangeArrowheads="1" noChangeShapeType="1" noTextEdit="1"/>
          </p:cNvSpPr>
          <p:nvPr/>
        </p:nvSpPr>
        <p:spPr>
          <a:xfrm>
            <a:off x="62824" y="4514022"/>
            <a:ext cx="926942" cy="369332"/>
          </a:xfrm>
          <a:prstGeom prst="rect">
            <a:avLst/>
          </a:prstGeom>
          <a:blipFill>
            <a:blip r:embed="rId9"/>
            <a:stretch>
              <a:fillRect/>
            </a:stretch>
          </a:blipFill>
        </p:spPr>
        <p:txBody>
          <a:bodyPr/>
          <a:lstStyle/>
          <a:p>
            <a:pPr>
              <a:defRPr/>
            </a:pPr>
            <a:r>
              <a:rPr lang="zh-CN" altLang="en-US">
                <a:noFill/>
              </a:rPr>
              <a:t> </a:t>
            </a:r>
          </a:p>
        </p:txBody>
      </p:sp>
      <p:sp>
        <p:nvSpPr>
          <p:cNvPr id="89" name="左大括弧 88">
            <a:extLst>
              <a:ext uri="{FF2B5EF4-FFF2-40B4-BE49-F238E27FC236}">
                <a16:creationId xmlns:a16="http://schemas.microsoft.com/office/drawing/2014/main" id="{A11F5E8B-688A-4A6E-A36E-2331F269ACCC}"/>
              </a:ext>
            </a:extLst>
          </p:cNvPr>
          <p:cNvSpPr/>
          <p:nvPr/>
        </p:nvSpPr>
        <p:spPr>
          <a:xfrm>
            <a:off x="917575" y="3584575"/>
            <a:ext cx="153988" cy="2751138"/>
          </a:xfrm>
          <a:prstGeom prst="leftBrace">
            <a:avLst>
              <a:gd name="adj1" fmla="val 35999"/>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spcBef>
                <a:spcPct val="50000"/>
              </a:spcBef>
              <a:defRPr/>
            </a:pPr>
            <a:endParaRPr lang="zh-TW" altLang="en-US"/>
          </a:p>
        </p:txBody>
      </p:sp>
      <p:pic>
        <p:nvPicPr>
          <p:cNvPr id="96" name="文字方塊 95">
            <a:extLst>
              <a:ext uri="{FF2B5EF4-FFF2-40B4-BE49-F238E27FC236}">
                <a16:creationId xmlns:a16="http://schemas.microsoft.com/office/drawing/2014/main" id="{79CD936F-D5D6-4C9E-92DC-53EA101A1D76}"/>
              </a:ext>
            </a:extLst>
          </p:cNvPr>
          <p:cNvPicPr>
            <a:picLocks noRot="1" noChangeAspect="1" noMove="1" noResize="1" noEditPoints="1" noAdjustHandles="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900" y="1346200"/>
            <a:ext cx="7607300" cy="482600"/>
          </a:xfrm>
          <a:prstGeom prst="rect">
            <a:avLst/>
          </a:prstGeom>
          <a:noFill/>
          <a:extLst>
            <a:ext uri="{909E8E84-426E-40DD-AFC4-6F175D3DCCD1}">
              <a14:hiddenFill xmlns:a14="http://schemas.microsoft.com/office/drawing/2010/main">
                <a:solidFill>
                  <a:srgbClr val="FFFFFF"/>
                </a:solidFill>
              </a14:hiddenFill>
            </a:ext>
          </a:extLst>
        </p:spPr>
      </p:pic>
      <p:sp>
        <p:nvSpPr>
          <p:cNvPr id="83988" name="文字方塊 96">
            <a:extLst>
              <a:ext uri="{FF2B5EF4-FFF2-40B4-BE49-F238E27FC236}">
                <a16:creationId xmlns:a16="http://schemas.microsoft.com/office/drawing/2014/main" id="{D66F95E1-DD8D-419A-89A1-2424ADA0BC2C}"/>
              </a:ext>
            </a:extLst>
          </p:cNvPr>
          <p:cNvSpPr txBox="1">
            <a:spLocks noChangeArrowheads="1"/>
          </p:cNvSpPr>
          <p:nvPr/>
        </p:nvSpPr>
        <p:spPr bwMode="auto">
          <a:xfrm>
            <a:off x="4318000" y="1838325"/>
            <a:ext cx="4500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To minimize reconstruction error:</a:t>
            </a:r>
            <a:endParaRPr lang="zh-TW" altLang="en-US" sz="2400">
              <a:solidFill>
                <a:schemeClr val="hlink"/>
              </a:solidFill>
              <a:ea typeface="宋体" panose="02010600030101010101" pitchFamily="2" charset="-122"/>
            </a:endParaRPr>
          </a:p>
        </p:txBody>
      </p:sp>
      <p:sp>
        <p:nvSpPr>
          <p:cNvPr id="98" name="文字方塊 97">
            <a:extLst>
              <a:ext uri="{FF2B5EF4-FFF2-40B4-BE49-F238E27FC236}">
                <a16:creationId xmlns:a16="http://schemas.microsoft.com/office/drawing/2014/main" id="{072E755B-EA8C-45AE-A342-E80125AD651D}"/>
              </a:ext>
            </a:extLst>
          </p:cNvPr>
          <p:cNvSpPr txBox="1">
            <a:spLocks noRot="1" noChangeAspect="1" noMove="1" noResize="1" noEditPoints="1" noAdjustHandles="1" noChangeArrowheads="1" noChangeShapeType="1" noTextEdit="1"/>
          </p:cNvSpPr>
          <p:nvPr/>
        </p:nvSpPr>
        <p:spPr>
          <a:xfrm>
            <a:off x="5930085" y="2310887"/>
            <a:ext cx="2677431" cy="468205"/>
          </a:xfrm>
          <a:prstGeom prst="rect">
            <a:avLst/>
          </a:prstGeom>
          <a:blipFill>
            <a:blip r:embed="rId11"/>
            <a:stretch>
              <a:fillRect b="-2632"/>
            </a:stretch>
          </a:blipFill>
        </p:spPr>
        <p:txBody>
          <a:bodyPr/>
          <a:lstStyle/>
          <a:p>
            <a:pPr>
              <a:defRPr/>
            </a:pPr>
            <a:r>
              <a:rPr lang="zh-CN" altLang="en-US">
                <a:noFill/>
              </a:rPr>
              <a:t> </a:t>
            </a:r>
          </a:p>
        </p:txBody>
      </p:sp>
      <p:sp>
        <p:nvSpPr>
          <p:cNvPr id="99" name="文字方塊 98">
            <a:extLst>
              <a:ext uri="{FF2B5EF4-FFF2-40B4-BE49-F238E27FC236}">
                <a16:creationId xmlns:a16="http://schemas.microsoft.com/office/drawing/2014/main" id="{BEA73FDF-E6E9-416B-90DD-FCBAE273596D}"/>
              </a:ext>
            </a:extLst>
          </p:cNvPr>
          <p:cNvSpPr txBox="1">
            <a:spLocks noRot="1" noChangeAspect="1" noMove="1" noResize="1" noEditPoints="1" noAdjustHandles="1" noChangeArrowheads="1" noChangeShapeType="1" noTextEdit="1"/>
          </p:cNvSpPr>
          <p:nvPr/>
        </p:nvSpPr>
        <p:spPr>
          <a:xfrm>
            <a:off x="680608" y="1846490"/>
            <a:ext cx="1820627" cy="1038489"/>
          </a:xfrm>
          <a:prstGeom prst="rect">
            <a:avLst/>
          </a:prstGeom>
          <a:blipFill>
            <a:blip r:embed="rId12"/>
            <a:stretch>
              <a:fillRect l="-29861" t="-114458" r="-694" b="-174699"/>
            </a:stretch>
          </a:blipFill>
        </p:spPr>
        <p:txBody>
          <a:bodyPr/>
          <a:lstStyle/>
          <a:p>
            <a:pPr>
              <a:defRPr/>
            </a:pPr>
            <a:r>
              <a:rPr lang="zh-CN" altLang="en-US">
                <a:noFill/>
              </a:rPr>
              <a:t> </a:t>
            </a:r>
          </a:p>
        </p:txBody>
      </p:sp>
      <p:sp>
        <p:nvSpPr>
          <p:cNvPr id="100" name="箭號: 左-右雙向 99">
            <a:extLst>
              <a:ext uri="{FF2B5EF4-FFF2-40B4-BE49-F238E27FC236}">
                <a16:creationId xmlns:a16="http://schemas.microsoft.com/office/drawing/2014/main" id="{0BC08726-FA58-42BF-BA7C-680D9E7C7A01}"/>
              </a:ext>
            </a:extLst>
          </p:cNvPr>
          <p:cNvSpPr/>
          <p:nvPr/>
        </p:nvSpPr>
        <p:spPr>
          <a:xfrm>
            <a:off x="2501900" y="2239963"/>
            <a:ext cx="512763" cy="304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
        <p:nvSpPr>
          <p:cNvPr id="101" name="文字方塊 100">
            <a:extLst>
              <a:ext uri="{FF2B5EF4-FFF2-40B4-BE49-F238E27FC236}">
                <a16:creationId xmlns:a16="http://schemas.microsoft.com/office/drawing/2014/main" id="{1AA7924D-9AF8-4664-8D95-5E07A6E0809D}"/>
              </a:ext>
            </a:extLst>
          </p:cNvPr>
          <p:cNvSpPr txBox="1">
            <a:spLocks noRot="1" noChangeAspect="1" noMove="1" noResize="1" noEditPoints="1" noAdjustHandles="1" noChangeArrowheads="1" noChangeShapeType="1" noTextEdit="1"/>
          </p:cNvSpPr>
          <p:nvPr/>
        </p:nvSpPr>
        <p:spPr>
          <a:xfrm>
            <a:off x="3032127" y="2157520"/>
            <a:ext cx="926942" cy="369332"/>
          </a:xfrm>
          <a:prstGeom prst="rect">
            <a:avLst/>
          </a:prstGeom>
          <a:blipFill>
            <a:blip r:embed="rId13"/>
            <a:stretch>
              <a:fillRect/>
            </a:stretch>
          </a:blipFill>
        </p:spPr>
        <p:txBody>
          <a:bodyPr/>
          <a:lstStyle/>
          <a:p>
            <a:pPr>
              <a:defRPr/>
            </a:pPr>
            <a:r>
              <a:rPr lang="zh-CN" altLang="en-US">
                <a:noFill/>
              </a:rPr>
              <a:t> </a:t>
            </a:r>
          </a:p>
        </p:txBody>
      </p:sp>
      <p:grpSp>
        <p:nvGrpSpPr>
          <p:cNvPr id="83993" name="群組 56">
            <a:extLst>
              <a:ext uri="{FF2B5EF4-FFF2-40B4-BE49-F238E27FC236}">
                <a16:creationId xmlns:a16="http://schemas.microsoft.com/office/drawing/2014/main" id="{F5404E05-C9E0-4E6B-AFCF-213F0E2484D4}"/>
              </a:ext>
            </a:extLst>
          </p:cNvPr>
          <p:cNvGrpSpPr>
            <a:grpSpLocks/>
          </p:cNvGrpSpPr>
          <p:nvPr/>
        </p:nvGrpSpPr>
        <p:grpSpPr bwMode="auto">
          <a:xfrm>
            <a:off x="5673725" y="3686175"/>
            <a:ext cx="546100" cy="2727325"/>
            <a:chOff x="994609" y="3607827"/>
            <a:chExt cx="545431" cy="2727153"/>
          </a:xfrm>
        </p:grpSpPr>
        <p:sp>
          <p:nvSpPr>
            <p:cNvPr id="58" name="橢圓 57">
              <a:extLst>
                <a:ext uri="{FF2B5EF4-FFF2-40B4-BE49-F238E27FC236}">
                  <a16:creationId xmlns:a16="http://schemas.microsoft.com/office/drawing/2014/main" id="{4EB91516-F0AF-4BB8-BE88-F14C5BA4E15A}"/>
                </a:ext>
              </a:extLst>
            </p:cNvPr>
            <p:cNvSpPr>
              <a:spLocks noRot="1" noChangeAspect="1" noMove="1" noResize="1" noEditPoints="1" noAdjustHandles="1" noChangeArrowheads="1" noChangeShapeType="1" noTextEdit="1"/>
            </p:cNvSpPr>
            <p:nvPr/>
          </p:nvSpPr>
          <p:spPr>
            <a:xfrm>
              <a:off x="994609" y="3607827"/>
              <a:ext cx="545431" cy="545431"/>
            </a:xfrm>
            <a:prstGeom prst="ellipse">
              <a:avLst/>
            </a:prstGeom>
            <a:blipFill>
              <a:blip r:embed="rId14"/>
              <a:stretch>
                <a:fillRect/>
              </a:stretch>
            </a:blipFill>
          </p:spPr>
          <p:txBody>
            <a:bodyPr/>
            <a:lstStyle/>
            <a:p>
              <a:pPr>
                <a:defRPr/>
              </a:pPr>
              <a:r>
                <a:rPr lang="zh-CN" altLang="en-US">
                  <a:noFill/>
                </a:rPr>
                <a:t> </a:t>
              </a:r>
            </a:p>
          </p:txBody>
        </p:sp>
        <p:sp>
          <p:nvSpPr>
            <p:cNvPr id="59" name="橢圓 58">
              <a:extLst>
                <a:ext uri="{FF2B5EF4-FFF2-40B4-BE49-F238E27FC236}">
                  <a16:creationId xmlns:a16="http://schemas.microsoft.com/office/drawing/2014/main" id="{52EE7444-9585-4481-BF6C-AD332EFF0AED}"/>
                </a:ext>
              </a:extLst>
            </p:cNvPr>
            <p:cNvSpPr>
              <a:spLocks noRot="1" noChangeAspect="1" noMove="1" noResize="1" noEditPoints="1" noAdjustHandles="1" noChangeArrowheads="1" noChangeShapeType="1" noTextEdit="1"/>
            </p:cNvSpPr>
            <p:nvPr/>
          </p:nvSpPr>
          <p:spPr>
            <a:xfrm>
              <a:off x="994609" y="4698688"/>
              <a:ext cx="545431" cy="545431"/>
            </a:xfrm>
            <a:prstGeom prst="ellipse">
              <a:avLst/>
            </a:prstGeom>
            <a:blipFill>
              <a:blip r:embed="rId15"/>
              <a:stretch>
                <a:fillRect/>
              </a:stretch>
            </a:blipFill>
          </p:spPr>
          <p:txBody>
            <a:bodyPr/>
            <a:lstStyle/>
            <a:p>
              <a:pPr>
                <a:defRPr/>
              </a:pPr>
              <a:r>
                <a:rPr lang="zh-CN" altLang="en-US">
                  <a:noFill/>
                </a:rPr>
                <a:t> </a:t>
              </a:r>
            </a:p>
          </p:txBody>
        </p:sp>
        <p:sp>
          <p:nvSpPr>
            <p:cNvPr id="64" name="橢圓 63">
              <a:extLst>
                <a:ext uri="{FF2B5EF4-FFF2-40B4-BE49-F238E27FC236}">
                  <a16:creationId xmlns:a16="http://schemas.microsoft.com/office/drawing/2014/main" id="{AFEC9161-AECC-4F17-B582-52E9CD135F5B}"/>
                </a:ext>
              </a:extLst>
            </p:cNvPr>
            <p:cNvSpPr>
              <a:spLocks noRot="1" noChangeAspect="1" noMove="1" noResize="1" noEditPoints="1" noAdjustHandles="1" noChangeArrowheads="1" noChangeShapeType="1" noTextEdit="1"/>
            </p:cNvSpPr>
            <p:nvPr/>
          </p:nvSpPr>
          <p:spPr>
            <a:xfrm>
              <a:off x="994609" y="5789549"/>
              <a:ext cx="545431" cy="545431"/>
            </a:xfrm>
            <a:prstGeom prst="ellipse">
              <a:avLst/>
            </a:prstGeom>
            <a:blipFill>
              <a:blip r:embed="rId16"/>
              <a:stretch>
                <a:fillRect/>
              </a:stretch>
            </a:blipFill>
          </p:spPr>
          <p:txBody>
            <a:bodyPr/>
            <a:lstStyle/>
            <a:p>
              <a:pPr>
                <a:defRPr/>
              </a:pPr>
              <a:r>
                <a:rPr lang="zh-CN" altLang="en-US">
                  <a:noFill/>
                </a:rPr>
                <a:t> </a:t>
              </a:r>
            </a:p>
          </p:txBody>
        </p:sp>
      </p:grpSp>
      <p:cxnSp>
        <p:nvCxnSpPr>
          <p:cNvPr id="65" name="直線單箭頭接點 64">
            <a:extLst>
              <a:ext uri="{FF2B5EF4-FFF2-40B4-BE49-F238E27FC236}">
                <a16:creationId xmlns:a16="http://schemas.microsoft.com/office/drawing/2014/main" id="{DAC89D3E-0C78-41F3-9AD6-5EFB3EF44811}"/>
              </a:ext>
            </a:extLst>
          </p:cNvPr>
          <p:cNvCxnSpPr>
            <a:endCxn id="58" idx="2"/>
          </p:cNvCxnSpPr>
          <p:nvPr/>
        </p:nvCxnSpPr>
        <p:spPr>
          <a:xfrm flipV="1">
            <a:off x="3886200" y="3959225"/>
            <a:ext cx="1787525" cy="4587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0276E1CD-E808-4E79-B175-349253E0E3BD}"/>
              </a:ext>
            </a:extLst>
          </p:cNvPr>
          <p:cNvCxnSpPr>
            <a:endCxn id="59" idx="2"/>
          </p:cNvCxnSpPr>
          <p:nvPr/>
        </p:nvCxnSpPr>
        <p:spPr>
          <a:xfrm>
            <a:off x="3906838" y="4425950"/>
            <a:ext cx="1766887" cy="6238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C76F5288-9952-4397-9830-BAE6AE068892}"/>
              </a:ext>
            </a:extLst>
          </p:cNvPr>
          <p:cNvCxnSpPr>
            <a:endCxn id="64" idx="2"/>
          </p:cNvCxnSpPr>
          <p:nvPr/>
        </p:nvCxnSpPr>
        <p:spPr>
          <a:xfrm>
            <a:off x="3906838" y="4425950"/>
            <a:ext cx="1766887" cy="17145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4DC51018-11E2-4C4F-BBA9-7C4563E2D165}"/>
              </a:ext>
            </a:extLst>
          </p:cNvPr>
          <p:cNvCxnSpPr/>
          <p:nvPr/>
        </p:nvCxnSpPr>
        <p:spPr>
          <a:xfrm flipV="1">
            <a:off x="3921125" y="3959225"/>
            <a:ext cx="1752600" cy="16367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E02C6BEA-ED68-4C1E-96DA-207085C76827}"/>
              </a:ext>
            </a:extLst>
          </p:cNvPr>
          <p:cNvCxnSpPr/>
          <p:nvPr/>
        </p:nvCxnSpPr>
        <p:spPr>
          <a:xfrm flipV="1">
            <a:off x="3900488" y="5049838"/>
            <a:ext cx="1773237" cy="5445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EC0669CA-DE2C-4C87-9BD1-BEAB00D0445D}"/>
              </a:ext>
            </a:extLst>
          </p:cNvPr>
          <p:cNvCxnSpPr/>
          <p:nvPr/>
        </p:nvCxnSpPr>
        <p:spPr>
          <a:xfrm>
            <a:off x="3906838" y="5595938"/>
            <a:ext cx="1766887" cy="5445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FCDFD638-EC92-4335-8047-C0B50A9713B4}"/>
              </a:ext>
            </a:extLst>
          </p:cNvPr>
          <p:cNvSpPr txBox="1">
            <a:spLocks noRot="1" noChangeAspect="1" noMove="1" noResize="1" noEditPoints="1" noAdjustHandles="1" noChangeArrowheads="1" noChangeShapeType="1" noTextEdit="1"/>
          </p:cNvSpPr>
          <p:nvPr/>
        </p:nvSpPr>
        <p:spPr>
          <a:xfrm>
            <a:off x="5261851" y="4174108"/>
            <a:ext cx="457946" cy="373628"/>
          </a:xfrm>
          <a:prstGeom prst="rect">
            <a:avLst/>
          </a:prstGeom>
          <a:blipFill>
            <a:blip r:embed="rId17"/>
            <a:stretch>
              <a:fillRect l="-5405" r="-5405" b="-16667"/>
            </a:stretch>
          </a:blipFill>
        </p:spPr>
        <p:txBody>
          <a:bodyPr/>
          <a:lstStyle/>
          <a:p>
            <a:pPr>
              <a:defRPr/>
            </a:pPr>
            <a:r>
              <a:rPr lang="zh-CN" altLang="en-US">
                <a:noFill/>
              </a:rPr>
              <a:t> </a:t>
            </a:r>
          </a:p>
        </p:txBody>
      </p:sp>
      <p:sp>
        <p:nvSpPr>
          <p:cNvPr id="62" name="文字方塊 61">
            <a:extLst>
              <a:ext uri="{FF2B5EF4-FFF2-40B4-BE49-F238E27FC236}">
                <a16:creationId xmlns:a16="http://schemas.microsoft.com/office/drawing/2014/main" id="{16A55DFD-D09B-4FE6-8EDA-D4999CB9ECD7}"/>
              </a:ext>
            </a:extLst>
          </p:cNvPr>
          <p:cNvSpPr txBox="1">
            <a:spLocks noRot="1" noChangeAspect="1" noMove="1" noResize="1" noEditPoints="1" noAdjustHandles="1" noChangeArrowheads="1" noChangeShapeType="1" noTextEdit="1"/>
          </p:cNvSpPr>
          <p:nvPr/>
        </p:nvSpPr>
        <p:spPr>
          <a:xfrm>
            <a:off x="5153221" y="5162462"/>
            <a:ext cx="457946" cy="374333"/>
          </a:xfrm>
          <a:prstGeom prst="rect">
            <a:avLst/>
          </a:prstGeom>
          <a:blipFill>
            <a:blip r:embed="rId18"/>
            <a:stretch>
              <a:fillRect l="-8108" r="-2703" b="-16129"/>
            </a:stretch>
          </a:blipFill>
        </p:spPr>
        <p:txBody>
          <a:bodyPr/>
          <a:lstStyle/>
          <a:p>
            <a:pPr>
              <a:defRPr/>
            </a:pPr>
            <a:r>
              <a:rPr lang="zh-CN" altLang="en-US">
                <a:noFill/>
              </a:rPr>
              <a:t> </a:t>
            </a:r>
          </a:p>
        </p:txBody>
      </p:sp>
      <p:sp>
        <p:nvSpPr>
          <p:cNvPr id="63" name="文字方塊 62">
            <a:extLst>
              <a:ext uri="{FF2B5EF4-FFF2-40B4-BE49-F238E27FC236}">
                <a16:creationId xmlns:a16="http://schemas.microsoft.com/office/drawing/2014/main" id="{07E1B0B1-4F6A-47AC-96C7-8148D33E8EEB}"/>
              </a:ext>
            </a:extLst>
          </p:cNvPr>
          <p:cNvSpPr txBox="1">
            <a:spLocks noRot="1" noChangeAspect="1" noMove="1" noResize="1" noEditPoints="1" noAdjustHandles="1" noChangeArrowheads="1" noChangeShapeType="1" noTextEdit="1"/>
          </p:cNvSpPr>
          <p:nvPr/>
        </p:nvSpPr>
        <p:spPr>
          <a:xfrm>
            <a:off x="4899837" y="6064152"/>
            <a:ext cx="457946" cy="376193"/>
          </a:xfrm>
          <a:prstGeom prst="rect">
            <a:avLst/>
          </a:prstGeom>
          <a:blipFill>
            <a:blip r:embed="rId19"/>
            <a:stretch>
              <a:fillRect l="-5405" r="-2703" b="-16129"/>
            </a:stretch>
          </a:blipFill>
        </p:spPr>
        <p:txBody>
          <a:bodyPr/>
          <a:lstStyle/>
          <a:p>
            <a:pPr>
              <a:defRPr/>
            </a:pPr>
            <a:r>
              <a:rPr lang="zh-CN" altLang="en-US">
                <a:noFill/>
              </a:rPr>
              <a:t> </a:t>
            </a:r>
          </a:p>
        </p:txBody>
      </p:sp>
      <p:sp>
        <p:nvSpPr>
          <p:cNvPr id="69" name="箭號: 左-右雙向 68">
            <a:extLst>
              <a:ext uri="{FF2B5EF4-FFF2-40B4-BE49-F238E27FC236}">
                <a16:creationId xmlns:a16="http://schemas.microsoft.com/office/drawing/2014/main" id="{95653E5E-48BB-44AE-AD71-36DFFEADECB3}"/>
              </a:ext>
            </a:extLst>
          </p:cNvPr>
          <p:cNvSpPr/>
          <p:nvPr/>
        </p:nvSpPr>
        <p:spPr>
          <a:xfrm>
            <a:off x="6446838" y="4594225"/>
            <a:ext cx="1446212" cy="56832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spcBef>
                <a:spcPct val="50000"/>
              </a:spcBef>
              <a:defRPr/>
            </a:pPr>
            <a:endParaRPr lang="zh-TW" altLang="en-US"/>
          </a:p>
        </p:txBody>
      </p:sp>
      <p:sp>
        <p:nvSpPr>
          <p:cNvPr id="70" name="文字方塊 69">
            <a:extLst>
              <a:ext uri="{FF2B5EF4-FFF2-40B4-BE49-F238E27FC236}">
                <a16:creationId xmlns:a16="http://schemas.microsoft.com/office/drawing/2014/main" id="{4C83C391-76B4-44A8-B6E5-212845B54B89}"/>
              </a:ext>
            </a:extLst>
          </p:cNvPr>
          <p:cNvSpPr txBox="1">
            <a:spLocks noChangeArrowheads="1"/>
          </p:cNvSpPr>
          <p:nvPr/>
        </p:nvSpPr>
        <p:spPr bwMode="auto">
          <a:xfrm>
            <a:off x="6427788" y="3841750"/>
            <a:ext cx="14795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Minimize error</a:t>
            </a:r>
            <a:endParaRPr lang="zh-TW" altLang="en-US" sz="2400">
              <a:solidFill>
                <a:schemeClr val="hlink"/>
              </a:solidFill>
              <a:ea typeface="宋体" panose="02010600030101010101" pitchFamily="2" charset="-122"/>
            </a:endParaRPr>
          </a:p>
        </p:txBody>
      </p:sp>
      <p:sp>
        <p:nvSpPr>
          <p:cNvPr id="71" name="文字方塊 70">
            <a:extLst>
              <a:ext uri="{FF2B5EF4-FFF2-40B4-BE49-F238E27FC236}">
                <a16:creationId xmlns:a16="http://schemas.microsoft.com/office/drawing/2014/main" id="{F6652A14-32DA-4E83-9AB9-66E663D934CD}"/>
              </a:ext>
            </a:extLst>
          </p:cNvPr>
          <p:cNvSpPr txBox="1"/>
          <p:nvPr/>
        </p:nvSpPr>
        <p:spPr>
          <a:xfrm>
            <a:off x="6449068" y="5486060"/>
            <a:ext cx="1458934" cy="830997"/>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algn="ctr" eaLnBrk="1" hangingPunct="1">
              <a:spcBef>
                <a:spcPct val="50000"/>
              </a:spcBef>
              <a:defRPr/>
            </a:pPr>
            <a:r>
              <a:rPr lang="en-US" altLang="zh-TW" sz="2400" dirty="0"/>
              <a:t>Gradient Descent?</a:t>
            </a:r>
            <a:endParaRPr lang="zh-TW" altLang="en-US" sz="2400" dirty="0"/>
          </a:p>
        </p:txBody>
      </p:sp>
      <p:sp>
        <p:nvSpPr>
          <p:cNvPr id="78" name="文字方塊 77">
            <a:extLst>
              <a:ext uri="{FF2B5EF4-FFF2-40B4-BE49-F238E27FC236}">
                <a16:creationId xmlns:a16="http://schemas.microsoft.com/office/drawing/2014/main" id="{6DC80F67-A91B-4321-9CBB-23FBBFD81698}"/>
              </a:ext>
            </a:extLst>
          </p:cNvPr>
          <p:cNvSpPr txBox="1">
            <a:spLocks noRot="1" noChangeAspect="1" noMove="1" noResize="1" noEditPoints="1" noAdjustHandles="1" noChangeArrowheads="1" noChangeShapeType="1" noTextEdit="1"/>
          </p:cNvSpPr>
          <p:nvPr/>
        </p:nvSpPr>
        <p:spPr>
          <a:xfrm>
            <a:off x="7926526" y="4652807"/>
            <a:ext cx="926942" cy="369332"/>
          </a:xfrm>
          <a:prstGeom prst="rect">
            <a:avLst/>
          </a:prstGeom>
          <a:blipFill>
            <a:blip r:embed="rId20"/>
            <a:stretch>
              <a:fillRect/>
            </a:stretch>
          </a:blipFill>
        </p:spPr>
        <p:txBody>
          <a:bodyPr/>
          <a:lstStyle/>
          <a:p>
            <a:pPr>
              <a:defRPr/>
            </a:pPr>
            <a:r>
              <a:rPr lang="zh-CN" altLang="en-US">
                <a:noFill/>
              </a:rPr>
              <a:t> </a:t>
            </a:r>
          </a:p>
        </p:txBody>
      </p:sp>
      <p:sp>
        <p:nvSpPr>
          <p:cNvPr id="79" name="文字方塊 78">
            <a:extLst>
              <a:ext uri="{FF2B5EF4-FFF2-40B4-BE49-F238E27FC236}">
                <a16:creationId xmlns:a16="http://schemas.microsoft.com/office/drawing/2014/main" id="{4B071D92-F16B-40B8-BFB7-CB3B1BBF1072}"/>
              </a:ext>
            </a:extLst>
          </p:cNvPr>
          <p:cNvSpPr txBox="1"/>
          <p:nvPr/>
        </p:nvSpPr>
        <p:spPr>
          <a:xfrm>
            <a:off x="2457874" y="3051688"/>
            <a:ext cx="2078894" cy="46166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spcBef>
                <a:spcPct val="50000"/>
              </a:spcBef>
              <a:defRPr/>
            </a:pPr>
            <a:r>
              <a:rPr lang="en-US" altLang="zh-TW" sz="2400" dirty="0"/>
              <a:t>It can be deep.</a:t>
            </a:r>
            <a:endParaRPr lang="zh-TW" altLang="en-US" sz="2400" dirty="0"/>
          </a:p>
        </p:txBody>
      </p:sp>
      <p:sp>
        <p:nvSpPr>
          <p:cNvPr id="81" name="文字方塊 80">
            <a:extLst>
              <a:ext uri="{FF2B5EF4-FFF2-40B4-BE49-F238E27FC236}">
                <a16:creationId xmlns:a16="http://schemas.microsoft.com/office/drawing/2014/main" id="{BEC8A074-4C28-4103-9655-9D3CF62CCF18}"/>
              </a:ext>
            </a:extLst>
          </p:cNvPr>
          <p:cNvSpPr txBox="1"/>
          <p:nvPr/>
        </p:nvSpPr>
        <p:spPr>
          <a:xfrm>
            <a:off x="5287855" y="3052357"/>
            <a:ext cx="2963478"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algn="ctr" eaLnBrk="1" hangingPunct="1">
              <a:spcBef>
                <a:spcPct val="50000"/>
              </a:spcBef>
              <a:defRPr/>
            </a:pPr>
            <a:r>
              <a:rPr lang="en-US" altLang="zh-TW" sz="2400" dirty="0"/>
              <a:t>Deep Autoencoder</a:t>
            </a:r>
            <a:endParaRPr lang="zh-TW" altLang="en-US" sz="2400" dirty="0"/>
          </a:p>
        </p:txBody>
      </p:sp>
      <p:sp>
        <p:nvSpPr>
          <p:cNvPr id="82" name="箭號: 向右 81">
            <a:extLst>
              <a:ext uri="{FF2B5EF4-FFF2-40B4-BE49-F238E27FC236}">
                <a16:creationId xmlns:a16="http://schemas.microsoft.com/office/drawing/2014/main" id="{EC3646AD-EB08-4A3E-810F-6ACC305087C0}"/>
              </a:ext>
            </a:extLst>
          </p:cNvPr>
          <p:cNvSpPr/>
          <p:nvPr/>
        </p:nvSpPr>
        <p:spPr>
          <a:xfrm>
            <a:off x="4592638" y="3051175"/>
            <a:ext cx="604837" cy="4318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spcBef>
                <a:spcPct val="50000"/>
              </a:spcBef>
              <a:defRPr/>
            </a:pPr>
            <a:endParaRPr lang="zh-TW"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p:bldP spid="8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標題 1">
            <a:extLst>
              <a:ext uri="{FF2B5EF4-FFF2-40B4-BE49-F238E27FC236}">
                <a16:creationId xmlns:a16="http://schemas.microsoft.com/office/drawing/2014/main" id="{62446ABF-96A8-459D-90CD-3685ECFCA576}"/>
              </a:ext>
            </a:extLst>
          </p:cNvPr>
          <p:cNvSpPr>
            <a:spLocks noGrp="1" noChangeArrowheads="1"/>
          </p:cNvSpPr>
          <p:nvPr>
            <p:ph type="title"/>
          </p:nvPr>
        </p:nvSpPr>
        <p:spPr/>
        <p:txBody>
          <a:bodyPr/>
          <a:lstStyle/>
          <a:p>
            <a:r>
              <a:rPr lang="en-US" altLang="zh-TW"/>
              <a:t>PCA </a:t>
            </a:r>
            <a:endParaRPr lang="zh-TW" altLang="en-US"/>
          </a:p>
        </p:txBody>
      </p:sp>
      <p:sp>
        <p:nvSpPr>
          <p:cNvPr id="86018" name="內容版面配置區 2">
            <a:extLst>
              <a:ext uri="{FF2B5EF4-FFF2-40B4-BE49-F238E27FC236}">
                <a16:creationId xmlns:a16="http://schemas.microsoft.com/office/drawing/2014/main" id="{74BE03AE-E69C-4D7E-8C96-F6249B5B2690}"/>
              </a:ext>
            </a:extLst>
          </p:cNvPr>
          <p:cNvSpPr>
            <a:spLocks noGrp="1" noChangeArrowheads="1"/>
          </p:cNvSpPr>
          <p:nvPr>
            <p:ph idx="1"/>
          </p:nvPr>
        </p:nvSpPr>
        <p:spPr/>
        <p:txBody>
          <a:bodyPr/>
          <a:lstStyle/>
          <a:p>
            <a:r>
              <a:rPr lang="en-US" altLang="zh-TW" sz="2400"/>
              <a:t>How many principle components?</a:t>
            </a:r>
          </a:p>
          <a:p>
            <a:endParaRPr lang="zh-TW" altLang="en-US"/>
          </a:p>
        </p:txBody>
      </p:sp>
      <p:sp>
        <p:nvSpPr>
          <p:cNvPr id="4" name="文字方塊 3">
            <a:extLst>
              <a:ext uri="{FF2B5EF4-FFF2-40B4-BE49-F238E27FC236}">
                <a16:creationId xmlns:a16="http://schemas.microsoft.com/office/drawing/2014/main" id="{F18150A4-4FF8-4F5B-8EFB-A52E961C539D}"/>
              </a:ext>
            </a:extLst>
          </p:cNvPr>
          <p:cNvSpPr txBox="1">
            <a:spLocks noRot="1" noChangeAspect="1" noMove="1" noResize="1" noEditPoints="1" noAdjustHandles="1" noChangeArrowheads="1" noChangeShapeType="1" noTextEdit="1"/>
          </p:cNvSpPr>
          <p:nvPr/>
        </p:nvSpPr>
        <p:spPr>
          <a:xfrm>
            <a:off x="5291817" y="3524270"/>
            <a:ext cx="3699924" cy="764120"/>
          </a:xfrm>
          <a:prstGeom prst="rect">
            <a:avLst/>
          </a:prstGeom>
          <a:blipFill>
            <a:blip r:embed="rId3"/>
            <a:stretch>
              <a:fillRect l="-1712" t="-1639" b="-6557"/>
            </a:stretch>
          </a:blipFill>
        </p:spPr>
        <p:txBody>
          <a:bodyPr/>
          <a:lstStyle/>
          <a:p>
            <a:pPr>
              <a:defRPr/>
            </a:pPr>
            <a:r>
              <a:rPr lang="zh-CN" altLang="en-US">
                <a:noFill/>
              </a:rPr>
              <a:t> </a:t>
            </a:r>
          </a:p>
        </p:txBody>
      </p:sp>
      <p:pic>
        <p:nvPicPr>
          <p:cNvPr id="6" name="表格 5">
            <a:extLst>
              <a:ext uri="{FF2B5EF4-FFF2-40B4-BE49-F238E27FC236}">
                <a16:creationId xmlns:a16="http://schemas.microsoft.com/office/drawing/2014/main" id="{7F141E35-13B4-44C5-9893-9730E7CAD248}"/>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4762500"/>
            <a:ext cx="6807200" cy="1066800"/>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B171DF9-1ECA-4645-A2F9-A03A45185F18}"/>
              </a:ext>
            </a:extLst>
          </p:cNvPr>
          <p:cNvSpPr txBox="1">
            <a:spLocks noChangeArrowheads="1"/>
          </p:cNvSpPr>
          <p:nvPr/>
        </p:nvSpPr>
        <p:spPr bwMode="auto">
          <a:xfrm>
            <a:off x="2351088" y="5756275"/>
            <a:ext cx="5519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Using 4 components is good enough</a:t>
            </a:r>
            <a:endParaRPr lang="zh-TW" altLang="en-US" sz="2400">
              <a:solidFill>
                <a:schemeClr val="hlink"/>
              </a:solidFill>
              <a:ea typeface="宋体" panose="02010600030101010101" pitchFamily="2" charset="-122"/>
            </a:endParaRPr>
          </a:p>
        </p:txBody>
      </p:sp>
      <p:sp>
        <p:nvSpPr>
          <p:cNvPr id="5" name="矩形 4">
            <a:extLst>
              <a:ext uri="{FF2B5EF4-FFF2-40B4-BE49-F238E27FC236}">
                <a16:creationId xmlns:a16="http://schemas.microsoft.com/office/drawing/2014/main" id="{62FAE2CE-DBD0-4BE9-92AD-B7E8CB742593}"/>
              </a:ext>
            </a:extLst>
          </p:cNvPr>
          <p:cNvSpPr/>
          <p:nvPr/>
        </p:nvSpPr>
        <p:spPr>
          <a:xfrm>
            <a:off x="2351088" y="4775200"/>
            <a:ext cx="3857625"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標題 1">
            <a:extLst>
              <a:ext uri="{FF2B5EF4-FFF2-40B4-BE49-F238E27FC236}">
                <a16:creationId xmlns:a16="http://schemas.microsoft.com/office/drawing/2014/main" id="{F4A7FFFF-BE5B-476D-89D4-1820C911C1FA}"/>
              </a:ext>
            </a:extLst>
          </p:cNvPr>
          <p:cNvSpPr>
            <a:spLocks noGrp="1" noChangeArrowheads="1"/>
          </p:cNvSpPr>
          <p:nvPr>
            <p:ph type="title"/>
          </p:nvPr>
        </p:nvSpPr>
        <p:spPr/>
        <p:txBody>
          <a:bodyPr/>
          <a:lstStyle/>
          <a:p>
            <a:r>
              <a:rPr lang="en-US" altLang="zh-TW"/>
              <a:t>PCA - MNIST</a:t>
            </a:r>
            <a:endParaRPr lang="zh-TW" altLang="en-US"/>
          </a:p>
        </p:txBody>
      </p:sp>
      <p:pic>
        <p:nvPicPr>
          <p:cNvPr id="8" name="內容版面配置區 7">
            <a:extLst>
              <a:ext uri="{FF2B5EF4-FFF2-40B4-BE49-F238E27FC236}">
                <a16:creationId xmlns:a16="http://schemas.microsoft.com/office/drawing/2014/main" id="{319D5242-3874-47EB-9A7D-000E1E03F7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31838" y="1882775"/>
            <a:ext cx="10331451" cy="4994275"/>
          </a:xfrm>
        </p:spPr>
      </p:pic>
      <p:pic>
        <p:nvPicPr>
          <p:cNvPr id="88067" name="圖片 3">
            <a:extLst>
              <a:ext uri="{FF2B5EF4-FFF2-40B4-BE49-F238E27FC236}">
                <a16:creationId xmlns:a16="http://schemas.microsoft.com/office/drawing/2014/main" id="{ED6A92CF-F707-4165-B4FC-5A3BA9F2C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263" y="603250"/>
            <a:ext cx="85883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字方塊 2">
            <a:extLst>
              <a:ext uri="{FF2B5EF4-FFF2-40B4-BE49-F238E27FC236}">
                <a16:creationId xmlns:a16="http://schemas.microsoft.com/office/drawing/2014/main" id="{D21BE45F-9198-48A9-9053-6281F9464A19}"/>
              </a:ext>
            </a:extLst>
          </p:cNvPr>
          <p:cNvSpPr txBox="1">
            <a:spLocks noChangeArrowheads="1"/>
          </p:cNvSpPr>
          <p:nvPr/>
        </p:nvSpPr>
        <p:spPr bwMode="auto">
          <a:xfrm>
            <a:off x="377825" y="1741488"/>
            <a:ext cx="23225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30 components:</a:t>
            </a:r>
            <a:endParaRPr lang="zh-TW" altLang="en-US" sz="2400">
              <a:solidFill>
                <a:schemeClr val="hlink"/>
              </a:solidFill>
              <a:ea typeface="宋体" panose="02010600030101010101" pitchFamily="2" charset="-122"/>
            </a:endParaRPr>
          </a:p>
        </p:txBody>
      </p:sp>
      <p:sp>
        <p:nvSpPr>
          <p:cNvPr id="7" name="文字方塊 6">
            <a:extLst>
              <a:ext uri="{FF2B5EF4-FFF2-40B4-BE49-F238E27FC236}">
                <a16:creationId xmlns:a16="http://schemas.microsoft.com/office/drawing/2014/main" id="{15D0A1E4-26CD-41E5-96A9-96A58D0D4C6F}"/>
              </a:ext>
            </a:extLst>
          </p:cNvPr>
          <p:cNvSpPr txBox="1">
            <a:spLocks noRot="1" noChangeAspect="1" noMove="1" noResize="1" noEditPoints="1" noAdjustHandles="1" noChangeArrowheads="1" noChangeShapeType="1" noTextEdit="1"/>
          </p:cNvSpPr>
          <p:nvPr/>
        </p:nvSpPr>
        <p:spPr>
          <a:xfrm>
            <a:off x="5078734" y="812463"/>
            <a:ext cx="3237745" cy="430887"/>
          </a:xfrm>
          <a:prstGeom prst="rect">
            <a:avLst/>
          </a:prstGeom>
          <a:blipFill>
            <a:blip r:embed="rId4"/>
            <a:stretch>
              <a:fillRect l="-781" b="-14286"/>
            </a:stretch>
          </a:blipFill>
        </p:spPr>
        <p:txBody>
          <a:bodyPr/>
          <a:lstStyle/>
          <a:p>
            <a:pPr>
              <a:defRPr/>
            </a:pPr>
            <a:r>
              <a:rPr lang="zh-CN" altLang="en-US">
                <a:noFill/>
              </a:rPr>
              <a:t> </a:t>
            </a:r>
          </a:p>
        </p:txBody>
      </p:sp>
      <p:sp>
        <p:nvSpPr>
          <p:cNvPr id="9" name="文字方塊 8">
            <a:extLst>
              <a:ext uri="{FF2B5EF4-FFF2-40B4-BE49-F238E27FC236}">
                <a16:creationId xmlns:a16="http://schemas.microsoft.com/office/drawing/2014/main" id="{EB9E1822-9727-43FB-BD2D-B84384584936}"/>
              </a:ext>
            </a:extLst>
          </p:cNvPr>
          <p:cNvSpPr txBox="1">
            <a:spLocks noChangeArrowheads="1"/>
          </p:cNvSpPr>
          <p:nvPr/>
        </p:nvSpPr>
        <p:spPr bwMode="auto">
          <a:xfrm>
            <a:off x="5935663" y="1485900"/>
            <a:ext cx="1524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images</a:t>
            </a:r>
            <a:endParaRPr lang="zh-TW" altLang="en-US" sz="2400">
              <a:solidFill>
                <a:schemeClr val="hlink"/>
              </a:solidFill>
              <a:ea typeface="宋体" panose="02010600030101010101" pitchFamily="2" charset="-122"/>
            </a:endParaRPr>
          </a:p>
        </p:txBody>
      </p:sp>
      <p:sp>
        <p:nvSpPr>
          <p:cNvPr id="10" name="文字方塊 9">
            <a:extLst>
              <a:ext uri="{FF2B5EF4-FFF2-40B4-BE49-F238E27FC236}">
                <a16:creationId xmlns:a16="http://schemas.microsoft.com/office/drawing/2014/main" id="{CF8F3164-4854-46E7-B9BE-5C15708BEDE2}"/>
              </a:ext>
            </a:extLst>
          </p:cNvPr>
          <p:cNvSpPr txBox="1">
            <a:spLocks noChangeArrowheads="1"/>
          </p:cNvSpPr>
          <p:nvPr/>
        </p:nvSpPr>
        <p:spPr bwMode="auto">
          <a:xfrm>
            <a:off x="6677025" y="6180138"/>
            <a:ext cx="18494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Eigen-digits</a:t>
            </a:r>
            <a:endParaRPr lang="zh-TW" altLang="en-US" sz="2400">
              <a:solidFill>
                <a:schemeClr val="hlink"/>
              </a:solidFill>
              <a:ea typeface="宋体" panose="02010600030101010101" pitchFamily="2" charset="-122"/>
            </a:endParaRPr>
          </a:p>
        </p:txBody>
      </p:sp>
      <p:cxnSp>
        <p:nvCxnSpPr>
          <p:cNvPr id="12" name="直線接點 11">
            <a:extLst>
              <a:ext uri="{FF2B5EF4-FFF2-40B4-BE49-F238E27FC236}">
                <a16:creationId xmlns:a16="http://schemas.microsoft.com/office/drawing/2014/main" id="{E94440FA-C191-4D28-B897-9501DC0AA382}"/>
              </a:ext>
            </a:extLst>
          </p:cNvPr>
          <p:cNvCxnSpPr/>
          <p:nvPr/>
        </p:nvCxnSpPr>
        <p:spPr>
          <a:xfrm>
            <a:off x="5848350" y="1200150"/>
            <a:ext cx="34925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C7C5736-9D11-437B-A319-5DF79C11C455}"/>
              </a:ext>
            </a:extLst>
          </p:cNvPr>
          <p:cNvCxnSpPr/>
          <p:nvPr/>
        </p:nvCxnSpPr>
        <p:spPr>
          <a:xfrm>
            <a:off x="6053138" y="1200150"/>
            <a:ext cx="319087" cy="28575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2F962C14-A95C-402A-95E0-D5C1A04982F4}"/>
              </a:ext>
            </a:extLst>
          </p:cNvPr>
          <p:cNvCxnSpPr/>
          <p:nvPr/>
        </p:nvCxnSpPr>
        <p:spPr>
          <a:xfrm>
            <a:off x="7110413" y="1200150"/>
            <a:ext cx="34925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166139C0-20F9-42F5-87BE-95BCCA8CA063}"/>
              </a:ext>
            </a:extLst>
          </p:cNvPr>
          <p:cNvCxnSpPr/>
          <p:nvPr/>
        </p:nvCxnSpPr>
        <p:spPr>
          <a:xfrm flipH="1">
            <a:off x="6935788" y="1204913"/>
            <a:ext cx="320675" cy="280987"/>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標題 1">
            <a:extLst>
              <a:ext uri="{FF2B5EF4-FFF2-40B4-BE49-F238E27FC236}">
                <a16:creationId xmlns:a16="http://schemas.microsoft.com/office/drawing/2014/main" id="{3F50E9E5-3D99-41AE-A133-BD608EA36D52}"/>
              </a:ext>
            </a:extLst>
          </p:cNvPr>
          <p:cNvSpPr>
            <a:spLocks noGrp="1" noChangeArrowheads="1"/>
          </p:cNvSpPr>
          <p:nvPr>
            <p:ph type="title"/>
          </p:nvPr>
        </p:nvSpPr>
        <p:spPr/>
        <p:txBody>
          <a:bodyPr/>
          <a:lstStyle/>
          <a:p>
            <a:r>
              <a:rPr lang="en-US" altLang="zh-TW"/>
              <a:t>PCA - Face</a:t>
            </a:r>
            <a:endParaRPr lang="zh-TW" altLang="en-US"/>
          </a:p>
        </p:txBody>
      </p:sp>
      <p:pic>
        <p:nvPicPr>
          <p:cNvPr id="4" name="內容版面配置區 3">
            <a:extLst>
              <a:ext uri="{FF2B5EF4-FFF2-40B4-BE49-F238E27FC236}">
                <a16:creationId xmlns:a16="http://schemas.microsoft.com/office/drawing/2014/main" id="{B2217999-B2E7-42D2-8CF8-1BEE59FAED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8975" y="1878013"/>
            <a:ext cx="10090150" cy="4878387"/>
          </a:xfrm>
        </p:spPr>
      </p:pic>
      <p:pic>
        <p:nvPicPr>
          <p:cNvPr id="89091" name="圖片 2">
            <a:extLst>
              <a:ext uri="{FF2B5EF4-FFF2-40B4-BE49-F238E27FC236}">
                <a16:creationId xmlns:a16="http://schemas.microsoft.com/office/drawing/2014/main" id="{C49029CD-85FA-4079-9FE1-25CA96EBB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00" y="276225"/>
            <a:ext cx="39528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字方塊 5">
            <a:extLst>
              <a:ext uri="{FF2B5EF4-FFF2-40B4-BE49-F238E27FC236}">
                <a16:creationId xmlns:a16="http://schemas.microsoft.com/office/drawing/2014/main" id="{18CEB577-7CDD-40EB-96BF-680B455B0FB4}"/>
              </a:ext>
            </a:extLst>
          </p:cNvPr>
          <p:cNvSpPr txBox="1">
            <a:spLocks noChangeArrowheads="1"/>
          </p:cNvSpPr>
          <p:nvPr/>
        </p:nvSpPr>
        <p:spPr bwMode="auto">
          <a:xfrm>
            <a:off x="6731000" y="6124575"/>
            <a:ext cx="2162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Eigen-face</a:t>
            </a:r>
            <a:endParaRPr lang="zh-TW" altLang="en-US" sz="2400">
              <a:solidFill>
                <a:schemeClr val="hlink"/>
              </a:solidFill>
              <a:ea typeface="宋体" panose="02010600030101010101" pitchFamily="2" charset="-122"/>
            </a:endParaRPr>
          </a:p>
        </p:txBody>
      </p:sp>
      <p:sp>
        <p:nvSpPr>
          <p:cNvPr id="7" name="文字方塊 6">
            <a:extLst>
              <a:ext uri="{FF2B5EF4-FFF2-40B4-BE49-F238E27FC236}">
                <a16:creationId xmlns:a16="http://schemas.microsoft.com/office/drawing/2014/main" id="{B814F220-1435-4602-A03A-9F91E52CFE6C}"/>
              </a:ext>
            </a:extLst>
          </p:cNvPr>
          <p:cNvSpPr txBox="1">
            <a:spLocks noChangeArrowheads="1"/>
          </p:cNvSpPr>
          <p:nvPr/>
        </p:nvSpPr>
        <p:spPr bwMode="auto">
          <a:xfrm>
            <a:off x="377825" y="1741488"/>
            <a:ext cx="23225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400">
                <a:solidFill>
                  <a:schemeClr val="hlink"/>
                </a:solidFill>
                <a:ea typeface="宋体" panose="02010600030101010101" pitchFamily="2" charset="-122"/>
              </a:rPr>
              <a:t>30 components:</a:t>
            </a:r>
            <a:endParaRPr lang="zh-TW" altLang="en-US" sz="2400">
              <a:solidFill>
                <a:schemeClr val="hlink"/>
              </a:solidFill>
              <a:ea typeface="宋体" panose="02010600030101010101" pitchFamily="2" charset="-122"/>
            </a:endParaRPr>
          </a:p>
        </p:txBody>
      </p:sp>
      <p:sp>
        <p:nvSpPr>
          <p:cNvPr id="89094" name="矩形 4">
            <a:extLst>
              <a:ext uri="{FF2B5EF4-FFF2-40B4-BE49-F238E27FC236}">
                <a16:creationId xmlns:a16="http://schemas.microsoft.com/office/drawing/2014/main" id="{A4C62A68-A5E1-45C3-94E8-789174ABDF35}"/>
              </a:ext>
            </a:extLst>
          </p:cNvPr>
          <p:cNvSpPr>
            <a:spLocks noChangeArrowheads="1"/>
          </p:cNvSpPr>
          <p:nvPr/>
        </p:nvSpPr>
        <p:spPr bwMode="auto">
          <a:xfrm>
            <a:off x="2159000" y="611028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TW" sz="2000">
                <a:solidFill>
                  <a:schemeClr val="hlink"/>
                </a:solidFill>
                <a:ea typeface="宋体" panose="02010600030101010101" pitchFamily="2" charset="-122"/>
              </a:rPr>
              <a:t>http://www.cs.unc.edu/~lazebnik/research/spring08/assignment3.html</a:t>
            </a:r>
            <a:endParaRPr lang="zh-TW" altLang="en-US" sz="2000">
              <a:solidFill>
                <a:schemeClr va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6">
            <a:extLst>
              <a:ext uri="{FF2B5EF4-FFF2-40B4-BE49-F238E27FC236}">
                <a16:creationId xmlns:a16="http://schemas.microsoft.com/office/drawing/2014/main" id="{84407126-5BD0-4A3F-AAA4-38AD8A0946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57B4DDD-9CF8-415D-9FAF-F9A45F1EC888}" type="slidenum">
              <a:rPr lang="en-US" altLang="zh-CN" sz="1000" smtClean="0">
                <a:ea typeface="宋体" panose="02010600030101010101" pitchFamily="2" charset="-122"/>
              </a:rPr>
              <a:pPr>
                <a:spcBef>
                  <a:spcPct val="0"/>
                </a:spcBef>
                <a:buClrTx/>
                <a:buFontTx/>
                <a:buNone/>
              </a:pPr>
              <a:t>53</a:t>
            </a:fld>
            <a:endParaRPr lang="en-US" altLang="zh-CN" sz="1000">
              <a:ea typeface="宋体" panose="02010600030101010101" pitchFamily="2" charset="-122"/>
            </a:endParaRPr>
          </a:p>
        </p:txBody>
      </p:sp>
      <p:sp>
        <p:nvSpPr>
          <p:cNvPr id="91138" name="Rectangle 2">
            <a:extLst>
              <a:ext uri="{FF2B5EF4-FFF2-40B4-BE49-F238E27FC236}">
                <a16:creationId xmlns:a16="http://schemas.microsoft.com/office/drawing/2014/main" id="{FEC36990-3ECB-4CC8-A5A4-B6DB8C75F481}"/>
              </a:ext>
            </a:extLst>
          </p:cNvPr>
          <p:cNvSpPr>
            <a:spLocks noGrp="1" noChangeArrowheads="1"/>
          </p:cNvSpPr>
          <p:nvPr>
            <p:ph type="title"/>
          </p:nvPr>
        </p:nvSpPr>
        <p:spPr/>
        <p:txBody>
          <a:bodyPr/>
          <a:lstStyle/>
          <a:p>
            <a:pPr eaLnBrk="1" hangingPunct="1"/>
            <a:r>
              <a:rPr lang="zh-CN" altLang="en-US"/>
              <a:t>线性降维方法</a:t>
            </a:r>
          </a:p>
        </p:txBody>
      </p:sp>
      <p:pic>
        <p:nvPicPr>
          <p:cNvPr id="91139" name="Picture 5">
            <a:extLst>
              <a:ext uri="{FF2B5EF4-FFF2-40B4-BE49-F238E27FC236}">
                <a16:creationId xmlns:a16="http://schemas.microsoft.com/office/drawing/2014/main" id="{D0C793FA-B453-43F9-833E-A5EA7A25F9D5}"/>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438400" y="3886200"/>
            <a:ext cx="4267200" cy="2459038"/>
          </a:xfrm>
          <a:noFill/>
        </p:spPr>
      </p:pic>
      <p:sp>
        <p:nvSpPr>
          <p:cNvPr id="91140" name="Rectangle 8">
            <a:extLst>
              <a:ext uri="{FF2B5EF4-FFF2-40B4-BE49-F238E27FC236}">
                <a16:creationId xmlns:a16="http://schemas.microsoft.com/office/drawing/2014/main" id="{7CEE6BD7-66D9-426D-820F-6E527AAB038F}"/>
              </a:ext>
            </a:extLst>
          </p:cNvPr>
          <p:cNvSpPr>
            <a:spLocks noGrp="1" noChangeArrowheads="1"/>
          </p:cNvSpPr>
          <p:nvPr>
            <p:ph type="body" idx="1"/>
          </p:nvPr>
        </p:nvSpPr>
        <p:spPr>
          <a:xfrm>
            <a:off x="457200" y="1600200"/>
            <a:ext cx="8382000" cy="5029200"/>
          </a:xfrm>
          <a:noFill/>
        </p:spPr>
        <p:txBody>
          <a:bodyPr/>
          <a:lstStyle/>
          <a:p>
            <a:pPr eaLnBrk="1" hangingPunct="1"/>
            <a:r>
              <a:rPr lang="zh-CN" altLang="en-US" sz="2800"/>
              <a:t>主成分分析</a:t>
            </a:r>
            <a:r>
              <a:rPr lang="en-US" altLang="zh-CN" sz="2800"/>
              <a:t>(PCA) [Jolliffe, 1986]</a:t>
            </a:r>
          </a:p>
          <a:p>
            <a:pPr lvl="1" eaLnBrk="1" hangingPunct="1"/>
            <a:r>
              <a:rPr lang="zh-CN" altLang="zh-CN" sz="2300"/>
              <a:t>PCA对于椭球状分布的样本集有很好的效果, 学习所得的主方向就是椭球的主轴方向. </a:t>
            </a:r>
          </a:p>
          <a:p>
            <a:pPr lvl="1" eaLnBrk="1" hangingPunct="1"/>
            <a:r>
              <a:rPr lang="zh-CN" altLang="zh-CN" sz="2300"/>
              <a:t>PCA 是一种非监督的算法, 能找到很好地代表所有样本的方向, 但这个方向对于分类未必是最有利的</a:t>
            </a:r>
            <a:endParaRPr lang="zh-CN" altLang="en-US" sz="23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1" name="標題 1">
            <a:extLst>
              <a:ext uri="{FF2B5EF4-FFF2-40B4-BE49-F238E27FC236}">
                <a16:creationId xmlns:a16="http://schemas.microsoft.com/office/drawing/2014/main" id="{6AA134F4-A551-4AF3-B605-8515337F74A6}"/>
              </a:ext>
            </a:extLst>
          </p:cNvPr>
          <p:cNvSpPr>
            <a:spLocks noGrp="1" noChangeArrowheads="1"/>
          </p:cNvSpPr>
          <p:nvPr>
            <p:ph type="title"/>
          </p:nvPr>
        </p:nvSpPr>
        <p:spPr/>
        <p:txBody>
          <a:bodyPr/>
          <a:lstStyle/>
          <a:p>
            <a:r>
              <a:rPr lang="en-US" altLang="zh-TW"/>
              <a:t>Weakness of PCA</a:t>
            </a:r>
            <a:endParaRPr lang="zh-TW" altLang="en-US"/>
          </a:p>
        </p:txBody>
      </p:sp>
      <p:sp>
        <p:nvSpPr>
          <p:cNvPr id="92162" name="內容版面配置區 2">
            <a:extLst>
              <a:ext uri="{FF2B5EF4-FFF2-40B4-BE49-F238E27FC236}">
                <a16:creationId xmlns:a16="http://schemas.microsoft.com/office/drawing/2014/main" id="{8DFE7F36-3F69-46FB-AC5B-4C9D0E58B37E}"/>
              </a:ext>
            </a:extLst>
          </p:cNvPr>
          <p:cNvSpPr>
            <a:spLocks noGrp="1" noChangeArrowheads="1"/>
          </p:cNvSpPr>
          <p:nvPr>
            <p:ph sz="half" idx="1"/>
          </p:nvPr>
        </p:nvSpPr>
        <p:spPr/>
        <p:txBody>
          <a:bodyPr/>
          <a:lstStyle/>
          <a:p>
            <a:r>
              <a:rPr lang="en-US" altLang="zh-TW"/>
              <a:t>Unsupervised</a:t>
            </a:r>
          </a:p>
          <a:p>
            <a:endParaRPr lang="zh-TW" altLang="en-US"/>
          </a:p>
        </p:txBody>
      </p:sp>
      <p:sp>
        <p:nvSpPr>
          <p:cNvPr id="92163" name="內容版面配置區 3">
            <a:extLst>
              <a:ext uri="{FF2B5EF4-FFF2-40B4-BE49-F238E27FC236}">
                <a16:creationId xmlns:a16="http://schemas.microsoft.com/office/drawing/2014/main" id="{87C93D59-33FB-4776-A4E0-1179F363FC3D}"/>
              </a:ext>
            </a:extLst>
          </p:cNvPr>
          <p:cNvSpPr>
            <a:spLocks noGrp="1" noChangeArrowheads="1"/>
          </p:cNvSpPr>
          <p:nvPr>
            <p:ph sz="half" idx="2"/>
          </p:nvPr>
        </p:nvSpPr>
        <p:spPr/>
        <p:txBody>
          <a:bodyPr/>
          <a:lstStyle/>
          <a:p>
            <a:r>
              <a:rPr lang="en-US" altLang="zh-TW"/>
              <a:t>Linear</a:t>
            </a:r>
            <a:endParaRPr lang="zh-TW" altLang="en-US"/>
          </a:p>
          <a:p>
            <a:endParaRPr lang="zh-TW" altLang="en-US"/>
          </a:p>
        </p:txBody>
      </p:sp>
      <p:grpSp>
        <p:nvGrpSpPr>
          <p:cNvPr id="16" name="群組 15">
            <a:extLst>
              <a:ext uri="{FF2B5EF4-FFF2-40B4-BE49-F238E27FC236}">
                <a16:creationId xmlns:a16="http://schemas.microsoft.com/office/drawing/2014/main" id="{75E86BB4-E8B6-4314-A397-A8BF44CED996}"/>
              </a:ext>
            </a:extLst>
          </p:cNvPr>
          <p:cNvGrpSpPr>
            <a:grpSpLocks/>
          </p:cNvGrpSpPr>
          <p:nvPr/>
        </p:nvGrpSpPr>
        <p:grpSpPr bwMode="auto">
          <a:xfrm rot="256791">
            <a:off x="2760663" y="2586038"/>
            <a:ext cx="1292225" cy="1273175"/>
            <a:chOff x="2370272" y="2727702"/>
            <a:chExt cx="1291848" cy="1273592"/>
          </a:xfrm>
        </p:grpSpPr>
        <p:sp>
          <p:nvSpPr>
            <p:cNvPr id="5" name="橢圓 4">
              <a:extLst>
                <a:ext uri="{FF2B5EF4-FFF2-40B4-BE49-F238E27FC236}">
                  <a16:creationId xmlns:a16="http://schemas.microsoft.com/office/drawing/2014/main" id="{184A05D8-E1F1-41A6-9D29-247993A74295}"/>
                </a:ext>
              </a:extLst>
            </p:cNvPr>
            <p:cNvSpPr/>
            <p:nvPr/>
          </p:nvSpPr>
          <p:spPr>
            <a:xfrm rot="2206548">
              <a:off x="2370006" y="2727233"/>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7" name="橢圓 6">
              <a:extLst>
                <a:ext uri="{FF2B5EF4-FFF2-40B4-BE49-F238E27FC236}">
                  <a16:creationId xmlns:a16="http://schemas.microsoft.com/office/drawing/2014/main" id="{7FBE83AA-BF59-4216-BA53-6692EDB6FA89}"/>
                </a:ext>
              </a:extLst>
            </p:cNvPr>
            <p:cNvSpPr/>
            <p:nvPr/>
          </p:nvSpPr>
          <p:spPr>
            <a:xfrm rot="2206548">
              <a:off x="2619748" y="2917145"/>
              <a:ext cx="201553"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8" name="橢圓 7">
              <a:extLst>
                <a:ext uri="{FF2B5EF4-FFF2-40B4-BE49-F238E27FC236}">
                  <a16:creationId xmlns:a16="http://schemas.microsoft.com/office/drawing/2014/main" id="{19603378-82EA-4BB4-A00F-83EB5EEED330}"/>
                </a:ext>
              </a:extLst>
            </p:cNvPr>
            <p:cNvSpPr/>
            <p:nvPr/>
          </p:nvSpPr>
          <p:spPr>
            <a:xfrm rot="2206548">
              <a:off x="2940331" y="3224370"/>
              <a:ext cx="201554"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9" name="橢圓 8">
              <a:extLst>
                <a:ext uri="{FF2B5EF4-FFF2-40B4-BE49-F238E27FC236}">
                  <a16:creationId xmlns:a16="http://schemas.microsoft.com/office/drawing/2014/main" id="{2A245F42-4EED-42AD-AE94-79D9C1F002EA}"/>
                </a:ext>
              </a:extLst>
            </p:cNvPr>
            <p:cNvSpPr/>
            <p:nvPr/>
          </p:nvSpPr>
          <p:spPr>
            <a:xfrm rot="2206548">
              <a:off x="2346248" y="3090502"/>
              <a:ext cx="201553"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0" name="橢圓 9">
              <a:extLst>
                <a:ext uri="{FF2B5EF4-FFF2-40B4-BE49-F238E27FC236}">
                  <a16:creationId xmlns:a16="http://schemas.microsoft.com/office/drawing/2014/main" id="{0F427E16-CDC2-4D62-A916-D5D5D5DFDE20}"/>
                </a:ext>
              </a:extLst>
            </p:cNvPr>
            <p:cNvSpPr/>
            <p:nvPr/>
          </p:nvSpPr>
          <p:spPr>
            <a:xfrm rot="2206548">
              <a:off x="2641832" y="3361380"/>
              <a:ext cx="201554"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1" name="橢圓 10">
              <a:extLst>
                <a:ext uri="{FF2B5EF4-FFF2-40B4-BE49-F238E27FC236}">
                  <a16:creationId xmlns:a16="http://schemas.microsoft.com/office/drawing/2014/main" id="{9CA39FDF-0035-4152-AB4A-452F9FA314E3}"/>
                </a:ext>
              </a:extLst>
            </p:cNvPr>
            <p:cNvSpPr/>
            <p:nvPr/>
          </p:nvSpPr>
          <p:spPr>
            <a:xfrm rot="2206548">
              <a:off x="3143344" y="3556322"/>
              <a:ext cx="201554" cy="200091"/>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2" name="橢圓 11">
              <a:extLst>
                <a:ext uri="{FF2B5EF4-FFF2-40B4-BE49-F238E27FC236}">
                  <a16:creationId xmlns:a16="http://schemas.microsoft.com/office/drawing/2014/main" id="{361AD9F8-C169-4D28-B3C2-45C19799EBF9}"/>
                </a:ext>
              </a:extLst>
            </p:cNvPr>
            <p:cNvSpPr/>
            <p:nvPr/>
          </p:nvSpPr>
          <p:spPr>
            <a:xfrm rot="2206548">
              <a:off x="3336647" y="3374638"/>
              <a:ext cx="201554" cy="200091"/>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3" name="橢圓 12">
              <a:extLst>
                <a:ext uri="{FF2B5EF4-FFF2-40B4-BE49-F238E27FC236}">
                  <a16:creationId xmlns:a16="http://schemas.microsoft.com/office/drawing/2014/main" id="{350E8F5C-CAC4-4D00-BEB4-B00ADEB2EFD9}"/>
                </a:ext>
              </a:extLst>
            </p:cNvPr>
            <p:cNvSpPr/>
            <p:nvPr/>
          </p:nvSpPr>
          <p:spPr>
            <a:xfrm rot="2206548">
              <a:off x="2967169" y="2902276"/>
              <a:ext cx="201554"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4" name="橢圓 13">
              <a:extLst>
                <a:ext uri="{FF2B5EF4-FFF2-40B4-BE49-F238E27FC236}">
                  <a16:creationId xmlns:a16="http://schemas.microsoft.com/office/drawing/2014/main" id="{434430EA-5E7E-4A51-9B0F-A439FC0764AE}"/>
                </a:ext>
              </a:extLst>
            </p:cNvPr>
            <p:cNvSpPr/>
            <p:nvPr/>
          </p:nvSpPr>
          <p:spPr>
            <a:xfrm rot="2206548">
              <a:off x="3442357" y="3787134"/>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5" name="橢圓 14">
              <a:extLst>
                <a:ext uri="{FF2B5EF4-FFF2-40B4-BE49-F238E27FC236}">
                  <a16:creationId xmlns:a16="http://schemas.microsoft.com/office/drawing/2014/main" id="{BF0528E1-E0F9-42E8-A6A0-C49589A0F737}"/>
                </a:ext>
              </a:extLst>
            </p:cNvPr>
            <p:cNvSpPr/>
            <p:nvPr/>
          </p:nvSpPr>
          <p:spPr>
            <a:xfrm rot="2206548">
              <a:off x="2861958" y="3687275"/>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grpSp>
      <p:grpSp>
        <p:nvGrpSpPr>
          <p:cNvPr id="17" name="群組 16">
            <a:extLst>
              <a:ext uri="{FF2B5EF4-FFF2-40B4-BE49-F238E27FC236}">
                <a16:creationId xmlns:a16="http://schemas.microsoft.com/office/drawing/2014/main" id="{E6928F77-CD8E-4FA0-85F0-344FFFD48987}"/>
              </a:ext>
            </a:extLst>
          </p:cNvPr>
          <p:cNvGrpSpPr>
            <a:grpSpLocks/>
          </p:cNvGrpSpPr>
          <p:nvPr/>
        </p:nvGrpSpPr>
        <p:grpSpPr bwMode="auto">
          <a:xfrm rot="256791">
            <a:off x="1639888" y="2757488"/>
            <a:ext cx="1292225" cy="1273175"/>
            <a:chOff x="2370272" y="2727702"/>
            <a:chExt cx="1291848" cy="1273592"/>
          </a:xfrm>
        </p:grpSpPr>
        <p:sp>
          <p:nvSpPr>
            <p:cNvPr id="18" name="橢圓 17">
              <a:extLst>
                <a:ext uri="{FF2B5EF4-FFF2-40B4-BE49-F238E27FC236}">
                  <a16:creationId xmlns:a16="http://schemas.microsoft.com/office/drawing/2014/main" id="{88A2023E-6E9E-40AB-B83F-6B1575D66E7F}"/>
                </a:ext>
              </a:extLst>
            </p:cNvPr>
            <p:cNvSpPr/>
            <p:nvPr/>
          </p:nvSpPr>
          <p:spPr>
            <a:xfrm rot="2206548">
              <a:off x="2370006" y="2727233"/>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19" name="橢圓 18">
              <a:extLst>
                <a:ext uri="{FF2B5EF4-FFF2-40B4-BE49-F238E27FC236}">
                  <a16:creationId xmlns:a16="http://schemas.microsoft.com/office/drawing/2014/main" id="{04FFEEDF-C833-4542-A715-A79852B7C0AA}"/>
                </a:ext>
              </a:extLst>
            </p:cNvPr>
            <p:cNvSpPr/>
            <p:nvPr/>
          </p:nvSpPr>
          <p:spPr>
            <a:xfrm rot="2206548">
              <a:off x="2619748" y="2917145"/>
              <a:ext cx="201553"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0" name="橢圓 19">
              <a:extLst>
                <a:ext uri="{FF2B5EF4-FFF2-40B4-BE49-F238E27FC236}">
                  <a16:creationId xmlns:a16="http://schemas.microsoft.com/office/drawing/2014/main" id="{8BF8CA24-1E8A-4736-85A4-6485965CA25E}"/>
                </a:ext>
              </a:extLst>
            </p:cNvPr>
            <p:cNvSpPr/>
            <p:nvPr/>
          </p:nvSpPr>
          <p:spPr>
            <a:xfrm rot="2206548">
              <a:off x="2940331" y="3224370"/>
              <a:ext cx="201554"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1" name="橢圓 20">
              <a:extLst>
                <a:ext uri="{FF2B5EF4-FFF2-40B4-BE49-F238E27FC236}">
                  <a16:creationId xmlns:a16="http://schemas.microsoft.com/office/drawing/2014/main" id="{41CF5A6D-E12C-47F9-A1D1-2401F08871D4}"/>
                </a:ext>
              </a:extLst>
            </p:cNvPr>
            <p:cNvSpPr/>
            <p:nvPr/>
          </p:nvSpPr>
          <p:spPr>
            <a:xfrm rot="2206548">
              <a:off x="2346248" y="3090502"/>
              <a:ext cx="201553"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2" name="橢圓 21">
              <a:extLst>
                <a:ext uri="{FF2B5EF4-FFF2-40B4-BE49-F238E27FC236}">
                  <a16:creationId xmlns:a16="http://schemas.microsoft.com/office/drawing/2014/main" id="{20D391C0-ECD0-4B57-ADAC-8C9F5EF7544F}"/>
                </a:ext>
              </a:extLst>
            </p:cNvPr>
            <p:cNvSpPr/>
            <p:nvPr/>
          </p:nvSpPr>
          <p:spPr>
            <a:xfrm rot="2206548">
              <a:off x="2641832" y="3361380"/>
              <a:ext cx="201554" cy="20167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3" name="橢圓 22">
              <a:extLst>
                <a:ext uri="{FF2B5EF4-FFF2-40B4-BE49-F238E27FC236}">
                  <a16:creationId xmlns:a16="http://schemas.microsoft.com/office/drawing/2014/main" id="{A43D4D8B-ED63-44BC-9C0D-9A83EA7E2B67}"/>
                </a:ext>
              </a:extLst>
            </p:cNvPr>
            <p:cNvSpPr/>
            <p:nvPr/>
          </p:nvSpPr>
          <p:spPr>
            <a:xfrm rot="2206548">
              <a:off x="3143344" y="3556322"/>
              <a:ext cx="201554" cy="200091"/>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4" name="橢圓 23">
              <a:extLst>
                <a:ext uri="{FF2B5EF4-FFF2-40B4-BE49-F238E27FC236}">
                  <a16:creationId xmlns:a16="http://schemas.microsoft.com/office/drawing/2014/main" id="{FF06ADE0-EBA8-49A6-8410-876E358D9C0E}"/>
                </a:ext>
              </a:extLst>
            </p:cNvPr>
            <p:cNvSpPr/>
            <p:nvPr/>
          </p:nvSpPr>
          <p:spPr>
            <a:xfrm rot="2206548">
              <a:off x="3336647" y="3374638"/>
              <a:ext cx="201554" cy="200091"/>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5" name="橢圓 24">
              <a:extLst>
                <a:ext uri="{FF2B5EF4-FFF2-40B4-BE49-F238E27FC236}">
                  <a16:creationId xmlns:a16="http://schemas.microsoft.com/office/drawing/2014/main" id="{BBE03FC5-CC01-48AE-BCBB-3E7EE49484AB}"/>
                </a:ext>
              </a:extLst>
            </p:cNvPr>
            <p:cNvSpPr/>
            <p:nvPr/>
          </p:nvSpPr>
          <p:spPr>
            <a:xfrm rot="2206548">
              <a:off x="2967169" y="2902276"/>
              <a:ext cx="201554"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6" name="橢圓 25">
              <a:extLst>
                <a:ext uri="{FF2B5EF4-FFF2-40B4-BE49-F238E27FC236}">
                  <a16:creationId xmlns:a16="http://schemas.microsoft.com/office/drawing/2014/main" id="{A44554CF-4A8F-456B-B6CE-744DBD1D10D3}"/>
                </a:ext>
              </a:extLst>
            </p:cNvPr>
            <p:cNvSpPr/>
            <p:nvPr/>
          </p:nvSpPr>
          <p:spPr>
            <a:xfrm rot="2206548">
              <a:off x="3442357" y="3787134"/>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sp>
          <p:nvSpPr>
            <p:cNvPr id="27" name="橢圓 26">
              <a:extLst>
                <a:ext uri="{FF2B5EF4-FFF2-40B4-BE49-F238E27FC236}">
                  <a16:creationId xmlns:a16="http://schemas.microsoft.com/office/drawing/2014/main" id="{8DEBB3D8-AD91-463B-A198-CCCA12CDD4FF}"/>
                </a:ext>
              </a:extLst>
            </p:cNvPr>
            <p:cNvSpPr/>
            <p:nvPr/>
          </p:nvSpPr>
          <p:spPr>
            <a:xfrm rot="2206548">
              <a:off x="2861958" y="3687275"/>
              <a:ext cx="201553" cy="201679"/>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spcBef>
                  <a:spcPct val="50000"/>
                </a:spcBef>
                <a:defRPr/>
              </a:pPr>
              <a:endParaRPr lang="zh-TW" altLang="en-US"/>
            </a:p>
          </p:txBody>
        </p:sp>
      </p:grpSp>
      <p:sp>
        <p:nvSpPr>
          <p:cNvPr id="28" name="文字方塊 27">
            <a:extLst>
              <a:ext uri="{FF2B5EF4-FFF2-40B4-BE49-F238E27FC236}">
                <a16:creationId xmlns:a16="http://schemas.microsoft.com/office/drawing/2014/main" id="{53D15C5D-BEBF-4105-839C-EC9A4A98AAD0}"/>
              </a:ext>
            </a:extLst>
          </p:cNvPr>
          <p:cNvSpPr txBox="1">
            <a:spLocks noChangeArrowheads="1"/>
          </p:cNvSpPr>
          <p:nvPr/>
        </p:nvSpPr>
        <p:spPr bwMode="auto">
          <a:xfrm>
            <a:off x="723900" y="3595688"/>
            <a:ext cx="898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PCA</a:t>
            </a:r>
            <a:endParaRPr lang="zh-TW" altLang="en-US" sz="2400">
              <a:solidFill>
                <a:schemeClr val="hlink"/>
              </a:solidFill>
              <a:ea typeface="宋体" panose="02010600030101010101" pitchFamily="2" charset="-122"/>
            </a:endParaRPr>
          </a:p>
        </p:txBody>
      </p:sp>
      <p:cxnSp>
        <p:nvCxnSpPr>
          <p:cNvPr id="30" name="直線接點 29">
            <a:extLst>
              <a:ext uri="{FF2B5EF4-FFF2-40B4-BE49-F238E27FC236}">
                <a16:creationId xmlns:a16="http://schemas.microsoft.com/office/drawing/2014/main" id="{E4844E30-D679-45B1-B9D4-7C1058F92E89}"/>
              </a:ext>
            </a:extLst>
          </p:cNvPr>
          <p:cNvCxnSpPr/>
          <p:nvPr/>
        </p:nvCxnSpPr>
        <p:spPr>
          <a:xfrm>
            <a:off x="2190750" y="2509838"/>
            <a:ext cx="1208088" cy="1552575"/>
          </a:xfrm>
          <a:prstGeom prst="line">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文字方塊 76">
            <a:extLst>
              <a:ext uri="{FF2B5EF4-FFF2-40B4-BE49-F238E27FC236}">
                <a16:creationId xmlns:a16="http://schemas.microsoft.com/office/drawing/2014/main" id="{E01B291C-B2D1-4BFA-9FB5-E0EFBCB9F092}"/>
              </a:ext>
            </a:extLst>
          </p:cNvPr>
          <p:cNvSpPr txBox="1">
            <a:spLocks noChangeArrowheads="1"/>
          </p:cNvSpPr>
          <p:nvPr/>
        </p:nvSpPr>
        <p:spPr bwMode="auto">
          <a:xfrm>
            <a:off x="768350" y="5743575"/>
            <a:ext cx="898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LDA</a:t>
            </a:r>
            <a:endParaRPr lang="zh-TW" altLang="en-US" sz="2400">
              <a:solidFill>
                <a:schemeClr val="hlink"/>
              </a:solidFill>
              <a:ea typeface="宋体" panose="02010600030101010101" pitchFamily="2" charset="-122"/>
            </a:endParaRPr>
          </a:p>
        </p:txBody>
      </p:sp>
      <p:cxnSp>
        <p:nvCxnSpPr>
          <p:cNvPr id="78" name="直線接點 77">
            <a:extLst>
              <a:ext uri="{FF2B5EF4-FFF2-40B4-BE49-F238E27FC236}">
                <a16:creationId xmlns:a16="http://schemas.microsoft.com/office/drawing/2014/main" id="{D687B3A5-0AF0-4094-8835-75B191BB4913}"/>
              </a:ext>
            </a:extLst>
          </p:cNvPr>
          <p:cNvCxnSpPr/>
          <p:nvPr/>
        </p:nvCxnSpPr>
        <p:spPr>
          <a:xfrm flipV="1">
            <a:off x="1917700" y="4819650"/>
            <a:ext cx="1943100" cy="1343025"/>
          </a:xfrm>
          <a:prstGeom prst="line">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1" name="群組 80">
            <a:extLst>
              <a:ext uri="{FF2B5EF4-FFF2-40B4-BE49-F238E27FC236}">
                <a16:creationId xmlns:a16="http://schemas.microsoft.com/office/drawing/2014/main" id="{EEB424DC-2F9B-4F39-ADE3-B58E99E04F28}"/>
              </a:ext>
            </a:extLst>
          </p:cNvPr>
          <p:cNvGrpSpPr>
            <a:grpSpLocks/>
          </p:cNvGrpSpPr>
          <p:nvPr/>
        </p:nvGrpSpPr>
        <p:grpSpPr bwMode="auto">
          <a:xfrm rot="256791">
            <a:off x="2876550" y="4787900"/>
            <a:ext cx="1292225" cy="1273175"/>
            <a:chOff x="2370272" y="2727702"/>
            <a:chExt cx="1291848" cy="1273592"/>
          </a:xfrm>
        </p:grpSpPr>
        <p:sp>
          <p:nvSpPr>
            <p:cNvPr id="82" name="橢圓 81">
              <a:extLst>
                <a:ext uri="{FF2B5EF4-FFF2-40B4-BE49-F238E27FC236}">
                  <a16:creationId xmlns:a16="http://schemas.microsoft.com/office/drawing/2014/main" id="{00C7F1EF-7951-448B-B485-78AEB6F0B332}"/>
                </a:ext>
              </a:extLst>
            </p:cNvPr>
            <p:cNvSpPr/>
            <p:nvPr/>
          </p:nvSpPr>
          <p:spPr>
            <a:xfrm rot="2206548">
              <a:off x="2370007" y="2727234"/>
              <a:ext cx="201554" cy="20167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3" name="橢圓 82">
              <a:extLst>
                <a:ext uri="{FF2B5EF4-FFF2-40B4-BE49-F238E27FC236}">
                  <a16:creationId xmlns:a16="http://schemas.microsoft.com/office/drawing/2014/main" id="{A5CB52C9-7281-4295-BD93-BDF8B8DF7DC1}"/>
                </a:ext>
              </a:extLst>
            </p:cNvPr>
            <p:cNvSpPr/>
            <p:nvPr/>
          </p:nvSpPr>
          <p:spPr>
            <a:xfrm rot="2206548">
              <a:off x="2619748" y="2917145"/>
              <a:ext cx="201554" cy="20167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4" name="橢圓 83">
              <a:extLst>
                <a:ext uri="{FF2B5EF4-FFF2-40B4-BE49-F238E27FC236}">
                  <a16:creationId xmlns:a16="http://schemas.microsoft.com/office/drawing/2014/main" id="{6717EE58-83B0-47C9-AC01-5D308ABCE261}"/>
                </a:ext>
              </a:extLst>
            </p:cNvPr>
            <p:cNvSpPr/>
            <p:nvPr/>
          </p:nvSpPr>
          <p:spPr>
            <a:xfrm rot="2206548">
              <a:off x="2940332" y="3224370"/>
              <a:ext cx="201553" cy="20167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5" name="橢圓 84">
              <a:extLst>
                <a:ext uri="{FF2B5EF4-FFF2-40B4-BE49-F238E27FC236}">
                  <a16:creationId xmlns:a16="http://schemas.microsoft.com/office/drawing/2014/main" id="{D6085C26-D6BF-42BA-8F5C-CAFC3183E3EA}"/>
                </a:ext>
              </a:extLst>
            </p:cNvPr>
            <p:cNvSpPr/>
            <p:nvPr/>
          </p:nvSpPr>
          <p:spPr>
            <a:xfrm rot="2206548">
              <a:off x="2346248" y="3090502"/>
              <a:ext cx="201554" cy="20167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6" name="橢圓 85">
              <a:extLst>
                <a:ext uri="{FF2B5EF4-FFF2-40B4-BE49-F238E27FC236}">
                  <a16:creationId xmlns:a16="http://schemas.microsoft.com/office/drawing/2014/main" id="{E4E080B5-827D-4D27-B5EE-BEFD8518B546}"/>
                </a:ext>
              </a:extLst>
            </p:cNvPr>
            <p:cNvSpPr/>
            <p:nvPr/>
          </p:nvSpPr>
          <p:spPr>
            <a:xfrm rot="2206548">
              <a:off x="2641833" y="3361380"/>
              <a:ext cx="201553" cy="20167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7" name="橢圓 86">
              <a:extLst>
                <a:ext uri="{FF2B5EF4-FFF2-40B4-BE49-F238E27FC236}">
                  <a16:creationId xmlns:a16="http://schemas.microsoft.com/office/drawing/2014/main" id="{651615EA-BFF7-4D1D-8EFA-21DE256B2F04}"/>
                </a:ext>
              </a:extLst>
            </p:cNvPr>
            <p:cNvSpPr/>
            <p:nvPr/>
          </p:nvSpPr>
          <p:spPr>
            <a:xfrm rot="2206548">
              <a:off x="3143345" y="3556322"/>
              <a:ext cx="201553" cy="20009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8" name="橢圓 87">
              <a:extLst>
                <a:ext uri="{FF2B5EF4-FFF2-40B4-BE49-F238E27FC236}">
                  <a16:creationId xmlns:a16="http://schemas.microsoft.com/office/drawing/2014/main" id="{B96281AA-2FAE-48D6-B39D-2549A67E75FC}"/>
                </a:ext>
              </a:extLst>
            </p:cNvPr>
            <p:cNvSpPr/>
            <p:nvPr/>
          </p:nvSpPr>
          <p:spPr>
            <a:xfrm rot="2206548">
              <a:off x="3336648" y="3374639"/>
              <a:ext cx="201553" cy="20009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89" name="橢圓 88">
              <a:extLst>
                <a:ext uri="{FF2B5EF4-FFF2-40B4-BE49-F238E27FC236}">
                  <a16:creationId xmlns:a16="http://schemas.microsoft.com/office/drawing/2014/main" id="{7F1CEA55-52D1-44FA-AE39-435716E2027C}"/>
                </a:ext>
              </a:extLst>
            </p:cNvPr>
            <p:cNvSpPr/>
            <p:nvPr/>
          </p:nvSpPr>
          <p:spPr>
            <a:xfrm rot="2206548">
              <a:off x="2967170" y="2902277"/>
              <a:ext cx="201553" cy="20167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90" name="橢圓 89">
              <a:extLst>
                <a:ext uri="{FF2B5EF4-FFF2-40B4-BE49-F238E27FC236}">
                  <a16:creationId xmlns:a16="http://schemas.microsoft.com/office/drawing/2014/main" id="{5FB266E9-4997-4B1F-8A21-0D87D4F83577}"/>
                </a:ext>
              </a:extLst>
            </p:cNvPr>
            <p:cNvSpPr/>
            <p:nvPr/>
          </p:nvSpPr>
          <p:spPr>
            <a:xfrm rot="2206548">
              <a:off x="3442357" y="3787135"/>
              <a:ext cx="201554" cy="20167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sp>
          <p:nvSpPr>
            <p:cNvPr id="91" name="橢圓 90">
              <a:extLst>
                <a:ext uri="{FF2B5EF4-FFF2-40B4-BE49-F238E27FC236}">
                  <a16:creationId xmlns:a16="http://schemas.microsoft.com/office/drawing/2014/main" id="{253F547E-98A9-4A83-967E-670537FCA869}"/>
                </a:ext>
              </a:extLst>
            </p:cNvPr>
            <p:cNvSpPr/>
            <p:nvPr/>
          </p:nvSpPr>
          <p:spPr>
            <a:xfrm rot="2206548">
              <a:off x="2861958" y="3687276"/>
              <a:ext cx="201554" cy="20167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spcBef>
                  <a:spcPct val="50000"/>
                </a:spcBef>
                <a:defRPr/>
              </a:pPr>
              <a:endParaRPr lang="zh-TW" altLang="en-US"/>
            </a:p>
          </p:txBody>
        </p:sp>
      </p:grpSp>
      <p:grpSp>
        <p:nvGrpSpPr>
          <p:cNvPr id="92" name="群組 91">
            <a:extLst>
              <a:ext uri="{FF2B5EF4-FFF2-40B4-BE49-F238E27FC236}">
                <a16:creationId xmlns:a16="http://schemas.microsoft.com/office/drawing/2014/main" id="{70C5A51B-446D-4E20-9011-A4313A26393F}"/>
              </a:ext>
            </a:extLst>
          </p:cNvPr>
          <p:cNvGrpSpPr>
            <a:grpSpLocks/>
          </p:cNvGrpSpPr>
          <p:nvPr/>
        </p:nvGrpSpPr>
        <p:grpSpPr bwMode="auto">
          <a:xfrm rot="256791">
            <a:off x="1757363" y="4959350"/>
            <a:ext cx="1290637" cy="1273175"/>
            <a:chOff x="2370272" y="2727702"/>
            <a:chExt cx="1291848" cy="1273592"/>
          </a:xfrm>
        </p:grpSpPr>
        <p:sp>
          <p:nvSpPr>
            <p:cNvPr id="93" name="橢圓 92">
              <a:extLst>
                <a:ext uri="{FF2B5EF4-FFF2-40B4-BE49-F238E27FC236}">
                  <a16:creationId xmlns:a16="http://schemas.microsoft.com/office/drawing/2014/main" id="{20F336EA-1875-403A-A164-72864E0183DA}"/>
                </a:ext>
              </a:extLst>
            </p:cNvPr>
            <p:cNvSpPr/>
            <p:nvPr/>
          </p:nvSpPr>
          <p:spPr>
            <a:xfrm rot="2206548">
              <a:off x="2370004" y="2727175"/>
              <a:ext cx="201801" cy="2016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4" name="橢圓 93">
              <a:extLst>
                <a:ext uri="{FF2B5EF4-FFF2-40B4-BE49-F238E27FC236}">
                  <a16:creationId xmlns:a16="http://schemas.microsoft.com/office/drawing/2014/main" id="{726B8166-55E1-49D9-8CA7-FD9CD713391A}"/>
                </a:ext>
              </a:extLst>
            </p:cNvPr>
            <p:cNvSpPr/>
            <p:nvPr/>
          </p:nvSpPr>
          <p:spPr>
            <a:xfrm rot="2206548">
              <a:off x="2620053" y="2917086"/>
              <a:ext cx="201801" cy="20167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5" name="橢圓 94">
              <a:extLst>
                <a:ext uri="{FF2B5EF4-FFF2-40B4-BE49-F238E27FC236}">
                  <a16:creationId xmlns:a16="http://schemas.microsoft.com/office/drawing/2014/main" id="{C6B436AB-4010-4D9D-BBC8-8C72DD406F6F}"/>
                </a:ext>
              </a:extLst>
            </p:cNvPr>
            <p:cNvSpPr/>
            <p:nvPr/>
          </p:nvSpPr>
          <p:spPr>
            <a:xfrm rot="2206548">
              <a:off x="2939328" y="3222847"/>
              <a:ext cx="201801" cy="2016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6" name="橢圓 95">
              <a:extLst>
                <a:ext uri="{FF2B5EF4-FFF2-40B4-BE49-F238E27FC236}">
                  <a16:creationId xmlns:a16="http://schemas.microsoft.com/office/drawing/2014/main" id="{20412202-2062-43E9-91A0-504988320082}"/>
                </a:ext>
              </a:extLst>
            </p:cNvPr>
            <p:cNvSpPr/>
            <p:nvPr/>
          </p:nvSpPr>
          <p:spPr>
            <a:xfrm rot="2206548">
              <a:off x="2346216" y="3090442"/>
              <a:ext cx="201801" cy="20167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7" name="橢圓 96">
              <a:extLst>
                <a:ext uri="{FF2B5EF4-FFF2-40B4-BE49-F238E27FC236}">
                  <a16:creationId xmlns:a16="http://schemas.microsoft.com/office/drawing/2014/main" id="{FDB67D93-0885-48DC-B0D0-6724BD09AD55}"/>
                </a:ext>
              </a:extLst>
            </p:cNvPr>
            <p:cNvSpPr/>
            <p:nvPr/>
          </p:nvSpPr>
          <p:spPr>
            <a:xfrm rot="2206548">
              <a:off x="2642045" y="3359738"/>
              <a:ext cx="201802" cy="2016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8" name="橢圓 97">
              <a:extLst>
                <a:ext uri="{FF2B5EF4-FFF2-40B4-BE49-F238E27FC236}">
                  <a16:creationId xmlns:a16="http://schemas.microsoft.com/office/drawing/2014/main" id="{1C748D7F-BE5E-40C3-80A7-E6E2D30BA15C}"/>
                </a:ext>
              </a:extLst>
            </p:cNvPr>
            <p:cNvSpPr/>
            <p:nvPr/>
          </p:nvSpPr>
          <p:spPr>
            <a:xfrm rot="2206548">
              <a:off x="3142827" y="3557966"/>
              <a:ext cx="201801" cy="20009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99" name="橢圓 98">
              <a:extLst>
                <a:ext uri="{FF2B5EF4-FFF2-40B4-BE49-F238E27FC236}">
                  <a16:creationId xmlns:a16="http://schemas.microsoft.com/office/drawing/2014/main" id="{F4043BD8-EDE7-4FBF-BAAB-9E77EB30A835}"/>
                </a:ext>
              </a:extLst>
            </p:cNvPr>
            <p:cNvSpPr/>
            <p:nvPr/>
          </p:nvSpPr>
          <p:spPr>
            <a:xfrm rot="2206548">
              <a:off x="3336250" y="3374699"/>
              <a:ext cx="201801" cy="20009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100" name="橢圓 99">
              <a:extLst>
                <a:ext uri="{FF2B5EF4-FFF2-40B4-BE49-F238E27FC236}">
                  <a16:creationId xmlns:a16="http://schemas.microsoft.com/office/drawing/2014/main" id="{56EC248F-D847-445B-92AB-31671F45C79F}"/>
                </a:ext>
              </a:extLst>
            </p:cNvPr>
            <p:cNvSpPr/>
            <p:nvPr/>
          </p:nvSpPr>
          <p:spPr>
            <a:xfrm rot="2206548">
              <a:off x="2967903" y="2902277"/>
              <a:ext cx="200213" cy="2016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101" name="橢圓 100">
              <a:extLst>
                <a:ext uri="{FF2B5EF4-FFF2-40B4-BE49-F238E27FC236}">
                  <a16:creationId xmlns:a16="http://schemas.microsoft.com/office/drawing/2014/main" id="{78F4199D-7C6E-4957-A3F9-8E05C9585761}"/>
                </a:ext>
              </a:extLst>
            </p:cNvPr>
            <p:cNvSpPr/>
            <p:nvPr/>
          </p:nvSpPr>
          <p:spPr>
            <a:xfrm rot="2206548">
              <a:off x="3443555" y="3785492"/>
              <a:ext cx="201801" cy="20167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sp>
          <p:nvSpPr>
            <p:cNvPr id="102" name="橢圓 101">
              <a:extLst>
                <a:ext uri="{FF2B5EF4-FFF2-40B4-BE49-F238E27FC236}">
                  <a16:creationId xmlns:a16="http://schemas.microsoft.com/office/drawing/2014/main" id="{2FB14CEE-0A06-4B14-8B07-0CE1D1AE8E72}"/>
                </a:ext>
              </a:extLst>
            </p:cNvPr>
            <p:cNvSpPr/>
            <p:nvPr/>
          </p:nvSpPr>
          <p:spPr>
            <a:xfrm rot="2206548">
              <a:off x="2860975" y="3687335"/>
              <a:ext cx="201802" cy="2016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spcBef>
                  <a:spcPct val="50000"/>
                </a:spcBef>
                <a:defRPr/>
              </a:pPr>
              <a:endParaRPr lang="zh-TW" altLang="en-US"/>
            </a:p>
          </p:txBody>
        </p:sp>
      </p:grpSp>
      <p:sp>
        <p:nvSpPr>
          <p:cNvPr id="92172" name="矩形 103">
            <a:extLst>
              <a:ext uri="{FF2B5EF4-FFF2-40B4-BE49-F238E27FC236}">
                <a16:creationId xmlns:a16="http://schemas.microsoft.com/office/drawing/2014/main" id="{AD94529F-CD18-4358-AC3B-841C22E05F75}"/>
              </a:ext>
            </a:extLst>
          </p:cNvPr>
          <p:cNvSpPr>
            <a:spLocks noChangeArrowheads="1"/>
          </p:cNvSpPr>
          <p:nvPr/>
        </p:nvSpPr>
        <p:spPr bwMode="auto">
          <a:xfrm>
            <a:off x="4792663" y="5988050"/>
            <a:ext cx="4003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TW" altLang="en-US" sz="2000">
                <a:solidFill>
                  <a:schemeClr val="hlink"/>
                </a:solidFill>
                <a:ea typeface="宋体" panose="02010600030101010101" pitchFamily="2" charset="-122"/>
              </a:rPr>
              <a:t>http://www.astroml.org/book_figures/chapter7/fig_S_manifold_PCA.html</a:t>
            </a:r>
          </a:p>
        </p:txBody>
      </p:sp>
      <p:pic>
        <p:nvPicPr>
          <p:cNvPr id="105" name="圖片 104">
            <a:extLst>
              <a:ext uri="{FF2B5EF4-FFF2-40B4-BE49-F238E27FC236}">
                <a16:creationId xmlns:a16="http://schemas.microsoft.com/office/drawing/2014/main" id="{B5716B71-9E14-498B-B732-7550F196C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0" y="712788"/>
            <a:ext cx="2438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 name="圖片 105">
            <a:extLst>
              <a:ext uri="{FF2B5EF4-FFF2-40B4-BE49-F238E27FC236}">
                <a16:creationId xmlns:a16="http://schemas.microsoft.com/office/drawing/2014/main" id="{1E9610A4-7CFB-4B6C-AF0B-1B8CB28FB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5563" y="2913063"/>
            <a:ext cx="3035300"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77"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5" name="標題 1">
            <a:extLst>
              <a:ext uri="{FF2B5EF4-FFF2-40B4-BE49-F238E27FC236}">
                <a16:creationId xmlns:a16="http://schemas.microsoft.com/office/drawing/2014/main" id="{924D1C8F-0023-46F9-8A79-21B11F95AF43}"/>
              </a:ext>
            </a:extLst>
          </p:cNvPr>
          <p:cNvSpPr>
            <a:spLocks noGrp="1" noChangeArrowheads="1"/>
          </p:cNvSpPr>
          <p:nvPr>
            <p:ph type="title"/>
          </p:nvPr>
        </p:nvSpPr>
        <p:spPr/>
        <p:txBody>
          <a:bodyPr/>
          <a:lstStyle/>
          <a:p>
            <a:r>
              <a:rPr lang="en-US" altLang="zh-TW"/>
              <a:t>Weakness of PCA</a:t>
            </a:r>
            <a:endParaRPr lang="zh-TW" altLang="en-US"/>
          </a:p>
        </p:txBody>
      </p:sp>
      <p:pic>
        <p:nvPicPr>
          <p:cNvPr id="93186" name="內容版面配置區 7">
            <a:extLst>
              <a:ext uri="{FF2B5EF4-FFF2-40B4-BE49-F238E27FC236}">
                <a16:creationId xmlns:a16="http://schemas.microsoft.com/office/drawing/2014/main" id="{C519246D-BFBF-42F3-A4A6-6951D8FE4F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22288" y="1631950"/>
            <a:ext cx="4525962" cy="4351338"/>
          </a:xfrm>
        </p:spPr>
      </p:pic>
      <p:pic>
        <p:nvPicPr>
          <p:cNvPr id="93187" name="內容版面配置區 5">
            <a:extLst>
              <a:ext uri="{FF2B5EF4-FFF2-40B4-BE49-F238E27FC236}">
                <a16:creationId xmlns:a16="http://schemas.microsoft.com/office/drawing/2014/main" id="{FB6EDDC2-DDCB-47DC-BE5D-86F9D11F14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4975" y="1584325"/>
            <a:ext cx="4429125"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8" name="文字方塊 5">
            <a:extLst>
              <a:ext uri="{FF2B5EF4-FFF2-40B4-BE49-F238E27FC236}">
                <a16:creationId xmlns:a16="http://schemas.microsoft.com/office/drawing/2014/main" id="{F70DA519-C994-4032-8F79-3D2F6E96F535}"/>
              </a:ext>
            </a:extLst>
          </p:cNvPr>
          <p:cNvSpPr txBox="1">
            <a:spLocks noChangeArrowheads="1"/>
          </p:cNvSpPr>
          <p:nvPr/>
        </p:nvSpPr>
        <p:spPr bwMode="auto">
          <a:xfrm>
            <a:off x="5003800" y="5607050"/>
            <a:ext cx="3082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Pixel (28x28) -&gt; tSNE (2)</a:t>
            </a:r>
            <a:endParaRPr lang="zh-TW" altLang="en-US" sz="2400">
              <a:solidFill>
                <a:schemeClr val="hlink"/>
              </a:solidFill>
              <a:ea typeface="宋体" panose="02010600030101010101" pitchFamily="2" charset="-122"/>
            </a:endParaRPr>
          </a:p>
        </p:txBody>
      </p:sp>
      <p:sp>
        <p:nvSpPr>
          <p:cNvPr id="93189" name="文字方塊 6">
            <a:extLst>
              <a:ext uri="{FF2B5EF4-FFF2-40B4-BE49-F238E27FC236}">
                <a16:creationId xmlns:a16="http://schemas.microsoft.com/office/drawing/2014/main" id="{C8DEC93E-F81E-4FC2-AD8D-00C862A339DB}"/>
              </a:ext>
            </a:extLst>
          </p:cNvPr>
          <p:cNvSpPr txBox="1">
            <a:spLocks noChangeArrowheads="1"/>
          </p:cNvSpPr>
          <p:nvPr/>
        </p:nvSpPr>
        <p:spPr bwMode="auto">
          <a:xfrm>
            <a:off x="1073150" y="5607050"/>
            <a:ext cx="3082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en-US" altLang="zh-TW" sz="2400">
                <a:solidFill>
                  <a:schemeClr val="hlink"/>
                </a:solidFill>
                <a:ea typeface="宋体" panose="02010600030101010101" pitchFamily="2" charset="-122"/>
              </a:rPr>
              <a:t>Pixel (28x28) -&gt; PCA (2)</a:t>
            </a:r>
            <a:endParaRPr lang="zh-TW" altLang="en-US" sz="2400">
              <a:solidFill>
                <a:schemeClr val="hlink"/>
              </a:solidFill>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5">
            <a:extLst>
              <a:ext uri="{FF2B5EF4-FFF2-40B4-BE49-F238E27FC236}">
                <a16:creationId xmlns:a16="http://schemas.microsoft.com/office/drawing/2014/main" id="{4664516C-9323-4CE7-9BC6-709DA98104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71C5B10-B29D-4A78-9A40-58EBDAD84937}" type="slidenum">
              <a:rPr lang="en-US" altLang="zh-CN" sz="1000" smtClean="0">
                <a:ea typeface="宋体" panose="02010600030101010101" pitchFamily="2" charset="-122"/>
              </a:rPr>
              <a:pPr>
                <a:spcBef>
                  <a:spcPct val="0"/>
                </a:spcBef>
                <a:buClrTx/>
                <a:buFontTx/>
                <a:buNone/>
              </a:pPr>
              <a:t>56</a:t>
            </a:fld>
            <a:endParaRPr lang="en-US" altLang="zh-CN" sz="1000">
              <a:ea typeface="宋体" panose="02010600030101010101" pitchFamily="2" charset="-122"/>
            </a:endParaRPr>
          </a:p>
        </p:txBody>
      </p:sp>
      <p:sp>
        <p:nvSpPr>
          <p:cNvPr id="94210" name="Rectangle 2">
            <a:extLst>
              <a:ext uri="{FF2B5EF4-FFF2-40B4-BE49-F238E27FC236}">
                <a16:creationId xmlns:a16="http://schemas.microsoft.com/office/drawing/2014/main" id="{5714F20F-116D-4974-9EB2-0FD57811113D}"/>
              </a:ext>
            </a:extLst>
          </p:cNvPr>
          <p:cNvSpPr>
            <a:spLocks noGrp="1" noChangeArrowheads="1"/>
          </p:cNvSpPr>
          <p:nvPr>
            <p:ph type="title"/>
          </p:nvPr>
        </p:nvSpPr>
        <p:spPr/>
        <p:txBody>
          <a:bodyPr/>
          <a:lstStyle/>
          <a:p>
            <a:pPr eaLnBrk="1" hangingPunct="1"/>
            <a:r>
              <a:rPr lang="zh-CN" altLang="en-US"/>
              <a:t>线性降维方法</a:t>
            </a:r>
          </a:p>
        </p:txBody>
      </p:sp>
      <p:sp>
        <p:nvSpPr>
          <p:cNvPr id="94211" name="Rectangle 3">
            <a:extLst>
              <a:ext uri="{FF2B5EF4-FFF2-40B4-BE49-F238E27FC236}">
                <a16:creationId xmlns:a16="http://schemas.microsoft.com/office/drawing/2014/main" id="{9EE973AC-F56E-4637-B43D-76C51E038AFD}"/>
              </a:ext>
            </a:extLst>
          </p:cNvPr>
          <p:cNvSpPr>
            <a:spLocks noGrp="1" noChangeArrowheads="1"/>
          </p:cNvSpPr>
          <p:nvPr>
            <p:ph type="body" idx="1"/>
          </p:nvPr>
        </p:nvSpPr>
        <p:spPr>
          <a:xfrm>
            <a:off x="457200" y="1524000"/>
            <a:ext cx="8382000" cy="5029200"/>
          </a:xfrm>
        </p:spPr>
        <p:txBody>
          <a:bodyPr/>
          <a:lstStyle/>
          <a:p>
            <a:pPr eaLnBrk="1" hangingPunct="1"/>
            <a:r>
              <a:rPr lang="zh-CN" altLang="en-US" sz="2800"/>
              <a:t>线性判别分析</a:t>
            </a:r>
            <a:r>
              <a:rPr lang="en-US" altLang="zh-CN" sz="2800"/>
              <a:t>(LDA) [Fukunaga, 1991]</a:t>
            </a:r>
          </a:p>
          <a:p>
            <a:pPr lvl="1" eaLnBrk="1" hangingPunct="1"/>
            <a:r>
              <a:rPr lang="zh-CN" altLang="en-US" sz="2300"/>
              <a:t>降维目的：寻找最能把两类样本分开的投影直线，使投影后两类样本的均值之差与投影样本的总类散度的比值最大</a:t>
            </a:r>
          </a:p>
          <a:p>
            <a:pPr lvl="1" eaLnBrk="1" hangingPunct="1"/>
            <a:r>
              <a:rPr lang="zh-CN" altLang="en-US" sz="2300"/>
              <a:t>求解方法：经过推导把原问题转化为关于样本集总类内散度矩阵和总类间散度矩阵的广义特征值问题</a:t>
            </a:r>
          </a:p>
        </p:txBody>
      </p:sp>
      <p:grpSp>
        <p:nvGrpSpPr>
          <p:cNvPr id="94212" name="Group 55">
            <a:extLst>
              <a:ext uri="{FF2B5EF4-FFF2-40B4-BE49-F238E27FC236}">
                <a16:creationId xmlns:a16="http://schemas.microsoft.com/office/drawing/2014/main" id="{89386139-6BA5-4670-AABE-C38CE37C57B7}"/>
              </a:ext>
            </a:extLst>
          </p:cNvPr>
          <p:cNvGrpSpPr>
            <a:grpSpLocks/>
          </p:cNvGrpSpPr>
          <p:nvPr/>
        </p:nvGrpSpPr>
        <p:grpSpPr bwMode="auto">
          <a:xfrm>
            <a:off x="2379663" y="4092575"/>
            <a:ext cx="5316537" cy="2536825"/>
            <a:chOff x="1584" y="2496"/>
            <a:chExt cx="3349" cy="1598"/>
          </a:xfrm>
        </p:grpSpPr>
        <p:sp>
          <p:nvSpPr>
            <p:cNvPr id="94213" name="Line 24">
              <a:extLst>
                <a:ext uri="{FF2B5EF4-FFF2-40B4-BE49-F238E27FC236}">
                  <a16:creationId xmlns:a16="http://schemas.microsoft.com/office/drawing/2014/main" id="{1EA525FA-0E07-4957-BC37-DAD3BD5A17DF}"/>
                </a:ext>
              </a:extLst>
            </p:cNvPr>
            <p:cNvSpPr>
              <a:spLocks noChangeShapeType="1"/>
            </p:cNvSpPr>
            <p:nvPr/>
          </p:nvSpPr>
          <p:spPr bwMode="auto">
            <a:xfrm flipV="1">
              <a:off x="1584" y="2496"/>
              <a:ext cx="0" cy="142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14" name="Line 25">
              <a:extLst>
                <a:ext uri="{FF2B5EF4-FFF2-40B4-BE49-F238E27FC236}">
                  <a16:creationId xmlns:a16="http://schemas.microsoft.com/office/drawing/2014/main" id="{58BF5B28-C280-468A-A6A2-9F79DF788058}"/>
                </a:ext>
              </a:extLst>
            </p:cNvPr>
            <p:cNvSpPr>
              <a:spLocks noChangeShapeType="1"/>
            </p:cNvSpPr>
            <p:nvPr/>
          </p:nvSpPr>
          <p:spPr bwMode="auto">
            <a:xfrm>
              <a:off x="1584" y="3917"/>
              <a:ext cx="1475"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15" name="Oval 26">
              <a:extLst>
                <a:ext uri="{FF2B5EF4-FFF2-40B4-BE49-F238E27FC236}">
                  <a16:creationId xmlns:a16="http://schemas.microsoft.com/office/drawing/2014/main" id="{3F8C7614-D4AD-414A-BBCC-978BE8032F34}"/>
                </a:ext>
              </a:extLst>
            </p:cNvPr>
            <p:cNvSpPr>
              <a:spLocks noChangeArrowheads="1"/>
            </p:cNvSpPr>
            <p:nvPr/>
          </p:nvSpPr>
          <p:spPr bwMode="auto">
            <a:xfrm>
              <a:off x="2064" y="3120"/>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16" name="Oval 27">
              <a:extLst>
                <a:ext uri="{FF2B5EF4-FFF2-40B4-BE49-F238E27FC236}">
                  <a16:creationId xmlns:a16="http://schemas.microsoft.com/office/drawing/2014/main" id="{84E3E275-4E4A-4E96-8A00-9FD974C80535}"/>
                </a:ext>
              </a:extLst>
            </p:cNvPr>
            <p:cNvSpPr>
              <a:spLocks noChangeArrowheads="1"/>
            </p:cNvSpPr>
            <p:nvPr/>
          </p:nvSpPr>
          <p:spPr bwMode="auto">
            <a:xfrm>
              <a:off x="2240" y="3315"/>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17" name="Oval 28">
              <a:extLst>
                <a:ext uri="{FF2B5EF4-FFF2-40B4-BE49-F238E27FC236}">
                  <a16:creationId xmlns:a16="http://schemas.microsoft.com/office/drawing/2014/main" id="{156B484E-FE7F-4A60-8F91-69BFF7E40E7A}"/>
                </a:ext>
              </a:extLst>
            </p:cNvPr>
            <p:cNvSpPr>
              <a:spLocks noChangeArrowheads="1"/>
            </p:cNvSpPr>
            <p:nvPr/>
          </p:nvSpPr>
          <p:spPr bwMode="auto">
            <a:xfrm>
              <a:off x="2022" y="3425"/>
              <a:ext cx="108" cy="109"/>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18" name="Oval 29">
              <a:extLst>
                <a:ext uri="{FF2B5EF4-FFF2-40B4-BE49-F238E27FC236}">
                  <a16:creationId xmlns:a16="http://schemas.microsoft.com/office/drawing/2014/main" id="{D434C59B-B317-41E2-A950-DEC950390B73}"/>
                </a:ext>
              </a:extLst>
            </p:cNvPr>
            <p:cNvSpPr>
              <a:spLocks noChangeArrowheads="1"/>
            </p:cNvSpPr>
            <p:nvPr/>
          </p:nvSpPr>
          <p:spPr bwMode="auto">
            <a:xfrm>
              <a:off x="2185" y="3207"/>
              <a:ext cx="109" cy="108"/>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19" name="Oval 30">
              <a:extLst>
                <a:ext uri="{FF2B5EF4-FFF2-40B4-BE49-F238E27FC236}">
                  <a16:creationId xmlns:a16="http://schemas.microsoft.com/office/drawing/2014/main" id="{4E52EF6C-6250-4183-A0BB-669E239212C5}"/>
                </a:ext>
              </a:extLst>
            </p:cNvPr>
            <p:cNvSpPr>
              <a:spLocks noChangeArrowheads="1"/>
            </p:cNvSpPr>
            <p:nvPr/>
          </p:nvSpPr>
          <p:spPr bwMode="auto">
            <a:xfrm>
              <a:off x="2513" y="3043"/>
              <a:ext cx="110"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0" name="Oval 31">
              <a:extLst>
                <a:ext uri="{FF2B5EF4-FFF2-40B4-BE49-F238E27FC236}">
                  <a16:creationId xmlns:a16="http://schemas.microsoft.com/office/drawing/2014/main" id="{2894AA54-F3D8-4111-A59C-CAEE07793DD7}"/>
                </a:ext>
              </a:extLst>
            </p:cNvPr>
            <p:cNvSpPr>
              <a:spLocks noChangeArrowheads="1"/>
            </p:cNvSpPr>
            <p:nvPr/>
          </p:nvSpPr>
          <p:spPr bwMode="auto">
            <a:xfrm>
              <a:off x="2787" y="2879"/>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1" name="Oval 32">
              <a:extLst>
                <a:ext uri="{FF2B5EF4-FFF2-40B4-BE49-F238E27FC236}">
                  <a16:creationId xmlns:a16="http://schemas.microsoft.com/office/drawing/2014/main" id="{E29DD42A-C167-443C-B7CA-5212349EBCD7}"/>
                </a:ext>
              </a:extLst>
            </p:cNvPr>
            <p:cNvSpPr>
              <a:spLocks noChangeArrowheads="1"/>
            </p:cNvSpPr>
            <p:nvPr/>
          </p:nvSpPr>
          <p:spPr bwMode="auto">
            <a:xfrm>
              <a:off x="3072" y="3456"/>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2" name="Oval 33">
              <a:extLst>
                <a:ext uri="{FF2B5EF4-FFF2-40B4-BE49-F238E27FC236}">
                  <a16:creationId xmlns:a16="http://schemas.microsoft.com/office/drawing/2014/main" id="{5AEC2FA7-7B49-45EB-908E-CF3337CFDB31}"/>
                </a:ext>
              </a:extLst>
            </p:cNvPr>
            <p:cNvSpPr>
              <a:spLocks noChangeArrowheads="1"/>
            </p:cNvSpPr>
            <p:nvPr/>
          </p:nvSpPr>
          <p:spPr bwMode="auto">
            <a:xfrm>
              <a:off x="2732" y="3098"/>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3" name="Oval 34">
              <a:extLst>
                <a:ext uri="{FF2B5EF4-FFF2-40B4-BE49-F238E27FC236}">
                  <a16:creationId xmlns:a16="http://schemas.microsoft.com/office/drawing/2014/main" id="{EFB442BF-D3ED-4D0F-B685-3E2792C4E6ED}"/>
                </a:ext>
              </a:extLst>
            </p:cNvPr>
            <p:cNvSpPr>
              <a:spLocks noChangeArrowheads="1"/>
            </p:cNvSpPr>
            <p:nvPr/>
          </p:nvSpPr>
          <p:spPr bwMode="auto">
            <a:xfrm>
              <a:off x="1968" y="2976"/>
              <a:ext cx="110"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4" name="Oval 35">
              <a:extLst>
                <a:ext uri="{FF2B5EF4-FFF2-40B4-BE49-F238E27FC236}">
                  <a16:creationId xmlns:a16="http://schemas.microsoft.com/office/drawing/2014/main" id="{4321E58D-5BF1-434D-AF1B-39B3C412B547}"/>
                </a:ext>
              </a:extLst>
            </p:cNvPr>
            <p:cNvSpPr>
              <a:spLocks noChangeArrowheads="1"/>
            </p:cNvSpPr>
            <p:nvPr/>
          </p:nvSpPr>
          <p:spPr bwMode="auto">
            <a:xfrm>
              <a:off x="2896" y="3152"/>
              <a:ext cx="109" cy="110"/>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5" name="Oval 36">
              <a:extLst>
                <a:ext uri="{FF2B5EF4-FFF2-40B4-BE49-F238E27FC236}">
                  <a16:creationId xmlns:a16="http://schemas.microsoft.com/office/drawing/2014/main" id="{F67A3463-358F-4EF8-9795-EE1E8B4276D0}"/>
                </a:ext>
              </a:extLst>
            </p:cNvPr>
            <p:cNvSpPr>
              <a:spLocks noChangeArrowheads="1"/>
            </p:cNvSpPr>
            <p:nvPr/>
          </p:nvSpPr>
          <p:spPr bwMode="auto">
            <a:xfrm>
              <a:off x="2448" y="3504"/>
              <a:ext cx="109" cy="109"/>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6" name="Oval 37">
              <a:extLst>
                <a:ext uri="{FF2B5EF4-FFF2-40B4-BE49-F238E27FC236}">
                  <a16:creationId xmlns:a16="http://schemas.microsoft.com/office/drawing/2014/main" id="{8673219E-8ACF-404B-A57E-4CB99302A304}"/>
                </a:ext>
              </a:extLst>
            </p:cNvPr>
            <p:cNvSpPr>
              <a:spLocks noChangeArrowheads="1"/>
            </p:cNvSpPr>
            <p:nvPr/>
          </p:nvSpPr>
          <p:spPr bwMode="auto">
            <a:xfrm>
              <a:off x="2294" y="3534"/>
              <a:ext cx="110"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7" name="Oval 38">
              <a:extLst>
                <a:ext uri="{FF2B5EF4-FFF2-40B4-BE49-F238E27FC236}">
                  <a16:creationId xmlns:a16="http://schemas.microsoft.com/office/drawing/2014/main" id="{DDA99682-25AB-4156-AADD-98345F811304}"/>
                </a:ext>
              </a:extLst>
            </p:cNvPr>
            <p:cNvSpPr>
              <a:spLocks noChangeArrowheads="1"/>
            </p:cNvSpPr>
            <p:nvPr/>
          </p:nvSpPr>
          <p:spPr bwMode="auto">
            <a:xfrm>
              <a:off x="2496" y="3648"/>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28" name="Line 39">
              <a:extLst>
                <a:ext uri="{FF2B5EF4-FFF2-40B4-BE49-F238E27FC236}">
                  <a16:creationId xmlns:a16="http://schemas.microsoft.com/office/drawing/2014/main" id="{5EB707F0-9C9D-453F-9D74-0922C7A4DF98}"/>
                </a:ext>
              </a:extLst>
            </p:cNvPr>
            <p:cNvSpPr>
              <a:spLocks noChangeShapeType="1"/>
            </p:cNvSpPr>
            <p:nvPr/>
          </p:nvSpPr>
          <p:spPr bwMode="auto">
            <a:xfrm flipV="1">
              <a:off x="1639" y="2715"/>
              <a:ext cx="1913" cy="1093"/>
            </a:xfrm>
            <a:prstGeom prst="line">
              <a:avLst/>
            </a:prstGeom>
            <a:noFill/>
            <a:ln w="6350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29" name="Text Box 40">
              <a:extLst>
                <a:ext uri="{FF2B5EF4-FFF2-40B4-BE49-F238E27FC236}">
                  <a16:creationId xmlns:a16="http://schemas.microsoft.com/office/drawing/2014/main" id="{55FE87E4-EBA7-4603-B266-2B0C8AE7E65B}"/>
                </a:ext>
              </a:extLst>
            </p:cNvPr>
            <p:cNvSpPr txBox="1">
              <a:spLocks noChangeArrowheads="1"/>
            </p:cNvSpPr>
            <p:nvPr/>
          </p:nvSpPr>
          <p:spPr bwMode="auto">
            <a:xfrm>
              <a:off x="3648" y="2496"/>
              <a:ext cx="128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None/>
              </a:pPr>
              <a:r>
                <a:rPr lang="en-US" altLang="zh-CN" sz="2400">
                  <a:solidFill>
                    <a:srgbClr val="3333CC"/>
                  </a:solidFill>
                  <a:latin typeface="Times New Roman" panose="02020603050405020304" pitchFamily="18" charset="0"/>
                  <a:ea typeface="宋体" panose="02010600030101010101" pitchFamily="2" charset="-122"/>
                </a:rPr>
                <a:t>Best projection direction for classification</a:t>
              </a:r>
            </a:p>
          </p:txBody>
        </p:sp>
        <p:sp>
          <p:nvSpPr>
            <p:cNvPr id="94230" name="Oval 41">
              <a:extLst>
                <a:ext uri="{FF2B5EF4-FFF2-40B4-BE49-F238E27FC236}">
                  <a16:creationId xmlns:a16="http://schemas.microsoft.com/office/drawing/2014/main" id="{E0A895BA-36E5-4DF8-A641-99F8A0523E4D}"/>
                </a:ext>
              </a:extLst>
            </p:cNvPr>
            <p:cNvSpPr>
              <a:spLocks noChangeArrowheads="1"/>
            </p:cNvSpPr>
            <p:nvPr/>
          </p:nvSpPr>
          <p:spPr bwMode="auto">
            <a:xfrm>
              <a:off x="2883" y="2975"/>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1" name="Oval 42">
              <a:extLst>
                <a:ext uri="{FF2B5EF4-FFF2-40B4-BE49-F238E27FC236}">
                  <a16:creationId xmlns:a16="http://schemas.microsoft.com/office/drawing/2014/main" id="{591C8E39-A3CF-4FD3-8CD3-C60E9CBC0431}"/>
                </a:ext>
              </a:extLst>
            </p:cNvPr>
            <p:cNvSpPr>
              <a:spLocks noChangeArrowheads="1"/>
            </p:cNvSpPr>
            <p:nvPr/>
          </p:nvSpPr>
          <p:spPr bwMode="auto">
            <a:xfrm>
              <a:off x="2640" y="2736"/>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2" name="Oval 43">
              <a:extLst>
                <a:ext uri="{FF2B5EF4-FFF2-40B4-BE49-F238E27FC236}">
                  <a16:creationId xmlns:a16="http://schemas.microsoft.com/office/drawing/2014/main" id="{435C0D0C-6276-4CB0-9586-9642F7AC6497}"/>
                </a:ext>
              </a:extLst>
            </p:cNvPr>
            <p:cNvSpPr>
              <a:spLocks noChangeArrowheads="1"/>
            </p:cNvSpPr>
            <p:nvPr/>
          </p:nvSpPr>
          <p:spPr bwMode="auto">
            <a:xfrm>
              <a:off x="2736" y="3312"/>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3" name="Oval 44">
              <a:extLst>
                <a:ext uri="{FF2B5EF4-FFF2-40B4-BE49-F238E27FC236}">
                  <a16:creationId xmlns:a16="http://schemas.microsoft.com/office/drawing/2014/main" id="{C09D8DF6-8894-4056-A8F4-6B65799C484C}"/>
                </a:ext>
              </a:extLst>
            </p:cNvPr>
            <p:cNvSpPr>
              <a:spLocks noChangeArrowheads="1"/>
            </p:cNvSpPr>
            <p:nvPr/>
          </p:nvSpPr>
          <p:spPr bwMode="auto">
            <a:xfrm>
              <a:off x="3216" y="3696"/>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4" name="Oval 45">
              <a:extLst>
                <a:ext uri="{FF2B5EF4-FFF2-40B4-BE49-F238E27FC236}">
                  <a16:creationId xmlns:a16="http://schemas.microsoft.com/office/drawing/2014/main" id="{BA8052CB-A177-4736-8210-F5CA60C92BF2}"/>
                </a:ext>
              </a:extLst>
            </p:cNvPr>
            <p:cNvSpPr>
              <a:spLocks noChangeArrowheads="1"/>
            </p:cNvSpPr>
            <p:nvPr/>
          </p:nvSpPr>
          <p:spPr bwMode="auto">
            <a:xfrm>
              <a:off x="2496" y="2688"/>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5" name="Oval 46">
              <a:extLst>
                <a:ext uri="{FF2B5EF4-FFF2-40B4-BE49-F238E27FC236}">
                  <a16:creationId xmlns:a16="http://schemas.microsoft.com/office/drawing/2014/main" id="{39F53EE6-9596-4EA4-9E67-2AF3E53CF742}"/>
                </a:ext>
              </a:extLst>
            </p:cNvPr>
            <p:cNvSpPr>
              <a:spLocks noChangeArrowheads="1"/>
            </p:cNvSpPr>
            <p:nvPr/>
          </p:nvSpPr>
          <p:spPr bwMode="auto">
            <a:xfrm>
              <a:off x="2928" y="3504"/>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6" name="Oval 47">
              <a:extLst>
                <a:ext uri="{FF2B5EF4-FFF2-40B4-BE49-F238E27FC236}">
                  <a16:creationId xmlns:a16="http://schemas.microsoft.com/office/drawing/2014/main" id="{E1C8EBDA-4106-4670-AAD5-F09A1C02B7A2}"/>
                </a:ext>
              </a:extLst>
            </p:cNvPr>
            <p:cNvSpPr>
              <a:spLocks noChangeArrowheads="1"/>
            </p:cNvSpPr>
            <p:nvPr/>
          </p:nvSpPr>
          <p:spPr bwMode="auto">
            <a:xfrm>
              <a:off x="2928" y="3312"/>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7" name="Oval 48">
              <a:extLst>
                <a:ext uri="{FF2B5EF4-FFF2-40B4-BE49-F238E27FC236}">
                  <a16:creationId xmlns:a16="http://schemas.microsoft.com/office/drawing/2014/main" id="{5DF5FAB9-1E9A-4958-93CC-5E1C5FB8B0ED}"/>
                </a:ext>
              </a:extLst>
            </p:cNvPr>
            <p:cNvSpPr>
              <a:spLocks noChangeArrowheads="1"/>
            </p:cNvSpPr>
            <p:nvPr/>
          </p:nvSpPr>
          <p:spPr bwMode="auto">
            <a:xfrm>
              <a:off x="2256" y="2688"/>
              <a:ext cx="109" cy="109"/>
            </a:xfrm>
            <a:prstGeom prst="ellipse">
              <a:avLst/>
            </a:prstGeom>
            <a:solidFill>
              <a:srgbClr val="00CCFF"/>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8" name="Oval 49">
              <a:extLst>
                <a:ext uri="{FF2B5EF4-FFF2-40B4-BE49-F238E27FC236}">
                  <a16:creationId xmlns:a16="http://schemas.microsoft.com/office/drawing/2014/main" id="{DA0C2A9B-7957-41DC-8754-082AC06E1EC0}"/>
                </a:ext>
              </a:extLst>
            </p:cNvPr>
            <p:cNvSpPr>
              <a:spLocks noChangeArrowheads="1"/>
            </p:cNvSpPr>
            <p:nvPr/>
          </p:nvSpPr>
          <p:spPr bwMode="auto">
            <a:xfrm>
              <a:off x="2208" y="3552"/>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39" name="Oval 50">
              <a:extLst>
                <a:ext uri="{FF2B5EF4-FFF2-40B4-BE49-F238E27FC236}">
                  <a16:creationId xmlns:a16="http://schemas.microsoft.com/office/drawing/2014/main" id="{87D15F26-94E4-4EF6-89DF-289FD286E3E3}"/>
                </a:ext>
              </a:extLst>
            </p:cNvPr>
            <p:cNvSpPr>
              <a:spLocks noChangeArrowheads="1"/>
            </p:cNvSpPr>
            <p:nvPr/>
          </p:nvSpPr>
          <p:spPr bwMode="auto">
            <a:xfrm>
              <a:off x="2592" y="3744"/>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40" name="Oval 51">
              <a:extLst>
                <a:ext uri="{FF2B5EF4-FFF2-40B4-BE49-F238E27FC236}">
                  <a16:creationId xmlns:a16="http://schemas.microsoft.com/office/drawing/2014/main" id="{15918C0F-4657-4FC6-9BBA-B6CD5695071A}"/>
                </a:ext>
              </a:extLst>
            </p:cNvPr>
            <p:cNvSpPr>
              <a:spLocks noChangeArrowheads="1"/>
            </p:cNvSpPr>
            <p:nvPr/>
          </p:nvSpPr>
          <p:spPr bwMode="auto">
            <a:xfrm>
              <a:off x="2352" y="3792"/>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41" name="Oval 52">
              <a:extLst>
                <a:ext uri="{FF2B5EF4-FFF2-40B4-BE49-F238E27FC236}">
                  <a16:creationId xmlns:a16="http://schemas.microsoft.com/office/drawing/2014/main" id="{1ED89973-E7E1-4138-AEA1-7408AAD6B339}"/>
                </a:ext>
              </a:extLst>
            </p:cNvPr>
            <p:cNvSpPr>
              <a:spLocks noChangeArrowheads="1"/>
            </p:cNvSpPr>
            <p:nvPr/>
          </p:nvSpPr>
          <p:spPr bwMode="auto">
            <a:xfrm>
              <a:off x="1776" y="3120"/>
              <a:ext cx="110"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42" name="Oval 53">
              <a:extLst>
                <a:ext uri="{FF2B5EF4-FFF2-40B4-BE49-F238E27FC236}">
                  <a16:creationId xmlns:a16="http://schemas.microsoft.com/office/drawing/2014/main" id="{DA2128E8-3E7D-4E22-A023-548D67D89D9B}"/>
                </a:ext>
              </a:extLst>
            </p:cNvPr>
            <p:cNvSpPr>
              <a:spLocks noChangeArrowheads="1"/>
            </p:cNvSpPr>
            <p:nvPr/>
          </p:nvSpPr>
          <p:spPr bwMode="auto">
            <a:xfrm>
              <a:off x="1680" y="2880"/>
              <a:ext cx="110"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4243" name="Oval 54">
              <a:extLst>
                <a:ext uri="{FF2B5EF4-FFF2-40B4-BE49-F238E27FC236}">
                  <a16:creationId xmlns:a16="http://schemas.microsoft.com/office/drawing/2014/main" id="{2C4E1DEC-002A-4111-8DBE-A23BE1294440}"/>
                </a:ext>
              </a:extLst>
            </p:cNvPr>
            <p:cNvSpPr>
              <a:spLocks noChangeArrowheads="1"/>
            </p:cNvSpPr>
            <p:nvPr/>
          </p:nvSpPr>
          <p:spPr bwMode="auto">
            <a:xfrm>
              <a:off x="2592" y="3984"/>
              <a:ext cx="109" cy="110"/>
            </a:xfrm>
            <a:prstGeom prst="ellipse">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5">
            <a:extLst>
              <a:ext uri="{FF2B5EF4-FFF2-40B4-BE49-F238E27FC236}">
                <a16:creationId xmlns:a16="http://schemas.microsoft.com/office/drawing/2014/main" id="{01663643-2C84-4B1F-B525-FB353B2E6A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89B1E6B8-7CC9-4C5D-98BA-32F84928CB1D}" type="slidenum">
              <a:rPr lang="en-US" altLang="zh-CN" sz="1000" smtClean="0">
                <a:ea typeface="宋体" panose="02010600030101010101" pitchFamily="2" charset="-122"/>
              </a:rPr>
              <a:pPr>
                <a:spcBef>
                  <a:spcPct val="0"/>
                </a:spcBef>
                <a:buClrTx/>
                <a:buFontTx/>
                <a:buNone/>
              </a:pPr>
              <a:t>57</a:t>
            </a:fld>
            <a:endParaRPr lang="en-US" altLang="zh-CN" sz="1000">
              <a:ea typeface="宋体" panose="02010600030101010101" pitchFamily="2" charset="-122"/>
            </a:endParaRPr>
          </a:p>
        </p:txBody>
      </p:sp>
      <p:sp>
        <p:nvSpPr>
          <p:cNvPr id="95234" name="Rectangle 2">
            <a:extLst>
              <a:ext uri="{FF2B5EF4-FFF2-40B4-BE49-F238E27FC236}">
                <a16:creationId xmlns:a16="http://schemas.microsoft.com/office/drawing/2014/main" id="{DB5DB6FA-9705-4392-8C48-239138CCA8E5}"/>
              </a:ext>
            </a:extLst>
          </p:cNvPr>
          <p:cNvSpPr>
            <a:spLocks noGrp="1" noChangeArrowheads="1"/>
          </p:cNvSpPr>
          <p:nvPr>
            <p:ph type="title"/>
          </p:nvPr>
        </p:nvSpPr>
        <p:spPr/>
        <p:txBody>
          <a:bodyPr/>
          <a:lstStyle/>
          <a:p>
            <a:pPr eaLnBrk="1" hangingPunct="1"/>
            <a:r>
              <a:rPr lang="zh-CN" altLang="en-US"/>
              <a:t>降维方法概述</a:t>
            </a:r>
          </a:p>
        </p:txBody>
      </p:sp>
      <p:sp>
        <p:nvSpPr>
          <p:cNvPr id="817155" name="Rectangle 3">
            <a:extLst>
              <a:ext uri="{FF2B5EF4-FFF2-40B4-BE49-F238E27FC236}">
                <a16:creationId xmlns:a16="http://schemas.microsoft.com/office/drawing/2014/main" id="{E587806D-0BD3-4140-A9E7-ABAE15903912}"/>
              </a:ext>
            </a:extLst>
          </p:cNvPr>
          <p:cNvSpPr>
            <a:spLocks noGrp="1" noChangeArrowheads="1"/>
          </p:cNvSpPr>
          <p:nvPr>
            <p:ph type="body" idx="1"/>
          </p:nvPr>
        </p:nvSpPr>
        <p:spPr>
          <a:xfrm>
            <a:off x="457200" y="1600200"/>
            <a:ext cx="8382000" cy="5029200"/>
          </a:xfrm>
        </p:spPr>
        <p:txBody>
          <a:bodyPr/>
          <a:lstStyle/>
          <a:p>
            <a:pPr eaLnBrk="1" hangingPunct="1"/>
            <a:r>
              <a:rPr lang="zh-CN" altLang="en-US" sz="2800"/>
              <a:t>线性降维</a:t>
            </a:r>
          </a:p>
          <a:p>
            <a:pPr lvl="1" eaLnBrk="1" hangingPunct="1"/>
            <a:r>
              <a:rPr lang="zh-CN" altLang="en-US" sz="2300">
                <a:solidFill>
                  <a:srgbClr val="008000"/>
                </a:solidFill>
              </a:rPr>
              <a:t>主成分分析 </a:t>
            </a:r>
            <a:r>
              <a:rPr lang="en-US" altLang="zh-CN" sz="2300">
                <a:solidFill>
                  <a:srgbClr val="008000"/>
                </a:solidFill>
              </a:rPr>
              <a:t>(PCA)</a:t>
            </a:r>
            <a:r>
              <a:rPr lang="en-US" altLang="zh-CN" sz="2300"/>
              <a:t> [Jolliffe, 1986]</a:t>
            </a:r>
          </a:p>
          <a:p>
            <a:pPr lvl="1" eaLnBrk="1" hangingPunct="1"/>
            <a:r>
              <a:rPr lang="zh-CN" altLang="en-US" sz="2300">
                <a:solidFill>
                  <a:srgbClr val="008000"/>
                </a:solidFill>
              </a:rPr>
              <a:t>线性判别分析 </a:t>
            </a:r>
            <a:r>
              <a:rPr lang="en-US" altLang="zh-CN" sz="2300">
                <a:solidFill>
                  <a:srgbClr val="008000"/>
                </a:solidFill>
              </a:rPr>
              <a:t>(LDA)</a:t>
            </a:r>
            <a:r>
              <a:rPr lang="en-US" altLang="zh-CN" sz="2300"/>
              <a:t> [Fukunaga, 1991]</a:t>
            </a:r>
          </a:p>
        </p:txBody>
      </p:sp>
      <p:grpSp>
        <p:nvGrpSpPr>
          <p:cNvPr id="95236" name="Group 4">
            <a:extLst>
              <a:ext uri="{FF2B5EF4-FFF2-40B4-BE49-F238E27FC236}">
                <a16:creationId xmlns:a16="http://schemas.microsoft.com/office/drawing/2014/main" id="{1A166024-A7D0-462A-B44D-0125B43D0249}"/>
              </a:ext>
            </a:extLst>
          </p:cNvPr>
          <p:cNvGrpSpPr>
            <a:grpSpLocks/>
          </p:cNvGrpSpPr>
          <p:nvPr/>
        </p:nvGrpSpPr>
        <p:grpSpPr bwMode="auto">
          <a:xfrm>
            <a:off x="3206750" y="3822700"/>
            <a:ext cx="2574925" cy="2700338"/>
            <a:chOff x="3617" y="1905"/>
            <a:chExt cx="2041" cy="1701"/>
          </a:xfrm>
        </p:grpSpPr>
        <p:sp>
          <p:nvSpPr>
            <p:cNvPr id="95309" name="Line 5">
              <a:extLst>
                <a:ext uri="{FF2B5EF4-FFF2-40B4-BE49-F238E27FC236}">
                  <a16:creationId xmlns:a16="http://schemas.microsoft.com/office/drawing/2014/main" id="{2540EF89-2900-4098-9DDD-26279E254B0C}"/>
                </a:ext>
              </a:extLst>
            </p:cNvPr>
            <p:cNvSpPr>
              <a:spLocks noChangeShapeType="1"/>
            </p:cNvSpPr>
            <p:nvPr/>
          </p:nvSpPr>
          <p:spPr bwMode="auto">
            <a:xfrm flipV="1">
              <a:off x="3617" y="1905"/>
              <a:ext cx="0" cy="170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310" name="Line 6">
              <a:extLst>
                <a:ext uri="{FF2B5EF4-FFF2-40B4-BE49-F238E27FC236}">
                  <a16:creationId xmlns:a16="http://schemas.microsoft.com/office/drawing/2014/main" id="{8224CFB8-A3D9-466D-8AF3-C15ADD4C69BB}"/>
                </a:ext>
              </a:extLst>
            </p:cNvPr>
            <p:cNvSpPr>
              <a:spLocks noChangeShapeType="1"/>
            </p:cNvSpPr>
            <p:nvPr/>
          </p:nvSpPr>
          <p:spPr bwMode="auto">
            <a:xfrm>
              <a:off x="3617" y="3606"/>
              <a:ext cx="204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7159" name="AutoShape 7">
            <a:extLst>
              <a:ext uri="{FF2B5EF4-FFF2-40B4-BE49-F238E27FC236}">
                <a16:creationId xmlns:a16="http://schemas.microsoft.com/office/drawing/2014/main" id="{4AB9CF1A-4705-490D-9B01-4FC73A32E9BF}"/>
              </a:ext>
            </a:extLst>
          </p:cNvPr>
          <p:cNvSpPr>
            <a:spLocks noChangeArrowheads="1"/>
          </p:cNvSpPr>
          <p:nvPr/>
        </p:nvSpPr>
        <p:spPr bwMode="auto">
          <a:xfrm>
            <a:off x="4476750" y="4362450"/>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0" name="AutoShape 8">
            <a:extLst>
              <a:ext uri="{FF2B5EF4-FFF2-40B4-BE49-F238E27FC236}">
                <a16:creationId xmlns:a16="http://schemas.microsoft.com/office/drawing/2014/main" id="{DA341BAE-62EE-4C01-B488-632F39346969}"/>
              </a:ext>
            </a:extLst>
          </p:cNvPr>
          <p:cNvSpPr>
            <a:spLocks noChangeArrowheads="1"/>
          </p:cNvSpPr>
          <p:nvPr/>
        </p:nvSpPr>
        <p:spPr bwMode="auto">
          <a:xfrm>
            <a:off x="4972050" y="3913188"/>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1" name="AutoShape 9">
            <a:extLst>
              <a:ext uri="{FF2B5EF4-FFF2-40B4-BE49-F238E27FC236}">
                <a16:creationId xmlns:a16="http://schemas.microsoft.com/office/drawing/2014/main" id="{6E5E44ED-76CD-42A8-BE53-600154A53D97}"/>
              </a:ext>
            </a:extLst>
          </p:cNvPr>
          <p:cNvSpPr>
            <a:spLocks noChangeArrowheads="1"/>
          </p:cNvSpPr>
          <p:nvPr/>
        </p:nvSpPr>
        <p:spPr bwMode="auto">
          <a:xfrm>
            <a:off x="3890963" y="458787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2" name="AutoShape 10">
            <a:extLst>
              <a:ext uri="{FF2B5EF4-FFF2-40B4-BE49-F238E27FC236}">
                <a16:creationId xmlns:a16="http://schemas.microsoft.com/office/drawing/2014/main" id="{83C41553-3666-4F67-9B7C-120A3704AA0F}"/>
              </a:ext>
            </a:extLst>
          </p:cNvPr>
          <p:cNvSpPr>
            <a:spLocks noChangeArrowheads="1"/>
          </p:cNvSpPr>
          <p:nvPr/>
        </p:nvSpPr>
        <p:spPr bwMode="auto">
          <a:xfrm>
            <a:off x="4251325" y="467677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3" name="AutoShape 11">
            <a:extLst>
              <a:ext uri="{FF2B5EF4-FFF2-40B4-BE49-F238E27FC236}">
                <a16:creationId xmlns:a16="http://schemas.microsoft.com/office/drawing/2014/main" id="{30671797-8F6B-4E23-9725-2F0A8719E70A}"/>
              </a:ext>
            </a:extLst>
          </p:cNvPr>
          <p:cNvSpPr>
            <a:spLocks noChangeArrowheads="1"/>
          </p:cNvSpPr>
          <p:nvPr/>
        </p:nvSpPr>
        <p:spPr bwMode="auto">
          <a:xfrm>
            <a:off x="4656138" y="404812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4" name="AutoShape 12">
            <a:extLst>
              <a:ext uri="{FF2B5EF4-FFF2-40B4-BE49-F238E27FC236}">
                <a16:creationId xmlns:a16="http://schemas.microsoft.com/office/drawing/2014/main" id="{8968937A-8A53-466A-BB09-FC1D07009049}"/>
              </a:ext>
            </a:extLst>
          </p:cNvPr>
          <p:cNvSpPr>
            <a:spLocks noChangeArrowheads="1"/>
          </p:cNvSpPr>
          <p:nvPr/>
        </p:nvSpPr>
        <p:spPr bwMode="auto">
          <a:xfrm>
            <a:off x="4206875" y="508317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5" name="AutoShape 13">
            <a:extLst>
              <a:ext uri="{FF2B5EF4-FFF2-40B4-BE49-F238E27FC236}">
                <a16:creationId xmlns:a16="http://schemas.microsoft.com/office/drawing/2014/main" id="{033264F5-7B0C-4E67-AAF6-A324BB8497E3}"/>
              </a:ext>
            </a:extLst>
          </p:cNvPr>
          <p:cNvSpPr>
            <a:spLocks noChangeArrowheads="1"/>
          </p:cNvSpPr>
          <p:nvPr/>
        </p:nvSpPr>
        <p:spPr bwMode="auto">
          <a:xfrm>
            <a:off x="3756025" y="4948238"/>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6" name="AutoShape 14">
            <a:extLst>
              <a:ext uri="{FF2B5EF4-FFF2-40B4-BE49-F238E27FC236}">
                <a16:creationId xmlns:a16="http://schemas.microsoft.com/office/drawing/2014/main" id="{FD933C17-1C81-42E3-8C7C-6078DBB29916}"/>
              </a:ext>
            </a:extLst>
          </p:cNvPr>
          <p:cNvSpPr>
            <a:spLocks noChangeArrowheads="1"/>
          </p:cNvSpPr>
          <p:nvPr/>
        </p:nvSpPr>
        <p:spPr bwMode="auto">
          <a:xfrm>
            <a:off x="4160838" y="4362450"/>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7" name="AutoShape 15">
            <a:extLst>
              <a:ext uri="{FF2B5EF4-FFF2-40B4-BE49-F238E27FC236}">
                <a16:creationId xmlns:a16="http://schemas.microsoft.com/office/drawing/2014/main" id="{72ADE6AB-175B-431E-8461-23AF494826BB}"/>
              </a:ext>
            </a:extLst>
          </p:cNvPr>
          <p:cNvSpPr>
            <a:spLocks noChangeArrowheads="1"/>
          </p:cNvSpPr>
          <p:nvPr/>
        </p:nvSpPr>
        <p:spPr bwMode="auto">
          <a:xfrm>
            <a:off x="4071938" y="4902200"/>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8" name="Oval 16">
            <a:extLst>
              <a:ext uri="{FF2B5EF4-FFF2-40B4-BE49-F238E27FC236}">
                <a16:creationId xmlns:a16="http://schemas.microsoft.com/office/drawing/2014/main" id="{15795963-4797-4986-9308-E86EEBAA5DFF}"/>
              </a:ext>
            </a:extLst>
          </p:cNvPr>
          <p:cNvSpPr>
            <a:spLocks noChangeArrowheads="1"/>
          </p:cNvSpPr>
          <p:nvPr/>
        </p:nvSpPr>
        <p:spPr bwMode="auto">
          <a:xfrm>
            <a:off x="5421313" y="4857750"/>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69" name="Oval 17">
            <a:extLst>
              <a:ext uri="{FF2B5EF4-FFF2-40B4-BE49-F238E27FC236}">
                <a16:creationId xmlns:a16="http://schemas.microsoft.com/office/drawing/2014/main" id="{C0C0A41F-4643-429F-A5D0-ED3141173E57}"/>
              </a:ext>
            </a:extLst>
          </p:cNvPr>
          <p:cNvSpPr>
            <a:spLocks noChangeArrowheads="1"/>
          </p:cNvSpPr>
          <p:nvPr/>
        </p:nvSpPr>
        <p:spPr bwMode="auto">
          <a:xfrm>
            <a:off x="5241925" y="5083175"/>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0" name="Oval 18">
            <a:extLst>
              <a:ext uri="{FF2B5EF4-FFF2-40B4-BE49-F238E27FC236}">
                <a16:creationId xmlns:a16="http://schemas.microsoft.com/office/drawing/2014/main" id="{640794AB-E200-4202-9C60-E0E06CD2C7DA}"/>
              </a:ext>
            </a:extLst>
          </p:cNvPr>
          <p:cNvSpPr>
            <a:spLocks noChangeArrowheads="1"/>
          </p:cNvSpPr>
          <p:nvPr/>
        </p:nvSpPr>
        <p:spPr bwMode="auto">
          <a:xfrm>
            <a:off x="4881563" y="5172075"/>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1" name="Oval 19">
            <a:extLst>
              <a:ext uri="{FF2B5EF4-FFF2-40B4-BE49-F238E27FC236}">
                <a16:creationId xmlns:a16="http://schemas.microsoft.com/office/drawing/2014/main" id="{AA220398-8F34-49B6-A7A4-EC5F8CCE6103}"/>
              </a:ext>
            </a:extLst>
          </p:cNvPr>
          <p:cNvSpPr>
            <a:spLocks noChangeArrowheads="1"/>
          </p:cNvSpPr>
          <p:nvPr/>
        </p:nvSpPr>
        <p:spPr bwMode="auto">
          <a:xfrm>
            <a:off x="4565650" y="5487988"/>
            <a:ext cx="90488"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2" name="Oval 20">
            <a:extLst>
              <a:ext uri="{FF2B5EF4-FFF2-40B4-BE49-F238E27FC236}">
                <a16:creationId xmlns:a16="http://schemas.microsoft.com/office/drawing/2014/main" id="{0826A178-80B4-4F30-9CC7-BD51E4841CC8}"/>
              </a:ext>
            </a:extLst>
          </p:cNvPr>
          <p:cNvSpPr>
            <a:spLocks noChangeArrowheads="1"/>
          </p:cNvSpPr>
          <p:nvPr/>
        </p:nvSpPr>
        <p:spPr bwMode="auto">
          <a:xfrm>
            <a:off x="4386263" y="5667375"/>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3" name="Oval 21">
            <a:extLst>
              <a:ext uri="{FF2B5EF4-FFF2-40B4-BE49-F238E27FC236}">
                <a16:creationId xmlns:a16="http://schemas.microsoft.com/office/drawing/2014/main" id="{44C147A6-E342-4545-A25E-853FB92DBFAC}"/>
              </a:ext>
            </a:extLst>
          </p:cNvPr>
          <p:cNvSpPr>
            <a:spLocks noChangeArrowheads="1"/>
          </p:cNvSpPr>
          <p:nvPr/>
        </p:nvSpPr>
        <p:spPr bwMode="auto">
          <a:xfrm>
            <a:off x="5376863" y="4632325"/>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4" name="Oval 22">
            <a:extLst>
              <a:ext uri="{FF2B5EF4-FFF2-40B4-BE49-F238E27FC236}">
                <a16:creationId xmlns:a16="http://schemas.microsoft.com/office/drawing/2014/main" id="{DA23962B-9206-41EF-A6D8-C69A8447FDB8}"/>
              </a:ext>
            </a:extLst>
          </p:cNvPr>
          <p:cNvSpPr>
            <a:spLocks noChangeArrowheads="1"/>
          </p:cNvSpPr>
          <p:nvPr/>
        </p:nvSpPr>
        <p:spPr bwMode="auto">
          <a:xfrm>
            <a:off x="5197475" y="4857750"/>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5" name="Oval 23">
            <a:extLst>
              <a:ext uri="{FF2B5EF4-FFF2-40B4-BE49-F238E27FC236}">
                <a16:creationId xmlns:a16="http://schemas.microsoft.com/office/drawing/2014/main" id="{6982B670-0C3E-4ACC-A334-D95EED7569E3}"/>
              </a:ext>
            </a:extLst>
          </p:cNvPr>
          <p:cNvSpPr>
            <a:spLocks noChangeArrowheads="1"/>
          </p:cNvSpPr>
          <p:nvPr/>
        </p:nvSpPr>
        <p:spPr bwMode="auto">
          <a:xfrm>
            <a:off x="4837113" y="4946650"/>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6" name="Oval 24">
            <a:extLst>
              <a:ext uri="{FF2B5EF4-FFF2-40B4-BE49-F238E27FC236}">
                <a16:creationId xmlns:a16="http://schemas.microsoft.com/office/drawing/2014/main" id="{8EE39D8F-3AE4-445A-B090-8665127B9846}"/>
              </a:ext>
            </a:extLst>
          </p:cNvPr>
          <p:cNvSpPr>
            <a:spLocks noChangeArrowheads="1"/>
          </p:cNvSpPr>
          <p:nvPr/>
        </p:nvSpPr>
        <p:spPr bwMode="auto">
          <a:xfrm>
            <a:off x="4521200" y="5262563"/>
            <a:ext cx="90488"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7" name="Oval 25">
            <a:extLst>
              <a:ext uri="{FF2B5EF4-FFF2-40B4-BE49-F238E27FC236}">
                <a16:creationId xmlns:a16="http://schemas.microsoft.com/office/drawing/2014/main" id="{A7278328-2BF0-4FAF-841B-44AECF52BA9B}"/>
              </a:ext>
            </a:extLst>
          </p:cNvPr>
          <p:cNvSpPr>
            <a:spLocks noChangeArrowheads="1"/>
          </p:cNvSpPr>
          <p:nvPr/>
        </p:nvSpPr>
        <p:spPr bwMode="auto">
          <a:xfrm>
            <a:off x="4341813" y="5441950"/>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8" name="Oval 26">
            <a:extLst>
              <a:ext uri="{FF2B5EF4-FFF2-40B4-BE49-F238E27FC236}">
                <a16:creationId xmlns:a16="http://schemas.microsoft.com/office/drawing/2014/main" id="{F5C67A77-F91A-44B5-A3FD-CD2CA499942A}"/>
              </a:ext>
            </a:extLst>
          </p:cNvPr>
          <p:cNvSpPr>
            <a:spLocks noChangeArrowheads="1"/>
          </p:cNvSpPr>
          <p:nvPr/>
        </p:nvSpPr>
        <p:spPr bwMode="auto">
          <a:xfrm>
            <a:off x="5556250" y="4497388"/>
            <a:ext cx="90488"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79" name="Oval 27">
            <a:extLst>
              <a:ext uri="{FF2B5EF4-FFF2-40B4-BE49-F238E27FC236}">
                <a16:creationId xmlns:a16="http://schemas.microsoft.com/office/drawing/2014/main" id="{F597C621-F4A1-489C-9C4D-FBD5A503AC27}"/>
              </a:ext>
            </a:extLst>
          </p:cNvPr>
          <p:cNvSpPr>
            <a:spLocks noChangeArrowheads="1"/>
          </p:cNvSpPr>
          <p:nvPr/>
        </p:nvSpPr>
        <p:spPr bwMode="auto">
          <a:xfrm>
            <a:off x="4206875" y="5757863"/>
            <a:ext cx="90488"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0" name="Oval 28">
            <a:extLst>
              <a:ext uri="{FF2B5EF4-FFF2-40B4-BE49-F238E27FC236}">
                <a16:creationId xmlns:a16="http://schemas.microsoft.com/office/drawing/2014/main" id="{D40CC9E5-4901-48A3-9275-A1A26BA9EFC0}"/>
              </a:ext>
            </a:extLst>
          </p:cNvPr>
          <p:cNvSpPr>
            <a:spLocks noChangeArrowheads="1"/>
          </p:cNvSpPr>
          <p:nvPr/>
        </p:nvSpPr>
        <p:spPr bwMode="auto">
          <a:xfrm>
            <a:off x="5060950" y="5351463"/>
            <a:ext cx="90488"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1" name="Oval 29">
            <a:extLst>
              <a:ext uri="{FF2B5EF4-FFF2-40B4-BE49-F238E27FC236}">
                <a16:creationId xmlns:a16="http://schemas.microsoft.com/office/drawing/2014/main" id="{BA3DB716-168B-4366-96F7-0BE556D6E6A2}"/>
              </a:ext>
            </a:extLst>
          </p:cNvPr>
          <p:cNvSpPr>
            <a:spLocks noChangeArrowheads="1"/>
          </p:cNvSpPr>
          <p:nvPr/>
        </p:nvSpPr>
        <p:spPr bwMode="auto">
          <a:xfrm>
            <a:off x="4791075" y="5397500"/>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2" name="Oval 30">
            <a:extLst>
              <a:ext uri="{FF2B5EF4-FFF2-40B4-BE49-F238E27FC236}">
                <a16:creationId xmlns:a16="http://schemas.microsoft.com/office/drawing/2014/main" id="{A4558BDA-7CFB-446B-8381-35E22D7C683D}"/>
              </a:ext>
            </a:extLst>
          </p:cNvPr>
          <p:cNvSpPr>
            <a:spLocks noChangeArrowheads="1"/>
          </p:cNvSpPr>
          <p:nvPr/>
        </p:nvSpPr>
        <p:spPr bwMode="auto">
          <a:xfrm>
            <a:off x="4791075" y="5622925"/>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3" name="AutoShape 31">
            <a:extLst>
              <a:ext uri="{FF2B5EF4-FFF2-40B4-BE49-F238E27FC236}">
                <a16:creationId xmlns:a16="http://schemas.microsoft.com/office/drawing/2014/main" id="{4792B0C3-7280-4BEF-B293-AA695A504CDF}"/>
              </a:ext>
            </a:extLst>
          </p:cNvPr>
          <p:cNvSpPr>
            <a:spLocks noChangeArrowheads="1"/>
          </p:cNvSpPr>
          <p:nvPr/>
        </p:nvSpPr>
        <p:spPr bwMode="auto">
          <a:xfrm>
            <a:off x="4027488" y="472122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4" name="AutoShape 32">
            <a:extLst>
              <a:ext uri="{FF2B5EF4-FFF2-40B4-BE49-F238E27FC236}">
                <a16:creationId xmlns:a16="http://schemas.microsoft.com/office/drawing/2014/main" id="{2D8A41C0-99CA-45C7-8846-A4D895F749EE}"/>
              </a:ext>
            </a:extLst>
          </p:cNvPr>
          <p:cNvSpPr>
            <a:spLocks noChangeArrowheads="1"/>
          </p:cNvSpPr>
          <p:nvPr/>
        </p:nvSpPr>
        <p:spPr bwMode="auto">
          <a:xfrm>
            <a:off x="3441700" y="4946650"/>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5" name="AutoShape 33">
            <a:extLst>
              <a:ext uri="{FF2B5EF4-FFF2-40B4-BE49-F238E27FC236}">
                <a16:creationId xmlns:a16="http://schemas.microsoft.com/office/drawing/2014/main" id="{4FAD8F6E-84FD-4670-B73A-2C4E4C1BD4C6}"/>
              </a:ext>
            </a:extLst>
          </p:cNvPr>
          <p:cNvSpPr>
            <a:spLocks noChangeArrowheads="1"/>
          </p:cNvSpPr>
          <p:nvPr/>
        </p:nvSpPr>
        <p:spPr bwMode="auto">
          <a:xfrm>
            <a:off x="3802063" y="5035550"/>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6" name="AutoShape 34">
            <a:extLst>
              <a:ext uri="{FF2B5EF4-FFF2-40B4-BE49-F238E27FC236}">
                <a16:creationId xmlns:a16="http://schemas.microsoft.com/office/drawing/2014/main" id="{2E421952-5615-4628-8A1D-C37EB6D44924}"/>
              </a:ext>
            </a:extLst>
          </p:cNvPr>
          <p:cNvSpPr>
            <a:spLocks noChangeArrowheads="1"/>
          </p:cNvSpPr>
          <p:nvPr/>
        </p:nvSpPr>
        <p:spPr bwMode="auto">
          <a:xfrm>
            <a:off x="4521200" y="3913188"/>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7" name="AutoShape 35">
            <a:extLst>
              <a:ext uri="{FF2B5EF4-FFF2-40B4-BE49-F238E27FC236}">
                <a16:creationId xmlns:a16="http://schemas.microsoft.com/office/drawing/2014/main" id="{A74A9AE2-57BA-4F2F-8084-56164861F528}"/>
              </a:ext>
            </a:extLst>
          </p:cNvPr>
          <p:cNvSpPr>
            <a:spLocks noChangeArrowheads="1"/>
          </p:cNvSpPr>
          <p:nvPr/>
        </p:nvSpPr>
        <p:spPr bwMode="auto">
          <a:xfrm>
            <a:off x="3306763" y="5307013"/>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8" name="AutoShape 36">
            <a:extLst>
              <a:ext uri="{FF2B5EF4-FFF2-40B4-BE49-F238E27FC236}">
                <a16:creationId xmlns:a16="http://schemas.microsoft.com/office/drawing/2014/main" id="{3E74657D-050C-4FC4-A800-92C801C5D269}"/>
              </a:ext>
            </a:extLst>
          </p:cNvPr>
          <p:cNvSpPr>
            <a:spLocks noChangeArrowheads="1"/>
          </p:cNvSpPr>
          <p:nvPr/>
        </p:nvSpPr>
        <p:spPr bwMode="auto">
          <a:xfrm>
            <a:off x="4430713" y="4183063"/>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89" name="AutoShape 37">
            <a:extLst>
              <a:ext uri="{FF2B5EF4-FFF2-40B4-BE49-F238E27FC236}">
                <a16:creationId xmlns:a16="http://schemas.microsoft.com/office/drawing/2014/main" id="{F821FD63-9084-44C4-8C86-FD60D9B07B8B}"/>
              </a:ext>
            </a:extLst>
          </p:cNvPr>
          <p:cNvSpPr>
            <a:spLocks noChangeArrowheads="1"/>
          </p:cNvSpPr>
          <p:nvPr/>
        </p:nvSpPr>
        <p:spPr bwMode="auto">
          <a:xfrm>
            <a:off x="3622675" y="526097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90" name="AutoShape 38">
            <a:extLst>
              <a:ext uri="{FF2B5EF4-FFF2-40B4-BE49-F238E27FC236}">
                <a16:creationId xmlns:a16="http://schemas.microsoft.com/office/drawing/2014/main" id="{EE986650-6264-43AA-9FAC-5205EC1E1A16}"/>
              </a:ext>
            </a:extLst>
          </p:cNvPr>
          <p:cNvSpPr>
            <a:spLocks noChangeArrowheads="1"/>
          </p:cNvSpPr>
          <p:nvPr/>
        </p:nvSpPr>
        <p:spPr bwMode="auto">
          <a:xfrm>
            <a:off x="4746625" y="4497388"/>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95269" name="AutoShape 39">
            <a:extLst>
              <a:ext uri="{FF2B5EF4-FFF2-40B4-BE49-F238E27FC236}">
                <a16:creationId xmlns:a16="http://schemas.microsoft.com/office/drawing/2014/main" id="{87102F01-20C7-4EB1-AD02-50ED07298214}"/>
              </a:ext>
            </a:extLst>
          </p:cNvPr>
          <p:cNvSpPr>
            <a:spLocks noChangeArrowheads="1"/>
          </p:cNvSpPr>
          <p:nvPr/>
        </p:nvSpPr>
        <p:spPr bwMode="auto">
          <a:xfrm>
            <a:off x="4883150" y="4630738"/>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grpSp>
        <p:nvGrpSpPr>
          <p:cNvPr id="3" name="Group 40">
            <a:extLst>
              <a:ext uri="{FF2B5EF4-FFF2-40B4-BE49-F238E27FC236}">
                <a16:creationId xmlns:a16="http://schemas.microsoft.com/office/drawing/2014/main" id="{BE43E5A4-E4F3-4203-A7F5-764B24AF5CE9}"/>
              </a:ext>
            </a:extLst>
          </p:cNvPr>
          <p:cNvGrpSpPr>
            <a:grpSpLocks/>
          </p:cNvGrpSpPr>
          <p:nvPr/>
        </p:nvGrpSpPr>
        <p:grpSpPr bwMode="auto">
          <a:xfrm>
            <a:off x="3114675" y="3733800"/>
            <a:ext cx="2835275" cy="2679700"/>
            <a:chOff x="3780" y="1849"/>
            <a:chExt cx="1786" cy="1688"/>
          </a:xfrm>
        </p:grpSpPr>
        <p:sp>
          <p:nvSpPr>
            <p:cNvPr id="95307" name="Line 41">
              <a:extLst>
                <a:ext uri="{FF2B5EF4-FFF2-40B4-BE49-F238E27FC236}">
                  <a16:creationId xmlns:a16="http://schemas.microsoft.com/office/drawing/2014/main" id="{B0684918-9EBE-46D2-AC35-FCD2DC774191}"/>
                </a:ext>
              </a:extLst>
            </p:cNvPr>
            <p:cNvSpPr>
              <a:spLocks noChangeShapeType="1"/>
            </p:cNvSpPr>
            <p:nvPr/>
          </p:nvSpPr>
          <p:spPr bwMode="auto">
            <a:xfrm flipV="1">
              <a:off x="3780" y="2132"/>
              <a:ext cx="1566" cy="14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8" name="Text Box 42">
              <a:extLst>
                <a:ext uri="{FF2B5EF4-FFF2-40B4-BE49-F238E27FC236}">
                  <a16:creationId xmlns:a16="http://schemas.microsoft.com/office/drawing/2014/main" id="{8B058FB6-6831-434A-B6F0-75F6F1396AF3}"/>
                </a:ext>
              </a:extLst>
            </p:cNvPr>
            <p:cNvSpPr txBox="1">
              <a:spLocks noChangeArrowheads="1"/>
            </p:cNvSpPr>
            <p:nvPr/>
          </p:nvSpPr>
          <p:spPr bwMode="auto">
            <a:xfrm>
              <a:off x="5154" y="1849"/>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chemeClr val="hlink"/>
                  </a:solidFill>
                  <a:ea typeface="宋体" panose="02010600030101010101" pitchFamily="2" charset="-122"/>
                </a:rPr>
                <a:t>PCA</a:t>
              </a:r>
            </a:p>
          </p:txBody>
        </p:sp>
      </p:grpSp>
      <p:grpSp>
        <p:nvGrpSpPr>
          <p:cNvPr id="4" name="Group 43">
            <a:extLst>
              <a:ext uri="{FF2B5EF4-FFF2-40B4-BE49-F238E27FC236}">
                <a16:creationId xmlns:a16="http://schemas.microsoft.com/office/drawing/2014/main" id="{4B156F8B-3AA8-47DD-9DF3-6A6E77D4D5C7}"/>
              </a:ext>
            </a:extLst>
          </p:cNvPr>
          <p:cNvGrpSpPr>
            <a:grpSpLocks/>
          </p:cNvGrpSpPr>
          <p:nvPr/>
        </p:nvGrpSpPr>
        <p:grpSpPr bwMode="auto">
          <a:xfrm>
            <a:off x="2971800" y="5334000"/>
            <a:ext cx="1863725" cy="1427163"/>
            <a:chOff x="3770" y="2937"/>
            <a:chExt cx="1174" cy="899"/>
          </a:xfrm>
        </p:grpSpPr>
        <p:sp>
          <p:nvSpPr>
            <p:cNvPr id="95305" name="Line 44">
              <a:extLst>
                <a:ext uri="{FF2B5EF4-FFF2-40B4-BE49-F238E27FC236}">
                  <a16:creationId xmlns:a16="http://schemas.microsoft.com/office/drawing/2014/main" id="{619EACFA-0EB2-4598-B951-C32AB2A562F3}"/>
                </a:ext>
              </a:extLst>
            </p:cNvPr>
            <p:cNvSpPr>
              <a:spLocks noChangeShapeType="1"/>
            </p:cNvSpPr>
            <p:nvPr/>
          </p:nvSpPr>
          <p:spPr bwMode="auto">
            <a:xfrm>
              <a:off x="3770" y="2937"/>
              <a:ext cx="751" cy="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6" name="Text Box 45">
              <a:extLst>
                <a:ext uri="{FF2B5EF4-FFF2-40B4-BE49-F238E27FC236}">
                  <a16:creationId xmlns:a16="http://schemas.microsoft.com/office/drawing/2014/main" id="{0C214317-A233-4F6A-AE0F-D02702086B8A}"/>
                </a:ext>
              </a:extLst>
            </p:cNvPr>
            <p:cNvSpPr txBox="1">
              <a:spLocks noChangeArrowheads="1"/>
            </p:cNvSpPr>
            <p:nvPr/>
          </p:nvSpPr>
          <p:spPr bwMode="auto">
            <a:xfrm>
              <a:off x="4548" y="3605"/>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chemeClr val="hlink"/>
                  </a:solidFill>
                  <a:ea typeface="宋体" panose="02010600030101010101" pitchFamily="2" charset="-122"/>
                </a:rPr>
                <a:t>LDA</a:t>
              </a:r>
            </a:p>
          </p:txBody>
        </p:sp>
      </p:grpSp>
      <p:sp>
        <p:nvSpPr>
          <p:cNvPr id="817198" name="Oval 46">
            <a:extLst>
              <a:ext uri="{FF2B5EF4-FFF2-40B4-BE49-F238E27FC236}">
                <a16:creationId xmlns:a16="http://schemas.microsoft.com/office/drawing/2014/main" id="{B39B26C6-0058-496E-AE88-114DCF56E11E}"/>
              </a:ext>
            </a:extLst>
          </p:cNvPr>
          <p:cNvSpPr>
            <a:spLocks noChangeArrowheads="1"/>
          </p:cNvSpPr>
          <p:nvPr/>
        </p:nvSpPr>
        <p:spPr bwMode="auto">
          <a:xfrm>
            <a:off x="5419725" y="4851400"/>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199" name="Oval 47">
            <a:extLst>
              <a:ext uri="{FF2B5EF4-FFF2-40B4-BE49-F238E27FC236}">
                <a16:creationId xmlns:a16="http://schemas.microsoft.com/office/drawing/2014/main" id="{E8979251-7881-45C0-8252-3EA380415D63}"/>
              </a:ext>
            </a:extLst>
          </p:cNvPr>
          <p:cNvSpPr>
            <a:spLocks noChangeArrowheads="1"/>
          </p:cNvSpPr>
          <p:nvPr/>
        </p:nvSpPr>
        <p:spPr bwMode="auto">
          <a:xfrm>
            <a:off x="5240338" y="5076825"/>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0" name="Oval 48">
            <a:extLst>
              <a:ext uri="{FF2B5EF4-FFF2-40B4-BE49-F238E27FC236}">
                <a16:creationId xmlns:a16="http://schemas.microsoft.com/office/drawing/2014/main" id="{71A84CCB-FC1A-4940-B99C-F0F2DBE436F2}"/>
              </a:ext>
            </a:extLst>
          </p:cNvPr>
          <p:cNvSpPr>
            <a:spLocks noChangeArrowheads="1"/>
          </p:cNvSpPr>
          <p:nvPr/>
        </p:nvSpPr>
        <p:spPr bwMode="auto">
          <a:xfrm>
            <a:off x="4879975" y="5165725"/>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1" name="Oval 49">
            <a:extLst>
              <a:ext uri="{FF2B5EF4-FFF2-40B4-BE49-F238E27FC236}">
                <a16:creationId xmlns:a16="http://schemas.microsoft.com/office/drawing/2014/main" id="{6235555B-38F7-4E96-8889-9B372ECB561D}"/>
              </a:ext>
            </a:extLst>
          </p:cNvPr>
          <p:cNvSpPr>
            <a:spLocks noChangeArrowheads="1"/>
          </p:cNvSpPr>
          <p:nvPr/>
        </p:nvSpPr>
        <p:spPr bwMode="auto">
          <a:xfrm>
            <a:off x="4564063" y="5481638"/>
            <a:ext cx="90487"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2" name="Oval 50">
            <a:extLst>
              <a:ext uri="{FF2B5EF4-FFF2-40B4-BE49-F238E27FC236}">
                <a16:creationId xmlns:a16="http://schemas.microsoft.com/office/drawing/2014/main" id="{1A4872AA-235A-496E-84DD-1500DE53B414}"/>
              </a:ext>
            </a:extLst>
          </p:cNvPr>
          <p:cNvSpPr>
            <a:spLocks noChangeArrowheads="1"/>
          </p:cNvSpPr>
          <p:nvPr/>
        </p:nvSpPr>
        <p:spPr bwMode="auto">
          <a:xfrm>
            <a:off x="4384675" y="5661025"/>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3" name="Oval 51">
            <a:extLst>
              <a:ext uri="{FF2B5EF4-FFF2-40B4-BE49-F238E27FC236}">
                <a16:creationId xmlns:a16="http://schemas.microsoft.com/office/drawing/2014/main" id="{B24170D6-4C22-4FB2-8CC0-862DF728DA06}"/>
              </a:ext>
            </a:extLst>
          </p:cNvPr>
          <p:cNvSpPr>
            <a:spLocks noChangeArrowheads="1"/>
          </p:cNvSpPr>
          <p:nvPr/>
        </p:nvSpPr>
        <p:spPr bwMode="auto">
          <a:xfrm>
            <a:off x="5375275" y="4625975"/>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4" name="Oval 52">
            <a:extLst>
              <a:ext uri="{FF2B5EF4-FFF2-40B4-BE49-F238E27FC236}">
                <a16:creationId xmlns:a16="http://schemas.microsoft.com/office/drawing/2014/main" id="{AC994AD7-DB8E-41EC-9C6F-814FC8DF859B}"/>
              </a:ext>
            </a:extLst>
          </p:cNvPr>
          <p:cNvSpPr>
            <a:spLocks noChangeArrowheads="1"/>
          </p:cNvSpPr>
          <p:nvPr/>
        </p:nvSpPr>
        <p:spPr bwMode="auto">
          <a:xfrm>
            <a:off x="5195888" y="4851400"/>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5" name="Oval 53">
            <a:extLst>
              <a:ext uri="{FF2B5EF4-FFF2-40B4-BE49-F238E27FC236}">
                <a16:creationId xmlns:a16="http://schemas.microsoft.com/office/drawing/2014/main" id="{F4524174-6110-4F7C-B832-AA2118B98555}"/>
              </a:ext>
            </a:extLst>
          </p:cNvPr>
          <p:cNvSpPr>
            <a:spLocks noChangeArrowheads="1"/>
          </p:cNvSpPr>
          <p:nvPr/>
        </p:nvSpPr>
        <p:spPr bwMode="auto">
          <a:xfrm>
            <a:off x="4835525" y="4940300"/>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6" name="Oval 54">
            <a:extLst>
              <a:ext uri="{FF2B5EF4-FFF2-40B4-BE49-F238E27FC236}">
                <a16:creationId xmlns:a16="http://schemas.microsoft.com/office/drawing/2014/main" id="{A0E5CCFC-EE98-4B9F-A285-2C6CBB56B66A}"/>
              </a:ext>
            </a:extLst>
          </p:cNvPr>
          <p:cNvSpPr>
            <a:spLocks noChangeArrowheads="1"/>
          </p:cNvSpPr>
          <p:nvPr/>
        </p:nvSpPr>
        <p:spPr bwMode="auto">
          <a:xfrm>
            <a:off x="4519613" y="5256213"/>
            <a:ext cx="90487"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7" name="Oval 55">
            <a:extLst>
              <a:ext uri="{FF2B5EF4-FFF2-40B4-BE49-F238E27FC236}">
                <a16:creationId xmlns:a16="http://schemas.microsoft.com/office/drawing/2014/main" id="{3F8D433E-8CC9-4C35-B4BC-B9F633548DB5}"/>
              </a:ext>
            </a:extLst>
          </p:cNvPr>
          <p:cNvSpPr>
            <a:spLocks noChangeArrowheads="1"/>
          </p:cNvSpPr>
          <p:nvPr/>
        </p:nvSpPr>
        <p:spPr bwMode="auto">
          <a:xfrm>
            <a:off x="4340225" y="5435600"/>
            <a:ext cx="90488"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8" name="Oval 56">
            <a:extLst>
              <a:ext uri="{FF2B5EF4-FFF2-40B4-BE49-F238E27FC236}">
                <a16:creationId xmlns:a16="http://schemas.microsoft.com/office/drawing/2014/main" id="{C17DA1A1-BE98-4264-9B0A-AC1E68D04AC0}"/>
              </a:ext>
            </a:extLst>
          </p:cNvPr>
          <p:cNvSpPr>
            <a:spLocks noChangeArrowheads="1"/>
          </p:cNvSpPr>
          <p:nvPr/>
        </p:nvSpPr>
        <p:spPr bwMode="auto">
          <a:xfrm>
            <a:off x="5554663" y="4491038"/>
            <a:ext cx="90487"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09" name="Oval 57">
            <a:extLst>
              <a:ext uri="{FF2B5EF4-FFF2-40B4-BE49-F238E27FC236}">
                <a16:creationId xmlns:a16="http://schemas.microsoft.com/office/drawing/2014/main" id="{5F3A8595-7C72-4427-BF38-1EF47183539D}"/>
              </a:ext>
            </a:extLst>
          </p:cNvPr>
          <p:cNvSpPr>
            <a:spLocks noChangeArrowheads="1"/>
          </p:cNvSpPr>
          <p:nvPr/>
        </p:nvSpPr>
        <p:spPr bwMode="auto">
          <a:xfrm>
            <a:off x="4205288" y="5751513"/>
            <a:ext cx="90487"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0" name="Oval 58">
            <a:extLst>
              <a:ext uri="{FF2B5EF4-FFF2-40B4-BE49-F238E27FC236}">
                <a16:creationId xmlns:a16="http://schemas.microsoft.com/office/drawing/2014/main" id="{1F0D0C65-9D15-485D-BB6B-7DBB0A51239E}"/>
              </a:ext>
            </a:extLst>
          </p:cNvPr>
          <p:cNvSpPr>
            <a:spLocks noChangeArrowheads="1"/>
          </p:cNvSpPr>
          <p:nvPr/>
        </p:nvSpPr>
        <p:spPr bwMode="auto">
          <a:xfrm>
            <a:off x="5059363" y="5345113"/>
            <a:ext cx="90487" cy="9048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1" name="Oval 59">
            <a:extLst>
              <a:ext uri="{FF2B5EF4-FFF2-40B4-BE49-F238E27FC236}">
                <a16:creationId xmlns:a16="http://schemas.microsoft.com/office/drawing/2014/main" id="{F617FBD1-148A-4DDB-BF34-3A0BA1F2ADD6}"/>
              </a:ext>
            </a:extLst>
          </p:cNvPr>
          <p:cNvSpPr>
            <a:spLocks noChangeArrowheads="1"/>
          </p:cNvSpPr>
          <p:nvPr/>
        </p:nvSpPr>
        <p:spPr bwMode="auto">
          <a:xfrm>
            <a:off x="4789488" y="5391150"/>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2" name="Oval 60">
            <a:extLst>
              <a:ext uri="{FF2B5EF4-FFF2-40B4-BE49-F238E27FC236}">
                <a16:creationId xmlns:a16="http://schemas.microsoft.com/office/drawing/2014/main" id="{C8AB06BF-E813-4932-AF69-C5B56E72EBE8}"/>
              </a:ext>
            </a:extLst>
          </p:cNvPr>
          <p:cNvSpPr>
            <a:spLocks noChangeArrowheads="1"/>
          </p:cNvSpPr>
          <p:nvPr/>
        </p:nvSpPr>
        <p:spPr bwMode="auto">
          <a:xfrm>
            <a:off x="4789488" y="5616575"/>
            <a:ext cx="90487" cy="9048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3" name="AutoShape 61">
            <a:extLst>
              <a:ext uri="{FF2B5EF4-FFF2-40B4-BE49-F238E27FC236}">
                <a16:creationId xmlns:a16="http://schemas.microsoft.com/office/drawing/2014/main" id="{0DA21CB9-7954-4A12-BDEF-11BC08AEB515}"/>
              </a:ext>
            </a:extLst>
          </p:cNvPr>
          <p:cNvSpPr>
            <a:spLocks noChangeArrowheads="1"/>
          </p:cNvSpPr>
          <p:nvPr/>
        </p:nvSpPr>
        <p:spPr bwMode="auto">
          <a:xfrm>
            <a:off x="4475163" y="4362450"/>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4" name="AutoShape 62">
            <a:extLst>
              <a:ext uri="{FF2B5EF4-FFF2-40B4-BE49-F238E27FC236}">
                <a16:creationId xmlns:a16="http://schemas.microsoft.com/office/drawing/2014/main" id="{251383C8-016C-4740-9043-77A9390A0BCB}"/>
              </a:ext>
            </a:extLst>
          </p:cNvPr>
          <p:cNvSpPr>
            <a:spLocks noChangeArrowheads="1"/>
          </p:cNvSpPr>
          <p:nvPr/>
        </p:nvSpPr>
        <p:spPr bwMode="auto">
          <a:xfrm>
            <a:off x="4970463" y="3913188"/>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5" name="AutoShape 63">
            <a:extLst>
              <a:ext uri="{FF2B5EF4-FFF2-40B4-BE49-F238E27FC236}">
                <a16:creationId xmlns:a16="http://schemas.microsoft.com/office/drawing/2014/main" id="{0605D1CF-CD21-4A9B-A94A-8AD9CEED300F}"/>
              </a:ext>
            </a:extLst>
          </p:cNvPr>
          <p:cNvSpPr>
            <a:spLocks noChangeArrowheads="1"/>
          </p:cNvSpPr>
          <p:nvPr/>
        </p:nvSpPr>
        <p:spPr bwMode="auto">
          <a:xfrm>
            <a:off x="3889375" y="458787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6" name="AutoShape 64">
            <a:extLst>
              <a:ext uri="{FF2B5EF4-FFF2-40B4-BE49-F238E27FC236}">
                <a16:creationId xmlns:a16="http://schemas.microsoft.com/office/drawing/2014/main" id="{C073E53F-9EFF-4F62-8A62-33319D78D8F7}"/>
              </a:ext>
            </a:extLst>
          </p:cNvPr>
          <p:cNvSpPr>
            <a:spLocks noChangeArrowheads="1"/>
          </p:cNvSpPr>
          <p:nvPr/>
        </p:nvSpPr>
        <p:spPr bwMode="auto">
          <a:xfrm>
            <a:off x="4249738" y="467677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7" name="AutoShape 65">
            <a:extLst>
              <a:ext uri="{FF2B5EF4-FFF2-40B4-BE49-F238E27FC236}">
                <a16:creationId xmlns:a16="http://schemas.microsoft.com/office/drawing/2014/main" id="{B2BC4B49-E01E-456B-BADC-0A965BFB86A3}"/>
              </a:ext>
            </a:extLst>
          </p:cNvPr>
          <p:cNvSpPr>
            <a:spLocks noChangeArrowheads="1"/>
          </p:cNvSpPr>
          <p:nvPr/>
        </p:nvSpPr>
        <p:spPr bwMode="auto">
          <a:xfrm>
            <a:off x="4654550" y="404812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8" name="AutoShape 66">
            <a:extLst>
              <a:ext uri="{FF2B5EF4-FFF2-40B4-BE49-F238E27FC236}">
                <a16:creationId xmlns:a16="http://schemas.microsoft.com/office/drawing/2014/main" id="{39E2B04F-99C9-425B-9C8E-0D7E5ABA164B}"/>
              </a:ext>
            </a:extLst>
          </p:cNvPr>
          <p:cNvSpPr>
            <a:spLocks noChangeArrowheads="1"/>
          </p:cNvSpPr>
          <p:nvPr/>
        </p:nvSpPr>
        <p:spPr bwMode="auto">
          <a:xfrm>
            <a:off x="4205288" y="508317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19" name="AutoShape 67">
            <a:extLst>
              <a:ext uri="{FF2B5EF4-FFF2-40B4-BE49-F238E27FC236}">
                <a16:creationId xmlns:a16="http://schemas.microsoft.com/office/drawing/2014/main" id="{42DB5E26-A870-4992-B1F4-17CB1F6D8E1C}"/>
              </a:ext>
            </a:extLst>
          </p:cNvPr>
          <p:cNvSpPr>
            <a:spLocks noChangeArrowheads="1"/>
          </p:cNvSpPr>
          <p:nvPr/>
        </p:nvSpPr>
        <p:spPr bwMode="auto">
          <a:xfrm>
            <a:off x="3754438" y="4948238"/>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0" name="AutoShape 68">
            <a:extLst>
              <a:ext uri="{FF2B5EF4-FFF2-40B4-BE49-F238E27FC236}">
                <a16:creationId xmlns:a16="http://schemas.microsoft.com/office/drawing/2014/main" id="{491954E1-F1A7-4EFB-9AFD-003A189C0CC4}"/>
              </a:ext>
            </a:extLst>
          </p:cNvPr>
          <p:cNvSpPr>
            <a:spLocks noChangeArrowheads="1"/>
          </p:cNvSpPr>
          <p:nvPr/>
        </p:nvSpPr>
        <p:spPr bwMode="auto">
          <a:xfrm>
            <a:off x="4159250" y="4362450"/>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1" name="AutoShape 69">
            <a:extLst>
              <a:ext uri="{FF2B5EF4-FFF2-40B4-BE49-F238E27FC236}">
                <a16:creationId xmlns:a16="http://schemas.microsoft.com/office/drawing/2014/main" id="{4872C08E-B6BC-4F49-9BC1-A6DBBF0DB1A4}"/>
              </a:ext>
            </a:extLst>
          </p:cNvPr>
          <p:cNvSpPr>
            <a:spLocks noChangeArrowheads="1"/>
          </p:cNvSpPr>
          <p:nvPr/>
        </p:nvSpPr>
        <p:spPr bwMode="auto">
          <a:xfrm>
            <a:off x="4070350" y="4902200"/>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2" name="AutoShape 70">
            <a:extLst>
              <a:ext uri="{FF2B5EF4-FFF2-40B4-BE49-F238E27FC236}">
                <a16:creationId xmlns:a16="http://schemas.microsoft.com/office/drawing/2014/main" id="{30879397-7202-4A66-8EA5-E7B3958CA408}"/>
              </a:ext>
            </a:extLst>
          </p:cNvPr>
          <p:cNvSpPr>
            <a:spLocks noChangeArrowheads="1"/>
          </p:cNvSpPr>
          <p:nvPr/>
        </p:nvSpPr>
        <p:spPr bwMode="auto">
          <a:xfrm>
            <a:off x="4025900" y="4721225"/>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3" name="AutoShape 71">
            <a:extLst>
              <a:ext uri="{FF2B5EF4-FFF2-40B4-BE49-F238E27FC236}">
                <a16:creationId xmlns:a16="http://schemas.microsoft.com/office/drawing/2014/main" id="{B5E54C7D-E11C-451D-8ECC-9C356FC3DCDC}"/>
              </a:ext>
            </a:extLst>
          </p:cNvPr>
          <p:cNvSpPr>
            <a:spLocks noChangeArrowheads="1"/>
          </p:cNvSpPr>
          <p:nvPr/>
        </p:nvSpPr>
        <p:spPr bwMode="auto">
          <a:xfrm>
            <a:off x="3440113" y="4946650"/>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4" name="AutoShape 72">
            <a:extLst>
              <a:ext uri="{FF2B5EF4-FFF2-40B4-BE49-F238E27FC236}">
                <a16:creationId xmlns:a16="http://schemas.microsoft.com/office/drawing/2014/main" id="{B8F68A94-7A93-4311-9B9D-86149084B778}"/>
              </a:ext>
            </a:extLst>
          </p:cNvPr>
          <p:cNvSpPr>
            <a:spLocks noChangeArrowheads="1"/>
          </p:cNvSpPr>
          <p:nvPr/>
        </p:nvSpPr>
        <p:spPr bwMode="auto">
          <a:xfrm>
            <a:off x="3800475" y="5035550"/>
            <a:ext cx="134938"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5" name="AutoShape 73">
            <a:extLst>
              <a:ext uri="{FF2B5EF4-FFF2-40B4-BE49-F238E27FC236}">
                <a16:creationId xmlns:a16="http://schemas.microsoft.com/office/drawing/2014/main" id="{F0A0FB65-D639-4A03-8423-F32167FD8E61}"/>
              </a:ext>
            </a:extLst>
          </p:cNvPr>
          <p:cNvSpPr>
            <a:spLocks noChangeArrowheads="1"/>
          </p:cNvSpPr>
          <p:nvPr/>
        </p:nvSpPr>
        <p:spPr bwMode="auto">
          <a:xfrm>
            <a:off x="4519613" y="3913188"/>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6" name="AutoShape 74">
            <a:extLst>
              <a:ext uri="{FF2B5EF4-FFF2-40B4-BE49-F238E27FC236}">
                <a16:creationId xmlns:a16="http://schemas.microsoft.com/office/drawing/2014/main" id="{5AADF101-98ED-4F22-A22E-6330B0B03B80}"/>
              </a:ext>
            </a:extLst>
          </p:cNvPr>
          <p:cNvSpPr>
            <a:spLocks noChangeArrowheads="1"/>
          </p:cNvSpPr>
          <p:nvPr/>
        </p:nvSpPr>
        <p:spPr bwMode="auto">
          <a:xfrm>
            <a:off x="3305175" y="5307013"/>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7" name="AutoShape 75">
            <a:extLst>
              <a:ext uri="{FF2B5EF4-FFF2-40B4-BE49-F238E27FC236}">
                <a16:creationId xmlns:a16="http://schemas.microsoft.com/office/drawing/2014/main" id="{1F319C0C-47DA-4095-AF6A-73722C803AA3}"/>
              </a:ext>
            </a:extLst>
          </p:cNvPr>
          <p:cNvSpPr>
            <a:spLocks noChangeArrowheads="1"/>
          </p:cNvSpPr>
          <p:nvPr/>
        </p:nvSpPr>
        <p:spPr bwMode="auto">
          <a:xfrm>
            <a:off x="4429125" y="4183063"/>
            <a:ext cx="134938"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8" name="AutoShape 76">
            <a:extLst>
              <a:ext uri="{FF2B5EF4-FFF2-40B4-BE49-F238E27FC236}">
                <a16:creationId xmlns:a16="http://schemas.microsoft.com/office/drawing/2014/main" id="{BB62DBD9-F802-4C2E-BE29-921C5D5C8314}"/>
              </a:ext>
            </a:extLst>
          </p:cNvPr>
          <p:cNvSpPr>
            <a:spLocks noChangeArrowheads="1"/>
          </p:cNvSpPr>
          <p:nvPr/>
        </p:nvSpPr>
        <p:spPr bwMode="auto">
          <a:xfrm>
            <a:off x="3621088" y="5260975"/>
            <a:ext cx="134937" cy="134938"/>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29" name="AutoShape 77">
            <a:extLst>
              <a:ext uri="{FF2B5EF4-FFF2-40B4-BE49-F238E27FC236}">
                <a16:creationId xmlns:a16="http://schemas.microsoft.com/office/drawing/2014/main" id="{E31846F5-28BD-4A26-950D-9DABA500FDAC}"/>
              </a:ext>
            </a:extLst>
          </p:cNvPr>
          <p:cNvSpPr>
            <a:spLocks noChangeArrowheads="1"/>
          </p:cNvSpPr>
          <p:nvPr/>
        </p:nvSpPr>
        <p:spPr bwMode="auto">
          <a:xfrm>
            <a:off x="4745038" y="4497388"/>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17230" name="AutoShape 78">
            <a:extLst>
              <a:ext uri="{FF2B5EF4-FFF2-40B4-BE49-F238E27FC236}">
                <a16:creationId xmlns:a16="http://schemas.microsoft.com/office/drawing/2014/main" id="{61372BBE-0513-4969-9454-8C01AD03708E}"/>
              </a:ext>
            </a:extLst>
          </p:cNvPr>
          <p:cNvSpPr>
            <a:spLocks noChangeArrowheads="1"/>
          </p:cNvSpPr>
          <p:nvPr/>
        </p:nvSpPr>
        <p:spPr bwMode="auto">
          <a:xfrm>
            <a:off x="4881563" y="4630738"/>
            <a:ext cx="134937" cy="134937"/>
          </a:xfrm>
          <a:prstGeom prst="triangle">
            <a:avLst>
              <a:gd name="adj" fmla="val 50000"/>
            </a:avLst>
          </a:prstGeom>
          <a:noFill/>
          <a:ln w="12700" algn="ctr">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4.44444E-6 3.7037E-7 L -0.02466 -0.03287 " pathEditMode="relative" rAng="0" ptsTypes="AA">
                                      <p:cBhvr>
                                        <p:cTn id="10" dur="1000" fill="hold"/>
                                        <p:tgtEl>
                                          <p:spTgt spid="817179"/>
                                        </p:tgtEl>
                                        <p:attrNameLst>
                                          <p:attrName>ppt_x</p:attrName>
                                          <p:attrName>ppt_y</p:attrName>
                                        </p:attrNameLst>
                                      </p:cBhvr>
                                      <p:rCtr x="-1233" y="-1644"/>
                                    </p:animMotion>
                                  </p:childTnLst>
                                </p:cTn>
                              </p:par>
                              <p:par>
                                <p:cTn id="11" presetID="0" presetClass="path" presetSubtype="0" accel="50000" decel="50000" fill="hold" nodeType="withEffect">
                                  <p:stCondLst>
                                    <p:cond delay="0"/>
                                  </p:stCondLst>
                                  <p:childTnLst>
                                    <p:animMotion origin="layout" path="M 0.0 0.0 L -0.02465 -0.03287 " pathEditMode="relative" ptsTypes="AA">
                                      <p:cBhvr>
                                        <p:cTn id="12" dur="1000" fill="hold"/>
                                        <p:tgtEl>
                                          <p:spTgt spid="817172"/>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0 0.0 L -0.02465 -0.03287 " pathEditMode="relative" ptsTypes="AA">
                                      <p:cBhvr>
                                        <p:cTn id="14" dur="1000" fill="hold"/>
                                        <p:tgtEl>
                                          <p:spTgt spid="817171"/>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0 0.0 L -0.02465 -0.03287 " pathEditMode="relative" ptsTypes="AA">
                                      <p:cBhvr>
                                        <p:cTn id="16" dur="1000" fill="hold"/>
                                        <p:tgtEl>
                                          <p:spTgt spid="817170"/>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0 0.0 L -0.02465 -0.03287 " pathEditMode="relative" ptsTypes="AA">
                                      <p:cBhvr>
                                        <p:cTn id="18" dur="1000" fill="hold"/>
                                        <p:tgtEl>
                                          <p:spTgt spid="817174"/>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2.5E-6 0.00024 L -0.00989 -0.01273 " pathEditMode="relative" rAng="0" ptsTypes="AA">
                                      <p:cBhvr>
                                        <p:cTn id="20" dur="1000" fill="hold"/>
                                        <p:tgtEl>
                                          <p:spTgt spid="817177"/>
                                        </p:tgtEl>
                                        <p:attrNameLst>
                                          <p:attrName>ppt_x</p:attrName>
                                          <p:attrName>ppt_y</p:attrName>
                                        </p:attrNameLst>
                                      </p:cBhvr>
                                      <p:rCtr x="-503" y="-648"/>
                                    </p:animMotion>
                                  </p:childTnLst>
                                </p:cTn>
                              </p:par>
                              <p:par>
                                <p:cTn id="21" presetID="0" presetClass="path" presetSubtype="0" accel="50000" decel="50000" fill="hold" nodeType="withEffect">
                                  <p:stCondLst>
                                    <p:cond delay="0"/>
                                  </p:stCondLst>
                                  <p:childTnLst>
                                    <p:animMotion origin="layout" path="M -5.55556E-7 2.59259E-6 L -0.00972 -0.01297 " pathEditMode="relative" rAng="0" ptsTypes="AA">
                                      <p:cBhvr>
                                        <p:cTn id="22" dur="1000" fill="hold"/>
                                        <p:tgtEl>
                                          <p:spTgt spid="817176"/>
                                        </p:tgtEl>
                                        <p:attrNameLst>
                                          <p:attrName>ppt_x</p:attrName>
                                          <p:attrName>ppt_y</p:attrName>
                                        </p:attrNameLst>
                                      </p:cBhvr>
                                      <p:rCtr x="-486" y="-648"/>
                                    </p:animMotion>
                                  </p:childTnLst>
                                </p:cTn>
                              </p:par>
                              <p:par>
                                <p:cTn id="23" presetID="0" presetClass="path" presetSubtype="0" accel="50000" decel="50000" fill="hold" nodeType="withEffect">
                                  <p:stCondLst>
                                    <p:cond delay="0"/>
                                  </p:stCondLst>
                                  <p:childTnLst>
                                    <p:animMotion origin="layout" path="M 8.33333E-7 -2.59259E-6 L -0.0099 -0.01296 " pathEditMode="relative" rAng="0" ptsTypes="AA">
                                      <p:cBhvr>
                                        <p:cTn id="24" dur="1000" fill="hold"/>
                                        <p:tgtEl>
                                          <p:spTgt spid="817175"/>
                                        </p:tgtEl>
                                        <p:attrNameLst>
                                          <p:attrName>ppt_x</p:attrName>
                                          <p:attrName>ppt_y</p:attrName>
                                        </p:attrNameLst>
                                      </p:cBhvr>
                                      <p:rCtr x="-503" y="-648"/>
                                    </p:animMotion>
                                  </p:childTnLst>
                                </p:cTn>
                              </p:par>
                              <p:par>
                                <p:cTn id="25" presetID="0" presetClass="path" presetSubtype="0" accel="50000" decel="50000" fill="hold" nodeType="withEffect">
                                  <p:stCondLst>
                                    <p:cond delay="0"/>
                                  </p:stCondLst>
                                  <p:childTnLst>
                                    <p:animMotion origin="layout" path="M 0.0 0.0 L -0.03437 -0.04583 " pathEditMode="relative" ptsTypes="AA">
                                      <p:cBhvr>
                                        <p:cTn id="26" dur="1000" fill="hold"/>
                                        <p:tgtEl>
                                          <p:spTgt spid="817168"/>
                                        </p:tgtEl>
                                        <p:attrNameLst>
                                          <p:attrName>ppt_x</p:attrName>
                                          <p:attrName>ppt_y</p:attrName>
                                        </p:attrNameLst>
                                      </p:cBhvr>
                                    </p:animMotion>
                                  </p:childTnLst>
                                </p:cTn>
                              </p:par>
                              <p:par>
                                <p:cTn id="27" presetID="0" presetClass="path" presetSubtype="0" accel="50000" decel="50000" fill="hold" nodeType="withEffect">
                                  <p:stCondLst>
                                    <p:cond delay="0"/>
                                  </p:stCondLst>
                                  <p:childTnLst>
                                    <p:animMotion origin="layout" path="M 3.05556E-6 7.40741E-7 L -0.01962 -0.02616 " pathEditMode="relative" rAng="0" ptsTypes="AA">
                                      <p:cBhvr>
                                        <p:cTn id="28" dur="1000" fill="hold"/>
                                        <p:tgtEl>
                                          <p:spTgt spid="817173"/>
                                        </p:tgtEl>
                                        <p:attrNameLst>
                                          <p:attrName>ppt_x</p:attrName>
                                          <p:attrName>ppt_y</p:attrName>
                                        </p:attrNameLst>
                                      </p:cBhvr>
                                      <p:rCtr x="-990" y="-1319"/>
                                    </p:animMotion>
                                  </p:childTnLst>
                                </p:cTn>
                              </p:par>
                              <p:par>
                                <p:cTn id="29" presetID="0" presetClass="path" presetSubtype="0" accel="50000" decel="50000" fill="hold" nodeType="withEffect">
                                  <p:stCondLst>
                                    <p:cond delay="0"/>
                                  </p:stCondLst>
                                  <p:childTnLst>
                                    <p:animMotion origin="layout" path="M 5.E-6 -3.33333E-6 L -0.01962 -0.02615 " pathEditMode="relative" rAng="0" ptsTypes="AA">
                                      <p:cBhvr>
                                        <p:cTn id="30" dur="1000" fill="hold"/>
                                        <p:tgtEl>
                                          <p:spTgt spid="817178"/>
                                        </p:tgtEl>
                                        <p:attrNameLst>
                                          <p:attrName>ppt_x</p:attrName>
                                          <p:attrName>ppt_y</p:attrName>
                                        </p:attrNameLst>
                                      </p:cBhvr>
                                      <p:rCtr x="-990" y="-1319"/>
                                    </p:animMotion>
                                  </p:childTnLst>
                                </p:cTn>
                              </p:par>
                              <p:par>
                                <p:cTn id="31" presetID="0" presetClass="path" presetSubtype="0" accel="50000" decel="50000" fill="hold" nodeType="withEffect">
                                  <p:stCondLst>
                                    <p:cond delay="0"/>
                                  </p:stCondLst>
                                  <p:childTnLst>
                                    <p:animMotion origin="layout" path="M 1.11022E-16 1.11022E-16 L -0.03941 -0.05255 " pathEditMode="relative" rAng="0" ptsTypes="AA">
                                      <p:cBhvr>
                                        <p:cTn id="32" dur="1000" fill="hold"/>
                                        <p:tgtEl>
                                          <p:spTgt spid="817169"/>
                                        </p:tgtEl>
                                        <p:attrNameLst>
                                          <p:attrName>ppt_x</p:attrName>
                                          <p:attrName>ppt_y</p:attrName>
                                        </p:attrNameLst>
                                      </p:cBhvr>
                                      <p:rCtr x="-1979" y="-2639"/>
                                    </p:animMotion>
                                  </p:childTnLst>
                                </p:cTn>
                              </p:par>
                              <p:par>
                                <p:cTn id="33" presetID="0" presetClass="path" presetSubtype="0" accel="50000" decel="50000" fill="hold" nodeType="withEffect">
                                  <p:stCondLst>
                                    <p:cond delay="0"/>
                                  </p:stCondLst>
                                  <p:childTnLst>
                                    <p:animMotion origin="layout" path="M 1.66667E-6 -3.7037E-7 L -0.04427 -0.0588 " pathEditMode="relative" rAng="0" ptsTypes="AA">
                                      <p:cBhvr>
                                        <p:cTn id="34" dur="1000" fill="hold"/>
                                        <p:tgtEl>
                                          <p:spTgt spid="817180"/>
                                        </p:tgtEl>
                                        <p:attrNameLst>
                                          <p:attrName>ppt_x</p:attrName>
                                          <p:attrName>ppt_y</p:attrName>
                                        </p:attrNameLst>
                                      </p:cBhvr>
                                      <p:rCtr x="-2222" y="-2940"/>
                                    </p:animMotion>
                                  </p:childTnLst>
                                </p:cTn>
                              </p:par>
                              <p:par>
                                <p:cTn id="35" presetID="0" presetClass="path" presetSubtype="0" accel="50000" decel="50000" fill="hold" nodeType="withEffect">
                                  <p:stCondLst>
                                    <p:cond delay="0"/>
                                  </p:stCondLst>
                                  <p:childTnLst>
                                    <p:animMotion origin="layout" path="M -4.44444E-6 -3.7037E-6 L -0.04427 -0.05902 " pathEditMode="relative" rAng="0" ptsTypes="AA">
                                      <p:cBhvr>
                                        <p:cTn id="36" dur="1000" fill="hold"/>
                                        <p:tgtEl>
                                          <p:spTgt spid="817182"/>
                                        </p:tgtEl>
                                        <p:attrNameLst>
                                          <p:attrName>ppt_x</p:attrName>
                                          <p:attrName>ppt_y</p:attrName>
                                        </p:attrNameLst>
                                      </p:cBhvr>
                                      <p:rCtr x="-2222" y="-2963"/>
                                    </p:animMotion>
                                  </p:childTnLst>
                                </p:cTn>
                              </p:par>
                              <p:par>
                                <p:cTn id="37" presetID="0" presetClass="path" presetSubtype="0" accel="50000" decel="50000" fill="hold" nodeType="withEffect">
                                  <p:stCondLst>
                                    <p:cond delay="0"/>
                                  </p:stCondLst>
                                  <p:childTnLst>
                                    <p:animMotion origin="layout" path="M 0.0 0.0 L -0.03437 -0.04583 " pathEditMode="relative" ptsTypes="AA">
                                      <p:cBhvr>
                                        <p:cTn id="38" dur="1000" fill="hold"/>
                                        <p:tgtEl>
                                          <p:spTgt spid="817181"/>
                                        </p:tgtEl>
                                        <p:attrNameLst>
                                          <p:attrName>ppt_x</p:attrName>
                                          <p:attrName>ppt_y</p:attrName>
                                        </p:attrNameLst>
                                      </p:cBhvr>
                                    </p:animMotion>
                                  </p:childTnLst>
                                </p:cTn>
                              </p:par>
                              <p:par>
                                <p:cTn id="39" presetID="0" presetClass="path" presetSubtype="0" accel="50000" decel="50000" fill="hold" nodeType="withEffect">
                                  <p:stCondLst>
                                    <p:cond delay="0"/>
                                  </p:stCondLst>
                                  <p:childTnLst>
                                    <p:animMotion origin="layout" path="M 3.05556E-6 -2.59259E-6 L 0.01354 0.01783 " pathEditMode="relative" rAng="0" ptsTypes="AA">
                                      <p:cBhvr>
                                        <p:cTn id="40" dur="1000" fill="hold"/>
                                        <p:tgtEl>
                                          <p:spTgt spid="817164"/>
                                        </p:tgtEl>
                                        <p:attrNameLst>
                                          <p:attrName>ppt_x</p:attrName>
                                          <p:attrName>ppt_y</p:attrName>
                                        </p:attrNameLst>
                                      </p:cBhvr>
                                      <p:rCtr x="677" y="880"/>
                                    </p:animMotion>
                                  </p:childTnLst>
                                </p:cTn>
                              </p:par>
                              <p:par>
                                <p:cTn id="41" presetID="0" presetClass="path" presetSubtype="0" accel="50000" decel="50000" fill="hold" nodeType="withEffect">
                                  <p:stCondLst>
                                    <p:cond delay="0"/>
                                  </p:stCondLst>
                                  <p:childTnLst>
                                    <p:animMotion origin="layout" path="M -1.94444E-6 1.11111E-6 L 0.0184 0.02569 " pathEditMode="relative" rAng="0" ptsTypes="AA">
                                      <p:cBhvr>
                                        <p:cTn id="42" dur="1000" fill="hold"/>
                                        <p:tgtEl>
                                          <p:spTgt spid="817190"/>
                                        </p:tgtEl>
                                        <p:attrNameLst>
                                          <p:attrName>ppt_x</p:attrName>
                                          <p:attrName>ppt_y</p:attrName>
                                        </p:attrNameLst>
                                      </p:cBhvr>
                                      <p:rCtr x="920" y="1273"/>
                                    </p:animMotion>
                                  </p:childTnLst>
                                </p:cTn>
                              </p:par>
                              <p:par>
                                <p:cTn id="43" presetID="0" presetClass="path" presetSubtype="0" accel="50000" decel="50000" fill="hold" nodeType="withEffect">
                                  <p:stCondLst>
                                    <p:cond delay="0"/>
                                  </p:stCondLst>
                                  <p:childTnLst>
                                    <p:animMotion origin="layout" path="M -8.33333E-7 -4.44444E-6 L 0.03976 0.05325 " pathEditMode="relative" rAng="0" ptsTypes="AA">
                                      <p:cBhvr>
                                        <p:cTn id="44" dur="1000" fill="hold"/>
                                        <p:tgtEl>
                                          <p:spTgt spid="817159"/>
                                        </p:tgtEl>
                                        <p:attrNameLst>
                                          <p:attrName>ppt_x</p:attrName>
                                          <p:attrName>ppt_y</p:attrName>
                                        </p:attrNameLst>
                                      </p:cBhvr>
                                      <p:rCtr x="1979" y="2662"/>
                                    </p:animMotion>
                                  </p:childTnLst>
                                </p:cTn>
                              </p:par>
                              <p:par>
                                <p:cTn id="45" presetID="0" presetClass="path" presetSubtype="0" accel="50000" decel="50000" fill="hold" nodeType="withEffect">
                                  <p:stCondLst>
                                    <p:cond delay="0"/>
                                  </p:stCondLst>
                                  <p:childTnLst>
                                    <p:animMotion origin="layout" path="M 3.05556E-6 -4.07407E-6 L 0.05191 0.06968 " pathEditMode="relative" rAng="0" ptsTypes="AA">
                                      <p:cBhvr>
                                        <p:cTn id="46" dur="1000" fill="hold"/>
                                        <p:tgtEl>
                                          <p:spTgt spid="817188"/>
                                        </p:tgtEl>
                                        <p:attrNameLst>
                                          <p:attrName>ppt_x</p:attrName>
                                          <p:attrName>ppt_y</p:attrName>
                                        </p:attrNameLst>
                                      </p:cBhvr>
                                      <p:rCtr x="2587" y="3472"/>
                                    </p:animMotion>
                                  </p:childTnLst>
                                </p:cTn>
                              </p:par>
                              <p:par>
                                <p:cTn id="47" presetID="0" presetClass="path" presetSubtype="0" accel="50000" decel="50000" fill="hold" nodeType="withEffect">
                                  <p:stCondLst>
                                    <p:cond delay="0"/>
                                  </p:stCondLst>
                                  <p:childTnLst>
                                    <p:animMotion origin="layout" path="M -1.94444E-6 -3.7037E-7 L 0.06372 0.08542 " pathEditMode="relative" rAng="0" ptsTypes="AA">
                                      <p:cBhvr>
                                        <p:cTn id="48" dur="1000" fill="hold"/>
                                        <p:tgtEl>
                                          <p:spTgt spid="817186"/>
                                        </p:tgtEl>
                                        <p:attrNameLst>
                                          <p:attrName>ppt_x</p:attrName>
                                          <p:attrName>ppt_y</p:attrName>
                                        </p:attrNameLst>
                                      </p:cBhvr>
                                      <p:rCtr x="3177" y="4259"/>
                                    </p:animMotion>
                                  </p:childTnLst>
                                </p:cTn>
                              </p:par>
                              <p:par>
                                <p:cTn id="49" presetID="0" presetClass="path" presetSubtype="0" accel="50000" decel="50000" fill="hold" nodeType="withEffect">
                                  <p:stCondLst>
                                    <p:cond delay="0"/>
                                  </p:stCondLst>
                                  <p:childTnLst>
                                    <p:animMotion origin="layout" path="M -1.38889E-6 3.7037E-7 L 0.04844 0.06458 " pathEditMode="relative" rAng="0" ptsTypes="AA">
                                      <p:cBhvr>
                                        <p:cTn id="50" dur="1000" fill="hold"/>
                                        <p:tgtEl>
                                          <p:spTgt spid="817163"/>
                                        </p:tgtEl>
                                        <p:attrNameLst>
                                          <p:attrName>ppt_x</p:attrName>
                                          <p:attrName>ppt_y</p:attrName>
                                        </p:attrNameLst>
                                      </p:cBhvr>
                                      <p:rCtr x="2413" y="3218"/>
                                    </p:animMotion>
                                  </p:childTnLst>
                                </p:cTn>
                              </p:par>
                              <p:par>
                                <p:cTn id="51" presetID="0" presetClass="path" presetSubtype="0" accel="50000" decel="50000" fill="hold" nodeType="withEffect">
                                  <p:stCondLst>
                                    <p:cond delay="0"/>
                                  </p:stCondLst>
                                  <p:childTnLst>
                                    <p:animMotion origin="layout" path="M -4.72222E-6 -2.22222E-6 L 0.04028 0.05417 " pathEditMode="relative" rAng="0" ptsTypes="AA">
                                      <p:cBhvr>
                                        <p:cTn id="52" dur="1000" fill="hold"/>
                                        <p:tgtEl>
                                          <p:spTgt spid="817160"/>
                                        </p:tgtEl>
                                        <p:attrNameLst>
                                          <p:attrName>ppt_x</p:attrName>
                                          <p:attrName>ppt_y</p:attrName>
                                        </p:attrNameLst>
                                      </p:cBhvr>
                                      <p:rCtr x="2014" y="2708"/>
                                    </p:animMotion>
                                  </p:childTnLst>
                                </p:cTn>
                              </p:par>
                              <p:par>
                                <p:cTn id="53" presetID="0" presetClass="path" presetSubtype="0" accel="50000" decel="50000" fill="hold" nodeType="withEffect">
                                  <p:stCondLst>
                                    <p:cond delay="0"/>
                                  </p:stCondLst>
                                  <p:childTnLst>
                                    <p:animMotion origin="layout" path="M 1.38889E-6 0.0 L 0.05573 0.07523 " pathEditMode="relative" rAng="0" ptsTypes="AA">
                                      <p:cBhvr>
                                        <p:cTn id="54" dur="1000" fill="hold"/>
                                        <p:tgtEl>
                                          <p:spTgt spid="817166"/>
                                        </p:tgtEl>
                                        <p:attrNameLst>
                                          <p:attrName>ppt_x</p:attrName>
                                          <p:attrName>ppt_y</p:attrName>
                                        </p:attrNameLst>
                                      </p:cBhvr>
                                      <p:rCtr x="2778" y="3750"/>
                                    </p:animMotion>
                                  </p:childTnLst>
                                </p:cTn>
                              </p:par>
                              <p:par>
                                <p:cTn id="55" presetID="0" presetClass="path" presetSubtype="0" accel="50000" decel="50000" fill="hold" nodeType="withEffect">
                                  <p:stCondLst>
                                    <p:cond delay="0"/>
                                  </p:stCondLst>
                                  <p:childTnLst>
                                    <p:animMotion origin="layout" path="M -1.11111E-6 0.0 L 0.05695 0.07593 " pathEditMode="relative" rAng="0" ptsTypes="AA">
                                      <p:cBhvr>
                                        <p:cTn id="56" dur="1000" fill="hold"/>
                                        <p:tgtEl>
                                          <p:spTgt spid="817161"/>
                                        </p:tgtEl>
                                        <p:attrNameLst>
                                          <p:attrName>ppt_x</p:attrName>
                                          <p:attrName>ppt_y</p:attrName>
                                        </p:attrNameLst>
                                      </p:cBhvr>
                                      <p:rCtr x="2847" y="3796"/>
                                    </p:animMotion>
                                  </p:childTnLst>
                                </p:cTn>
                              </p:par>
                              <p:par>
                                <p:cTn id="57" presetID="0" presetClass="path" presetSubtype="0" accel="50000" decel="50000" fill="hold" nodeType="withEffect">
                                  <p:stCondLst>
                                    <p:cond delay="0"/>
                                  </p:stCondLst>
                                  <p:childTnLst>
                                    <p:animMotion origin="layout" path="M -2.5E-6 -3.7037E-7 L 0.03334 0.04468 " pathEditMode="relative" rAng="0" ptsTypes="AA">
                                      <p:cBhvr>
                                        <p:cTn id="58" dur="1000" fill="hold"/>
                                        <p:tgtEl>
                                          <p:spTgt spid="817162"/>
                                        </p:tgtEl>
                                        <p:attrNameLst>
                                          <p:attrName>ppt_x</p:attrName>
                                          <p:attrName>ppt_y</p:attrName>
                                        </p:attrNameLst>
                                      </p:cBhvr>
                                      <p:rCtr x="1667" y="2222"/>
                                    </p:animMotion>
                                  </p:childTnLst>
                                </p:cTn>
                              </p:par>
                              <p:par>
                                <p:cTn id="59" presetID="0" presetClass="path" presetSubtype="0" accel="50000" decel="50000" fill="hold" nodeType="withEffect">
                                  <p:stCondLst>
                                    <p:cond delay="0"/>
                                  </p:stCondLst>
                                  <p:childTnLst>
                                    <p:animMotion origin="layout" path="M 3.88889E-6 -1.85185E-6 L 0.04253 0.05718 " pathEditMode="relative" rAng="0" ptsTypes="AA">
                                      <p:cBhvr>
                                        <p:cTn id="60" dur="1000" fill="hold"/>
                                        <p:tgtEl>
                                          <p:spTgt spid="817183"/>
                                        </p:tgtEl>
                                        <p:attrNameLst>
                                          <p:attrName>ppt_x</p:attrName>
                                          <p:attrName>ppt_y</p:attrName>
                                        </p:attrNameLst>
                                      </p:cBhvr>
                                      <p:rCtr x="2118" y="2847"/>
                                    </p:animMotion>
                                  </p:childTnLst>
                                </p:cTn>
                              </p:par>
                              <p:par>
                                <p:cTn id="61" presetID="0" presetClass="path" presetSubtype="0" accel="50000" decel="50000" fill="hold" nodeType="withEffect">
                                  <p:stCondLst>
                                    <p:cond delay="0"/>
                                  </p:stCondLst>
                                  <p:childTnLst>
                                    <p:animMotion origin="layout" path="M 0.0 0.0 L 0.0309 0.04121 " pathEditMode="relative" ptsTypes="AA">
                                      <p:cBhvr>
                                        <p:cTn id="62" dur="1000" fill="hold"/>
                                        <p:tgtEl>
                                          <p:spTgt spid="817167"/>
                                        </p:tgtEl>
                                        <p:attrNameLst>
                                          <p:attrName>ppt_x</p:attrName>
                                          <p:attrName>ppt_y</p:attrName>
                                        </p:attrNameLst>
                                      </p:cBhvr>
                                    </p:animMotion>
                                  </p:childTnLst>
                                </p:cTn>
                              </p:par>
                              <p:par>
                                <p:cTn id="63" presetID="0" presetClass="path" presetSubtype="0" accel="50000" decel="50000" fill="hold" nodeType="withEffect">
                                  <p:stCondLst>
                                    <p:cond delay="0"/>
                                  </p:stCondLst>
                                  <p:childTnLst>
                                    <p:animMotion origin="layout" path="M 3.05556E-6 -7.40741E-7 L 0.04392 0.05903 " pathEditMode="relative" rAng="0" ptsTypes="AA">
                                      <p:cBhvr>
                                        <p:cTn id="64" dur="1000" fill="hold"/>
                                        <p:tgtEl>
                                          <p:spTgt spid="817165"/>
                                        </p:tgtEl>
                                        <p:attrNameLst>
                                          <p:attrName>ppt_x</p:attrName>
                                          <p:attrName>ppt_y</p:attrName>
                                        </p:attrNameLst>
                                      </p:cBhvr>
                                      <p:rCtr x="2187" y="2940"/>
                                    </p:animMotion>
                                  </p:childTnLst>
                                </p:cTn>
                              </p:par>
                              <p:par>
                                <p:cTn id="65" presetID="0" presetClass="path" presetSubtype="0" accel="50000" decel="50000" fill="hold" nodeType="withEffect">
                                  <p:stCondLst>
                                    <p:cond delay="0"/>
                                  </p:stCondLst>
                                  <p:childTnLst>
                                    <p:animMotion origin="layout" path="M -2.5E-6 -3.7037E-6 L 0.03611 0.04838 " pathEditMode="relative" rAng="0" ptsTypes="AA">
                                      <p:cBhvr>
                                        <p:cTn id="66" dur="1000" fill="hold"/>
                                        <p:tgtEl>
                                          <p:spTgt spid="817185"/>
                                        </p:tgtEl>
                                        <p:attrNameLst>
                                          <p:attrName>ppt_x</p:attrName>
                                          <p:attrName>ppt_y</p:attrName>
                                        </p:attrNameLst>
                                      </p:cBhvr>
                                      <p:rCtr x="1806" y="2407"/>
                                    </p:animMotion>
                                  </p:childTnLst>
                                </p:cTn>
                              </p:par>
                              <p:par>
                                <p:cTn id="67" presetID="0" presetClass="path" presetSubtype="0" accel="50000" decel="50000" fill="hold" nodeType="withEffect">
                                  <p:stCondLst>
                                    <p:cond delay="0"/>
                                  </p:stCondLst>
                                  <p:childTnLst>
                                    <p:animMotion origin="layout" path="M 0.0 0.0 L 0.0309 0.04121 " pathEditMode="relative" ptsTypes="AA">
                                      <p:cBhvr>
                                        <p:cTn id="68" dur="1000" fill="hold"/>
                                        <p:tgtEl>
                                          <p:spTgt spid="817189"/>
                                        </p:tgtEl>
                                        <p:attrNameLst>
                                          <p:attrName>ppt_x</p:attrName>
                                          <p:attrName>ppt_y</p:attrName>
                                        </p:attrNameLst>
                                      </p:cBhvr>
                                    </p:animMotion>
                                  </p:childTnLst>
                                </p:cTn>
                              </p:par>
                              <p:par>
                                <p:cTn id="69" presetID="0" presetClass="path" presetSubtype="0" accel="50000" decel="50000" fill="hold" nodeType="withEffect">
                                  <p:stCondLst>
                                    <p:cond delay="0"/>
                                  </p:stCondLst>
                                  <p:childTnLst>
                                    <p:animMotion origin="layout" path="M 1.38889E-6 3.7037E-7 L 0.04635 0.06157 " pathEditMode="relative" rAng="0" ptsTypes="AA">
                                      <p:cBhvr>
                                        <p:cTn id="70" dur="1000" fill="hold"/>
                                        <p:tgtEl>
                                          <p:spTgt spid="817187"/>
                                        </p:tgtEl>
                                        <p:attrNameLst>
                                          <p:attrName>ppt_x</p:attrName>
                                          <p:attrName>ppt_y</p:attrName>
                                        </p:attrNameLst>
                                      </p:cBhvr>
                                      <p:rCtr x="2309" y="3079"/>
                                    </p:animMotion>
                                  </p:childTnLst>
                                </p:cTn>
                              </p:par>
                              <p:par>
                                <p:cTn id="71" presetID="0" presetClass="path" presetSubtype="0" accel="50000" decel="50000" fill="hold" nodeType="withEffect">
                                  <p:stCondLst>
                                    <p:cond delay="0"/>
                                  </p:stCondLst>
                                  <p:childTnLst>
                                    <p:animMotion origin="layout" path="M 4.44444E-6 3.7037E-6 L 0.05937 0.07939 " pathEditMode="relative" rAng="0" ptsTypes="AA">
                                      <p:cBhvr>
                                        <p:cTn id="72" dur="1000" fill="hold"/>
                                        <p:tgtEl>
                                          <p:spTgt spid="817184"/>
                                        </p:tgtEl>
                                        <p:attrNameLst>
                                          <p:attrName>ppt_x</p:attrName>
                                          <p:attrName>ppt_y</p:attrName>
                                        </p:attrNameLst>
                                      </p:cBhvr>
                                      <p:rCtr x="2969" y="3958"/>
                                    </p:animMotion>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817155">
                                            <p:txEl>
                                              <p:pRg st="2" end="2"/>
                                            </p:txEl>
                                          </p:spTgt>
                                        </p:tgtEl>
                                        <p:attrNameLst>
                                          <p:attrName>style.visibility</p:attrName>
                                        </p:attrNameLst>
                                      </p:cBhvr>
                                      <p:to>
                                        <p:strVal val="visible"/>
                                      </p:to>
                                    </p:set>
                                    <p:animEffect transition="in" filter="dissolve">
                                      <p:cBhvr>
                                        <p:cTn id="77" dur="500"/>
                                        <p:tgtEl>
                                          <p:spTgt spid="817155">
                                            <p:txEl>
                                              <p:pRg st="2" end="2"/>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nodeType="clickEffect">
                                  <p:stCondLst>
                                    <p:cond delay="0"/>
                                  </p:stCondLst>
                                  <p:childTnLst>
                                    <p:set>
                                      <p:cBhvr>
                                        <p:cTn id="81" dur="1" fill="hold">
                                          <p:stCondLst>
                                            <p:cond delay="0"/>
                                          </p:stCondLst>
                                        </p:cTn>
                                        <p:tgtEl>
                                          <p:spTgt spid="817201"/>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81720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817207"/>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817209"/>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817211"/>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817212"/>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817206"/>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817205"/>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817200"/>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817210"/>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817199"/>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817198"/>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817204"/>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817203"/>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817208"/>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817223"/>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817226"/>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817228"/>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817215"/>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817218"/>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817219"/>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817221"/>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817222"/>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817224"/>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817216"/>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817220"/>
                                        </p:tgtEl>
                                        <p:attrNameLst>
                                          <p:attrName>style.visibility</p:attrName>
                                        </p:attrNameLst>
                                      </p:cBhvr>
                                      <p:to>
                                        <p:strVal val="visible"/>
                                      </p:to>
                                    </p:set>
                                  </p:childTnLst>
                                </p:cTn>
                              </p:par>
                              <p:par>
                                <p:cTn id="132" presetID="1" presetClass="entr" presetSubtype="0" fill="hold" nodeType="withEffect">
                                  <p:stCondLst>
                                    <p:cond delay="0"/>
                                  </p:stCondLst>
                                  <p:childTnLst>
                                    <p:set>
                                      <p:cBhvr>
                                        <p:cTn id="133" dur="1" fill="hold">
                                          <p:stCondLst>
                                            <p:cond delay="0"/>
                                          </p:stCondLst>
                                        </p:cTn>
                                        <p:tgtEl>
                                          <p:spTgt spid="817213"/>
                                        </p:tgtEl>
                                        <p:attrNameLst>
                                          <p:attrName>style.visibility</p:attrName>
                                        </p:attrNameLst>
                                      </p:cBhvr>
                                      <p:to>
                                        <p:strVal val="visible"/>
                                      </p:to>
                                    </p:set>
                                  </p:childTnLst>
                                </p:cTn>
                              </p:par>
                              <p:par>
                                <p:cTn id="134" presetID="1" presetClass="entr" presetSubtype="0" fill="hold" nodeType="withEffect">
                                  <p:stCondLst>
                                    <p:cond delay="0"/>
                                  </p:stCondLst>
                                  <p:childTnLst>
                                    <p:set>
                                      <p:cBhvr>
                                        <p:cTn id="135" dur="1" fill="hold">
                                          <p:stCondLst>
                                            <p:cond delay="0"/>
                                          </p:stCondLst>
                                        </p:cTn>
                                        <p:tgtEl>
                                          <p:spTgt spid="817217"/>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817225"/>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817227"/>
                                        </p:tgtEl>
                                        <p:attrNameLst>
                                          <p:attrName>style.visibility</p:attrName>
                                        </p:attrNameLst>
                                      </p:cBhvr>
                                      <p:to>
                                        <p:strVal val="visible"/>
                                      </p:to>
                                    </p:set>
                                  </p:childTnLst>
                                </p:cTn>
                              </p:par>
                              <p:par>
                                <p:cTn id="140" presetID="1" presetClass="entr" presetSubtype="0" fill="hold" nodeType="withEffect">
                                  <p:stCondLst>
                                    <p:cond delay="0"/>
                                  </p:stCondLst>
                                  <p:childTnLst>
                                    <p:set>
                                      <p:cBhvr>
                                        <p:cTn id="141" dur="1" fill="hold">
                                          <p:stCondLst>
                                            <p:cond delay="0"/>
                                          </p:stCondLst>
                                        </p:cTn>
                                        <p:tgtEl>
                                          <p:spTgt spid="817229"/>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817230"/>
                                        </p:tgtEl>
                                        <p:attrNameLst>
                                          <p:attrName>style.visibility</p:attrName>
                                        </p:attrNameLst>
                                      </p:cBhvr>
                                      <p:to>
                                        <p:strVal val="visible"/>
                                      </p:to>
                                    </p:set>
                                  </p:childTnLst>
                                </p:cTn>
                              </p:par>
                              <p:par>
                                <p:cTn id="144" presetID="1" presetClass="entr" presetSubtype="0" fill="hold" nodeType="withEffect">
                                  <p:stCondLst>
                                    <p:cond delay="0"/>
                                  </p:stCondLst>
                                  <p:childTnLst>
                                    <p:set>
                                      <p:cBhvr>
                                        <p:cTn id="145" dur="1" fill="hold">
                                          <p:stCondLst>
                                            <p:cond delay="0"/>
                                          </p:stCondLst>
                                        </p:cTn>
                                        <p:tgtEl>
                                          <p:spTgt spid="817214"/>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 presetClass="entr" presetSubtype="0" fill="hold" nodeType="clickEffect">
                                  <p:stCondLst>
                                    <p:cond delay="0"/>
                                  </p:stCondLst>
                                  <p:childTnLst>
                                    <p:set>
                                      <p:cBhvr>
                                        <p:cTn id="149" dur="1" fill="hold">
                                          <p:stCondLst>
                                            <p:cond delay="0"/>
                                          </p:stCondLst>
                                        </p:cTn>
                                        <p:tgtEl>
                                          <p:spTgt spid="4"/>
                                        </p:tgtEl>
                                        <p:attrNameLst>
                                          <p:attrName>style.visibility</p:attrName>
                                        </p:attrNameLst>
                                      </p:cBhvr>
                                      <p:to>
                                        <p:strVal val="visible"/>
                                      </p:to>
                                    </p:se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0" presetClass="path" presetSubtype="0" accel="50000" decel="50000" fill="hold" nodeType="clickEffect">
                                  <p:stCondLst>
                                    <p:cond delay="0"/>
                                  </p:stCondLst>
                                  <p:childTnLst>
                                    <p:animMotion origin="layout" path="M -0.00017 2.96296E-6 L -0.08871 0.1044 " pathEditMode="relative" rAng="0" ptsTypes="AA">
                                      <p:cBhvr>
                                        <p:cTn id="153" dur="1000" fill="hold"/>
                                        <p:tgtEl>
                                          <p:spTgt spid="817201"/>
                                        </p:tgtEl>
                                        <p:attrNameLst>
                                          <p:attrName>ppt_x</p:attrName>
                                          <p:attrName>ppt_y</p:attrName>
                                        </p:attrNameLst>
                                      </p:cBhvr>
                                      <p:rCtr x="-4427" y="5208"/>
                                    </p:animMotion>
                                  </p:childTnLst>
                                </p:cTn>
                              </p:par>
                              <p:par>
                                <p:cTn id="154" presetID="0" presetClass="path" presetSubtype="0" accel="50000" decel="50000" fill="hold" nodeType="withEffect">
                                  <p:stCondLst>
                                    <p:cond delay="0"/>
                                  </p:stCondLst>
                                  <p:childTnLst>
                                    <p:animMotion origin="layout" path="M 3.33333E-6 -4.81481E-6 L -0.06598 0.0794 " pathEditMode="relative" rAng="0" ptsTypes="AA">
                                      <p:cBhvr>
                                        <p:cTn id="155" dur="1000" fill="hold"/>
                                        <p:tgtEl>
                                          <p:spTgt spid="817202"/>
                                        </p:tgtEl>
                                        <p:attrNameLst>
                                          <p:attrName>ppt_x</p:attrName>
                                          <p:attrName>ppt_y</p:attrName>
                                        </p:attrNameLst>
                                      </p:cBhvr>
                                      <p:rCtr x="-3299" y="3958"/>
                                    </p:animMotion>
                                  </p:childTnLst>
                                </p:cTn>
                              </p:par>
                              <p:par>
                                <p:cTn id="156" presetID="0" presetClass="path" presetSubtype="0" accel="50000" decel="50000" fill="hold" nodeType="withEffect">
                                  <p:stCondLst>
                                    <p:cond delay="0"/>
                                  </p:stCondLst>
                                  <p:childTnLst>
                                    <p:animMotion origin="layout" path="M -4.44444E-6 -4.07407E-6 L -0.07864 0.09213 " pathEditMode="relative" rAng="0" ptsTypes="AA">
                                      <p:cBhvr>
                                        <p:cTn id="157" dur="1000" fill="hold"/>
                                        <p:tgtEl>
                                          <p:spTgt spid="817207"/>
                                        </p:tgtEl>
                                        <p:attrNameLst>
                                          <p:attrName>ppt_x</p:attrName>
                                          <p:attrName>ppt_y</p:attrName>
                                        </p:attrNameLst>
                                      </p:cBhvr>
                                      <p:rCtr x="-3941" y="4606"/>
                                    </p:animMotion>
                                  </p:childTnLst>
                                </p:cTn>
                              </p:par>
                              <p:par>
                                <p:cTn id="158" presetID="0" presetClass="path" presetSubtype="0" accel="50000" decel="50000" fill="hold" nodeType="withEffect">
                                  <p:stCondLst>
                                    <p:cond delay="0"/>
                                  </p:stCondLst>
                                  <p:childTnLst>
                                    <p:animMotion origin="layout" path="M 5.E-6 -3.7037E-6 L -0.05157 0.06065 " pathEditMode="relative" rAng="0" ptsTypes="AA">
                                      <p:cBhvr>
                                        <p:cTn id="159" dur="1000" fill="hold"/>
                                        <p:tgtEl>
                                          <p:spTgt spid="817209"/>
                                        </p:tgtEl>
                                        <p:attrNameLst>
                                          <p:attrName>ppt_x</p:attrName>
                                          <p:attrName>ppt_y</p:attrName>
                                        </p:attrNameLst>
                                      </p:cBhvr>
                                      <p:rCtr x="-2587" y="3032"/>
                                    </p:animMotion>
                                  </p:childTnLst>
                                </p:cTn>
                              </p:par>
                              <p:par>
                                <p:cTn id="160" presetID="0" presetClass="path" presetSubtype="0" accel="50000" decel="50000" fill="hold" nodeType="withEffect">
                                  <p:stCondLst>
                                    <p:cond delay="0"/>
                                  </p:stCondLst>
                                  <p:childTnLst>
                                    <p:animMotion origin="layout" path="M 3.61111E-6 -2.59259E-6 L -0.10816 0.12547 " pathEditMode="relative" rAng="0" ptsTypes="AA">
                                      <p:cBhvr>
                                        <p:cTn id="161" dur="1000" fill="hold"/>
                                        <p:tgtEl>
                                          <p:spTgt spid="817211"/>
                                        </p:tgtEl>
                                        <p:attrNameLst>
                                          <p:attrName>ppt_x</p:attrName>
                                          <p:attrName>ppt_y</p:attrName>
                                        </p:attrNameLst>
                                      </p:cBhvr>
                                      <p:rCtr x="-5417" y="6273"/>
                                    </p:animMotion>
                                  </p:childTnLst>
                                </p:cTn>
                              </p:par>
                              <p:par>
                                <p:cTn id="162" presetID="0" presetClass="path" presetSubtype="0" accel="50000" decel="50000" fill="hold" nodeType="withEffect">
                                  <p:stCondLst>
                                    <p:cond delay="0"/>
                                  </p:stCondLst>
                                  <p:childTnLst>
                                    <p:animMotion origin="layout" path="M 3.61111E-6 -2.96296E-6 L -0.09601 0.11227 " pathEditMode="relative" rAng="0" ptsTypes="AA">
                                      <p:cBhvr>
                                        <p:cTn id="163" dur="1000" fill="hold"/>
                                        <p:tgtEl>
                                          <p:spTgt spid="817212"/>
                                        </p:tgtEl>
                                        <p:attrNameLst>
                                          <p:attrName>ppt_x</p:attrName>
                                          <p:attrName>ppt_y</p:attrName>
                                        </p:attrNameLst>
                                      </p:cBhvr>
                                      <p:rCtr x="-4809" y="5602"/>
                                    </p:animMotion>
                                  </p:childTnLst>
                                </p:cTn>
                              </p:par>
                              <p:par>
                                <p:cTn id="164" presetID="0" presetClass="path" presetSubtype="0" accel="50000" decel="50000" fill="hold" nodeType="withEffect">
                                  <p:stCondLst>
                                    <p:cond delay="0"/>
                                  </p:stCondLst>
                                  <p:childTnLst>
                                    <p:animMotion origin="layout" path="M -2.77778E-7 3.7037E-7 L -0.12691 0.14954 " pathEditMode="relative" rAng="0" ptsTypes="AA">
                                      <p:cBhvr>
                                        <p:cTn id="165" dur="1000" fill="hold"/>
                                        <p:tgtEl>
                                          <p:spTgt spid="817210"/>
                                        </p:tgtEl>
                                        <p:attrNameLst>
                                          <p:attrName>ppt_x</p:attrName>
                                          <p:attrName>ppt_y</p:attrName>
                                        </p:attrNameLst>
                                      </p:cBhvr>
                                      <p:rCtr x="-6354" y="7477"/>
                                    </p:animMotion>
                                  </p:childTnLst>
                                </p:cTn>
                              </p:par>
                              <p:par>
                                <p:cTn id="166" presetID="0" presetClass="path" presetSubtype="0" accel="50000" decel="50000" fill="hold" nodeType="withEffect">
                                  <p:stCondLst>
                                    <p:cond delay="0"/>
                                  </p:stCondLst>
                                  <p:childTnLst>
                                    <p:animMotion origin="layout" path="M 0.0 -2.59259E-6 L -0.09896 0.11389 " pathEditMode="relative" rAng="0" ptsTypes="AA">
                                      <p:cBhvr>
                                        <p:cTn id="167" dur="1000" fill="hold"/>
                                        <p:tgtEl>
                                          <p:spTgt spid="817206"/>
                                        </p:tgtEl>
                                        <p:attrNameLst>
                                          <p:attrName>ppt_x</p:attrName>
                                          <p:attrName>ppt_y</p:attrName>
                                        </p:attrNameLst>
                                      </p:cBhvr>
                                      <p:rCtr x="-4948" y="5694"/>
                                    </p:animMotion>
                                  </p:childTnLst>
                                </p:cTn>
                              </p:par>
                              <p:par>
                                <p:cTn id="168" presetID="0" presetClass="path" presetSubtype="0" accel="50000" decel="50000" fill="hold" nodeType="withEffect">
                                  <p:stCondLst>
                                    <p:cond delay="0"/>
                                  </p:stCondLst>
                                  <p:childTnLst>
                                    <p:animMotion origin="layout" path="M 0.0 0.0 L -0.12309 0.14445 " pathEditMode="relative" ptsTypes="AA">
                                      <p:cBhvr>
                                        <p:cTn id="169" dur="1000" fill="hold"/>
                                        <p:tgtEl>
                                          <p:spTgt spid="817200"/>
                                        </p:tgtEl>
                                        <p:attrNameLst>
                                          <p:attrName>ppt_x</p:attrName>
                                          <p:attrName>ppt_y</p:attrName>
                                        </p:attrNameLst>
                                      </p:cBhvr>
                                    </p:animMotion>
                                  </p:childTnLst>
                                </p:cTn>
                              </p:par>
                              <p:par>
                                <p:cTn id="170" presetID="0" presetClass="path" presetSubtype="0" accel="50000" decel="50000" fill="hold" nodeType="withEffect">
                                  <p:stCondLst>
                                    <p:cond delay="0"/>
                                  </p:stCondLst>
                                  <p:childTnLst>
                                    <p:animMotion origin="layout" path="M -1.11111E-6 -1.85185E-6 L -0.1342 0.15718 " pathEditMode="relative" rAng="0" ptsTypes="AA">
                                      <p:cBhvr>
                                        <p:cTn id="171" dur="1000" fill="hold"/>
                                        <p:tgtEl>
                                          <p:spTgt spid="817205"/>
                                        </p:tgtEl>
                                        <p:attrNameLst>
                                          <p:attrName>ppt_x</p:attrName>
                                          <p:attrName>ppt_y</p:attrName>
                                        </p:attrNameLst>
                                      </p:cBhvr>
                                      <p:rCtr x="-6719" y="7847"/>
                                    </p:animMotion>
                                  </p:childTnLst>
                                </p:cTn>
                              </p:par>
                              <p:par>
                                <p:cTn id="172" presetID="0" presetClass="path" presetSubtype="0" accel="50000" decel="50000" fill="hold" nodeType="withEffect">
                                  <p:stCondLst>
                                    <p:cond delay="0"/>
                                  </p:stCondLst>
                                  <p:childTnLst>
                                    <p:animMotion origin="layout" path="M -8.33333E-7 1.11111E-6 L -0.16233 0.18773 " pathEditMode="relative" rAng="0" ptsTypes="AA">
                                      <p:cBhvr>
                                        <p:cTn id="173" dur="1000" fill="hold"/>
                                        <p:tgtEl>
                                          <p:spTgt spid="817204"/>
                                        </p:tgtEl>
                                        <p:attrNameLst>
                                          <p:attrName>ppt_x</p:attrName>
                                          <p:attrName>ppt_y</p:attrName>
                                        </p:attrNameLst>
                                      </p:cBhvr>
                                      <p:rCtr x="-8125" y="9375"/>
                                    </p:animMotion>
                                  </p:childTnLst>
                                </p:cTn>
                              </p:par>
                              <p:par>
                                <p:cTn id="174" presetID="0" presetClass="path" presetSubtype="0" accel="50000" decel="50000" fill="hold" nodeType="withEffect">
                                  <p:stCondLst>
                                    <p:cond delay="0"/>
                                  </p:stCondLst>
                                  <p:childTnLst>
                                    <p:animMotion origin="layout" path="M 1.11111E-6 1.48148E-6 L -0.18559 0.21597 " pathEditMode="relative" rAng="0" ptsTypes="AA">
                                      <p:cBhvr>
                                        <p:cTn id="175" dur="1000" fill="hold"/>
                                        <p:tgtEl>
                                          <p:spTgt spid="817203"/>
                                        </p:tgtEl>
                                        <p:attrNameLst>
                                          <p:attrName>ppt_x</p:attrName>
                                          <p:attrName>ppt_y</p:attrName>
                                        </p:attrNameLst>
                                      </p:cBhvr>
                                      <p:rCtr x="-9288" y="10787"/>
                                    </p:animMotion>
                                  </p:childTnLst>
                                </p:cTn>
                              </p:par>
                              <p:par>
                                <p:cTn id="176" presetID="0" presetClass="path" presetSubtype="0" accel="50000" decel="50000" fill="hold" nodeType="withEffect">
                                  <p:stCondLst>
                                    <p:cond delay="0"/>
                                  </p:stCondLst>
                                  <p:childTnLst>
                                    <p:animMotion origin="layout" path="M 3.05556E-6 -2.59259E-6 L -0.20348 0.23935 " pathEditMode="relative" rAng="0" ptsTypes="AA">
                                      <p:cBhvr>
                                        <p:cTn id="177" dur="1000" fill="hold"/>
                                        <p:tgtEl>
                                          <p:spTgt spid="817208"/>
                                        </p:tgtEl>
                                        <p:attrNameLst>
                                          <p:attrName>ppt_x</p:attrName>
                                          <p:attrName>ppt_y</p:attrName>
                                        </p:attrNameLst>
                                      </p:cBhvr>
                                      <p:rCtr x="-10174" y="11968"/>
                                    </p:animMotion>
                                  </p:childTnLst>
                                </p:cTn>
                              </p:par>
                              <p:par>
                                <p:cTn id="178" presetID="0" presetClass="path" presetSubtype="0" accel="50000" decel="50000" fill="hold" nodeType="withEffect">
                                  <p:stCondLst>
                                    <p:cond delay="0"/>
                                  </p:stCondLst>
                                  <p:childTnLst>
                                    <p:animMotion origin="layout" path="M 0.0 1.11111E-6 L -0.17309 0.20555 " pathEditMode="relative" rAng="0" ptsTypes="AA">
                                      <p:cBhvr>
                                        <p:cTn id="179" dur="1000" fill="hold"/>
                                        <p:tgtEl>
                                          <p:spTgt spid="817198"/>
                                        </p:tgtEl>
                                        <p:attrNameLst>
                                          <p:attrName>ppt_x</p:attrName>
                                          <p:attrName>ppt_y</p:attrName>
                                        </p:attrNameLst>
                                      </p:cBhvr>
                                      <p:rCtr x="-8663" y="10278"/>
                                    </p:animMotion>
                                  </p:childTnLst>
                                </p:cTn>
                              </p:par>
                              <p:par>
                                <p:cTn id="180" presetID="0" presetClass="path" presetSubtype="0" accel="50000" decel="50000" fill="hold" nodeType="withEffect">
                                  <p:stCondLst>
                                    <p:cond delay="0"/>
                                  </p:stCondLst>
                                  <p:childTnLst>
                                    <p:animMotion origin="layout" path="M -1.94444E-6 7.40741E-7 L -0.15139 0.17778 " pathEditMode="relative" rAng="0" ptsTypes="AA">
                                      <p:cBhvr>
                                        <p:cTn id="181" dur="1000" fill="hold"/>
                                        <p:tgtEl>
                                          <p:spTgt spid="817199"/>
                                        </p:tgtEl>
                                        <p:attrNameLst>
                                          <p:attrName>ppt_x</p:attrName>
                                          <p:attrName>ppt_y</p:attrName>
                                        </p:attrNameLst>
                                      </p:cBhvr>
                                      <p:rCtr x="-7569" y="8889"/>
                                    </p:animMotion>
                                  </p:childTnLst>
                                </p:cTn>
                              </p:par>
                              <p:par>
                                <p:cTn id="182" presetID="0" presetClass="path" presetSubtype="0" accel="50000" decel="50000" fill="hold" nodeType="withEffect">
                                  <p:stCondLst>
                                    <p:cond delay="0"/>
                                  </p:stCondLst>
                                  <p:childTnLst>
                                    <p:animMotion origin="layout" path="M -3.33333E-6 -1.48148E-6 L -0.09913 0.11713 " pathEditMode="relative" rAng="0" ptsTypes="AA">
                                      <p:cBhvr>
                                        <p:cTn id="183" dur="1000" fill="hold"/>
                                        <p:tgtEl>
                                          <p:spTgt spid="817215"/>
                                        </p:tgtEl>
                                        <p:attrNameLst>
                                          <p:attrName>ppt_x</p:attrName>
                                          <p:attrName>ppt_y</p:attrName>
                                        </p:attrNameLst>
                                      </p:cBhvr>
                                      <p:rCtr x="-4965" y="5856"/>
                                    </p:animMotion>
                                  </p:childTnLst>
                                </p:cTn>
                              </p:par>
                              <p:par>
                                <p:cTn id="184" presetID="0" presetClass="path" presetSubtype="0" accel="50000" decel="50000" fill="hold" nodeType="withEffect">
                                  <p:stCondLst>
                                    <p:cond delay="0"/>
                                  </p:stCondLst>
                                  <p:childTnLst>
                                    <p:animMotion origin="layout" path="M 3.61111E-6 -4.07407E-6 L -0.09115 0.10718 " pathEditMode="relative" rAng="0" ptsTypes="AA">
                                      <p:cBhvr>
                                        <p:cTn id="185" dur="1000" fill="hold"/>
                                        <p:tgtEl>
                                          <p:spTgt spid="817218"/>
                                        </p:tgtEl>
                                        <p:attrNameLst>
                                          <p:attrName>ppt_x</p:attrName>
                                          <p:attrName>ppt_y</p:attrName>
                                        </p:attrNameLst>
                                      </p:cBhvr>
                                      <p:rCtr x="-4566" y="5347"/>
                                    </p:animMotion>
                                  </p:childTnLst>
                                </p:cTn>
                              </p:par>
                              <p:par>
                                <p:cTn id="186" presetID="0" presetClass="path" presetSubtype="0" accel="50000" decel="50000" fill="hold" nodeType="withEffect">
                                  <p:stCondLst>
                                    <p:cond delay="0"/>
                                  </p:stCondLst>
                                  <p:childTnLst>
                                    <p:animMotion origin="layout" path="M 8.33333E-7 3.7037E-7 L -0.06997 0.0838 " pathEditMode="relative" rAng="0" ptsTypes="AA">
                                      <p:cBhvr>
                                        <p:cTn id="187" dur="1000" fill="hold"/>
                                        <p:tgtEl>
                                          <p:spTgt spid="817219"/>
                                        </p:tgtEl>
                                        <p:attrNameLst>
                                          <p:attrName>ppt_x</p:attrName>
                                          <p:attrName>ppt_y</p:attrName>
                                        </p:attrNameLst>
                                      </p:cBhvr>
                                      <p:rCtr x="-3507" y="4190"/>
                                    </p:animMotion>
                                  </p:childTnLst>
                                </p:cTn>
                              </p:par>
                              <p:par>
                                <p:cTn id="188" presetID="0" presetClass="path" presetSubtype="0" accel="50000" decel="50000" fill="hold" nodeType="withEffect">
                                  <p:stCondLst>
                                    <p:cond delay="0"/>
                                  </p:stCondLst>
                                  <p:childTnLst>
                                    <p:animMotion origin="layout" path="M 3.61111E-6 3.7037E-6 L -0.12709 0.15092 " pathEditMode="relative" rAng="0" ptsTypes="AA">
                                      <p:cBhvr>
                                        <p:cTn id="189" dur="1000" fill="hold"/>
                                        <p:tgtEl>
                                          <p:spTgt spid="817220"/>
                                        </p:tgtEl>
                                        <p:attrNameLst>
                                          <p:attrName>ppt_x</p:attrName>
                                          <p:attrName>ppt_y</p:attrName>
                                        </p:attrNameLst>
                                      </p:cBhvr>
                                      <p:rCtr x="-6354" y="7546"/>
                                    </p:animMotion>
                                  </p:childTnLst>
                                </p:cTn>
                              </p:par>
                              <p:par>
                                <p:cTn id="190" presetID="0" presetClass="path" presetSubtype="0" accel="50000" decel="50000" fill="hold" nodeType="withEffect">
                                  <p:stCondLst>
                                    <p:cond delay="0"/>
                                  </p:stCondLst>
                                  <p:childTnLst>
                                    <p:animMotion origin="layout" path="M 5.E-6 -4.81481E-6 L -0.09218 0.10973 " pathEditMode="relative" rAng="0" ptsTypes="AA">
                                      <p:cBhvr>
                                        <p:cTn id="191" dur="1000" fill="hold"/>
                                        <p:tgtEl>
                                          <p:spTgt spid="817221"/>
                                        </p:tgtEl>
                                        <p:attrNameLst>
                                          <p:attrName>ppt_x</p:attrName>
                                          <p:attrName>ppt_y</p:attrName>
                                        </p:attrNameLst>
                                      </p:cBhvr>
                                      <p:rCtr x="-4618" y="5486"/>
                                    </p:animMotion>
                                  </p:childTnLst>
                                </p:cTn>
                              </p:par>
                              <p:par>
                                <p:cTn id="192" presetID="0" presetClass="path" presetSubtype="0" accel="50000" decel="50000" fill="hold" nodeType="withEffect">
                                  <p:stCondLst>
                                    <p:cond delay="0"/>
                                  </p:stCondLst>
                                  <p:childTnLst>
                                    <p:animMotion origin="layout" path="M -3.05556E-6 -2.22222E-6 L -0.09965 0.11713 " pathEditMode="relative" rAng="0" ptsTypes="AA">
                                      <p:cBhvr>
                                        <p:cTn id="193" dur="1000" fill="hold"/>
                                        <p:tgtEl>
                                          <p:spTgt spid="817222"/>
                                        </p:tgtEl>
                                        <p:attrNameLst>
                                          <p:attrName>ppt_x</p:attrName>
                                          <p:attrName>ppt_y</p:attrName>
                                        </p:attrNameLst>
                                      </p:cBhvr>
                                      <p:rCtr x="-4983" y="5856"/>
                                    </p:animMotion>
                                  </p:childTnLst>
                                </p:cTn>
                              </p:par>
                              <p:par>
                                <p:cTn id="194" presetID="0" presetClass="path" presetSubtype="0" accel="50000" decel="50000" fill="hold" nodeType="withEffect">
                                  <p:stCondLst>
                                    <p:cond delay="0"/>
                                  </p:stCondLst>
                                  <p:childTnLst>
                                    <p:animMotion origin="layout" path="M 1.94444E-6 4.44444E-6 L -0.05122 0.06111 " pathEditMode="relative" rAng="0" ptsTypes="AA">
                                      <p:cBhvr>
                                        <p:cTn id="195" dur="1000" fill="hold"/>
                                        <p:tgtEl>
                                          <p:spTgt spid="817223"/>
                                        </p:tgtEl>
                                        <p:attrNameLst>
                                          <p:attrName>ppt_x</p:attrName>
                                          <p:attrName>ppt_y</p:attrName>
                                        </p:attrNameLst>
                                      </p:cBhvr>
                                      <p:rCtr x="-2569" y="3056"/>
                                    </p:animMotion>
                                  </p:childTnLst>
                                </p:cTn>
                              </p:par>
                              <p:par>
                                <p:cTn id="196" presetID="0" presetClass="path" presetSubtype="0" accel="50000" decel="50000" fill="hold" nodeType="withEffect">
                                  <p:stCondLst>
                                    <p:cond delay="0"/>
                                  </p:stCondLst>
                                  <p:childTnLst>
                                    <p:animMotion origin="layout" path="M 1.38889E-6 -1.48148E-6 L -0.06875 0.08102 " pathEditMode="relative" rAng="0" ptsTypes="AA">
                                      <p:cBhvr>
                                        <p:cTn id="197" dur="1000" fill="hold"/>
                                        <p:tgtEl>
                                          <p:spTgt spid="817224"/>
                                        </p:tgtEl>
                                        <p:attrNameLst>
                                          <p:attrName>ppt_x</p:attrName>
                                          <p:attrName>ppt_y</p:attrName>
                                        </p:attrNameLst>
                                      </p:cBhvr>
                                      <p:rCtr x="-3438" y="4051"/>
                                    </p:animMotion>
                                  </p:childTnLst>
                                </p:cTn>
                              </p:par>
                              <p:par>
                                <p:cTn id="198" presetID="0" presetClass="path" presetSubtype="0" accel="50000" decel="50000" fill="hold" nodeType="withEffect">
                                  <p:stCondLst>
                                    <p:cond delay="0"/>
                                  </p:stCondLst>
                                  <p:childTnLst>
                                    <p:animMotion origin="layout" path="M 8.33333E-7 -2.96296E-6 L -0.02413 0.02871 " pathEditMode="relative" rAng="0" ptsTypes="AA">
                                      <p:cBhvr>
                                        <p:cTn id="199" dur="1000" fill="hold"/>
                                        <p:tgtEl>
                                          <p:spTgt spid="817226"/>
                                        </p:tgtEl>
                                        <p:attrNameLst>
                                          <p:attrName>ppt_x</p:attrName>
                                          <p:attrName>ppt_y</p:attrName>
                                        </p:attrNameLst>
                                      </p:cBhvr>
                                      <p:rCtr x="-1215" y="1435"/>
                                    </p:animMotion>
                                  </p:childTnLst>
                                </p:cTn>
                              </p:par>
                              <p:par>
                                <p:cTn id="200" presetID="0" presetClass="path" presetSubtype="0" accel="50000" decel="50000" fill="hold" nodeType="withEffect">
                                  <p:stCondLst>
                                    <p:cond delay="0"/>
                                  </p:stCondLst>
                                  <p:childTnLst>
                                    <p:animMotion origin="layout" path="M 2.22222E-6 -4.44444E-6 L -0.04584 0.05371 " pathEditMode="relative" rAng="0" ptsTypes="AA">
                                      <p:cBhvr>
                                        <p:cTn id="201" dur="1000" fill="hold"/>
                                        <p:tgtEl>
                                          <p:spTgt spid="817228"/>
                                        </p:tgtEl>
                                        <p:attrNameLst>
                                          <p:attrName>ppt_x</p:attrName>
                                          <p:attrName>ppt_y</p:attrName>
                                        </p:attrNameLst>
                                      </p:cBhvr>
                                      <p:rCtr x="-2292" y="2685"/>
                                    </p:animMotion>
                                  </p:childTnLst>
                                </p:cTn>
                              </p:par>
                              <p:par>
                                <p:cTn id="202" presetID="0" presetClass="path" presetSubtype="0" accel="50000" decel="50000" fill="hold" nodeType="withEffect">
                                  <p:stCondLst>
                                    <p:cond delay="0"/>
                                  </p:stCondLst>
                                  <p:childTnLst>
                                    <p:animMotion origin="layout" path="M -3.05556E-6 -4.44444E-6 L -0.11458 0.13982 " pathEditMode="relative" rAng="0" ptsTypes="AA">
                                      <p:cBhvr>
                                        <p:cTn id="203" dur="1000" fill="hold"/>
                                        <p:tgtEl>
                                          <p:spTgt spid="817216"/>
                                        </p:tgtEl>
                                        <p:attrNameLst>
                                          <p:attrName>ppt_x</p:attrName>
                                          <p:attrName>ppt_y</p:attrName>
                                        </p:attrNameLst>
                                      </p:cBhvr>
                                      <p:rCtr x="-5729" y="6991"/>
                                    </p:animMotion>
                                  </p:childTnLst>
                                </p:cTn>
                              </p:par>
                              <p:par>
                                <p:cTn id="204" presetID="0" presetClass="path" presetSubtype="0" accel="50000" decel="50000" fill="hold" nodeType="withEffect">
                                  <p:stCondLst>
                                    <p:cond delay="0"/>
                                  </p:stCondLst>
                                  <p:childTnLst>
                                    <p:animMotion origin="layout" path="M 1.38889E-6 2.59259E-6 L -0.1566 0.18541 " pathEditMode="relative" rAng="0" ptsTypes="AA">
                                      <p:cBhvr>
                                        <p:cTn id="205" dur="1000" fill="hold"/>
                                        <p:tgtEl>
                                          <p:spTgt spid="817230"/>
                                        </p:tgtEl>
                                        <p:attrNameLst>
                                          <p:attrName>ppt_x</p:attrName>
                                          <p:attrName>ppt_y</p:attrName>
                                        </p:attrNameLst>
                                      </p:cBhvr>
                                      <p:rCtr x="-7830" y="9259"/>
                                    </p:animMotion>
                                  </p:childTnLst>
                                </p:cTn>
                              </p:par>
                              <p:par>
                                <p:cTn id="206" presetID="0" presetClass="path" presetSubtype="0" accel="50000" decel="50000" fill="hold" nodeType="withEffect">
                                  <p:stCondLst>
                                    <p:cond delay="0"/>
                                  </p:stCondLst>
                                  <p:childTnLst>
                                    <p:animMotion origin="layout" path="M 2.77778E-7 2.96296E-6 L -0.15538 0.18472 " pathEditMode="relative" rAng="0" ptsTypes="AA">
                                      <p:cBhvr>
                                        <p:cTn id="207" dur="1000" fill="hold"/>
                                        <p:tgtEl>
                                          <p:spTgt spid="817229"/>
                                        </p:tgtEl>
                                        <p:attrNameLst>
                                          <p:attrName>ppt_x</p:attrName>
                                          <p:attrName>ppt_y</p:attrName>
                                        </p:attrNameLst>
                                      </p:cBhvr>
                                      <p:rCtr x="-7778" y="9236"/>
                                    </p:animMotion>
                                  </p:childTnLst>
                                </p:cTn>
                              </p:par>
                              <p:par>
                                <p:cTn id="208" presetID="0" presetClass="path" presetSubtype="0" accel="50000" decel="50000" fill="hold" nodeType="withEffect">
                                  <p:stCondLst>
                                    <p:cond delay="0"/>
                                  </p:stCondLst>
                                  <p:childTnLst>
                                    <p:animMotion origin="layout" path="M 0.0 0.0 L -0.14584 0.17268 " pathEditMode="relative" ptsTypes="AA">
                                      <p:cBhvr>
                                        <p:cTn id="209" dur="1000" fill="hold"/>
                                        <p:tgtEl>
                                          <p:spTgt spid="817213"/>
                                        </p:tgtEl>
                                        <p:attrNameLst>
                                          <p:attrName>ppt_x</p:attrName>
                                          <p:attrName>ppt_y</p:attrName>
                                        </p:attrNameLst>
                                      </p:cBhvr>
                                    </p:animMotion>
                                  </p:childTnLst>
                                </p:cTn>
                              </p:par>
                              <p:par>
                                <p:cTn id="210" presetID="0" presetClass="path" presetSubtype="0" accel="50000" decel="50000" fill="hold" nodeType="withEffect">
                                  <p:stCondLst>
                                    <p:cond delay="0"/>
                                  </p:stCondLst>
                                  <p:childTnLst>
                                    <p:animMotion origin="layout" path="M -1.11111E-6 1.85185E-6 L -0.15382 0.18264 " pathEditMode="relative" rAng="0" ptsTypes="AA">
                                      <p:cBhvr>
                                        <p:cTn id="211" dur="1000" fill="hold"/>
                                        <p:tgtEl>
                                          <p:spTgt spid="817227"/>
                                        </p:tgtEl>
                                        <p:attrNameLst>
                                          <p:attrName>ppt_x</p:attrName>
                                          <p:attrName>ppt_y</p:attrName>
                                        </p:attrNameLst>
                                      </p:cBhvr>
                                      <p:rCtr x="-7691" y="9120"/>
                                    </p:animMotion>
                                  </p:childTnLst>
                                </p:cTn>
                              </p:par>
                              <p:par>
                                <p:cTn id="212" presetID="0" presetClass="path" presetSubtype="0" accel="50000" decel="50000" fill="hold" nodeType="withEffect">
                                  <p:stCondLst>
                                    <p:cond delay="0"/>
                                  </p:stCondLst>
                                  <p:childTnLst>
                                    <p:animMotion origin="layout" path="M 3.05556E-6 -1.85185E-6 L -0.17327 0.20417 " pathEditMode="relative" rAng="0" ptsTypes="AA">
                                      <p:cBhvr>
                                        <p:cTn id="213" dur="1000" fill="hold"/>
                                        <p:tgtEl>
                                          <p:spTgt spid="817225"/>
                                        </p:tgtEl>
                                        <p:attrNameLst>
                                          <p:attrName>ppt_x</p:attrName>
                                          <p:attrName>ppt_y</p:attrName>
                                        </p:attrNameLst>
                                      </p:cBhvr>
                                      <p:rCtr x="-8663" y="10208"/>
                                    </p:animMotion>
                                  </p:childTnLst>
                                </p:cTn>
                              </p:par>
                              <p:par>
                                <p:cTn id="214" presetID="0" presetClass="path" presetSubtype="0" accel="50000" decel="50000" fill="hold" nodeType="withEffect">
                                  <p:stCondLst>
                                    <p:cond delay="0"/>
                                  </p:stCondLst>
                                  <p:childTnLst>
                                    <p:animMotion origin="layout" path="M 1.38889E-6 2.96296E-6 L -0.17535 0.20602 " pathEditMode="relative" rAng="0" ptsTypes="AA">
                                      <p:cBhvr>
                                        <p:cTn id="215" dur="1000" fill="hold"/>
                                        <p:tgtEl>
                                          <p:spTgt spid="817217"/>
                                        </p:tgtEl>
                                        <p:attrNameLst>
                                          <p:attrName>ppt_x</p:attrName>
                                          <p:attrName>ppt_y</p:attrName>
                                        </p:attrNameLst>
                                      </p:cBhvr>
                                      <p:rCtr x="-8767" y="10301"/>
                                    </p:animMotion>
                                  </p:childTnLst>
                                </p:cTn>
                              </p:par>
                              <p:par>
                                <p:cTn id="216" presetID="0" presetClass="path" presetSubtype="0" accel="50000" decel="50000" fill="hold" nodeType="withEffect">
                                  <p:stCondLst>
                                    <p:cond delay="0"/>
                                  </p:stCondLst>
                                  <p:childTnLst>
                                    <p:animMotion origin="layout" path="M 2.77778E-6 -1.48148E-6 L -0.2 0.24051 " pathEditMode="relative" rAng="0" ptsTypes="AA">
                                      <p:cBhvr>
                                        <p:cTn id="217" dur="1000" fill="hold"/>
                                        <p:tgtEl>
                                          <p:spTgt spid="817214"/>
                                        </p:tgtEl>
                                        <p:attrNameLst>
                                          <p:attrName>ppt_x</p:attrName>
                                          <p:attrName>ppt_y</p:attrName>
                                        </p:attrNameLst>
                                      </p:cBhvr>
                                      <p:rCtr x="-10000" y="120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59" grpId="0" animBg="1"/>
      <p:bldP spid="817160" grpId="0" animBg="1"/>
      <p:bldP spid="817161" grpId="0" animBg="1"/>
      <p:bldP spid="817162" grpId="0" animBg="1"/>
      <p:bldP spid="817163" grpId="0" animBg="1"/>
      <p:bldP spid="817164" grpId="0" animBg="1"/>
      <p:bldP spid="817165" grpId="0" animBg="1"/>
      <p:bldP spid="817166" grpId="0" animBg="1"/>
      <p:bldP spid="817167" grpId="0" animBg="1"/>
      <p:bldP spid="817168" grpId="0" animBg="1"/>
      <p:bldP spid="817169" grpId="0" animBg="1"/>
      <p:bldP spid="817170" grpId="0" animBg="1"/>
      <p:bldP spid="817171" grpId="0" animBg="1"/>
      <p:bldP spid="817172" grpId="0" animBg="1"/>
      <p:bldP spid="817173" grpId="0" animBg="1"/>
      <p:bldP spid="817174" grpId="0" animBg="1"/>
      <p:bldP spid="817175" grpId="0" animBg="1"/>
      <p:bldP spid="817176" grpId="0" animBg="1"/>
      <p:bldP spid="817177" grpId="0" animBg="1"/>
      <p:bldP spid="817178" grpId="0" animBg="1"/>
      <p:bldP spid="817179" grpId="0" animBg="1"/>
      <p:bldP spid="817180" grpId="0" animBg="1"/>
      <p:bldP spid="817181" grpId="0" animBg="1"/>
      <p:bldP spid="817182" grpId="0" animBg="1"/>
      <p:bldP spid="817183" grpId="0" animBg="1"/>
      <p:bldP spid="817184" grpId="0" animBg="1"/>
      <p:bldP spid="817185" grpId="0" animBg="1"/>
      <p:bldP spid="817186" grpId="0" animBg="1"/>
      <p:bldP spid="817187" grpId="0" animBg="1"/>
      <p:bldP spid="817188" grpId="0" animBg="1"/>
      <p:bldP spid="817189" grpId="0" animBg="1"/>
      <p:bldP spid="817190" grpId="0" animBg="1"/>
      <p:bldP spid="817198" grpId="0" animBg="1"/>
      <p:bldP spid="817198" grpId="1" animBg="1"/>
      <p:bldP spid="817199" grpId="0" animBg="1"/>
      <p:bldP spid="817199" grpId="1" animBg="1"/>
      <p:bldP spid="817200" grpId="0" animBg="1"/>
      <p:bldP spid="817200" grpId="1" animBg="1"/>
      <p:bldP spid="817201" grpId="0" animBg="1"/>
      <p:bldP spid="817201" grpId="1" animBg="1"/>
      <p:bldP spid="817202" grpId="0" animBg="1"/>
      <p:bldP spid="817202" grpId="1" animBg="1"/>
      <p:bldP spid="817203" grpId="0" animBg="1"/>
      <p:bldP spid="817203" grpId="1" animBg="1"/>
      <p:bldP spid="817204" grpId="0" animBg="1"/>
      <p:bldP spid="817204" grpId="1" animBg="1"/>
      <p:bldP spid="817205" grpId="0" animBg="1"/>
      <p:bldP spid="817205" grpId="1" animBg="1"/>
      <p:bldP spid="817206" grpId="0" animBg="1"/>
      <p:bldP spid="817206" grpId="1" animBg="1"/>
      <p:bldP spid="817207" grpId="0" animBg="1"/>
      <p:bldP spid="817207" grpId="1" animBg="1"/>
      <p:bldP spid="817208" grpId="0" animBg="1"/>
      <p:bldP spid="817208" grpId="1" animBg="1"/>
      <p:bldP spid="817209" grpId="0" animBg="1"/>
      <p:bldP spid="817209" grpId="1" animBg="1"/>
      <p:bldP spid="817210" grpId="0" animBg="1"/>
      <p:bldP spid="817210" grpId="1" animBg="1"/>
      <p:bldP spid="817211" grpId="0" animBg="1"/>
      <p:bldP spid="817211" grpId="1" animBg="1"/>
      <p:bldP spid="817212" grpId="0" animBg="1"/>
      <p:bldP spid="817212" grpId="1" animBg="1"/>
      <p:bldP spid="817213" grpId="0" animBg="1"/>
      <p:bldP spid="817213" grpId="1" animBg="1"/>
      <p:bldP spid="817214" grpId="0" animBg="1"/>
      <p:bldP spid="817214" grpId="1" animBg="1"/>
      <p:bldP spid="817215" grpId="0" animBg="1"/>
      <p:bldP spid="817215" grpId="1" animBg="1"/>
      <p:bldP spid="817216" grpId="0" animBg="1"/>
      <p:bldP spid="817216" grpId="1" animBg="1"/>
      <p:bldP spid="817217" grpId="0" animBg="1"/>
      <p:bldP spid="817217" grpId="1" animBg="1"/>
      <p:bldP spid="817218" grpId="0" animBg="1"/>
      <p:bldP spid="817218" grpId="1" animBg="1"/>
      <p:bldP spid="817219" grpId="0" animBg="1"/>
      <p:bldP spid="817219" grpId="1" animBg="1"/>
      <p:bldP spid="817220" grpId="0" animBg="1"/>
      <p:bldP spid="817220" grpId="1" animBg="1"/>
      <p:bldP spid="817221" grpId="0" animBg="1"/>
      <p:bldP spid="817221" grpId="1" animBg="1"/>
      <p:bldP spid="817222" grpId="0" animBg="1"/>
      <p:bldP spid="817222" grpId="1" animBg="1"/>
      <p:bldP spid="817223" grpId="0" animBg="1"/>
      <p:bldP spid="817223" grpId="1" animBg="1"/>
      <p:bldP spid="817224" grpId="0" animBg="1"/>
      <p:bldP spid="817224" grpId="1" animBg="1"/>
      <p:bldP spid="817225" grpId="0" animBg="1"/>
      <p:bldP spid="817225" grpId="1" animBg="1"/>
      <p:bldP spid="817226" grpId="0" animBg="1"/>
      <p:bldP spid="817226" grpId="1" animBg="1"/>
      <p:bldP spid="817227" grpId="0" animBg="1"/>
      <p:bldP spid="817227" grpId="1" animBg="1"/>
      <p:bldP spid="817228" grpId="0" animBg="1"/>
      <p:bldP spid="817228" grpId="1" animBg="1"/>
      <p:bldP spid="817229" grpId="0" animBg="1"/>
      <p:bldP spid="817229" grpId="1" animBg="1"/>
      <p:bldP spid="817230" grpId="0" animBg="1"/>
      <p:bldP spid="817230"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標題 1">
            <a:extLst>
              <a:ext uri="{FF2B5EF4-FFF2-40B4-BE49-F238E27FC236}">
                <a16:creationId xmlns:a16="http://schemas.microsoft.com/office/drawing/2014/main" id="{1EDEF666-B212-4D6B-BE96-2E85277132A9}"/>
              </a:ext>
            </a:extLst>
          </p:cNvPr>
          <p:cNvSpPr>
            <a:spLocks noGrp="1" noChangeArrowheads="1"/>
          </p:cNvSpPr>
          <p:nvPr>
            <p:ph type="ctrTitle"/>
          </p:nvPr>
        </p:nvSpPr>
        <p:spPr>
          <a:xfrm>
            <a:off x="685800" y="1263650"/>
            <a:ext cx="7772400" cy="2387600"/>
          </a:xfrm>
        </p:spPr>
        <p:txBody>
          <a:bodyPr/>
          <a:lstStyle/>
          <a:p>
            <a:r>
              <a:rPr lang="en-US" altLang="zh-CN">
                <a:solidFill>
                  <a:srgbClr val="FF0000"/>
                </a:solidFill>
              </a:rPr>
              <a:t>SVD</a:t>
            </a:r>
            <a:r>
              <a:rPr lang="zh-CN" altLang="en-US">
                <a:solidFill>
                  <a:srgbClr val="FF0000"/>
                </a:solidFill>
              </a:rPr>
              <a:t>的原理与几何意义</a:t>
            </a:r>
            <a:endParaRPr lang="zh-TW" altLang="en-US">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a:extLst>
              <a:ext uri="{FF2B5EF4-FFF2-40B4-BE49-F238E27FC236}">
                <a16:creationId xmlns:a16="http://schemas.microsoft.com/office/drawing/2014/main" id="{A22B3412-0164-4577-A15A-E1BC990480B0}"/>
              </a:ext>
            </a:extLst>
          </p:cNvPr>
          <p:cNvSpPr>
            <a:spLocks noGrp="1" noChangeArrowheads="1"/>
          </p:cNvSpPr>
          <p:nvPr>
            <p:ph type="title"/>
          </p:nvPr>
        </p:nvSpPr>
        <p:spPr/>
        <p:txBody>
          <a:bodyPr/>
          <a:lstStyle/>
          <a:p>
            <a:r>
              <a:rPr kumimoji="1" lang="en-US" altLang="zh-CN"/>
              <a:t>PCA</a:t>
            </a:r>
            <a:r>
              <a:rPr kumimoji="1" lang="zh-CN" altLang="en-US"/>
              <a:t>的缺陷</a:t>
            </a:r>
          </a:p>
        </p:txBody>
      </p:sp>
      <p:sp>
        <p:nvSpPr>
          <p:cNvPr id="98306" name="内容占位符 3">
            <a:extLst>
              <a:ext uri="{FF2B5EF4-FFF2-40B4-BE49-F238E27FC236}">
                <a16:creationId xmlns:a16="http://schemas.microsoft.com/office/drawing/2014/main" id="{E031FEC5-79B0-4D38-B7E8-E724517CFD1B}"/>
              </a:ext>
            </a:extLst>
          </p:cNvPr>
          <p:cNvSpPr>
            <a:spLocks noGrp="1" noChangeArrowheads="1"/>
          </p:cNvSpPr>
          <p:nvPr>
            <p:ph idx="1"/>
          </p:nvPr>
        </p:nvSpPr>
        <p:spPr/>
        <p:txBody>
          <a:bodyPr/>
          <a:lstStyle/>
          <a:p>
            <a:r>
              <a:rPr lang="zh-CN" altLang="en-US"/>
              <a:t>对方阵进行特征分解</a:t>
            </a:r>
            <a:endParaRPr lang="en-US" altLang="zh-CN"/>
          </a:p>
          <a:p>
            <a:r>
              <a:rPr lang="zh-CN" altLang="en-US"/>
              <a:t>需要先计算</a:t>
            </a:r>
            <a:r>
              <a:rPr lang="en-US" altLang="zh-CN"/>
              <a:t>XX</a:t>
            </a:r>
            <a:r>
              <a:rPr lang="en-US" altLang="zh-CN" baseline="30000"/>
              <a:t>T</a:t>
            </a:r>
            <a:r>
              <a:rPr lang="zh-CN" altLang="en-US"/>
              <a:t>，如果</a:t>
            </a:r>
            <a:r>
              <a:rPr lang="en-US" altLang="zh-CN"/>
              <a:t>X</a:t>
            </a:r>
            <a:r>
              <a:rPr lang="zh-CN" altLang="en-US"/>
              <a:t>的维度很大，矩阵相乘的复杂度较高。</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a:extLst>
              <a:ext uri="{FF2B5EF4-FFF2-40B4-BE49-F238E27FC236}">
                <a16:creationId xmlns:a16="http://schemas.microsoft.com/office/drawing/2014/main" id="{C6A47FB8-B4DB-42A2-A0CF-DC367044AEF6}"/>
              </a:ext>
            </a:extLst>
          </p:cNvPr>
          <p:cNvSpPr>
            <a:spLocks noGrp="1" noChangeArrowheads="1"/>
          </p:cNvSpPr>
          <p:nvPr>
            <p:ph type="title"/>
          </p:nvPr>
        </p:nvSpPr>
        <p:spPr/>
        <p:txBody>
          <a:bodyPr/>
          <a:lstStyle/>
          <a:p>
            <a:r>
              <a:rPr kumimoji="1" lang="en-US" altLang="zh-CN"/>
              <a:t>SVD</a:t>
            </a:r>
            <a:endParaRPr kumimoji="1" lang="zh-CN" altLang="en-US"/>
          </a:p>
        </p:txBody>
      </p:sp>
      <p:sp>
        <p:nvSpPr>
          <p:cNvPr id="99330" name="内容占位符 2">
            <a:extLst>
              <a:ext uri="{FF2B5EF4-FFF2-40B4-BE49-F238E27FC236}">
                <a16:creationId xmlns:a16="http://schemas.microsoft.com/office/drawing/2014/main" id="{CFBEDF77-0CEF-431C-907A-825F366766ED}"/>
              </a:ext>
            </a:extLst>
          </p:cNvPr>
          <p:cNvSpPr>
            <a:spLocks noGrp="1" noChangeArrowheads="1"/>
          </p:cNvSpPr>
          <p:nvPr>
            <p:ph idx="1"/>
          </p:nvPr>
        </p:nvSpPr>
        <p:spPr>
          <a:xfrm>
            <a:off x="457200" y="1600200"/>
            <a:ext cx="8610600" cy="4530725"/>
          </a:xfrm>
        </p:spPr>
        <p:txBody>
          <a:bodyPr/>
          <a:lstStyle/>
          <a:p>
            <a:r>
              <a:rPr lang="zh-CN" altLang="en-US"/>
              <a:t>全称：</a:t>
            </a:r>
            <a:r>
              <a:rPr lang="zh-CN" altLang="zh-CN"/>
              <a:t>Singular Value Decomposition</a:t>
            </a:r>
            <a:endParaRPr lang="en-US" altLang="zh-CN"/>
          </a:p>
          <a:p>
            <a:r>
              <a:rPr lang="zh-CN" altLang="zh-CN"/>
              <a:t>SVD </a:t>
            </a:r>
            <a:r>
              <a:rPr lang="zh-CN" altLang="en-US"/>
              <a:t>是一种提取信息的强大工具，它提供了一种便捷的矩阵分解方式，能够发现数据中的潜在模式。</a:t>
            </a:r>
          </a:p>
          <a:p>
            <a:r>
              <a:rPr lang="zh-CN" altLang="en-US"/>
              <a:t>主要应用领域包括：</a:t>
            </a:r>
          </a:p>
          <a:p>
            <a:pPr lvl="1"/>
            <a:r>
              <a:rPr lang="zh-CN" altLang="en-US"/>
              <a:t>隐性语义分析 </a:t>
            </a:r>
            <a:r>
              <a:rPr lang="en-US" altLang="zh-CN"/>
              <a:t>(</a:t>
            </a:r>
            <a:r>
              <a:rPr lang="zh-CN" altLang="zh-CN"/>
              <a:t>Latent Semantic Analysis, LSA) </a:t>
            </a:r>
            <a:r>
              <a:rPr lang="zh-CN" altLang="en-US"/>
              <a:t>或隐性语义索引 </a:t>
            </a:r>
            <a:r>
              <a:rPr lang="en-US" altLang="zh-CN"/>
              <a:t>(</a:t>
            </a:r>
            <a:r>
              <a:rPr lang="zh-CN" altLang="zh-CN"/>
              <a:t>Latent Semantic Indexing, LSI)；</a:t>
            </a:r>
          </a:p>
          <a:p>
            <a:pPr lvl="1"/>
            <a:r>
              <a:rPr lang="zh-CN" altLang="en-US"/>
              <a:t>推荐系统 </a:t>
            </a:r>
            <a:r>
              <a:rPr lang="en-US" altLang="zh-CN"/>
              <a:t>(</a:t>
            </a:r>
            <a:r>
              <a:rPr lang="zh-CN" altLang="zh-CN"/>
              <a:t>Recommender system)，</a:t>
            </a:r>
            <a:r>
              <a:rPr lang="zh-CN" altLang="en-US"/>
              <a:t>可以说是最有价值的应用点；</a:t>
            </a:r>
          </a:p>
          <a:p>
            <a:pPr lvl="1"/>
            <a:r>
              <a:rPr lang="zh-CN" altLang="en-US"/>
              <a:t>矩阵形式数据（主要是图像数据）的压缩与处理。</a:t>
            </a:r>
          </a:p>
          <a:p>
            <a:endParaRPr kumimoji="1"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a:extLst>
              <a:ext uri="{FF2B5EF4-FFF2-40B4-BE49-F238E27FC236}">
                <a16:creationId xmlns:a16="http://schemas.microsoft.com/office/drawing/2014/main" id="{9124A914-F05B-4396-A3FE-E529C04E9080}"/>
              </a:ext>
            </a:extLst>
          </p:cNvPr>
          <p:cNvSpPr>
            <a:spLocks noGrp="1" noChangeArrowheads="1"/>
          </p:cNvSpPr>
          <p:nvPr>
            <p:ph type="title"/>
          </p:nvPr>
        </p:nvSpPr>
        <p:spPr/>
        <p:txBody>
          <a:bodyPr/>
          <a:lstStyle/>
          <a:p>
            <a:r>
              <a:rPr kumimoji="1" lang="zh-CN" altLang="en-US"/>
              <a:t>线性变换的几何意义</a:t>
            </a:r>
          </a:p>
        </p:txBody>
      </p:sp>
      <p:sp>
        <p:nvSpPr>
          <p:cNvPr id="100354" name="内容占位符 2">
            <a:extLst>
              <a:ext uri="{FF2B5EF4-FFF2-40B4-BE49-F238E27FC236}">
                <a16:creationId xmlns:a16="http://schemas.microsoft.com/office/drawing/2014/main" id="{E0597456-EFD2-4F91-8EDA-0344A2BAE082}"/>
              </a:ext>
            </a:extLst>
          </p:cNvPr>
          <p:cNvSpPr>
            <a:spLocks noGrp="1" noChangeArrowheads="1"/>
          </p:cNvSpPr>
          <p:nvPr>
            <p:ph idx="1"/>
          </p:nvPr>
        </p:nvSpPr>
        <p:spPr>
          <a:xfrm>
            <a:off x="628650" y="1620838"/>
            <a:ext cx="7886700" cy="4351337"/>
          </a:xfrm>
        </p:spPr>
        <p:txBody>
          <a:bodyPr/>
          <a:lstStyle/>
          <a:p>
            <a:r>
              <a:rPr lang="zh-CN" altLang="en-US"/>
              <a:t>让我们来看一些简单的线性变换例子，以 </a:t>
            </a:r>
            <a:r>
              <a:rPr lang="en-US" altLang="zh-CN"/>
              <a:t>2 X 2 </a:t>
            </a:r>
            <a:r>
              <a:rPr lang="zh-CN" altLang="en-US"/>
              <a:t>的线性变换矩阵为例</a:t>
            </a:r>
            <a:endParaRPr lang="en-US" altLang="zh-CN"/>
          </a:p>
          <a:p>
            <a:endParaRPr kumimoji="1" lang="en-US" altLang="zh-CN"/>
          </a:p>
          <a:p>
            <a:endParaRPr kumimoji="1" lang="en-US" altLang="zh-CN"/>
          </a:p>
          <a:p>
            <a:r>
              <a:rPr lang="zh-CN" altLang="en-US"/>
              <a:t>从几何上讲，</a:t>
            </a:r>
            <a:r>
              <a:rPr lang="en-US" altLang="zh-CN" b="1"/>
              <a:t>M</a:t>
            </a:r>
            <a:r>
              <a:rPr lang="zh-CN" altLang="en-US"/>
              <a:t> 是将二维平面上的点</a:t>
            </a:r>
            <a:r>
              <a:rPr lang="en-US" altLang="zh-CN"/>
              <a:t>(x,y)</a:t>
            </a:r>
            <a:r>
              <a:rPr lang="zh-CN" altLang="en-US"/>
              <a:t>经过线性变换到另外一个点的变换矩阵</a:t>
            </a:r>
            <a:endParaRPr kumimoji="1" lang="zh-CN" altLang="en-US"/>
          </a:p>
        </p:txBody>
      </p:sp>
      <p:pic>
        <p:nvPicPr>
          <p:cNvPr id="100355" name="Picture 2" descr="http://www.ams.org/featurecolumn/images/august2009/img.0.gif">
            <a:extLst>
              <a:ext uri="{FF2B5EF4-FFF2-40B4-BE49-F238E27FC236}">
                <a16:creationId xmlns:a16="http://schemas.microsoft.com/office/drawing/2014/main" id="{96309D28-7B68-4BE7-B8D5-9DFBDD6B3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25" y="2819400"/>
            <a:ext cx="1963738"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6" name="Picture 4" descr="http://www.ams.org/featurecolumn/images/august2009/img.1.gif">
            <a:extLst>
              <a:ext uri="{FF2B5EF4-FFF2-40B4-BE49-F238E27FC236}">
                <a16:creationId xmlns:a16="http://schemas.microsoft.com/office/drawing/2014/main" id="{488FB25C-E3F2-4A3D-9624-41351FC0C4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5103813"/>
            <a:ext cx="333533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a:extLst>
              <a:ext uri="{FF2B5EF4-FFF2-40B4-BE49-F238E27FC236}">
                <a16:creationId xmlns:a16="http://schemas.microsoft.com/office/drawing/2014/main" id="{3B1305B6-55D5-41B5-AAA9-D5EEDD777A3C}"/>
              </a:ext>
            </a:extLst>
          </p:cNvPr>
          <p:cNvSpPr>
            <a:spLocks noGrp="1" noChangeArrowheads="1"/>
          </p:cNvSpPr>
          <p:nvPr>
            <p:ph type="title"/>
          </p:nvPr>
        </p:nvSpPr>
        <p:spPr/>
        <p:txBody>
          <a:bodyPr/>
          <a:lstStyle/>
          <a:p>
            <a:r>
              <a:rPr kumimoji="1" lang="zh-CN" altLang="en-US"/>
              <a:t>线性变换的几何意义（续）</a:t>
            </a:r>
          </a:p>
        </p:txBody>
      </p:sp>
      <p:pic>
        <p:nvPicPr>
          <p:cNvPr id="101378" name="内容占位符 3">
            <a:extLst>
              <a:ext uri="{FF2B5EF4-FFF2-40B4-BE49-F238E27FC236}">
                <a16:creationId xmlns:a16="http://schemas.microsoft.com/office/drawing/2014/main" id="{FF19461F-371E-4347-8875-6F6B7EBC56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28650" y="2128838"/>
            <a:ext cx="7886700" cy="3744912"/>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a:extLst>
              <a:ext uri="{FF2B5EF4-FFF2-40B4-BE49-F238E27FC236}">
                <a16:creationId xmlns:a16="http://schemas.microsoft.com/office/drawing/2014/main" id="{E18ADB87-E258-440F-B442-764FFDCF6F9D}"/>
              </a:ext>
            </a:extLst>
          </p:cNvPr>
          <p:cNvSpPr>
            <a:spLocks noGrp="1" noChangeArrowheads="1"/>
          </p:cNvSpPr>
          <p:nvPr>
            <p:ph type="title"/>
          </p:nvPr>
        </p:nvSpPr>
        <p:spPr/>
        <p:txBody>
          <a:bodyPr/>
          <a:lstStyle/>
          <a:p>
            <a:r>
              <a:rPr kumimoji="1" lang="zh-CN" altLang="en-US"/>
              <a:t>线性变换的几何意义（续）</a:t>
            </a:r>
          </a:p>
        </p:txBody>
      </p:sp>
      <p:sp>
        <p:nvSpPr>
          <p:cNvPr id="102402" name="内容占位符 2">
            <a:extLst>
              <a:ext uri="{FF2B5EF4-FFF2-40B4-BE49-F238E27FC236}">
                <a16:creationId xmlns:a16="http://schemas.microsoft.com/office/drawing/2014/main" id="{6F43C5EA-C333-41A6-99D5-6C0E7545594E}"/>
              </a:ext>
            </a:extLst>
          </p:cNvPr>
          <p:cNvSpPr>
            <a:spLocks noGrp="1" noChangeArrowheads="1"/>
          </p:cNvSpPr>
          <p:nvPr>
            <p:ph idx="1"/>
          </p:nvPr>
        </p:nvSpPr>
        <p:spPr/>
        <p:txBody>
          <a:bodyPr/>
          <a:lstStyle/>
          <a:p>
            <a:r>
              <a:rPr kumimoji="1" lang="zh-CN" altLang="en-US"/>
              <a:t>另外一个例子</a:t>
            </a:r>
          </a:p>
        </p:txBody>
      </p:sp>
      <p:pic>
        <p:nvPicPr>
          <p:cNvPr id="102403" name="Picture 2" descr="http://www.ams.org/featurecolumn/images/august2009/img.2.gif">
            <a:extLst>
              <a:ext uri="{FF2B5EF4-FFF2-40B4-BE49-F238E27FC236}">
                <a16:creationId xmlns:a16="http://schemas.microsoft.com/office/drawing/2014/main" id="{16724CE0-0616-4D39-9178-FE84FBDD67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75" y="2493963"/>
            <a:ext cx="171132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4" name="图片 3">
            <a:extLst>
              <a:ext uri="{FF2B5EF4-FFF2-40B4-BE49-F238E27FC236}">
                <a16:creationId xmlns:a16="http://schemas.microsoft.com/office/drawing/2014/main" id="{B78D0459-5915-4908-87B8-BF81E71D1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3365500"/>
            <a:ext cx="7124700"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a:extLst>
              <a:ext uri="{FF2B5EF4-FFF2-40B4-BE49-F238E27FC236}">
                <a16:creationId xmlns:a16="http://schemas.microsoft.com/office/drawing/2014/main" id="{17B98092-83F9-4480-9753-07D1D28077D7}"/>
              </a:ext>
            </a:extLst>
          </p:cNvPr>
          <p:cNvSpPr>
            <a:spLocks noGrp="1" noChangeArrowheads="1"/>
          </p:cNvSpPr>
          <p:nvPr>
            <p:ph type="title"/>
          </p:nvPr>
        </p:nvSpPr>
        <p:spPr/>
        <p:txBody>
          <a:bodyPr/>
          <a:lstStyle/>
          <a:p>
            <a:r>
              <a:rPr kumimoji="1" lang="zh-CN" altLang="en-US"/>
              <a:t>线性变换的几何意义（续）</a:t>
            </a:r>
          </a:p>
        </p:txBody>
      </p:sp>
      <p:sp>
        <p:nvSpPr>
          <p:cNvPr id="103426" name="内容占位符 2">
            <a:extLst>
              <a:ext uri="{FF2B5EF4-FFF2-40B4-BE49-F238E27FC236}">
                <a16:creationId xmlns:a16="http://schemas.microsoft.com/office/drawing/2014/main" id="{C484AB69-D905-48A4-A5D3-FD99A1DCF3FD}"/>
              </a:ext>
            </a:extLst>
          </p:cNvPr>
          <p:cNvSpPr>
            <a:spLocks noGrp="1" noChangeArrowheads="1"/>
          </p:cNvSpPr>
          <p:nvPr>
            <p:ph idx="1"/>
          </p:nvPr>
        </p:nvSpPr>
        <p:spPr>
          <a:xfrm>
            <a:off x="587375" y="1600200"/>
            <a:ext cx="8170863" cy="4351338"/>
          </a:xfrm>
        </p:spPr>
        <p:txBody>
          <a:bodyPr/>
          <a:lstStyle/>
          <a:p>
            <a:r>
              <a:rPr lang="zh-CN" altLang="en-US"/>
              <a:t>把左边的平面旋转</a:t>
            </a:r>
            <a:r>
              <a:rPr lang="en-US" altLang="zh-CN"/>
              <a:t>45</a:t>
            </a:r>
            <a:r>
              <a:rPr lang="zh-CN" altLang="en-US"/>
              <a:t>度角，然后再进行矩阵 </a:t>
            </a:r>
            <a:r>
              <a:rPr lang="en-US" altLang="zh-CN" b="1"/>
              <a:t>M</a:t>
            </a:r>
            <a:r>
              <a:rPr lang="zh-CN" altLang="en-US"/>
              <a:t> 的线性变换</a:t>
            </a:r>
            <a:endParaRPr kumimoji="1" lang="zh-CN" altLang="en-US"/>
          </a:p>
        </p:txBody>
      </p:sp>
      <p:pic>
        <p:nvPicPr>
          <p:cNvPr id="103427" name="图片 3">
            <a:extLst>
              <a:ext uri="{FF2B5EF4-FFF2-40B4-BE49-F238E27FC236}">
                <a16:creationId xmlns:a16="http://schemas.microsoft.com/office/drawing/2014/main" id="{6424CAD0-CEDD-447A-A2D0-8D93F11B8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2684463"/>
            <a:ext cx="8775700" cy="417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a:extLst>
              <a:ext uri="{FF2B5EF4-FFF2-40B4-BE49-F238E27FC236}">
                <a16:creationId xmlns:a16="http://schemas.microsoft.com/office/drawing/2014/main" id="{031B059C-AD5E-495F-B061-F5FC4FAA64FD}"/>
              </a:ext>
            </a:extLst>
          </p:cNvPr>
          <p:cNvSpPr>
            <a:spLocks noGrp="1" noChangeArrowheads="1"/>
          </p:cNvSpPr>
          <p:nvPr>
            <p:ph type="title"/>
          </p:nvPr>
        </p:nvSpPr>
        <p:spPr/>
        <p:txBody>
          <a:bodyPr/>
          <a:lstStyle/>
          <a:p>
            <a:r>
              <a:rPr kumimoji="1" lang="zh-CN" altLang="en-US"/>
              <a:t>线性变换的几何意义（续）</a:t>
            </a:r>
          </a:p>
        </p:txBody>
      </p:sp>
      <p:sp>
        <p:nvSpPr>
          <p:cNvPr id="3" name="内容占位符 2">
            <a:extLst>
              <a:ext uri="{FF2B5EF4-FFF2-40B4-BE49-F238E27FC236}">
                <a16:creationId xmlns:a16="http://schemas.microsoft.com/office/drawing/2014/main" id="{278E5EFB-3217-4236-8829-AC9AA572A94D}"/>
              </a:ext>
            </a:extLst>
          </p:cNvPr>
          <p:cNvSpPr>
            <a:spLocks noGrp="1"/>
          </p:cNvSpPr>
          <p:nvPr>
            <p:ph idx="1"/>
          </p:nvPr>
        </p:nvSpPr>
        <p:spPr>
          <a:xfrm>
            <a:off x="628650" y="1825625"/>
            <a:ext cx="8515350" cy="4351338"/>
          </a:xfrm>
        </p:spPr>
        <p:txBody>
          <a:bodyPr/>
          <a:lstStyle/>
          <a:p>
            <a:r>
              <a:rPr lang="zh-CN" altLang="en-US"/>
              <a:t>用数学的语言描述，给定一个</a:t>
            </a:r>
            <a:r>
              <a:rPr lang="zh-CN" altLang="en-US">
                <a:solidFill>
                  <a:srgbClr val="FF0000"/>
                </a:solidFill>
              </a:rPr>
              <a:t>对称矩阵</a:t>
            </a:r>
            <a:r>
              <a:rPr lang="zh-CN" altLang="en-US"/>
              <a:t> </a:t>
            </a:r>
            <a:r>
              <a:rPr lang="en-US" altLang="zh-CN" b="1"/>
              <a:t>M</a:t>
            </a:r>
            <a:r>
              <a:rPr lang="zh-CN" altLang="en-US"/>
              <a:t> ，我们可以找到一些</a:t>
            </a:r>
            <a:r>
              <a:rPr lang="zh-CN" altLang="en-US">
                <a:solidFill>
                  <a:srgbClr val="FF0000"/>
                </a:solidFill>
              </a:rPr>
              <a:t>相互正交</a:t>
            </a:r>
            <a:r>
              <a:rPr lang="zh-CN" altLang="en-US"/>
              <a:t> </a:t>
            </a:r>
            <a:r>
              <a:rPr lang="en-US" altLang="zh-CN" b="1"/>
              <a:t>V</a:t>
            </a:r>
            <a:r>
              <a:rPr lang="en-US" altLang="zh-CN" b="1" baseline="-25000"/>
              <a:t>i</a:t>
            </a:r>
            <a:r>
              <a:rPr lang="zh-CN" altLang="en-US"/>
              <a:t> ，满足 </a:t>
            </a:r>
            <a:r>
              <a:rPr lang="en-US" altLang="zh-CN" b="1"/>
              <a:t>MV</a:t>
            </a:r>
            <a:r>
              <a:rPr lang="en-US" altLang="zh-CN" b="1" baseline="-25000"/>
              <a:t>i</a:t>
            </a:r>
            <a:r>
              <a:rPr lang="zh-CN" altLang="en-US"/>
              <a:t> 就是沿着 </a:t>
            </a:r>
            <a:r>
              <a:rPr lang="en-US" altLang="zh-CN" b="1"/>
              <a:t>V</a:t>
            </a:r>
            <a:r>
              <a:rPr lang="en-US" altLang="zh-CN" b="1" baseline="-25000"/>
              <a:t>i</a:t>
            </a:r>
            <a:r>
              <a:rPr lang="zh-CN" altLang="en-US"/>
              <a:t> 方向的拉伸变换。</a:t>
            </a:r>
            <a:endParaRPr lang="en-US" altLang="zh-CN"/>
          </a:p>
          <a:p>
            <a:pPr>
              <a:buFont typeface="Wingdings" panose="05000000000000000000" pitchFamily="2" charset="2"/>
              <a:buNone/>
            </a:pPr>
            <a:r>
              <a:rPr lang="zh-CN" altLang="en-US" i="1"/>
              <a:t>                            </a:t>
            </a:r>
            <a:r>
              <a:rPr lang="en-US" altLang="zh-CN" b="1"/>
              <a:t>MV</a:t>
            </a:r>
            <a:r>
              <a:rPr lang="en-US" altLang="zh-CN" b="1" baseline="-25000"/>
              <a:t>i</a:t>
            </a:r>
            <a:r>
              <a:rPr lang="zh-CN" altLang="en-US"/>
              <a:t> </a:t>
            </a:r>
            <a:r>
              <a:rPr lang="mr-IN" altLang="zh-CN"/>
              <a:t> = λ</a:t>
            </a:r>
            <a:r>
              <a:rPr lang="mr-IN" altLang="zh-CN" baseline="-25000"/>
              <a:t>i</a:t>
            </a:r>
            <a:r>
              <a:rPr lang="en-US" altLang="zh-CN" b="1"/>
              <a:t>V</a:t>
            </a:r>
            <a:r>
              <a:rPr lang="en-US" altLang="zh-CN" b="1" baseline="-25000"/>
              <a:t>i</a:t>
            </a:r>
          </a:p>
          <a:p>
            <a:pPr>
              <a:buFont typeface="Wingdings" panose="05000000000000000000" pitchFamily="2" charset="2"/>
              <a:buNone/>
            </a:pPr>
            <a:r>
              <a:rPr lang="zh-CN" altLang="en-US"/>
              <a:t>这里的 </a:t>
            </a:r>
            <a:r>
              <a:rPr lang="en-US" altLang="zh-CN"/>
              <a:t>λ</a:t>
            </a:r>
            <a:r>
              <a:rPr lang="en-US" altLang="zh-CN" baseline="-25000"/>
              <a:t>i</a:t>
            </a:r>
            <a:r>
              <a:rPr lang="zh-CN" altLang="en-US"/>
              <a:t> 是拉伸尺度</a:t>
            </a:r>
            <a:r>
              <a:rPr lang="en-US" altLang="zh-CN"/>
              <a:t>(scalar)</a:t>
            </a:r>
            <a:r>
              <a:rPr lang="zh-CN" altLang="en-US"/>
              <a:t>。</a:t>
            </a:r>
            <a:endParaRPr lang="en-US" altLang="zh-CN"/>
          </a:p>
          <a:p>
            <a:pPr>
              <a:buFont typeface="Arial" panose="020B0604020202020204" pitchFamily="34" charset="0"/>
              <a:buChar char="•"/>
            </a:pPr>
            <a:r>
              <a:rPr lang="zh-CN" altLang="en-US"/>
              <a:t> </a:t>
            </a:r>
            <a:r>
              <a:rPr lang="en-US" altLang="zh-CN" b="1"/>
              <a:t>V</a:t>
            </a:r>
            <a:r>
              <a:rPr lang="en-US" altLang="zh-CN" b="1" baseline="-25000"/>
              <a:t>i</a:t>
            </a:r>
            <a:r>
              <a:rPr lang="zh-CN" altLang="en-US"/>
              <a:t> 是矩阵 </a:t>
            </a:r>
            <a:r>
              <a:rPr lang="en-US" altLang="zh-CN" b="1"/>
              <a:t>M</a:t>
            </a:r>
            <a:r>
              <a:rPr lang="en-US" altLang="zh-CN"/>
              <a:t> </a:t>
            </a:r>
            <a:r>
              <a:rPr lang="zh-CN" altLang="en-US"/>
              <a:t>的特征向量</a:t>
            </a:r>
            <a:r>
              <a:rPr lang="en-US" altLang="zh-CN"/>
              <a:t>(eigenvector),</a:t>
            </a:r>
            <a:r>
              <a:rPr lang="zh-CN" altLang="en-US"/>
              <a:t> </a:t>
            </a:r>
            <a:r>
              <a:rPr lang="en-US" altLang="zh-CN"/>
              <a:t>λ</a:t>
            </a:r>
            <a:r>
              <a:rPr lang="en-US" altLang="zh-CN" baseline="-25000"/>
              <a:t>i</a:t>
            </a:r>
            <a:r>
              <a:rPr lang="zh-CN" altLang="en-US"/>
              <a:t> 为对应的矩阵 </a:t>
            </a:r>
            <a:r>
              <a:rPr lang="en-US" altLang="zh-CN" b="1"/>
              <a:t>M</a:t>
            </a:r>
            <a:r>
              <a:rPr lang="zh-CN" altLang="en-US"/>
              <a:t> 特征值</a:t>
            </a:r>
            <a:r>
              <a:rPr lang="en-US" altLang="zh-CN"/>
              <a:t>(eigenvalue)</a:t>
            </a:r>
            <a:r>
              <a:rPr lang="zh-CN" altLang="en-US"/>
              <a:t>。</a:t>
            </a:r>
            <a:endParaRPr kumimoji="1" lang="zh-CN" altLang="en-US"/>
          </a:p>
        </p:txBody>
      </p:sp>
      <p:sp>
        <p:nvSpPr>
          <p:cNvPr id="4" name="矩形 3">
            <a:extLst>
              <a:ext uri="{FF2B5EF4-FFF2-40B4-BE49-F238E27FC236}">
                <a16:creationId xmlns:a16="http://schemas.microsoft.com/office/drawing/2014/main" id="{7B9C7363-4520-4950-A944-C8A56D2C9381}"/>
              </a:ext>
            </a:extLst>
          </p:cNvPr>
          <p:cNvSpPr>
            <a:spLocks noChangeArrowheads="1"/>
          </p:cNvSpPr>
          <p:nvPr/>
        </p:nvSpPr>
        <p:spPr bwMode="auto">
          <a:xfrm>
            <a:off x="2819400" y="6405563"/>
            <a:ext cx="6289675" cy="4000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a:solidFill>
                  <a:srgbClr val="333333"/>
                </a:solidFill>
                <a:latin typeface="Tahoma" panose="020B0604030504040204" pitchFamily="34" charset="0"/>
                <a:ea typeface="宋体" panose="02010600030101010101" pitchFamily="2" charset="-122"/>
              </a:rPr>
              <a:t>实对称矩阵的不同特征值对应的特征向量是相互正交的</a:t>
            </a:r>
            <a:endParaRPr lang="zh-CN" altLang="en-US" sz="2000">
              <a:solidFill>
                <a:schemeClr va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a:extLst>
              <a:ext uri="{FF2B5EF4-FFF2-40B4-BE49-F238E27FC236}">
                <a16:creationId xmlns:a16="http://schemas.microsoft.com/office/drawing/2014/main" id="{0E022F62-C0E2-4389-BB2F-D72961146FC0}"/>
              </a:ext>
            </a:extLst>
          </p:cNvPr>
          <p:cNvSpPr>
            <a:spLocks noGrp="1" noChangeArrowheads="1"/>
          </p:cNvSpPr>
          <p:nvPr>
            <p:ph type="title"/>
          </p:nvPr>
        </p:nvSpPr>
        <p:spPr/>
        <p:txBody>
          <a:bodyPr/>
          <a:lstStyle/>
          <a:p>
            <a:r>
              <a:rPr kumimoji="1" lang="zh-CN" altLang="en-US"/>
              <a:t>线性变换的几何意义（续）</a:t>
            </a:r>
          </a:p>
        </p:txBody>
      </p:sp>
      <p:sp>
        <p:nvSpPr>
          <p:cNvPr id="106498" name="内容占位符 2">
            <a:extLst>
              <a:ext uri="{FF2B5EF4-FFF2-40B4-BE49-F238E27FC236}">
                <a16:creationId xmlns:a16="http://schemas.microsoft.com/office/drawing/2014/main" id="{A94BD5F0-ACC4-4625-9CA3-D3E13579E0EF}"/>
              </a:ext>
            </a:extLst>
          </p:cNvPr>
          <p:cNvSpPr>
            <a:spLocks noGrp="1" noChangeArrowheads="1"/>
          </p:cNvSpPr>
          <p:nvPr>
            <p:ph idx="1"/>
          </p:nvPr>
        </p:nvSpPr>
        <p:spPr/>
        <p:txBody>
          <a:bodyPr/>
          <a:lstStyle/>
          <a:p>
            <a:r>
              <a:rPr kumimoji="1" lang="zh-CN" altLang="en-US"/>
              <a:t>对于更一般的矩阵，</a:t>
            </a:r>
            <a:r>
              <a:rPr lang="zh-CN" altLang="en-US"/>
              <a:t>该怎么做才能让一个相互垂直的网格平面</a:t>
            </a:r>
            <a:r>
              <a:rPr lang="en-US" altLang="zh-CN"/>
              <a:t>, </a:t>
            </a:r>
            <a:r>
              <a:rPr lang="zh-CN" altLang="en-US"/>
              <a:t>线性变换成另外一个同样相互垂直的网格平面呢？</a:t>
            </a:r>
            <a:endParaRPr kumimoji="1" lang="zh-CN" altLang="en-US"/>
          </a:p>
        </p:txBody>
      </p:sp>
      <p:pic>
        <p:nvPicPr>
          <p:cNvPr id="1026" name="Picture 2" descr="http://www.ams.org/featurecolumn/images/august2009/img.3.gif">
            <a:extLst>
              <a:ext uri="{FF2B5EF4-FFF2-40B4-BE49-F238E27FC236}">
                <a16:creationId xmlns:a16="http://schemas.microsoft.com/office/drawing/2014/main" id="{543E2DE3-96B2-4013-BD7E-D8B2D466F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6313" y="3214688"/>
            <a:ext cx="16017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http://image.sciencenet.cn/album/201306/14/140752ev33siviii5io3g1.jpg">
            <a:extLst>
              <a:ext uri="{FF2B5EF4-FFF2-40B4-BE49-F238E27FC236}">
                <a16:creationId xmlns:a16="http://schemas.microsoft.com/office/drawing/2014/main" id="{9110E93A-C721-4DAF-BD42-8235E1037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113" y="4124325"/>
            <a:ext cx="547687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anim calcmode="lin" valueType="num">
                                      <p:cBhvr additive="base">
                                        <p:cTn id="11" dur="500" fill="hold"/>
                                        <p:tgtEl>
                                          <p:spTgt spid="1028"/>
                                        </p:tgtEl>
                                        <p:attrNameLst>
                                          <p:attrName>ppt_x</p:attrName>
                                        </p:attrNameLst>
                                      </p:cBhvr>
                                      <p:tavLst>
                                        <p:tav tm="0">
                                          <p:val>
                                            <p:strVal val="#ppt_x"/>
                                          </p:val>
                                        </p:tav>
                                        <p:tav tm="100000">
                                          <p:val>
                                            <p:strVal val="#ppt_x"/>
                                          </p:val>
                                        </p:tav>
                                      </p:tavLst>
                                    </p:anim>
                                    <p:anim calcmode="lin" valueType="num">
                                      <p:cBhvr additive="base">
                                        <p:cTn id="12"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3B9A8840-71C1-4DD3-8092-CF598F8C702B}"/>
              </a:ext>
            </a:extLst>
          </p:cNvPr>
          <p:cNvSpPr>
            <a:spLocks noGrp="1" noChangeArrowheads="1"/>
          </p:cNvSpPr>
          <p:nvPr>
            <p:ph type="title"/>
          </p:nvPr>
        </p:nvSpPr>
        <p:spPr/>
        <p:txBody>
          <a:bodyPr/>
          <a:lstStyle/>
          <a:p>
            <a:r>
              <a:rPr kumimoji="1" lang="zh-CN" altLang="en-US"/>
              <a:t>线性变换的几何意义（续）</a:t>
            </a:r>
          </a:p>
        </p:txBody>
      </p:sp>
      <p:sp>
        <p:nvSpPr>
          <p:cNvPr id="107522" name="内容占位符 2">
            <a:extLst>
              <a:ext uri="{FF2B5EF4-FFF2-40B4-BE49-F238E27FC236}">
                <a16:creationId xmlns:a16="http://schemas.microsoft.com/office/drawing/2014/main" id="{9EDA92BE-93DF-4F8D-A263-1F3F6185E33B}"/>
              </a:ext>
            </a:extLst>
          </p:cNvPr>
          <p:cNvSpPr>
            <a:spLocks noGrp="1" noChangeArrowheads="1"/>
          </p:cNvSpPr>
          <p:nvPr>
            <p:ph idx="1"/>
          </p:nvPr>
        </p:nvSpPr>
        <p:spPr/>
        <p:txBody>
          <a:bodyPr/>
          <a:lstStyle/>
          <a:p>
            <a:r>
              <a:rPr lang="zh-CN" altLang="en-US"/>
              <a:t>网格平面旋转 </a:t>
            </a:r>
            <a:r>
              <a:rPr lang="en-US" altLang="zh-CN"/>
              <a:t>30 </a:t>
            </a:r>
            <a:r>
              <a:rPr lang="zh-CN" altLang="en-US"/>
              <a:t>度角</a:t>
            </a:r>
            <a:endParaRPr kumimoji="1" lang="zh-CN" altLang="en-US"/>
          </a:p>
        </p:txBody>
      </p:sp>
      <p:pic>
        <p:nvPicPr>
          <p:cNvPr id="107523" name="Picture 4" descr="http://image.sciencenet.cn/album/201306/14/140913bvag3zm2be4zfgae.jpg">
            <a:extLst>
              <a:ext uri="{FF2B5EF4-FFF2-40B4-BE49-F238E27FC236}">
                <a16:creationId xmlns:a16="http://schemas.microsoft.com/office/drawing/2014/main" id="{799ECC8F-E640-4EA1-8222-550EF7FF2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438" y="2686050"/>
            <a:ext cx="6372225"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a:extLst>
              <a:ext uri="{FF2B5EF4-FFF2-40B4-BE49-F238E27FC236}">
                <a16:creationId xmlns:a16="http://schemas.microsoft.com/office/drawing/2014/main" id="{58AD4A08-A7D9-43B1-9205-339A5D8DD52E}"/>
              </a:ext>
            </a:extLst>
          </p:cNvPr>
          <p:cNvSpPr>
            <a:spLocks noGrp="1" noChangeArrowheads="1"/>
          </p:cNvSpPr>
          <p:nvPr>
            <p:ph type="title"/>
          </p:nvPr>
        </p:nvSpPr>
        <p:spPr/>
        <p:txBody>
          <a:bodyPr/>
          <a:lstStyle/>
          <a:p>
            <a:r>
              <a:rPr kumimoji="1" lang="zh-CN" altLang="en-US"/>
              <a:t>线性变换的几何意义（续）</a:t>
            </a:r>
          </a:p>
        </p:txBody>
      </p:sp>
      <p:sp>
        <p:nvSpPr>
          <p:cNvPr id="108546" name="内容占位符 2">
            <a:extLst>
              <a:ext uri="{FF2B5EF4-FFF2-40B4-BE49-F238E27FC236}">
                <a16:creationId xmlns:a16="http://schemas.microsoft.com/office/drawing/2014/main" id="{24D83F81-E41C-4C18-B43E-D0FB1A09BBE7}"/>
              </a:ext>
            </a:extLst>
          </p:cNvPr>
          <p:cNvSpPr>
            <a:spLocks noGrp="1" noChangeArrowheads="1"/>
          </p:cNvSpPr>
          <p:nvPr>
            <p:ph idx="1"/>
          </p:nvPr>
        </p:nvSpPr>
        <p:spPr/>
        <p:txBody>
          <a:bodyPr/>
          <a:lstStyle/>
          <a:p>
            <a:r>
              <a:rPr lang="zh-CN" altLang="en-US"/>
              <a:t>网格平面旋转</a:t>
            </a:r>
            <a:r>
              <a:rPr lang="en-US" altLang="zh-CN"/>
              <a:t>60</a:t>
            </a:r>
            <a:r>
              <a:rPr lang="zh-CN" altLang="en-US"/>
              <a:t>度角</a:t>
            </a:r>
            <a:endParaRPr kumimoji="1" lang="zh-CN" altLang="en-US"/>
          </a:p>
        </p:txBody>
      </p:sp>
      <p:pic>
        <p:nvPicPr>
          <p:cNvPr id="108547" name="Picture 2" descr="http://image.sciencenet.cn/album/201306/14/140927koiov7izxeilioa7.jpg">
            <a:extLst>
              <a:ext uri="{FF2B5EF4-FFF2-40B4-BE49-F238E27FC236}">
                <a16:creationId xmlns:a16="http://schemas.microsoft.com/office/drawing/2014/main" id="{8A60791B-915D-4D40-88C8-6BB2A13F62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763" y="2600325"/>
            <a:ext cx="64865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a:extLst>
              <a:ext uri="{FF2B5EF4-FFF2-40B4-BE49-F238E27FC236}">
                <a16:creationId xmlns:a16="http://schemas.microsoft.com/office/drawing/2014/main" id="{422214CA-7753-4500-A5D0-AADA29134381}"/>
              </a:ext>
            </a:extLst>
          </p:cNvPr>
          <p:cNvSpPr>
            <a:spLocks noGrp="1" noChangeArrowheads="1"/>
          </p:cNvSpPr>
          <p:nvPr>
            <p:ph type="title"/>
          </p:nvPr>
        </p:nvSpPr>
        <p:spPr/>
        <p:txBody>
          <a:bodyPr/>
          <a:lstStyle/>
          <a:p>
            <a:r>
              <a:rPr kumimoji="1" lang="zh-CN" altLang="en-US"/>
              <a:t>线性变换的几何意义（续）</a:t>
            </a:r>
          </a:p>
        </p:txBody>
      </p:sp>
      <p:sp>
        <p:nvSpPr>
          <p:cNvPr id="109570" name="内容占位符 2">
            <a:extLst>
              <a:ext uri="{FF2B5EF4-FFF2-40B4-BE49-F238E27FC236}">
                <a16:creationId xmlns:a16="http://schemas.microsoft.com/office/drawing/2014/main" id="{6FF467AE-D08F-470A-A0DC-0E2DDADEB0E6}"/>
              </a:ext>
            </a:extLst>
          </p:cNvPr>
          <p:cNvSpPr>
            <a:spLocks noGrp="1" noChangeArrowheads="1"/>
          </p:cNvSpPr>
          <p:nvPr>
            <p:ph idx="1"/>
          </p:nvPr>
        </p:nvSpPr>
        <p:spPr/>
        <p:txBody>
          <a:bodyPr/>
          <a:lstStyle/>
          <a:p>
            <a:r>
              <a:rPr lang="zh-CN" altLang="en-US"/>
              <a:t>网格平面旋转 </a:t>
            </a:r>
            <a:r>
              <a:rPr lang="en-US" altLang="zh-CN"/>
              <a:t>58.28 </a:t>
            </a:r>
            <a:r>
              <a:rPr lang="zh-CN" altLang="en-US"/>
              <a:t>度达到理想的效果</a:t>
            </a:r>
            <a:endParaRPr kumimoji="1" lang="zh-CN" altLang="en-US"/>
          </a:p>
        </p:txBody>
      </p:sp>
      <p:pic>
        <p:nvPicPr>
          <p:cNvPr id="109571" name="Picture 2" descr="http://image.sciencenet.cn/album/201306/14/14094165i7dfrmr79f3zzd.jpg">
            <a:extLst>
              <a:ext uri="{FF2B5EF4-FFF2-40B4-BE49-F238E27FC236}">
                <a16:creationId xmlns:a16="http://schemas.microsoft.com/office/drawing/2014/main" id="{23816191-C820-497E-A227-23367D4768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525" y="2697163"/>
            <a:ext cx="6492875"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DF5979F-6922-45FE-BC30-FA40CDC704F3}"/>
              </a:ext>
            </a:extLst>
          </p:cNvPr>
          <p:cNvSpPr/>
          <p:nvPr/>
        </p:nvSpPr>
        <p:spPr>
          <a:xfrm>
            <a:off x="138113" y="5676900"/>
            <a:ext cx="8867775"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solidFill>
                  <a:schemeClr val="tx1"/>
                </a:solidFill>
                <a:ea typeface="黑体" panose="02010609060101010101" pitchFamily="49" charset="-122"/>
              </a:rPr>
              <a:t>2 x 2 </a:t>
            </a:r>
            <a:r>
              <a:rPr lang="zh-CN" altLang="en-US" sz="2400">
                <a:solidFill>
                  <a:schemeClr val="tx1"/>
                </a:solidFill>
                <a:ea typeface="黑体" panose="02010609060101010101" pitchFamily="49" charset="-122"/>
              </a:rPr>
              <a:t>矩阵的奇异值分解的几何意义</a:t>
            </a:r>
            <a:r>
              <a:rPr lang="en-US" altLang="zh-CN" sz="2400">
                <a:solidFill>
                  <a:schemeClr val="tx1"/>
                </a:solidFill>
                <a:ea typeface="黑体" panose="02010609060101010101" pitchFamily="49" charset="-122"/>
              </a:rPr>
              <a:t>:</a:t>
            </a:r>
            <a:r>
              <a:rPr lang="zh-CN" altLang="en-US" sz="2400">
                <a:solidFill>
                  <a:schemeClr val="tx1"/>
                </a:solidFill>
                <a:ea typeface="黑体" panose="02010609060101010101" pitchFamily="49" charset="-122"/>
              </a:rPr>
              <a:t> 对于任意的 </a:t>
            </a:r>
            <a:r>
              <a:rPr lang="en-US" altLang="zh-CN" sz="2400">
                <a:solidFill>
                  <a:schemeClr val="tx1"/>
                </a:solidFill>
                <a:ea typeface="黑体" panose="02010609060101010101" pitchFamily="49" charset="-122"/>
              </a:rPr>
              <a:t>2 x 2 </a:t>
            </a:r>
            <a:r>
              <a:rPr lang="zh-CN" altLang="en-US" sz="2400">
                <a:solidFill>
                  <a:schemeClr val="tx1"/>
                </a:solidFill>
                <a:ea typeface="黑体" panose="02010609060101010101" pitchFamily="49" charset="-122"/>
              </a:rPr>
              <a:t>矩阵，我们可以找到一个相互垂直的网格变换到另外一个相互垂直的网格。</a:t>
            </a:r>
            <a:endParaRPr kumimoji="1" lang="zh-CN" altLang="en-US" sz="2400">
              <a:solidFill>
                <a:schemeClr val="tx1"/>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a:extLst>
              <a:ext uri="{FF2B5EF4-FFF2-40B4-BE49-F238E27FC236}">
                <a16:creationId xmlns:a16="http://schemas.microsoft.com/office/drawing/2014/main" id="{B55644B6-9019-4455-8457-C72E87D2F734}"/>
              </a:ext>
            </a:extLst>
          </p:cNvPr>
          <p:cNvSpPr>
            <a:spLocks noGrp="1" noChangeArrowheads="1"/>
          </p:cNvSpPr>
          <p:nvPr>
            <p:ph type="title"/>
          </p:nvPr>
        </p:nvSpPr>
        <p:spPr/>
        <p:txBody>
          <a:bodyPr/>
          <a:lstStyle/>
          <a:p>
            <a:r>
              <a:rPr kumimoji="1" lang="zh-CN" altLang="en-US"/>
              <a:t>奇异值分解</a:t>
            </a:r>
          </a:p>
        </p:txBody>
      </p:sp>
      <p:sp>
        <p:nvSpPr>
          <p:cNvPr id="111618" name="内容占位符 2">
            <a:extLst>
              <a:ext uri="{FF2B5EF4-FFF2-40B4-BE49-F238E27FC236}">
                <a16:creationId xmlns:a16="http://schemas.microsoft.com/office/drawing/2014/main" id="{365AC29B-C533-4ACB-B26A-CD6DBB5896E4}"/>
              </a:ext>
            </a:extLst>
          </p:cNvPr>
          <p:cNvSpPr>
            <a:spLocks noGrp="1" noChangeArrowheads="1"/>
          </p:cNvSpPr>
          <p:nvPr>
            <p:ph idx="1"/>
          </p:nvPr>
        </p:nvSpPr>
        <p:spPr>
          <a:xfrm>
            <a:off x="420688" y="1397000"/>
            <a:ext cx="8723312" cy="4530725"/>
          </a:xfrm>
        </p:spPr>
        <p:txBody>
          <a:bodyPr/>
          <a:lstStyle/>
          <a:p>
            <a:r>
              <a:rPr lang="zh-CN" altLang="en-US"/>
              <a:t>通过向量的方式来描述这个事实</a:t>
            </a:r>
            <a:r>
              <a:rPr lang="en-US" altLang="zh-CN"/>
              <a:t>:</a:t>
            </a:r>
            <a:r>
              <a:rPr lang="zh-CN" altLang="en-US"/>
              <a:t>对矩阵</a:t>
            </a:r>
            <a:r>
              <a:rPr lang="en-US" altLang="zh-CN" i="1"/>
              <a:t>M</a:t>
            </a:r>
            <a:r>
              <a:rPr lang="zh-CN" altLang="en-US" i="1"/>
              <a:t>， </a:t>
            </a:r>
            <a:r>
              <a:rPr lang="zh-CN" altLang="en-US"/>
              <a:t>选择合适的两个相互正交的单位向量 </a:t>
            </a:r>
            <a:r>
              <a:rPr lang="en-US" altLang="zh-CN" b="1"/>
              <a:t>v</a:t>
            </a:r>
            <a:r>
              <a:rPr lang="en-US" altLang="zh-CN" b="1" baseline="-25000"/>
              <a:t>1 </a:t>
            </a:r>
            <a:r>
              <a:rPr lang="zh-CN" altLang="en-US"/>
              <a:t>和 </a:t>
            </a:r>
            <a:r>
              <a:rPr lang="en-US" altLang="zh-CN" b="1"/>
              <a:t>v</a:t>
            </a:r>
            <a:r>
              <a:rPr lang="en-US" altLang="zh-CN" b="1" baseline="-25000"/>
              <a:t>2</a:t>
            </a:r>
            <a:r>
              <a:rPr lang="en-US" altLang="zh-CN"/>
              <a:t>,</a:t>
            </a:r>
            <a:r>
              <a:rPr lang="zh-CN" altLang="en-US"/>
              <a:t> </a:t>
            </a:r>
            <a:r>
              <a:rPr lang="zh-CN" altLang="en-US">
                <a:solidFill>
                  <a:srgbClr val="FF0000"/>
                </a:solidFill>
              </a:rPr>
              <a:t>可以</a:t>
            </a:r>
            <a:r>
              <a:rPr lang="zh-CN" altLang="en-US"/>
              <a:t>使得向量</a:t>
            </a:r>
            <a:r>
              <a:rPr lang="en-US" altLang="zh-CN" i="1"/>
              <a:t>M</a:t>
            </a:r>
            <a:r>
              <a:rPr lang="en-US" altLang="zh-CN" b="1"/>
              <a:t>v</a:t>
            </a:r>
            <a:r>
              <a:rPr lang="en-US" altLang="zh-CN" b="1" baseline="-25000"/>
              <a:t>1</a:t>
            </a:r>
            <a:r>
              <a:rPr lang="zh-CN" altLang="en-US"/>
              <a:t> 和 </a:t>
            </a:r>
            <a:r>
              <a:rPr lang="en-US" altLang="zh-CN" i="1"/>
              <a:t>M</a:t>
            </a:r>
            <a:r>
              <a:rPr lang="en-US" altLang="zh-CN" b="1"/>
              <a:t>v</a:t>
            </a:r>
            <a:r>
              <a:rPr lang="en-US" altLang="zh-CN" b="1" baseline="-25000"/>
              <a:t>2</a:t>
            </a:r>
            <a:r>
              <a:rPr lang="zh-CN" altLang="en-US"/>
              <a:t> 正交。</a:t>
            </a:r>
            <a:endParaRPr kumimoji="1" lang="zh-CN" altLang="en-US"/>
          </a:p>
        </p:txBody>
      </p:sp>
      <p:pic>
        <p:nvPicPr>
          <p:cNvPr id="111619" name="Picture 2" descr="http://image.sciencenet.cn/album/201306/14/160736fh0w66wp0lnh16a6.jpg">
            <a:extLst>
              <a:ext uri="{FF2B5EF4-FFF2-40B4-BE49-F238E27FC236}">
                <a16:creationId xmlns:a16="http://schemas.microsoft.com/office/drawing/2014/main" id="{E75C0D42-58F7-429E-AD73-BAD80CEFD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079750"/>
            <a:ext cx="7364413"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a:extLst>
              <a:ext uri="{FF2B5EF4-FFF2-40B4-BE49-F238E27FC236}">
                <a16:creationId xmlns:a16="http://schemas.microsoft.com/office/drawing/2014/main" id="{B3816B3A-54EF-4750-AC32-C8F14EE65400}"/>
              </a:ext>
            </a:extLst>
          </p:cNvPr>
          <p:cNvSpPr>
            <a:spLocks noGrp="1" noChangeArrowheads="1"/>
          </p:cNvSpPr>
          <p:nvPr>
            <p:ph type="title"/>
          </p:nvPr>
        </p:nvSpPr>
        <p:spPr/>
        <p:txBody>
          <a:bodyPr/>
          <a:lstStyle/>
          <a:p>
            <a:r>
              <a:rPr kumimoji="1" lang="zh-CN" altLang="en-US"/>
              <a:t>奇异值分解（续）</a:t>
            </a:r>
          </a:p>
        </p:txBody>
      </p:sp>
      <p:sp>
        <p:nvSpPr>
          <p:cNvPr id="3" name="内容占位符 2">
            <a:extLst>
              <a:ext uri="{FF2B5EF4-FFF2-40B4-BE49-F238E27FC236}">
                <a16:creationId xmlns:a16="http://schemas.microsoft.com/office/drawing/2014/main" id="{884DE27A-2DDD-44F6-BFC7-80BD42967374}"/>
              </a:ext>
            </a:extLst>
          </p:cNvPr>
          <p:cNvSpPr>
            <a:spLocks noGrp="1" noChangeArrowheads="1"/>
          </p:cNvSpPr>
          <p:nvPr>
            <p:ph idx="1"/>
          </p:nvPr>
        </p:nvSpPr>
        <p:spPr>
          <a:xfrm>
            <a:off x="3178175" y="4037013"/>
            <a:ext cx="5337175" cy="2139950"/>
          </a:xfrm>
        </p:spPr>
        <p:txBody>
          <a:bodyPr/>
          <a:lstStyle/>
          <a:p>
            <a:r>
              <a:rPr lang="en-US" altLang="zh-CN"/>
              <a:t>σ</a:t>
            </a:r>
            <a:r>
              <a:rPr lang="en-US" altLang="zh-CN" baseline="-25000"/>
              <a:t>1</a:t>
            </a:r>
            <a:r>
              <a:rPr lang="zh-CN" altLang="en-US"/>
              <a:t> 和 </a:t>
            </a:r>
            <a:r>
              <a:rPr lang="en-US" altLang="zh-CN"/>
              <a:t>σ</a:t>
            </a:r>
            <a:r>
              <a:rPr lang="en-US" altLang="zh-CN" baseline="-25000"/>
              <a:t>2</a:t>
            </a:r>
            <a:r>
              <a:rPr lang="zh-CN" altLang="en-US"/>
              <a:t>分别表示这不同方向向量上的模，也称作为矩阵 </a:t>
            </a:r>
            <a:r>
              <a:rPr lang="en-US" altLang="zh-CN" i="1"/>
              <a:t>M</a:t>
            </a:r>
            <a:r>
              <a:rPr lang="zh-CN" altLang="en-US"/>
              <a:t> 的奇异值。</a:t>
            </a:r>
            <a:endParaRPr kumimoji="1" lang="zh-CN" altLang="en-US"/>
          </a:p>
        </p:txBody>
      </p:sp>
      <p:pic>
        <p:nvPicPr>
          <p:cNvPr id="4" name="图片 3">
            <a:extLst>
              <a:ext uri="{FF2B5EF4-FFF2-40B4-BE49-F238E27FC236}">
                <a16:creationId xmlns:a16="http://schemas.microsoft.com/office/drawing/2014/main" id="{6DC5E1E2-46B7-432D-8DA5-C7CB2CB18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900" y="1825625"/>
            <a:ext cx="2506663" cy="250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8" name="Picture 2" descr="http://image.sciencenet.cn/album/201306/14/160758t0l80hh2si1igz8t.jpg">
            <a:extLst>
              <a:ext uri="{FF2B5EF4-FFF2-40B4-BE49-F238E27FC236}">
                <a16:creationId xmlns:a16="http://schemas.microsoft.com/office/drawing/2014/main" id="{02024E57-A623-453B-830B-FAEDD16CC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88" y="4267200"/>
            <a:ext cx="25812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AE747BEA-13E0-415C-B4C6-7DC8396542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7463" y="2478088"/>
            <a:ext cx="17526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698"/>
                                        </p:tgtEl>
                                        <p:attrNameLst>
                                          <p:attrName>style.visibility</p:attrName>
                                        </p:attrNameLst>
                                      </p:cBhvr>
                                      <p:to>
                                        <p:strVal val="visible"/>
                                      </p:to>
                                    </p:set>
                                    <p:anim calcmode="lin" valueType="num">
                                      <p:cBhvr additive="base">
                                        <p:cTn id="13" dur="500" fill="hold"/>
                                        <p:tgtEl>
                                          <p:spTgt spid="29698"/>
                                        </p:tgtEl>
                                        <p:attrNameLst>
                                          <p:attrName>ppt_x</p:attrName>
                                        </p:attrNameLst>
                                      </p:cBhvr>
                                      <p:tavLst>
                                        <p:tav tm="0">
                                          <p:val>
                                            <p:strVal val="#ppt_x"/>
                                          </p:val>
                                        </p:tav>
                                        <p:tav tm="100000">
                                          <p:val>
                                            <p:strVal val="#ppt_x"/>
                                          </p:val>
                                        </p:tav>
                                      </p:tavLst>
                                    </p:anim>
                                    <p:anim calcmode="lin" valueType="num">
                                      <p:cBhvr additive="base">
                                        <p:cTn id="14"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a:extLst>
              <a:ext uri="{FF2B5EF4-FFF2-40B4-BE49-F238E27FC236}">
                <a16:creationId xmlns:a16="http://schemas.microsoft.com/office/drawing/2014/main" id="{A5E73490-CF1B-473F-B9B3-CCD3A27D1EDC}"/>
              </a:ext>
            </a:extLst>
          </p:cNvPr>
          <p:cNvSpPr>
            <a:spLocks noGrp="1" noChangeArrowheads="1"/>
          </p:cNvSpPr>
          <p:nvPr>
            <p:ph type="title"/>
          </p:nvPr>
        </p:nvSpPr>
        <p:spPr/>
        <p:txBody>
          <a:bodyPr/>
          <a:lstStyle/>
          <a:p>
            <a:r>
              <a:rPr kumimoji="1" lang="zh-CN" altLang="en-US"/>
              <a:t>奇异值分解（续）</a:t>
            </a:r>
          </a:p>
        </p:txBody>
      </p:sp>
      <p:sp>
        <p:nvSpPr>
          <p:cNvPr id="3" name="内容占位符 2">
            <a:extLst>
              <a:ext uri="{FF2B5EF4-FFF2-40B4-BE49-F238E27FC236}">
                <a16:creationId xmlns:a16="http://schemas.microsoft.com/office/drawing/2014/main" id="{7D539908-751C-4AAE-8424-F217E5111EE3}"/>
              </a:ext>
            </a:extLst>
          </p:cNvPr>
          <p:cNvSpPr>
            <a:spLocks noGrp="1" noChangeArrowheads="1"/>
          </p:cNvSpPr>
          <p:nvPr>
            <p:ph idx="1"/>
          </p:nvPr>
        </p:nvSpPr>
        <p:spPr>
          <a:xfrm>
            <a:off x="3475038" y="1825625"/>
            <a:ext cx="5289550" cy="4351338"/>
          </a:xfrm>
        </p:spPr>
        <p:txBody>
          <a:bodyPr/>
          <a:lstStyle/>
          <a:p>
            <a:r>
              <a:rPr lang="zh-CN" altLang="en-US"/>
              <a:t>由于向量</a:t>
            </a:r>
            <a:r>
              <a:rPr lang="en-US" altLang="zh-CN" b="1"/>
              <a:t>v</a:t>
            </a:r>
            <a:r>
              <a:rPr lang="en-US" altLang="zh-CN" b="1" baseline="-25000"/>
              <a:t>1</a:t>
            </a:r>
            <a:r>
              <a:rPr lang="zh-CN" altLang="en-US"/>
              <a:t> 和 </a:t>
            </a:r>
            <a:r>
              <a:rPr lang="en-US" altLang="zh-CN" b="1"/>
              <a:t>v</a:t>
            </a:r>
            <a:r>
              <a:rPr lang="en-US" altLang="zh-CN" b="1" baseline="-25000"/>
              <a:t>2</a:t>
            </a:r>
            <a:r>
              <a:rPr lang="zh-CN" altLang="en-US"/>
              <a:t>是正交的单位向量，我们可以得到</a:t>
            </a:r>
            <a:endParaRPr kumimoji="1" lang="zh-CN" altLang="en-US"/>
          </a:p>
        </p:txBody>
      </p:sp>
      <p:pic>
        <p:nvPicPr>
          <p:cNvPr id="113667" name="图片 3">
            <a:extLst>
              <a:ext uri="{FF2B5EF4-FFF2-40B4-BE49-F238E27FC236}">
                <a16:creationId xmlns:a16="http://schemas.microsoft.com/office/drawing/2014/main" id="{D529FD50-7493-4E1A-B29B-097FC861FD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1920875"/>
            <a:ext cx="3387725"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866BC247-ECCA-451B-A41F-878783279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5727700"/>
            <a:ext cx="6616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CFB7350D-50C9-4B45-9CD2-9B5F8A30E202}"/>
              </a:ext>
            </a:extLst>
          </p:cNvPr>
          <p:cNvSpPr txBox="1">
            <a:spLocks noChangeArrowheads="1"/>
          </p:cNvSpPr>
          <p:nvPr/>
        </p:nvSpPr>
        <p:spPr bwMode="auto">
          <a:xfrm>
            <a:off x="2308225" y="5326063"/>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zh-CN" altLang="en-US" sz="2000">
                <a:solidFill>
                  <a:schemeClr val="hlink"/>
                </a:solidFill>
                <a:ea typeface="宋体" panose="02010600030101010101" pitchFamily="2" charset="-122"/>
              </a:rPr>
              <a:t>例如</a:t>
            </a:r>
          </a:p>
        </p:txBody>
      </p:sp>
      <p:pic>
        <p:nvPicPr>
          <p:cNvPr id="14" name="图片 13">
            <a:extLst>
              <a:ext uri="{FF2B5EF4-FFF2-40B4-BE49-F238E27FC236}">
                <a16:creationId xmlns:a16="http://schemas.microsoft.com/office/drawing/2014/main" id="{9B7C5322-1FBE-4662-86AA-2FC87B98C7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3563" y="2971800"/>
            <a:ext cx="349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a:extLst>
              <a:ext uri="{FF2B5EF4-FFF2-40B4-BE49-F238E27FC236}">
                <a16:creationId xmlns:a16="http://schemas.microsoft.com/office/drawing/2014/main" id="{D2850608-B2F7-4296-9444-F989E2B46454}"/>
              </a:ext>
            </a:extLst>
          </p:cNvPr>
          <p:cNvSpPr>
            <a:spLocks noGrp="1" noChangeArrowheads="1"/>
          </p:cNvSpPr>
          <p:nvPr>
            <p:ph type="title"/>
          </p:nvPr>
        </p:nvSpPr>
        <p:spPr/>
        <p:txBody>
          <a:bodyPr/>
          <a:lstStyle/>
          <a:p>
            <a:r>
              <a:rPr kumimoji="1" lang="zh-CN" altLang="en-US"/>
              <a:t>奇异值分解（续）</a:t>
            </a:r>
          </a:p>
        </p:txBody>
      </p:sp>
      <p:sp>
        <p:nvSpPr>
          <p:cNvPr id="115714" name="内容占位符 2">
            <a:extLst>
              <a:ext uri="{FF2B5EF4-FFF2-40B4-BE49-F238E27FC236}">
                <a16:creationId xmlns:a16="http://schemas.microsoft.com/office/drawing/2014/main" id="{C93F22F9-DFE4-487E-8311-CB8B7947914A}"/>
              </a:ext>
            </a:extLst>
          </p:cNvPr>
          <p:cNvSpPr>
            <a:spLocks noGrp="1" noChangeArrowheads="1"/>
          </p:cNvSpPr>
          <p:nvPr>
            <p:ph idx="1"/>
          </p:nvPr>
        </p:nvSpPr>
        <p:spPr>
          <a:xfrm>
            <a:off x="3475038" y="1825625"/>
            <a:ext cx="5289550" cy="4351338"/>
          </a:xfrm>
        </p:spPr>
        <p:txBody>
          <a:bodyPr/>
          <a:lstStyle/>
          <a:p>
            <a:r>
              <a:rPr lang="zh-CN" altLang="en-US"/>
              <a:t>由于向量</a:t>
            </a:r>
            <a:r>
              <a:rPr lang="en-US" altLang="zh-CN" b="1"/>
              <a:t>v</a:t>
            </a:r>
            <a:r>
              <a:rPr lang="en-US" altLang="zh-CN" b="1" baseline="-25000"/>
              <a:t>1</a:t>
            </a:r>
            <a:r>
              <a:rPr lang="zh-CN" altLang="en-US"/>
              <a:t> 和 </a:t>
            </a:r>
            <a:r>
              <a:rPr lang="en-US" altLang="zh-CN" b="1"/>
              <a:t>v</a:t>
            </a:r>
            <a:r>
              <a:rPr lang="en-US" altLang="zh-CN" b="1" baseline="-25000"/>
              <a:t>2</a:t>
            </a:r>
            <a:r>
              <a:rPr lang="zh-CN" altLang="en-US"/>
              <a:t>是正交的单位向量，我们可以得到</a:t>
            </a:r>
            <a:endParaRPr kumimoji="1" lang="zh-CN" altLang="en-US"/>
          </a:p>
        </p:txBody>
      </p:sp>
      <p:pic>
        <p:nvPicPr>
          <p:cNvPr id="115715" name="图片 3">
            <a:extLst>
              <a:ext uri="{FF2B5EF4-FFF2-40B4-BE49-F238E27FC236}">
                <a16:creationId xmlns:a16="http://schemas.microsoft.com/office/drawing/2014/main" id="{57BC6397-D997-479E-AC72-85BABC933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1920875"/>
            <a:ext cx="3387725"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6" name="图片 5">
            <a:extLst>
              <a:ext uri="{FF2B5EF4-FFF2-40B4-BE49-F238E27FC236}">
                <a16:creationId xmlns:a16="http://schemas.microsoft.com/office/drawing/2014/main" id="{5FAC3653-B84B-4FD2-9753-D2642B21E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3563" y="2879725"/>
            <a:ext cx="349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E4281BE2-BD19-42DF-84C6-B4471BA99E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3963" y="3832225"/>
            <a:ext cx="44069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下箭头 6">
            <a:extLst>
              <a:ext uri="{FF2B5EF4-FFF2-40B4-BE49-F238E27FC236}">
                <a16:creationId xmlns:a16="http://schemas.microsoft.com/office/drawing/2014/main" id="{7FA7A342-3F3B-496C-9B93-058D7FDCE1E6}"/>
              </a:ext>
            </a:extLst>
          </p:cNvPr>
          <p:cNvSpPr/>
          <p:nvPr/>
        </p:nvSpPr>
        <p:spPr>
          <a:xfrm>
            <a:off x="5700713" y="3336925"/>
            <a:ext cx="604837" cy="495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8" name="图片 7">
            <a:extLst>
              <a:ext uri="{FF2B5EF4-FFF2-40B4-BE49-F238E27FC236}">
                <a16:creationId xmlns:a16="http://schemas.microsoft.com/office/drawing/2014/main" id="{9E5C3AB2-E630-481A-8F78-37B9ECB656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3513" y="5607050"/>
            <a:ext cx="39878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下箭头 8">
            <a:extLst>
              <a:ext uri="{FF2B5EF4-FFF2-40B4-BE49-F238E27FC236}">
                <a16:creationId xmlns:a16="http://schemas.microsoft.com/office/drawing/2014/main" id="{FFFDB04E-F97B-4849-AC79-03396B7E89DB}"/>
              </a:ext>
            </a:extLst>
          </p:cNvPr>
          <p:cNvSpPr/>
          <p:nvPr/>
        </p:nvSpPr>
        <p:spPr>
          <a:xfrm>
            <a:off x="5697538" y="4891088"/>
            <a:ext cx="606425" cy="495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10" name="矩形 9">
            <a:extLst>
              <a:ext uri="{FF2B5EF4-FFF2-40B4-BE49-F238E27FC236}">
                <a16:creationId xmlns:a16="http://schemas.microsoft.com/office/drawing/2014/main" id="{4A5E3195-0E4A-4C80-B3F3-432D0ED5D516}"/>
              </a:ext>
            </a:extLst>
          </p:cNvPr>
          <p:cNvSpPr/>
          <p:nvPr/>
        </p:nvSpPr>
        <p:spPr>
          <a:xfrm>
            <a:off x="4165600" y="6043613"/>
            <a:ext cx="3613150" cy="665162"/>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a:extLst>
              <a:ext uri="{FF2B5EF4-FFF2-40B4-BE49-F238E27FC236}">
                <a16:creationId xmlns:a16="http://schemas.microsoft.com/office/drawing/2014/main" id="{AFF8623E-CDC2-4085-AAD2-2D01CBD879AC}"/>
              </a:ext>
            </a:extLst>
          </p:cNvPr>
          <p:cNvSpPr>
            <a:spLocks noGrp="1" noChangeArrowheads="1"/>
          </p:cNvSpPr>
          <p:nvPr>
            <p:ph type="title"/>
          </p:nvPr>
        </p:nvSpPr>
        <p:spPr/>
        <p:txBody>
          <a:bodyPr/>
          <a:lstStyle/>
          <a:p>
            <a:r>
              <a:rPr kumimoji="1" lang="zh-CN" altLang="en-US"/>
              <a:t>奇异值分解（续）</a:t>
            </a:r>
          </a:p>
        </p:txBody>
      </p:sp>
      <p:sp>
        <p:nvSpPr>
          <p:cNvPr id="117762" name="内容占位符 2">
            <a:extLst>
              <a:ext uri="{FF2B5EF4-FFF2-40B4-BE49-F238E27FC236}">
                <a16:creationId xmlns:a16="http://schemas.microsoft.com/office/drawing/2014/main" id="{053E550E-7526-40C9-9B44-3CF73164648F}"/>
              </a:ext>
            </a:extLst>
          </p:cNvPr>
          <p:cNvSpPr>
            <a:spLocks noGrp="1" noChangeArrowheads="1"/>
          </p:cNvSpPr>
          <p:nvPr>
            <p:ph idx="1"/>
          </p:nvPr>
        </p:nvSpPr>
        <p:spPr>
          <a:xfrm>
            <a:off x="3475038" y="1825625"/>
            <a:ext cx="5289550" cy="4351338"/>
          </a:xfrm>
        </p:spPr>
        <p:txBody>
          <a:bodyPr/>
          <a:lstStyle/>
          <a:p>
            <a:r>
              <a:rPr lang="zh-CN" altLang="en-US"/>
              <a:t>由于向量</a:t>
            </a:r>
            <a:r>
              <a:rPr lang="en-US" altLang="zh-CN" b="1"/>
              <a:t>v</a:t>
            </a:r>
            <a:r>
              <a:rPr lang="en-US" altLang="zh-CN" b="1" baseline="-25000"/>
              <a:t>1</a:t>
            </a:r>
            <a:r>
              <a:rPr lang="zh-CN" altLang="en-US"/>
              <a:t> 和 </a:t>
            </a:r>
            <a:r>
              <a:rPr lang="en-US" altLang="zh-CN" b="1"/>
              <a:t>v</a:t>
            </a:r>
            <a:r>
              <a:rPr lang="en-US" altLang="zh-CN" b="1" baseline="-25000"/>
              <a:t>2</a:t>
            </a:r>
            <a:r>
              <a:rPr lang="zh-CN" altLang="en-US"/>
              <a:t>是正交的单位向量，我们可以得到</a:t>
            </a:r>
            <a:endParaRPr kumimoji="1" lang="zh-CN" altLang="en-US"/>
          </a:p>
        </p:txBody>
      </p:sp>
      <p:pic>
        <p:nvPicPr>
          <p:cNvPr id="117763" name="图片 3">
            <a:extLst>
              <a:ext uri="{FF2B5EF4-FFF2-40B4-BE49-F238E27FC236}">
                <a16:creationId xmlns:a16="http://schemas.microsoft.com/office/drawing/2014/main" id="{3AA5BC11-5859-4DE1-AC60-117EDF8210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1920875"/>
            <a:ext cx="3387725"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4" name="图片 5">
            <a:extLst>
              <a:ext uri="{FF2B5EF4-FFF2-40B4-BE49-F238E27FC236}">
                <a16:creationId xmlns:a16="http://schemas.microsoft.com/office/drawing/2014/main" id="{11B7F51C-E569-4651-B50C-35A82208F0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3563" y="2879725"/>
            <a:ext cx="349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5" name="图片 4">
            <a:extLst>
              <a:ext uri="{FF2B5EF4-FFF2-40B4-BE49-F238E27FC236}">
                <a16:creationId xmlns:a16="http://schemas.microsoft.com/office/drawing/2014/main" id="{9F634DBE-06A9-4FC4-B034-4C6F0B18BE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3963" y="3832225"/>
            <a:ext cx="44069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下箭头 6">
            <a:extLst>
              <a:ext uri="{FF2B5EF4-FFF2-40B4-BE49-F238E27FC236}">
                <a16:creationId xmlns:a16="http://schemas.microsoft.com/office/drawing/2014/main" id="{2B38D680-CD50-4979-9261-F44DB4DF1A89}"/>
              </a:ext>
            </a:extLst>
          </p:cNvPr>
          <p:cNvSpPr/>
          <p:nvPr/>
        </p:nvSpPr>
        <p:spPr>
          <a:xfrm>
            <a:off x="5700713" y="3336925"/>
            <a:ext cx="604837" cy="495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117767" name="图片 7">
            <a:extLst>
              <a:ext uri="{FF2B5EF4-FFF2-40B4-BE49-F238E27FC236}">
                <a16:creationId xmlns:a16="http://schemas.microsoft.com/office/drawing/2014/main" id="{EEFB3DD6-D831-4D59-A99F-C8EF95991B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3513" y="5607050"/>
            <a:ext cx="39878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下箭头 8">
            <a:extLst>
              <a:ext uri="{FF2B5EF4-FFF2-40B4-BE49-F238E27FC236}">
                <a16:creationId xmlns:a16="http://schemas.microsoft.com/office/drawing/2014/main" id="{2368B709-D370-45A3-AA14-EC09F58EDFB3}"/>
              </a:ext>
            </a:extLst>
          </p:cNvPr>
          <p:cNvSpPr/>
          <p:nvPr/>
        </p:nvSpPr>
        <p:spPr>
          <a:xfrm>
            <a:off x="5697538" y="4891088"/>
            <a:ext cx="606425" cy="495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10" name="矩形 9">
            <a:extLst>
              <a:ext uri="{FF2B5EF4-FFF2-40B4-BE49-F238E27FC236}">
                <a16:creationId xmlns:a16="http://schemas.microsoft.com/office/drawing/2014/main" id="{9C7C0523-334F-425A-9B5F-0330713462CF}"/>
              </a:ext>
            </a:extLst>
          </p:cNvPr>
          <p:cNvSpPr/>
          <p:nvPr/>
        </p:nvSpPr>
        <p:spPr>
          <a:xfrm>
            <a:off x="4165600" y="6043613"/>
            <a:ext cx="3613150" cy="665162"/>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
        <p:nvSpPr>
          <p:cNvPr id="12" name="下箭头 11">
            <a:extLst>
              <a:ext uri="{FF2B5EF4-FFF2-40B4-BE49-F238E27FC236}">
                <a16:creationId xmlns:a16="http://schemas.microsoft.com/office/drawing/2014/main" id="{AA356402-A7E8-4E7F-BB84-439EDCA2784D}"/>
              </a:ext>
            </a:extLst>
          </p:cNvPr>
          <p:cNvSpPr/>
          <p:nvPr/>
        </p:nvSpPr>
        <p:spPr>
          <a:xfrm rot="5400000">
            <a:off x="3336131" y="6174582"/>
            <a:ext cx="604837" cy="495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dirty="0"/>
          </a:p>
        </p:txBody>
      </p:sp>
      <p:pic>
        <p:nvPicPr>
          <p:cNvPr id="117771" name="图片 13">
            <a:extLst>
              <a:ext uri="{FF2B5EF4-FFF2-40B4-BE49-F238E27FC236}">
                <a16:creationId xmlns:a16="http://schemas.microsoft.com/office/drawing/2014/main" id="{661B169E-D914-4A09-900C-DCAB1AEA280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01675" y="5905500"/>
            <a:ext cx="2424113" cy="8159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1">
            <a:extLst>
              <a:ext uri="{FF2B5EF4-FFF2-40B4-BE49-F238E27FC236}">
                <a16:creationId xmlns:a16="http://schemas.microsoft.com/office/drawing/2014/main" id="{70A4821A-8A61-4C9F-9576-8D24A94A5B46}"/>
              </a:ext>
            </a:extLst>
          </p:cNvPr>
          <p:cNvSpPr>
            <a:spLocks noGrp="1" noChangeArrowheads="1"/>
          </p:cNvSpPr>
          <p:nvPr>
            <p:ph type="title"/>
          </p:nvPr>
        </p:nvSpPr>
        <p:spPr/>
        <p:txBody>
          <a:bodyPr/>
          <a:lstStyle/>
          <a:p>
            <a:r>
              <a:rPr kumimoji="1" lang="zh-CN" altLang="en-US"/>
              <a:t>奇异值分解（续）</a:t>
            </a:r>
          </a:p>
        </p:txBody>
      </p:sp>
      <p:sp>
        <p:nvSpPr>
          <p:cNvPr id="119810" name="内容占位符 2">
            <a:extLst>
              <a:ext uri="{FF2B5EF4-FFF2-40B4-BE49-F238E27FC236}">
                <a16:creationId xmlns:a16="http://schemas.microsoft.com/office/drawing/2014/main" id="{649975CB-B36E-446D-857F-89659DD74C49}"/>
              </a:ext>
            </a:extLst>
          </p:cNvPr>
          <p:cNvSpPr>
            <a:spLocks noGrp="1" noChangeArrowheads="1"/>
          </p:cNvSpPr>
          <p:nvPr>
            <p:ph idx="1"/>
          </p:nvPr>
        </p:nvSpPr>
        <p:spPr>
          <a:xfrm>
            <a:off x="628650" y="2981325"/>
            <a:ext cx="8253413" cy="3195638"/>
          </a:xfrm>
        </p:spPr>
        <p:txBody>
          <a:bodyPr/>
          <a:lstStyle/>
          <a:p>
            <a:r>
              <a:rPr lang="en-US" altLang="zh-CN" b="1"/>
              <a:t>u </a:t>
            </a:r>
            <a:r>
              <a:rPr lang="zh-CN" altLang="en-US"/>
              <a:t>矩阵的列向量分别是</a:t>
            </a:r>
            <a:r>
              <a:rPr lang="en-US" altLang="zh-CN" b="1"/>
              <a:t>u</a:t>
            </a:r>
            <a:r>
              <a:rPr lang="en-US" altLang="zh-CN" b="1" baseline="-25000"/>
              <a:t>1</a:t>
            </a:r>
            <a:r>
              <a:rPr lang="en-US" altLang="zh-CN"/>
              <a:t>,</a:t>
            </a:r>
            <a:r>
              <a:rPr lang="en-US" altLang="zh-CN" b="1"/>
              <a:t>u</a:t>
            </a:r>
            <a:r>
              <a:rPr lang="en-US" altLang="zh-CN" b="1" baseline="-25000"/>
              <a:t>2 </a:t>
            </a:r>
            <a:r>
              <a:rPr lang="zh-CN" altLang="en-US"/>
              <a:t>，</a:t>
            </a:r>
            <a:r>
              <a:rPr lang="en-US" altLang="zh-CN"/>
              <a:t>Σ </a:t>
            </a:r>
            <a:r>
              <a:rPr lang="zh-CN" altLang="en-US"/>
              <a:t>是一个对角矩阵，对角元素分别是对应的</a:t>
            </a:r>
            <a:r>
              <a:rPr lang="en-US" altLang="zh-CN"/>
              <a:t>σ</a:t>
            </a:r>
            <a:r>
              <a:rPr lang="en-US" altLang="zh-CN" baseline="-25000"/>
              <a:t>1</a:t>
            </a:r>
            <a:r>
              <a:rPr lang="zh-CN" altLang="en-US"/>
              <a:t> 和 </a:t>
            </a:r>
            <a:r>
              <a:rPr lang="en-US" altLang="zh-CN"/>
              <a:t>σ</a:t>
            </a:r>
            <a:r>
              <a:rPr lang="en-US" altLang="zh-CN" baseline="-25000"/>
              <a:t>2</a:t>
            </a:r>
            <a:r>
              <a:rPr lang="zh-CN" altLang="en-US"/>
              <a:t>，</a:t>
            </a:r>
            <a:r>
              <a:rPr lang="en-US" altLang="zh-CN" b="1"/>
              <a:t>V </a:t>
            </a:r>
            <a:r>
              <a:rPr lang="zh-CN" altLang="en-US"/>
              <a:t>矩阵的列向量分别是</a:t>
            </a:r>
            <a:r>
              <a:rPr lang="en-US" altLang="zh-CN" b="1"/>
              <a:t>v</a:t>
            </a:r>
            <a:r>
              <a:rPr lang="en-US" altLang="zh-CN" b="1" baseline="-25000"/>
              <a:t>1</a:t>
            </a:r>
            <a:r>
              <a:rPr lang="en-US" altLang="zh-CN"/>
              <a:t>,</a:t>
            </a:r>
            <a:r>
              <a:rPr lang="en-US" altLang="zh-CN" b="1"/>
              <a:t>v</a:t>
            </a:r>
            <a:r>
              <a:rPr lang="en-US" altLang="zh-CN" b="1" baseline="-25000"/>
              <a:t>2</a:t>
            </a:r>
            <a:r>
              <a:rPr lang="zh-CN" altLang="en-US"/>
              <a:t>。</a:t>
            </a:r>
            <a:endParaRPr lang="en-US" altLang="zh-CN"/>
          </a:p>
          <a:p>
            <a:r>
              <a:rPr lang="en-US" altLang="zh-CN"/>
              <a:t>M</a:t>
            </a:r>
            <a:r>
              <a:rPr lang="zh-CN" altLang="en-US"/>
              <a:t> 分解成三个矩阵。</a:t>
            </a:r>
            <a:r>
              <a:rPr lang="en-US" altLang="zh-CN" b="1"/>
              <a:t>V </a:t>
            </a:r>
            <a:r>
              <a:rPr lang="zh-CN" altLang="en-US"/>
              <a:t>表示了原始域的标准正交基，</a:t>
            </a:r>
            <a:r>
              <a:rPr lang="en-US" altLang="zh-CN" b="1"/>
              <a:t>U </a:t>
            </a:r>
            <a:r>
              <a:rPr lang="zh-CN" altLang="en-US"/>
              <a:t>表示经过 </a:t>
            </a:r>
            <a:r>
              <a:rPr lang="en-US" altLang="zh-CN"/>
              <a:t>M </a:t>
            </a:r>
            <a:r>
              <a:rPr lang="zh-CN" altLang="en-US"/>
              <a:t>变换后的</a:t>
            </a:r>
            <a:r>
              <a:rPr lang="en-US" altLang="zh-CN"/>
              <a:t>co-domain</a:t>
            </a:r>
            <a:r>
              <a:rPr lang="zh-CN" altLang="en-US"/>
              <a:t>的标准正交基，</a:t>
            </a:r>
            <a:r>
              <a:rPr lang="en-US" altLang="zh-CN"/>
              <a:t>Σ </a:t>
            </a:r>
            <a:r>
              <a:rPr lang="zh-CN" altLang="en-US"/>
              <a:t>表示了</a:t>
            </a:r>
            <a:r>
              <a:rPr lang="en-US" altLang="zh-CN" b="1"/>
              <a:t>V </a:t>
            </a:r>
            <a:r>
              <a:rPr lang="zh-CN" altLang="en-US"/>
              <a:t>中的向量与</a:t>
            </a:r>
            <a:r>
              <a:rPr lang="en-US" altLang="zh-CN" b="1"/>
              <a:t>U </a:t>
            </a:r>
            <a:r>
              <a:rPr lang="zh-CN" altLang="en-US"/>
              <a:t>中相对应向量之间的关系。</a:t>
            </a:r>
            <a:endParaRPr kumimoji="1" lang="zh-CN" altLang="en-US"/>
          </a:p>
        </p:txBody>
      </p:sp>
      <p:pic>
        <p:nvPicPr>
          <p:cNvPr id="119811" name="图片 4">
            <a:extLst>
              <a:ext uri="{FF2B5EF4-FFF2-40B4-BE49-F238E27FC236}">
                <a16:creationId xmlns:a16="http://schemas.microsoft.com/office/drawing/2014/main" id="{57C538C0-4656-4063-8FCB-B17116AF8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4100" y="1965325"/>
            <a:ext cx="23796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1">
            <a:extLst>
              <a:ext uri="{FF2B5EF4-FFF2-40B4-BE49-F238E27FC236}">
                <a16:creationId xmlns:a16="http://schemas.microsoft.com/office/drawing/2014/main" id="{3D3CB8A3-1746-413B-8977-72C95D28BC92}"/>
              </a:ext>
            </a:extLst>
          </p:cNvPr>
          <p:cNvSpPr>
            <a:spLocks noGrp="1" noChangeArrowheads="1"/>
          </p:cNvSpPr>
          <p:nvPr>
            <p:ph type="title"/>
          </p:nvPr>
        </p:nvSpPr>
        <p:spPr/>
        <p:txBody>
          <a:bodyPr/>
          <a:lstStyle/>
          <a:p>
            <a:r>
              <a:rPr kumimoji="1" lang="zh-CN" altLang="en-US"/>
              <a:t>奇异值分解（续）</a:t>
            </a:r>
          </a:p>
        </p:txBody>
      </p:sp>
      <p:sp>
        <p:nvSpPr>
          <p:cNvPr id="120834" name="内容占位符 2">
            <a:extLst>
              <a:ext uri="{FF2B5EF4-FFF2-40B4-BE49-F238E27FC236}">
                <a16:creationId xmlns:a16="http://schemas.microsoft.com/office/drawing/2014/main" id="{C17EB7F0-A68D-4280-A2CE-5FB5725C83DA}"/>
              </a:ext>
            </a:extLst>
          </p:cNvPr>
          <p:cNvSpPr>
            <a:spLocks noGrp="1" noChangeArrowheads="1"/>
          </p:cNvSpPr>
          <p:nvPr>
            <p:ph idx="1"/>
          </p:nvPr>
        </p:nvSpPr>
        <p:spPr/>
        <p:txBody>
          <a:bodyPr/>
          <a:lstStyle/>
          <a:p>
            <a:r>
              <a:rPr kumimoji="1" lang="zh-CN" altLang="en-US"/>
              <a:t>可以对任何矩阵做奇异值分解</a:t>
            </a:r>
          </a:p>
        </p:txBody>
      </p:sp>
      <p:pic>
        <p:nvPicPr>
          <p:cNvPr id="120835" name="图片 3">
            <a:extLst>
              <a:ext uri="{FF2B5EF4-FFF2-40B4-BE49-F238E27FC236}">
                <a16:creationId xmlns:a16="http://schemas.microsoft.com/office/drawing/2014/main" id="{8C57EDDB-5CAE-4995-B195-D0BD5F183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544763"/>
            <a:ext cx="8170863" cy="394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a:extLst>
              <a:ext uri="{FF2B5EF4-FFF2-40B4-BE49-F238E27FC236}">
                <a16:creationId xmlns:a16="http://schemas.microsoft.com/office/drawing/2014/main" id="{D34AB95A-2345-4F0C-BFB6-8188BE40D75F}"/>
              </a:ext>
            </a:extLst>
          </p:cNvPr>
          <p:cNvSpPr>
            <a:spLocks noGrp="1" noChangeArrowheads="1"/>
          </p:cNvSpPr>
          <p:nvPr>
            <p:ph type="title"/>
          </p:nvPr>
        </p:nvSpPr>
        <p:spPr/>
        <p:txBody>
          <a:bodyPr/>
          <a:lstStyle/>
          <a:p>
            <a:r>
              <a:rPr kumimoji="1" lang="zh-CN" altLang="en-US"/>
              <a:t>奇异值分解（续）</a:t>
            </a:r>
          </a:p>
        </p:txBody>
      </p:sp>
      <p:sp>
        <p:nvSpPr>
          <p:cNvPr id="121858" name="内容占位符 2">
            <a:extLst>
              <a:ext uri="{FF2B5EF4-FFF2-40B4-BE49-F238E27FC236}">
                <a16:creationId xmlns:a16="http://schemas.microsoft.com/office/drawing/2014/main" id="{F0016E3C-C841-4E0F-BA3D-E754733C77EC}"/>
              </a:ext>
            </a:extLst>
          </p:cNvPr>
          <p:cNvSpPr>
            <a:spLocks noGrp="1" noChangeArrowheads="1"/>
          </p:cNvSpPr>
          <p:nvPr>
            <p:ph idx="1"/>
          </p:nvPr>
        </p:nvSpPr>
        <p:spPr/>
        <p:txBody>
          <a:bodyPr/>
          <a:lstStyle/>
          <a:p>
            <a:r>
              <a:rPr kumimoji="1" lang="zh-CN" altLang="en-US"/>
              <a:t>可以对任何矩阵做奇异值分解</a:t>
            </a:r>
          </a:p>
        </p:txBody>
      </p:sp>
      <p:pic>
        <p:nvPicPr>
          <p:cNvPr id="121859" name="图片 4">
            <a:extLst>
              <a:ext uri="{FF2B5EF4-FFF2-40B4-BE49-F238E27FC236}">
                <a16:creationId xmlns:a16="http://schemas.microsoft.com/office/drawing/2014/main" id="{7923B701-BD4A-42B5-AEAD-CD4DFF0F6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597150"/>
            <a:ext cx="8218488"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a:extLst>
              <a:ext uri="{FF2B5EF4-FFF2-40B4-BE49-F238E27FC236}">
                <a16:creationId xmlns:a16="http://schemas.microsoft.com/office/drawing/2014/main" id="{2E3FCAA3-0383-4ADC-BB7B-5CD56ECF1091}"/>
              </a:ext>
            </a:extLst>
          </p:cNvPr>
          <p:cNvSpPr>
            <a:spLocks noGrp="1" noChangeArrowheads="1"/>
          </p:cNvSpPr>
          <p:nvPr>
            <p:ph type="title"/>
          </p:nvPr>
        </p:nvSpPr>
        <p:spPr/>
        <p:txBody>
          <a:bodyPr/>
          <a:lstStyle/>
          <a:p>
            <a:r>
              <a:rPr kumimoji="1" lang="zh-CN" altLang="en-US"/>
              <a:t>实例</a:t>
            </a:r>
            <a:r>
              <a:rPr kumimoji="1" lang="en-US" altLang="zh-CN"/>
              <a:t>1</a:t>
            </a:r>
            <a:endParaRPr kumimoji="1" lang="zh-CN" altLang="en-US"/>
          </a:p>
        </p:txBody>
      </p:sp>
      <p:sp>
        <p:nvSpPr>
          <p:cNvPr id="122882" name="内容占位符 2">
            <a:extLst>
              <a:ext uri="{FF2B5EF4-FFF2-40B4-BE49-F238E27FC236}">
                <a16:creationId xmlns:a16="http://schemas.microsoft.com/office/drawing/2014/main" id="{1D13B38B-D8E4-4350-985F-2DCEA12311CC}"/>
              </a:ext>
            </a:extLst>
          </p:cNvPr>
          <p:cNvSpPr>
            <a:spLocks noGrp="1" noChangeArrowheads="1"/>
          </p:cNvSpPr>
          <p:nvPr>
            <p:ph idx="1"/>
          </p:nvPr>
        </p:nvSpPr>
        <p:spPr/>
        <p:txBody>
          <a:bodyPr/>
          <a:lstStyle/>
          <a:p>
            <a:r>
              <a:rPr lang="zh-CN" altLang="en-US"/>
              <a:t>现实世界采集的数据中总是存在噪声：无论采用的设备多精密，方法有多好，总是会存在一些误差的。</a:t>
            </a:r>
            <a:endParaRPr lang="en-US" altLang="zh-CN"/>
          </a:p>
          <a:p>
            <a:r>
              <a:rPr lang="zh-CN" altLang="en-US"/>
              <a:t>大的奇异值对应了矩阵中的主要信息，运用</a:t>
            </a:r>
            <a:r>
              <a:rPr lang="en-US" altLang="zh-CN"/>
              <a:t>SVD</a:t>
            </a:r>
            <a:r>
              <a:rPr lang="zh-CN" altLang="en-US"/>
              <a:t>进行数据分析，可以提取其中的主要部分。</a:t>
            </a:r>
            <a:endParaRPr kumimoji="1"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
            <a:extLst>
              <a:ext uri="{FF2B5EF4-FFF2-40B4-BE49-F238E27FC236}">
                <a16:creationId xmlns:a16="http://schemas.microsoft.com/office/drawing/2014/main" id="{8CBCEF22-A4E9-4CF0-8787-5AE829E209CC}"/>
              </a:ext>
            </a:extLst>
          </p:cNvPr>
          <p:cNvSpPr>
            <a:spLocks noGrp="1" noChangeArrowheads="1"/>
          </p:cNvSpPr>
          <p:nvPr>
            <p:ph type="title"/>
          </p:nvPr>
        </p:nvSpPr>
        <p:spPr/>
        <p:txBody>
          <a:bodyPr/>
          <a:lstStyle/>
          <a:p>
            <a:r>
              <a:rPr kumimoji="1" lang="zh-CN" altLang="en-US"/>
              <a:t>实例</a:t>
            </a:r>
            <a:r>
              <a:rPr kumimoji="1" lang="en-US" altLang="zh-CN"/>
              <a:t>1</a:t>
            </a:r>
            <a:endParaRPr kumimoji="1" lang="zh-CN" altLang="en-US"/>
          </a:p>
        </p:txBody>
      </p:sp>
      <p:pic>
        <p:nvPicPr>
          <p:cNvPr id="5" name="内容占位符 4">
            <a:extLst>
              <a:ext uri="{FF2B5EF4-FFF2-40B4-BE49-F238E27FC236}">
                <a16:creationId xmlns:a16="http://schemas.microsoft.com/office/drawing/2014/main" id="{ECAD7B4A-C402-40D3-B481-8D0ACBDFF53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902200" y="4108450"/>
            <a:ext cx="1549400" cy="1066800"/>
          </a:xfrm>
        </p:spPr>
      </p:pic>
      <p:pic>
        <p:nvPicPr>
          <p:cNvPr id="123907" name="Picture 2" descr="http://www.ams.org/featurecolumn/images/august2009/random.data.gif">
            <a:extLst>
              <a:ext uri="{FF2B5EF4-FFF2-40B4-BE49-F238E27FC236}">
                <a16:creationId xmlns:a16="http://schemas.microsoft.com/office/drawing/2014/main" id="{1E5CDD95-F91F-4D8A-9D62-5115D5F743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3" y="2355850"/>
            <a:ext cx="2009775"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4" descr="http://image.sciencenet.cn/album/201306/14/161851gmlgg667vmvvh6gl.jpg">
            <a:extLst>
              <a:ext uri="{FF2B5EF4-FFF2-40B4-BE49-F238E27FC236}">
                <a16:creationId xmlns:a16="http://schemas.microsoft.com/office/drawing/2014/main" id="{1AADB9B3-E8B9-4AB8-9234-0A0A50EF21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2450" y="2570163"/>
            <a:ext cx="5719763"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下箭头 3">
            <a:extLst>
              <a:ext uri="{FF2B5EF4-FFF2-40B4-BE49-F238E27FC236}">
                <a16:creationId xmlns:a16="http://schemas.microsoft.com/office/drawing/2014/main" id="{5B9F8B41-5E17-45BD-A093-5C8EB0993296}"/>
              </a:ext>
            </a:extLst>
          </p:cNvPr>
          <p:cNvSpPr/>
          <p:nvPr/>
        </p:nvSpPr>
        <p:spPr>
          <a:xfrm>
            <a:off x="5557838" y="3360738"/>
            <a:ext cx="569912" cy="6048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29702" name="Picture 6" descr="http://www.ams.org/featurecolumn/images/august2009/random.data.svd.gif">
            <a:extLst>
              <a:ext uri="{FF2B5EF4-FFF2-40B4-BE49-F238E27FC236}">
                <a16:creationId xmlns:a16="http://schemas.microsoft.com/office/drawing/2014/main" id="{F9E9B628-9B45-4C98-A28B-3416A4434A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713" y="4627563"/>
            <a:ext cx="2009775"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下箭头 9">
            <a:extLst>
              <a:ext uri="{FF2B5EF4-FFF2-40B4-BE49-F238E27FC236}">
                <a16:creationId xmlns:a16="http://schemas.microsoft.com/office/drawing/2014/main" id="{5DDB4801-F606-4B8A-99C9-C0235A2F7274}"/>
              </a:ext>
            </a:extLst>
          </p:cNvPr>
          <p:cNvSpPr/>
          <p:nvPr/>
        </p:nvSpPr>
        <p:spPr>
          <a:xfrm>
            <a:off x="5557838" y="5175250"/>
            <a:ext cx="569912" cy="606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6" name="图片 5">
            <a:extLst>
              <a:ext uri="{FF2B5EF4-FFF2-40B4-BE49-F238E27FC236}">
                <a16:creationId xmlns:a16="http://schemas.microsoft.com/office/drawing/2014/main" id="{15CF733B-8E94-474D-889F-0F314B9828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9150" y="5930900"/>
            <a:ext cx="20955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9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
            <a:extLst>
              <a:ext uri="{FF2B5EF4-FFF2-40B4-BE49-F238E27FC236}">
                <a16:creationId xmlns:a16="http://schemas.microsoft.com/office/drawing/2014/main" id="{CE6AB055-F7C5-4786-8769-8B40B2B4863E}"/>
              </a:ext>
            </a:extLst>
          </p:cNvPr>
          <p:cNvSpPr>
            <a:spLocks noGrp="1" noChangeArrowheads="1"/>
          </p:cNvSpPr>
          <p:nvPr>
            <p:ph type="title"/>
          </p:nvPr>
        </p:nvSpPr>
        <p:spPr/>
        <p:txBody>
          <a:bodyPr/>
          <a:lstStyle/>
          <a:p>
            <a:r>
              <a:rPr kumimoji="1" lang="zh-CN" altLang="en-US"/>
              <a:t>实例</a:t>
            </a:r>
            <a:r>
              <a:rPr kumimoji="1" lang="en-US" altLang="zh-CN"/>
              <a:t>2</a:t>
            </a:r>
            <a:endParaRPr kumimoji="1" lang="zh-CN" altLang="en-US"/>
          </a:p>
        </p:txBody>
      </p:sp>
      <p:sp>
        <p:nvSpPr>
          <p:cNvPr id="125954" name="内容占位符 2">
            <a:extLst>
              <a:ext uri="{FF2B5EF4-FFF2-40B4-BE49-F238E27FC236}">
                <a16:creationId xmlns:a16="http://schemas.microsoft.com/office/drawing/2014/main" id="{8D8CAFB2-6330-43AF-B3A9-A069F37D8EFD}"/>
              </a:ext>
            </a:extLst>
          </p:cNvPr>
          <p:cNvSpPr>
            <a:spLocks noGrp="1" noChangeArrowheads="1"/>
          </p:cNvSpPr>
          <p:nvPr>
            <p:ph idx="1"/>
          </p:nvPr>
        </p:nvSpPr>
        <p:spPr>
          <a:xfrm>
            <a:off x="457200" y="1600200"/>
            <a:ext cx="8534400" cy="4530725"/>
          </a:xfrm>
        </p:spPr>
        <p:txBody>
          <a:bodyPr/>
          <a:lstStyle/>
          <a:p>
            <a:r>
              <a:rPr lang="zh-CN" altLang="en-US"/>
              <a:t>假设我们有如下的一张 </a:t>
            </a:r>
            <a:r>
              <a:rPr lang="en-US" altLang="zh-CN"/>
              <a:t>15 x 25 </a:t>
            </a:r>
            <a:r>
              <a:rPr lang="zh-CN" altLang="en-US"/>
              <a:t>的图像数据</a:t>
            </a:r>
            <a:endParaRPr kumimoji="1" lang="zh-CN" altLang="en-US"/>
          </a:p>
        </p:txBody>
      </p:sp>
      <p:pic>
        <p:nvPicPr>
          <p:cNvPr id="125955" name="图片 3">
            <a:extLst>
              <a:ext uri="{FF2B5EF4-FFF2-40B4-BE49-F238E27FC236}">
                <a16:creationId xmlns:a16="http://schemas.microsoft.com/office/drawing/2014/main" id="{5A5C8089-EF72-4D3C-B0D6-CC23F9C50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435225"/>
            <a:ext cx="244475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右箭头 4">
            <a:extLst>
              <a:ext uri="{FF2B5EF4-FFF2-40B4-BE49-F238E27FC236}">
                <a16:creationId xmlns:a16="http://schemas.microsoft.com/office/drawing/2014/main" id="{A358BF12-8422-41F0-AD61-8E3C541D4935}"/>
              </a:ext>
            </a:extLst>
          </p:cNvPr>
          <p:cNvSpPr/>
          <p:nvPr/>
        </p:nvSpPr>
        <p:spPr>
          <a:xfrm>
            <a:off x="4227513" y="3913188"/>
            <a:ext cx="903287" cy="5222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125957" name="图片 5">
            <a:extLst>
              <a:ext uri="{FF2B5EF4-FFF2-40B4-BE49-F238E27FC236}">
                <a16:creationId xmlns:a16="http://schemas.microsoft.com/office/drawing/2014/main" id="{921E7121-5BAD-44B0-B6D6-91C2336F1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8688" y="2376488"/>
            <a:ext cx="1930400"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a:extLst>
              <a:ext uri="{FF2B5EF4-FFF2-40B4-BE49-F238E27FC236}">
                <a16:creationId xmlns:a16="http://schemas.microsoft.com/office/drawing/2014/main" id="{C25B2044-EE5D-4889-AB58-1B151239BA7F}"/>
              </a:ext>
            </a:extLst>
          </p:cNvPr>
          <p:cNvSpPr>
            <a:spLocks noGrp="1" noChangeArrowheads="1"/>
          </p:cNvSpPr>
          <p:nvPr>
            <p:ph type="title"/>
          </p:nvPr>
        </p:nvSpPr>
        <p:spPr/>
        <p:txBody>
          <a:bodyPr/>
          <a:lstStyle/>
          <a:p>
            <a:r>
              <a:rPr kumimoji="1" lang="zh-CN" altLang="en-US"/>
              <a:t>实例</a:t>
            </a:r>
            <a:r>
              <a:rPr kumimoji="1" lang="en-US" altLang="zh-CN"/>
              <a:t>2</a:t>
            </a:r>
            <a:endParaRPr kumimoji="1" lang="zh-CN" altLang="en-US"/>
          </a:p>
        </p:txBody>
      </p:sp>
      <p:sp>
        <p:nvSpPr>
          <p:cNvPr id="126978" name="内容占位符 2">
            <a:extLst>
              <a:ext uri="{FF2B5EF4-FFF2-40B4-BE49-F238E27FC236}">
                <a16:creationId xmlns:a16="http://schemas.microsoft.com/office/drawing/2014/main" id="{32E3CA0D-1B09-40B6-A961-36BC16AA5F39}"/>
              </a:ext>
            </a:extLst>
          </p:cNvPr>
          <p:cNvSpPr>
            <a:spLocks noGrp="1" noChangeArrowheads="1"/>
          </p:cNvSpPr>
          <p:nvPr>
            <p:ph idx="1"/>
          </p:nvPr>
        </p:nvSpPr>
        <p:spPr>
          <a:xfrm>
            <a:off x="4227513" y="1825625"/>
            <a:ext cx="4775200" cy="5032375"/>
          </a:xfrm>
        </p:spPr>
        <p:txBody>
          <a:bodyPr/>
          <a:lstStyle/>
          <a:p>
            <a:r>
              <a:rPr kumimoji="1" lang="zh-CN" altLang="en-US"/>
              <a:t>三个奇异值</a:t>
            </a:r>
            <a:endParaRPr kumimoji="1" lang="en-US" altLang="zh-CN"/>
          </a:p>
          <a:p>
            <a:endParaRPr kumimoji="1" lang="en-US" altLang="zh-CN"/>
          </a:p>
          <a:p>
            <a:endParaRPr kumimoji="1" lang="en-US" altLang="zh-CN"/>
          </a:p>
          <a:p>
            <a:endParaRPr kumimoji="1" lang="en-US" altLang="zh-CN"/>
          </a:p>
          <a:p>
            <a:endParaRPr kumimoji="1" lang="en-US" altLang="zh-CN"/>
          </a:p>
          <a:p>
            <a:r>
              <a:rPr lang="zh-CN" altLang="en-US"/>
              <a:t>矩阵</a:t>
            </a:r>
            <a:r>
              <a:rPr lang="en-US" altLang="zh-CN"/>
              <a:t>M</a:t>
            </a:r>
            <a:r>
              <a:rPr lang="zh-CN" altLang="en-US"/>
              <a:t>就可以表示成</a:t>
            </a:r>
            <a:endParaRPr lang="en-US" altLang="zh-CN"/>
          </a:p>
          <a:p>
            <a:endParaRPr kumimoji="1" lang="en-US" altLang="zh-CN"/>
          </a:p>
          <a:p>
            <a:endParaRPr kumimoji="1" lang="en-US" altLang="zh-CN"/>
          </a:p>
        </p:txBody>
      </p:sp>
      <p:pic>
        <p:nvPicPr>
          <p:cNvPr id="126979" name="Picture 2" descr="http://image.sciencenet.cn/album/201306/14/161551ssgo7433rqg3vvoy.jpg">
            <a:extLst>
              <a:ext uri="{FF2B5EF4-FFF2-40B4-BE49-F238E27FC236}">
                <a16:creationId xmlns:a16="http://schemas.microsoft.com/office/drawing/2014/main" id="{5136B63C-AFEE-4315-8019-4FE528754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5625"/>
            <a:ext cx="4048125"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0" name="图片 3">
            <a:extLst>
              <a:ext uri="{FF2B5EF4-FFF2-40B4-BE49-F238E27FC236}">
                <a16:creationId xmlns:a16="http://schemas.microsoft.com/office/drawing/2014/main" id="{B3727D4B-5BE1-4681-BB8F-7615E2DEE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650" y="2460625"/>
            <a:ext cx="173355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1" name="图片 4">
            <a:extLst>
              <a:ext uri="{FF2B5EF4-FFF2-40B4-BE49-F238E27FC236}">
                <a16:creationId xmlns:a16="http://schemas.microsoft.com/office/drawing/2014/main" id="{42D5A429-1CDC-4845-9292-D364CEB589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8638" y="5486400"/>
            <a:ext cx="4775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a:extLst>
              <a:ext uri="{FF2B5EF4-FFF2-40B4-BE49-F238E27FC236}">
                <a16:creationId xmlns:a16="http://schemas.microsoft.com/office/drawing/2014/main" id="{97FFE2D2-436E-49E8-9179-E369CB54401E}"/>
              </a:ext>
            </a:extLst>
          </p:cNvPr>
          <p:cNvSpPr>
            <a:spLocks noGrp="1" noChangeArrowheads="1"/>
          </p:cNvSpPr>
          <p:nvPr>
            <p:ph type="title"/>
          </p:nvPr>
        </p:nvSpPr>
        <p:spPr/>
        <p:txBody>
          <a:bodyPr/>
          <a:lstStyle/>
          <a:p>
            <a:r>
              <a:rPr kumimoji="1" lang="zh-CN" altLang="en-US"/>
              <a:t>实例</a:t>
            </a:r>
            <a:r>
              <a:rPr kumimoji="1" lang="en-US" altLang="zh-CN"/>
              <a:t>2</a:t>
            </a:r>
            <a:endParaRPr kumimoji="1" lang="zh-CN" altLang="en-US"/>
          </a:p>
        </p:txBody>
      </p:sp>
      <p:sp>
        <p:nvSpPr>
          <p:cNvPr id="128002" name="内容占位符 2">
            <a:extLst>
              <a:ext uri="{FF2B5EF4-FFF2-40B4-BE49-F238E27FC236}">
                <a16:creationId xmlns:a16="http://schemas.microsoft.com/office/drawing/2014/main" id="{FE0949AC-0F98-4E2E-9061-FFCF8DCB3F2E}"/>
              </a:ext>
            </a:extLst>
          </p:cNvPr>
          <p:cNvSpPr>
            <a:spLocks noGrp="1" noChangeArrowheads="1"/>
          </p:cNvSpPr>
          <p:nvPr>
            <p:ph idx="1"/>
          </p:nvPr>
        </p:nvSpPr>
        <p:spPr/>
        <p:txBody>
          <a:bodyPr/>
          <a:lstStyle/>
          <a:p>
            <a:r>
              <a:rPr kumimoji="1" lang="zh-CN" altLang="en-US"/>
              <a:t>假如图像带噪声</a:t>
            </a:r>
          </a:p>
        </p:txBody>
      </p:sp>
      <p:pic>
        <p:nvPicPr>
          <p:cNvPr id="128003" name="图片 3">
            <a:extLst>
              <a:ext uri="{FF2B5EF4-FFF2-40B4-BE49-F238E27FC236}">
                <a16:creationId xmlns:a16="http://schemas.microsoft.com/office/drawing/2014/main" id="{4F5398DC-1437-402F-A939-C7AF60C7B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435225"/>
            <a:ext cx="244475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右箭头 4">
            <a:extLst>
              <a:ext uri="{FF2B5EF4-FFF2-40B4-BE49-F238E27FC236}">
                <a16:creationId xmlns:a16="http://schemas.microsoft.com/office/drawing/2014/main" id="{5CD799CE-716A-4797-912C-042D140FDED7}"/>
              </a:ext>
            </a:extLst>
          </p:cNvPr>
          <p:cNvSpPr/>
          <p:nvPr/>
        </p:nvSpPr>
        <p:spPr>
          <a:xfrm>
            <a:off x="4227513" y="3913188"/>
            <a:ext cx="903287" cy="5222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128005" name="Picture 2" descr="http://www.ams.org/featurecolumn/images/august2009/noise.gif">
            <a:extLst>
              <a:ext uri="{FF2B5EF4-FFF2-40B4-BE49-F238E27FC236}">
                <a16:creationId xmlns:a16="http://schemas.microsoft.com/office/drawing/2014/main" id="{0F25C421-B52A-4F1F-A0D7-E571D4865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8" y="2435225"/>
            <a:ext cx="2325687"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a:extLst>
              <a:ext uri="{FF2B5EF4-FFF2-40B4-BE49-F238E27FC236}">
                <a16:creationId xmlns:a16="http://schemas.microsoft.com/office/drawing/2014/main" id="{53F10680-0BC1-45A8-BC56-60E7EA41ED82}"/>
              </a:ext>
            </a:extLst>
          </p:cNvPr>
          <p:cNvSpPr>
            <a:spLocks noGrp="1" noChangeArrowheads="1"/>
          </p:cNvSpPr>
          <p:nvPr>
            <p:ph type="title"/>
          </p:nvPr>
        </p:nvSpPr>
        <p:spPr/>
        <p:txBody>
          <a:bodyPr/>
          <a:lstStyle/>
          <a:p>
            <a:r>
              <a:rPr kumimoji="1" lang="zh-CN" altLang="en-US"/>
              <a:t>实例</a:t>
            </a:r>
            <a:r>
              <a:rPr kumimoji="1" lang="en-US" altLang="zh-CN"/>
              <a:t>2</a:t>
            </a:r>
            <a:endParaRPr kumimoji="1" lang="zh-CN" altLang="en-US"/>
          </a:p>
        </p:txBody>
      </p:sp>
      <p:sp>
        <p:nvSpPr>
          <p:cNvPr id="129026" name="内容占位符 2">
            <a:extLst>
              <a:ext uri="{FF2B5EF4-FFF2-40B4-BE49-F238E27FC236}">
                <a16:creationId xmlns:a16="http://schemas.microsoft.com/office/drawing/2014/main" id="{5538DC10-0F95-493A-B27C-513CEBA02019}"/>
              </a:ext>
            </a:extLst>
          </p:cNvPr>
          <p:cNvSpPr>
            <a:spLocks noGrp="1" noChangeArrowheads="1"/>
          </p:cNvSpPr>
          <p:nvPr>
            <p:ph idx="1"/>
          </p:nvPr>
        </p:nvSpPr>
        <p:spPr/>
        <p:txBody>
          <a:bodyPr/>
          <a:lstStyle/>
          <a:p>
            <a:r>
              <a:rPr kumimoji="1" lang="zh-CN" altLang="en-US"/>
              <a:t>奇异值</a:t>
            </a:r>
          </a:p>
        </p:txBody>
      </p:sp>
      <p:pic>
        <p:nvPicPr>
          <p:cNvPr id="129027" name="图片 3">
            <a:extLst>
              <a:ext uri="{FF2B5EF4-FFF2-40B4-BE49-F238E27FC236}">
                <a16:creationId xmlns:a16="http://schemas.microsoft.com/office/drawing/2014/main" id="{31758476-9F9D-446F-8D23-8A7F483BE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379663"/>
            <a:ext cx="1651000"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CC7404AB-16B3-4551-9EC0-A2894E3B0A10}"/>
              </a:ext>
            </a:extLst>
          </p:cNvPr>
          <p:cNvSpPr/>
          <p:nvPr/>
        </p:nvSpPr>
        <p:spPr>
          <a:xfrm>
            <a:off x="3273425" y="2379663"/>
            <a:ext cx="1806575" cy="1539875"/>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pic>
        <p:nvPicPr>
          <p:cNvPr id="7" name="图片 6">
            <a:extLst>
              <a:ext uri="{FF2B5EF4-FFF2-40B4-BE49-F238E27FC236}">
                <a16:creationId xmlns:a16="http://schemas.microsoft.com/office/drawing/2014/main" id="{0FB5DA30-83C9-4180-A17C-9363E23AAE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6176963"/>
            <a:ext cx="51054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DAA34B9A-3CF1-4D5B-B353-0A0B30459EAD}"/>
              </a:ext>
            </a:extLst>
          </p:cNvPr>
          <p:cNvSpPr/>
          <p:nvPr/>
        </p:nvSpPr>
        <p:spPr>
          <a:xfrm>
            <a:off x="1828800" y="6176963"/>
            <a:ext cx="5105400" cy="5540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标题 1">
            <a:extLst>
              <a:ext uri="{FF2B5EF4-FFF2-40B4-BE49-F238E27FC236}">
                <a16:creationId xmlns:a16="http://schemas.microsoft.com/office/drawing/2014/main" id="{D26244D4-4853-4F7F-9E19-C57017F22C35}"/>
              </a:ext>
            </a:extLst>
          </p:cNvPr>
          <p:cNvSpPr>
            <a:spLocks noGrp="1" noChangeArrowheads="1"/>
          </p:cNvSpPr>
          <p:nvPr>
            <p:ph type="title"/>
          </p:nvPr>
        </p:nvSpPr>
        <p:spPr/>
        <p:txBody>
          <a:bodyPr/>
          <a:lstStyle/>
          <a:p>
            <a:r>
              <a:rPr kumimoji="1" lang="zh-CN" altLang="en-US"/>
              <a:t>实例</a:t>
            </a:r>
            <a:r>
              <a:rPr kumimoji="1" lang="en-US" altLang="zh-CN"/>
              <a:t>2</a:t>
            </a:r>
            <a:endParaRPr kumimoji="1" lang="zh-CN" altLang="en-US"/>
          </a:p>
        </p:txBody>
      </p:sp>
      <p:pic>
        <p:nvPicPr>
          <p:cNvPr id="130050" name="内容占位符 3">
            <a:extLst>
              <a:ext uri="{FF2B5EF4-FFF2-40B4-BE49-F238E27FC236}">
                <a16:creationId xmlns:a16="http://schemas.microsoft.com/office/drawing/2014/main" id="{AF6108EE-6085-4648-8C69-8123DD1E69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06575" y="1825625"/>
            <a:ext cx="5530850" cy="4351338"/>
          </a:xfr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a:extLst>
              <a:ext uri="{FF2B5EF4-FFF2-40B4-BE49-F238E27FC236}">
                <a16:creationId xmlns:a16="http://schemas.microsoft.com/office/drawing/2014/main" id="{42D9D198-B4E3-41C8-8CBB-6713DC986479}"/>
              </a:ext>
            </a:extLst>
          </p:cNvPr>
          <p:cNvSpPr>
            <a:spLocks noGrp="1" noChangeArrowheads="1"/>
          </p:cNvSpPr>
          <p:nvPr>
            <p:ph type="title"/>
          </p:nvPr>
        </p:nvSpPr>
        <p:spPr/>
        <p:txBody>
          <a:bodyPr/>
          <a:lstStyle/>
          <a:p>
            <a:r>
              <a:rPr kumimoji="1" lang="zh-CN" altLang="en-US"/>
              <a:t>实例</a:t>
            </a:r>
            <a:r>
              <a:rPr kumimoji="1" lang="en-US" altLang="zh-CN"/>
              <a:t>3</a:t>
            </a:r>
            <a:endParaRPr kumimoji="1" lang="zh-CN" altLang="en-US"/>
          </a:p>
        </p:txBody>
      </p:sp>
      <p:sp>
        <p:nvSpPr>
          <p:cNvPr id="131074" name="内容占位符 2">
            <a:extLst>
              <a:ext uri="{FF2B5EF4-FFF2-40B4-BE49-F238E27FC236}">
                <a16:creationId xmlns:a16="http://schemas.microsoft.com/office/drawing/2014/main" id="{E6C33BE7-7FD2-4BEA-8EC9-105CF45995FC}"/>
              </a:ext>
            </a:extLst>
          </p:cNvPr>
          <p:cNvSpPr>
            <a:spLocks noGrp="1" noChangeArrowheads="1"/>
          </p:cNvSpPr>
          <p:nvPr>
            <p:ph idx="1"/>
          </p:nvPr>
        </p:nvSpPr>
        <p:spPr/>
        <p:txBody>
          <a:bodyPr/>
          <a:lstStyle/>
          <a:p>
            <a:r>
              <a:rPr kumimoji="1" lang="zh-CN" altLang="en-US"/>
              <a:t>图像压缩</a:t>
            </a:r>
          </a:p>
        </p:txBody>
      </p:sp>
      <p:sp>
        <p:nvSpPr>
          <p:cNvPr id="131075" name="灯片编号占位符 3">
            <a:extLst>
              <a:ext uri="{FF2B5EF4-FFF2-40B4-BE49-F238E27FC236}">
                <a16:creationId xmlns:a16="http://schemas.microsoft.com/office/drawing/2014/main" id="{C585A443-9F59-464B-8010-8EA736728B0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517FBF1-70B3-4A85-B97E-452618EB7E4E}" type="slidenum">
              <a:rPr lang="en-US" altLang="zh-CN" sz="1000" smtClean="0">
                <a:ea typeface="宋体" panose="02010600030101010101" pitchFamily="2" charset="-122"/>
              </a:rPr>
              <a:pPr>
                <a:spcBef>
                  <a:spcPct val="0"/>
                </a:spcBef>
                <a:buClrTx/>
                <a:buFontTx/>
                <a:buNone/>
              </a:pPr>
              <a:t>85</a:t>
            </a:fld>
            <a:endParaRPr lang="en-US" altLang="zh-CN" sz="1000">
              <a:ea typeface="宋体" panose="02010600030101010101" pitchFamily="2" charset="-122"/>
            </a:endParaRPr>
          </a:p>
        </p:txBody>
      </p:sp>
      <p:pic>
        <p:nvPicPr>
          <p:cNvPr id="131076" name="图片 4">
            <a:extLst>
              <a:ext uri="{FF2B5EF4-FFF2-40B4-BE49-F238E27FC236}">
                <a16:creationId xmlns:a16="http://schemas.microsoft.com/office/drawing/2014/main" id="{362BF849-D069-4F69-AA78-FC3A2C6A5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850" y="2590800"/>
            <a:ext cx="31623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a:extLst>
              <a:ext uri="{FF2B5EF4-FFF2-40B4-BE49-F238E27FC236}">
                <a16:creationId xmlns:a16="http://schemas.microsoft.com/office/drawing/2014/main" id="{BAB9FAD1-898D-4E44-A05D-CB9C38F9CCFF}"/>
              </a:ext>
            </a:extLst>
          </p:cNvPr>
          <p:cNvSpPr>
            <a:spLocks noGrp="1" noChangeArrowheads="1"/>
          </p:cNvSpPr>
          <p:nvPr>
            <p:ph type="title"/>
          </p:nvPr>
        </p:nvSpPr>
        <p:spPr/>
        <p:txBody>
          <a:bodyPr/>
          <a:lstStyle/>
          <a:p>
            <a:r>
              <a:rPr kumimoji="1" lang="zh-CN" altLang="en-US"/>
              <a:t>实例</a:t>
            </a:r>
            <a:r>
              <a:rPr kumimoji="1" lang="en-US" altLang="zh-CN"/>
              <a:t>3</a:t>
            </a:r>
            <a:endParaRPr kumimoji="1" lang="zh-CN" altLang="en-US"/>
          </a:p>
        </p:txBody>
      </p:sp>
      <p:sp>
        <p:nvSpPr>
          <p:cNvPr id="132098" name="内容占位符 2">
            <a:extLst>
              <a:ext uri="{FF2B5EF4-FFF2-40B4-BE49-F238E27FC236}">
                <a16:creationId xmlns:a16="http://schemas.microsoft.com/office/drawing/2014/main" id="{174DA47E-0569-4165-9EFB-D5B95390F201}"/>
              </a:ext>
            </a:extLst>
          </p:cNvPr>
          <p:cNvSpPr>
            <a:spLocks noGrp="1" noChangeArrowheads="1"/>
          </p:cNvSpPr>
          <p:nvPr>
            <p:ph idx="1"/>
          </p:nvPr>
        </p:nvSpPr>
        <p:spPr/>
        <p:txBody>
          <a:bodyPr/>
          <a:lstStyle/>
          <a:p>
            <a:r>
              <a:rPr kumimoji="1" lang="zh-CN" altLang="en-US"/>
              <a:t>图像压缩</a:t>
            </a:r>
          </a:p>
        </p:txBody>
      </p:sp>
      <p:sp>
        <p:nvSpPr>
          <p:cNvPr id="132099" name="灯片编号占位符 3">
            <a:extLst>
              <a:ext uri="{FF2B5EF4-FFF2-40B4-BE49-F238E27FC236}">
                <a16:creationId xmlns:a16="http://schemas.microsoft.com/office/drawing/2014/main" id="{B6678C91-8814-4BC4-AF97-0A009B6825B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5DFD110C-45BC-460F-99DE-0CF7C6AC7FA2}" type="slidenum">
              <a:rPr lang="en-US" altLang="zh-CN" sz="1000" smtClean="0">
                <a:ea typeface="宋体" panose="02010600030101010101" pitchFamily="2" charset="-122"/>
              </a:rPr>
              <a:pPr>
                <a:spcBef>
                  <a:spcPct val="0"/>
                </a:spcBef>
                <a:buClrTx/>
                <a:buFontTx/>
                <a:buNone/>
              </a:pPr>
              <a:t>86</a:t>
            </a:fld>
            <a:endParaRPr lang="en-US" altLang="zh-CN" sz="1000">
              <a:ea typeface="宋体" panose="02010600030101010101" pitchFamily="2" charset="-122"/>
            </a:endParaRPr>
          </a:p>
        </p:txBody>
      </p:sp>
      <p:pic>
        <p:nvPicPr>
          <p:cNvPr id="132100" name="图片 4">
            <a:extLst>
              <a:ext uri="{FF2B5EF4-FFF2-40B4-BE49-F238E27FC236}">
                <a16:creationId xmlns:a16="http://schemas.microsoft.com/office/drawing/2014/main" id="{68FE954A-5480-4D98-8AC0-F88556026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2590800"/>
            <a:ext cx="31623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图片 5">
            <a:extLst>
              <a:ext uri="{FF2B5EF4-FFF2-40B4-BE49-F238E27FC236}">
                <a16:creationId xmlns:a16="http://schemas.microsoft.com/office/drawing/2014/main" id="{D5D003F8-D703-410F-8DCE-36A613F558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400" y="5808663"/>
            <a:ext cx="4775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标题 1">
            <a:extLst>
              <a:ext uri="{FF2B5EF4-FFF2-40B4-BE49-F238E27FC236}">
                <a16:creationId xmlns:a16="http://schemas.microsoft.com/office/drawing/2014/main" id="{957ACAF4-E6AB-49F7-A834-03A8565C823F}"/>
              </a:ext>
            </a:extLst>
          </p:cNvPr>
          <p:cNvSpPr>
            <a:spLocks noGrp="1" noChangeArrowheads="1"/>
          </p:cNvSpPr>
          <p:nvPr>
            <p:ph type="title"/>
          </p:nvPr>
        </p:nvSpPr>
        <p:spPr/>
        <p:txBody>
          <a:bodyPr/>
          <a:lstStyle/>
          <a:p>
            <a:r>
              <a:rPr kumimoji="1" lang="zh-CN" altLang="en-US"/>
              <a:t>实例</a:t>
            </a:r>
            <a:r>
              <a:rPr kumimoji="1" lang="en-US" altLang="zh-CN"/>
              <a:t>3</a:t>
            </a:r>
            <a:endParaRPr kumimoji="1" lang="zh-CN" altLang="en-US"/>
          </a:p>
        </p:txBody>
      </p:sp>
      <p:sp>
        <p:nvSpPr>
          <p:cNvPr id="134146" name="内容占位符 2">
            <a:extLst>
              <a:ext uri="{FF2B5EF4-FFF2-40B4-BE49-F238E27FC236}">
                <a16:creationId xmlns:a16="http://schemas.microsoft.com/office/drawing/2014/main" id="{DE2C4558-A012-4714-8428-47FDF684AE7B}"/>
              </a:ext>
            </a:extLst>
          </p:cNvPr>
          <p:cNvSpPr>
            <a:spLocks noGrp="1" noChangeArrowheads="1"/>
          </p:cNvSpPr>
          <p:nvPr>
            <p:ph idx="1"/>
          </p:nvPr>
        </p:nvSpPr>
        <p:spPr/>
        <p:txBody>
          <a:bodyPr/>
          <a:lstStyle/>
          <a:p>
            <a:r>
              <a:rPr kumimoji="1" lang="zh-CN" altLang="en-US"/>
              <a:t>图像压缩</a:t>
            </a:r>
          </a:p>
        </p:txBody>
      </p:sp>
      <p:sp>
        <p:nvSpPr>
          <p:cNvPr id="134147" name="灯片编号占位符 3">
            <a:extLst>
              <a:ext uri="{FF2B5EF4-FFF2-40B4-BE49-F238E27FC236}">
                <a16:creationId xmlns:a16="http://schemas.microsoft.com/office/drawing/2014/main" id="{CBB44C23-0675-4B5A-A904-937A21B91BA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D109C5C8-F799-4235-9D3E-69694F0FF675}" type="slidenum">
              <a:rPr lang="en-US" altLang="zh-CN" sz="1000" smtClean="0">
                <a:ea typeface="宋体" panose="02010600030101010101" pitchFamily="2" charset="-122"/>
              </a:rPr>
              <a:pPr>
                <a:spcBef>
                  <a:spcPct val="0"/>
                </a:spcBef>
                <a:buClrTx/>
                <a:buFontTx/>
                <a:buNone/>
              </a:pPr>
              <a:t>87</a:t>
            </a:fld>
            <a:endParaRPr lang="en-US" altLang="zh-CN" sz="1000">
              <a:ea typeface="宋体" panose="02010600030101010101" pitchFamily="2" charset="-122"/>
            </a:endParaRPr>
          </a:p>
        </p:txBody>
      </p:sp>
      <p:pic>
        <p:nvPicPr>
          <p:cNvPr id="134148" name="图片 6">
            <a:extLst>
              <a:ext uri="{FF2B5EF4-FFF2-40B4-BE49-F238E27FC236}">
                <a16:creationId xmlns:a16="http://schemas.microsoft.com/office/drawing/2014/main" id="{46DE390F-8ED6-4C7A-A828-1E4127611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2514600"/>
            <a:ext cx="31623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49" name="图片 10">
            <a:extLst>
              <a:ext uri="{FF2B5EF4-FFF2-40B4-BE49-F238E27FC236}">
                <a16:creationId xmlns:a16="http://schemas.microsoft.com/office/drawing/2014/main" id="{6147EA0D-2A53-412C-BAB0-3F3582D519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1100" y="5810250"/>
            <a:ext cx="17018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标题 1">
            <a:extLst>
              <a:ext uri="{FF2B5EF4-FFF2-40B4-BE49-F238E27FC236}">
                <a16:creationId xmlns:a16="http://schemas.microsoft.com/office/drawing/2014/main" id="{2C9799CF-4DA7-40B8-A8F3-D2FDD1859710}"/>
              </a:ext>
            </a:extLst>
          </p:cNvPr>
          <p:cNvSpPr>
            <a:spLocks noGrp="1" noChangeArrowheads="1"/>
          </p:cNvSpPr>
          <p:nvPr>
            <p:ph type="title"/>
          </p:nvPr>
        </p:nvSpPr>
        <p:spPr/>
        <p:txBody>
          <a:bodyPr/>
          <a:lstStyle/>
          <a:p>
            <a:r>
              <a:rPr kumimoji="1" lang="zh-CN" altLang="en-US"/>
              <a:t>实例</a:t>
            </a:r>
            <a:r>
              <a:rPr kumimoji="1" lang="en-US" altLang="zh-CN"/>
              <a:t>3</a:t>
            </a:r>
            <a:endParaRPr kumimoji="1" lang="zh-CN" altLang="en-US"/>
          </a:p>
        </p:txBody>
      </p:sp>
      <p:sp>
        <p:nvSpPr>
          <p:cNvPr id="136194" name="内容占位符 2">
            <a:extLst>
              <a:ext uri="{FF2B5EF4-FFF2-40B4-BE49-F238E27FC236}">
                <a16:creationId xmlns:a16="http://schemas.microsoft.com/office/drawing/2014/main" id="{D6B56CE1-41FF-4AE4-A134-038A87A9C1B8}"/>
              </a:ext>
            </a:extLst>
          </p:cNvPr>
          <p:cNvSpPr>
            <a:spLocks noGrp="1" noChangeArrowheads="1"/>
          </p:cNvSpPr>
          <p:nvPr>
            <p:ph idx="1"/>
          </p:nvPr>
        </p:nvSpPr>
        <p:spPr/>
        <p:txBody>
          <a:bodyPr/>
          <a:lstStyle/>
          <a:p>
            <a:r>
              <a:rPr kumimoji="1" lang="zh-CN" altLang="en-US"/>
              <a:t>图像压缩</a:t>
            </a:r>
          </a:p>
        </p:txBody>
      </p:sp>
      <p:sp>
        <p:nvSpPr>
          <p:cNvPr id="136195" name="灯片编号占位符 3">
            <a:extLst>
              <a:ext uri="{FF2B5EF4-FFF2-40B4-BE49-F238E27FC236}">
                <a16:creationId xmlns:a16="http://schemas.microsoft.com/office/drawing/2014/main" id="{10A64A0C-5427-4831-8714-CDE1BCEE9D3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8F80DB1-A768-4B0F-BD1F-A5347E21E1C9}" type="slidenum">
              <a:rPr lang="en-US" altLang="zh-CN" sz="1000" smtClean="0">
                <a:ea typeface="宋体" panose="02010600030101010101" pitchFamily="2" charset="-122"/>
              </a:rPr>
              <a:pPr>
                <a:spcBef>
                  <a:spcPct val="0"/>
                </a:spcBef>
                <a:buClrTx/>
                <a:buFontTx/>
                <a:buNone/>
              </a:pPr>
              <a:t>88</a:t>
            </a:fld>
            <a:endParaRPr lang="en-US" altLang="zh-CN" sz="1000">
              <a:ea typeface="宋体" panose="02010600030101010101" pitchFamily="2" charset="-122"/>
            </a:endParaRPr>
          </a:p>
        </p:txBody>
      </p:sp>
      <p:pic>
        <p:nvPicPr>
          <p:cNvPr id="136196" name="图片 4">
            <a:extLst>
              <a:ext uri="{FF2B5EF4-FFF2-40B4-BE49-F238E27FC236}">
                <a16:creationId xmlns:a16="http://schemas.microsoft.com/office/drawing/2014/main" id="{A7C72380-7C91-46E9-A9B4-1E739F938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2605088"/>
            <a:ext cx="31623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197" name="图片 7">
            <a:extLst>
              <a:ext uri="{FF2B5EF4-FFF2-40B4-BE49-F238E27FC236}">
                <a16:creationId xmlns:a16="http://schemas.microsoft.com/office/drawing/2014/main" id="{AEA2EC60-4B29-4C50-AE2C-525C979BE1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5930900"/>
            <a:ext cx="46482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标题 1">
            <a:extLst>
              <a:ext uri="{FF2B5EF4-FFF2-40B4-BE49-F238E27FC236}">
                <a16:creationId xmlns:a16="http://schemas.microsoft.com/office/drawing/2014/main" id="{D99F3096-8D73-468D-ADFE-658C793E61C4}"/>
              </a:ext>
            </a:extLst>
          </p:cNvPr>
          <p:cNvSpPr>
            <a:spLocks noGrp="1" noChangeArrowheads="1"/>
          </p:cNvSpPr>
          <p:nvPr>
            <p:ph type="title"/>
          </p:nvPr>
        </p:nvSpPr>
        <p:spPr/>
        <p:txBody>
          <a:bodyPr/>
          <a:lstStyle/>
          <a:p>
            <a:r>
              <a:rPr kumimoji="1" lang="zh-CN" altLang="en-US"/>
              <a:t>实例</a:t>
            </a:r>
            <a:r>
              <a:rPr kumimoji="1" lang="en-US" altLang="zh-CN"/>
              <a:t>3</a:t>
            </a:r>
            <a:endParaRPr kumimoji="1" lang="zh-CN" altLang="en-US"/>
          </a:p>
        </p:txBody>
      </p:sp>
      <p:sp>
        <p:nvSpPr>
          <p:cNvPr id="138242" name="内容占位符 2">
            <a:extLst>
              <a:ext uri="{FF2B5EF4-FFF2-40B4-BE49-F238E27FC236}">
                <a16:creationId xmlns:a16="http://schemas.microsoft.com/office/drawing/2014/main" id="{731C5D46-B156-4D5A-9B90-F692A5EF76B3}"/>
              </a:ext>
            </a:extLst>
          </p:cNvPr>
          <p:cNvSpPr>
            <a:spLocks noGrp="1" noChangeArrowheads="1"/>
          </p:cNvSpPr>
          <p:nvPr>
            <p:ph idx="1"/>
          </p:nvPr>
        </p:nvSpPr>
        <p:spPr/>
        <p:txBody>
          <a:bodyPr/>
          <a:lstStyle/>
          <a:p>
            <a:r>
              <a:rPr kumimoji="1" lang="zh-CN" altLang="en-US"/>
              <a:t>图像压缩</a:t>
            </a:r>
          </a:p>
        </p:txBody>
      </p:sp>
      <p:sp>
        <p:nvSpPr>
          <p:cNvPr id="138243" name="灯片编号占位符 3">
            <a:extLst>
              <a:ext uri="{FF2B5EF4-FFF2-40B4-BE49-F238E27FC236}">
                <a16:creationId xmlns:a16="http://schemas.microsoft.com/office/drawing/2014/main" id="{5D5053C9-09B2-4DC8-A09A-10B6292FE16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162D6577-08F2-4811-91F4-F949ABE2D95A}" type="slidenum">
              <a:rPr lang="en-US" altLang="zh-CN" sz="1000" smtClean="0">
                <a:ea typeface="宋体" panose="02010600030101010101" pitchFamily="2" charset="-122"/>
              </a:rPr>
              <a:pPr>
                <a:spcBef>
                  <a:spcPct val="0"/>
                </a:spcBef>
                <a:buClrTx/>
                <a:buFontTx/>
                <a:buNone/>
              </a:pPr>
              <a:t>89</a:t>
            </a:fld>
            <a:endParaRPr lang="en-US" altLang="zh-CN" sz="1000">
              <a:ea typeface="宋体" panose="02010600030101010101" pitchFamily="2" charset="-122"/>
            </a:endParaRPr>
          </a:p>
        </p:txBody>
      </p:sp>
      <p:pic>
        <p:nvPicPr>
          <p:cNvPr id="138244" name="图片 5">
            <a:extLst>
              <a:ext uri="{FF2B5EF4-FFF2-40B4-BE49-F238E27FC236}">
                <a16:creationId xmlns:a16="http://schemas.microsoft.com/office/drawing/2014/main" id="{5DCB3B89-55E7-498B-A6F7-3B38EFA240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5150" y="2506663"/>
            <a:ext cx="31623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45" name="图片 10">
            <a:extLst>
              <a:ext uri="{FF2B5EF4-FFF2-40B4-BE49-F238E27FC236}">
                <a16:creationId xmlns:a16="http://schemas.microsoft.com/office/drawing/2014/main" id="{4205CADF-FEC4-48B2-9A14-091594821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0088" y="5892800"/>
            <a:ext cx="284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6">
            <a:extLst>
              <a:ext uri="{FF2B5EF4-FFF2-40B4-BE49-F238E27FC236}">
                <a16:creationId xmlns:a16="http://schemas.microsoft.com/office/drawing/2014/main" id="{8652E644-F86C-4DD6-958E-912A44791AFF}"/>
              </a:ext>
            </a:extLst>
          </p:cNvPr>
          <p:cNvSpPr>
            <a:spLocks noGrp="1" noChangeArrowheads="1"/>
          </p:cNvSpPr>
          <p:nvPr>
            <p:ph type="ctrTitle"/>
          </p:nvPr>
        </p:nvSpPr>
        <p:spPr>
          <a:xfrm>
            <a:off x="0" y="1214438"/>
            <a:ext cx="9418638" cy="2387600"/>
          </a:xfrm>
        </p:spPr>
        <p:txBody>
          <a:bodyPr/>
          <a:lstStyle/>
          <a:p>
            <a:r>
              <a:rPr lang="en-US" altLang="zh-CN" sz="5400"/>
              <a:t>Singular Value Decomposition</a:t>
            </a:r>
          </a:p>
        </p:txBody>
      </p:sp>
      <p:sp>
        <p:nvSpPr>
          <p:cNvPr id="140290" name="Rectangle 7">
            <a:extLst>
              <a:ext uri="{FF2B5EF4-FFF2-40B4-BE49-F238E27FC236}">
                <a16:creationId xmlns:a16="http://schemas.microsoft.com/office/drawing/2014/main" id="{AFA25C18-B34C-4683-AD3D-57AC4EA5A424}"/>
              </a:ext>
            </a:extLst>
          </p:cNvPr>
          <p:cNvSpPr>
            <a:spLocks noGrp="1" noChangeArrowheads="1"/>
          </p:cNvSpPr>
          <p:nvPr>
            <p:ph type="subTitle" idx="1"/>
          </p:nvPr>
        </p:nvSpPr>
        <p:spPr/>
        <p:txBody>
          <a:bodyPr/>
          <a:lstStyle/>
          <a:p>
            <a:endParaRPr lang="en-US"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DE2523B2-F2CF-4AA2-9B27-D65B557621B6}"/>
              </a:ext>
            </a:extLst>
          </p:cNvPr>
          <p:cNvSpPr>
            <a:spLocks noGrp="1" noChangeArrowheads="1"/>
          </p:cNvSpPr>
          <p:nvPr>
            <p:ph type="title"/>
          </p:nvPr>
        </p:nvSpPr>
        <p:spPr/>
        <p:txBody>
          <a:bodyPr/>
          <a:lstStyle/>
          <a:p>
            <a:r>
              <a:rPr lang="en-US" altLang="zh-CN"/>
              <a:t>Singular Value Decomposition (SVD)</a:t>
            </a:r>
          </a:p>
        </p:txBody>
      </p:sp>
      <mc:AlternateContent xmlns:mc="http://schemas.openxmlformats.org/markup-compatibility/2006">
        <mc:Choice xmlns:a14="http://schemas.microsoft.com/office/drawing/2010/main" Requires="a14">
          <p:sp>
            <p:nvSpPr>
              <p:cNvPr id="141314" name="Rectangle 3">
                <a:extLst>
                  <a:ext uri="{FF2B5EF4-FFF2-40B4-BE49-F238E27FC236}">
                    <a16:creationId xmlns:a16="http://schemas.microsoft.com/office/drawing/2014/main" id="{93FA4701-C88E-4DC7-AB15-2883F570C4E9}"/>
                  </a:ext>
                </a:extLst>
              </p:cNvPr>
              <p:cNvSpPr>
                <a:spLocks noGrp="1" noChangeArrowheads="1"/>
              </p:cNvSpPr>
              <p:nvPr>
                <p:ph idx="1"/>
              </p:nvPr>
            </p:nvSpPr>
            <p:spPr/>
            <p:txBody>
              <a:bodyPr/>
              <a:lstStyle/>
              <a:p>
                <a:r>
                  <a:rPr lang="en-US" altLang="zh-CN" dirty="0"/>
                  <a:t>Handy mathematical technique that has application to many problems</a:t>
                </a:r>
              </a:p>
              <a:p>
                <a:r>
                  <a:rPr lang="en-US" altLang="zh-CN" dirty="0"/>
                  <a:t>Given any </a:t>
                </a:r>
                <a:r>
                  <a:rPr lang="en-US" altLang="zh-CN" i="1" dirty="0" err="1"/>
                  <a:t>m</a:t>
                </a:r>
                <a:r>
                  <a:rPr lang="en-US" altLang="zh-CN" dirty="0" err="1">
                    <a:sym typeface="Symbol" panose="05050102010706020507" pitchFamily="18" charset="2"/>
                  </a:rPr>
                  <a:t></a:t>
                </a:r>
                <a:r>
                  <a:rPr lang="en-US" altLang="zh-CN" i="1" dirty="0" err="1">
                    <a:sym typeface="Symbol" panose="05050102010706020507" pitchFamily="18" charset="2"/>
                  </a:rPr>
                  <a:t>n</a:t>
                </a:r>
                <a:r>
                  <a:rPr lang="en-US" altLang="zh-CN" dirty="0">
                    <a:sym typeface="Symbol" panose="05050102010706020507" pitchFamily="18" charset="2"/>
                  </a:rPr>
                  <a:t> matrix </a:t>
                </a:r>
                <a:r>
                  <a:rPr lang="en-US" altLang="zh-CN" b="1" dirty="0">
                    <a:sym typeface="Symbol" panose="05050102010706020507" pitchFamily="18" charset="2"/>
                  </a:rPr>
                  <a:t>A</a:t>
                </a:r>
                <a:r>
                  <a:rPr lang="en-US" altLang="zh-CN" dirty="0">
                    <a:sym typeface="Symbol" panose="05050102010706020507" pitchFamily="18" charset="2"/>
                  </a:rPr>
                  <a:t>, algorithm to find matrices </a:t>
                </a:r>
                <a:r>
                  <a:rPr lang="en-US" altLang="zh-CN" b="1" dirty="0">
                    <a:sym typeface="Symbol" panose="05050102010706020507" pitchFamily="18" charset="2"/>
                  </a:rPr>
                  <a:t>U</a:t>
                </a:r>
                <a:r>
                  <a:rPr lang="en-US" altLang="zh-CN" dirty="0">
                    <a:sym typeface="Symbol" panose="05050102010706020507" pitchFamily="18" charset="2"/>
                  </a:rPr>
                  <a:t>, </a:t>
                </a:r>
                <a:r>
                  <a:rPr lang="en-US" altLang="zh-CN" b="1" dirty="0">
                    <a:sym typeface="Symbol" panose="05050102010706020507" pitchFamily="18" charset="2"/>
                  </a:rPr>
                  <a:t>V</a:t>
                </a:r>
                <a:r>
                  <a:rPr lang="en-US" altLang="zh-CN" dirty="0">
                    <a:sym typeface="Symbol" panose="05050102010706020507" pitchFamily="18" charset="2"/>
                  </a:rPr>
                  <a:t>, and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r>
                  <a:rPr lang="en-US" altLang="zh-CN" dirty="0">
                    <a:sym typeface="Symbol" panose="05050102010706020507" pitchFamily="18" charset="2"/>
                  </a:rPr>
                  <a:t> such that</a:t>
                </a:r>
              </a:p>
              <a:p>
                <a:pPr lvl="1" indent="1146175">
                  <a:buFontTx/>
                  <a:buNone/>
                </a:pPr>
                <a:r>
                  <a:rPr lang="en-US" altLang="zh-CN" b="1" dirty="0">
                    <a:sym typeface="Symbol" panose="05050102010706020507" pitchFamily="18" charset="2"/>
                  </a:rPr>
                  <a:t>A</a:t>
                </a:r>
                <a:r>
                  <a:rPr lang="en-US" altLang="zh-CN" dirty="0">
                    <a:sym typeface="Symbol" panose="05050102010706020507" pitchFamily="18" charset="2"/>
                  </a:rPr>
                  <a:t> = </a:t>
                </a:r>
                <a:r>
                  <a:rPr lang="en-US" altLang="zh-CN" b="1" dirty="0">
                    <a:sym typeface="Symbol" panose="05050102010706020507" pitchFamily="18" charset="2"/>
                  </a:rPr>
                  <a:t>U</a:t>
                </a:r>
                <a:r>
                  <a:rPr lang="en-US" altLang="zh-CN" sz="1300" b="1" dirty="0">
                    <a:sym typeface="Symbol" panose="05050102010706020507" pitchFamily="18" charset="2"/>
                  </a:rPr>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r>
                  <a:rPr lang="en-US" altLang="zh-CN" sz="1300" b="1" dirty="0">
                    <a:sym typeface="Symbol" panose="05050102010706020507" pitchFamily="18" charset="2"/>
                  </a:rPr>
                  <a:t> </a:t>
                </a:r>
                <a:r>
                  <a:rPr lang="en-US" altLang="zh-CN" b="1" dirty="0">
                    <a:sym typeface="Symbol" panose="05050102010706020507" pitchFamily="18" charset="2"/>
                  </a:rPr>
                  <a:t>V</a:t>
                </a:r>
                <a:r>
                  <a:rPr lang="en-US" altLang="zh-CN" baseline="30000" dirty="0">
                    <a:sym typeface="Symbol" panose="05050102010706020507" pitchFamily="18" charset="2"/>
                  </a:rPr>
                  <a:t>T</a:t>
                </a:r>
                <a:endParaRPr lang="en-US" altLang="zh-CN" b="1" dirty="0">
                  <a:sym typeface="Symbol" panose="05050102010706020507" pitchFamily="18" charset="2"/>
                </a:endParaRPr>
              </a:p>
              <a:p>
                <a:pPr lvl="1" indent="1146175">
                  <a:buFontTx/>
                  <a:buNone/>
                </a:pPr>
                <a:r>
                  <a:rPr lang="en-US" altLang="zh-CN" b="1" dirty="0"/>
                  <a:t>U</a:t>
                </a:r>
                <a:r>
                  <a:rPr lang="en-US" altLang="zh-CN" dirty="0"/>
                  <a:t> is </a:t>
                </a:r>
                <a:r>
                  <a:rPr lang="en-US" altLang="zh-CN" i="1" dirty="0" err="1"/>
                  <a:t>m</a:t>
                </a:r>
                <a:r>
                  <a:rPr lang="en-US" altLang="zh-CN" dirty="0" err="1">
                    <a:sym typeface="Symbol" panose="05050102010706020507" pitchFamily="18" charset="2"/>
                  </a:rPr>
                  <a:t></a:t>
                </a:r>
                <a:r>
                  <a:rPr lang="en-US" altLang="zh-CN" i="1" dirty="0" err="1">
                    <a:sym typeface="Symbol" panose="05050102010706020507" pitchFamily="18" charset="2"/>
                  </a:rPr>
                  <a:t>n</a:t>
                </a:r>
                <a:r>
                  <a:rPr lang="en-US" altLang="zh-CN" dirty="0">
                    <a:sym typeface="Symbol" panose="05050102010706020507" pitchFamily="18" charset="2"/>
                  </a:rPr>
                  <a:t> and orthonormal</a:t>
                </a:r>
              </a:p>
              <a:p>
                <a:pPr lvl="1" indent="1146175">
                  <a:buFontTx/>
                  <a:buNone/>
                </a:pP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r>
                  <a:rPr lang="en-US" altLang="zh-CN" dirty="0">
                    <a:sym typeface="Symbol" panose="05050102010706020507" pitchFamily="18" charset="2"/>
                  </a:rPr>
                  <a:t> is </a:t>
                </a:r>
                <a:r>
                  <a:rPr lang="en-US" altLang="zh-CN" i="1" dirty="0" err="1"/>
                  <a:t>n</a:t>
                </a:r>
                <a:r>
                  <a:rPr lang="en-US" altLang="zh-CN" dirty="0" err="1">
                    <a:sym typeface="Symbol" panose="05050102010706020507" pitchFamily="18" charset="2"/>
                  </a:rPr>
                  <a:t></a:t>
                </a:r>
                <a:r>
                  <a:rPr lang="en-US" altLang="zh-CN" i="1" dirty="0" err="1">
                    <a:sym typeface="Symbol" panose="05050102010706020507" pitchFamily="18" charset="2"/>
                  </a:rPr>
                  <a:t>n</a:t>
                </a:r>
                <a:r>
                  <a:rPr lang="en-US" altLang="zh-CN" dirty="0">
                    <a:sym typeface="Symbol" panose="05050102010706020507" pitchFamily="18" charset="2"/>
                  </a:rPr>
                  <a:t> and diagonal</a:t>
                </a:r>
              </a:p>
              <a:p>
                <a:pPr lvl="1" indent="1146175">
                  <a:buFontTx/>
                  <a:buNone/>
                </a:pPr>
                <a:r>
                  <a:rPr lang="en-US" altLang="zh-CN" b="1" dirty="0">
                    <a:sym typeface="Symbol" panose="05050102010706020507" pitchFamily="18" charset="2"/>
                  </a:rPr>
                  <a:t>V </a:t>
                </a:r>
                <a:r>
                  <a:rPr lang="en-US" altLang="zh-CN" dirty="0">
                    <a:sym typeface="Symbol" panose="05050102010706020507" pitchFamily="18" charset="2"/>
                  </a:rPr>
                  <a:t> is </a:t>
                </a:r>
                <a:r>
                  <a:rPr lang="en-US" altLang="zh-CN" i="1" dirty="0" err="1"/>
                  <a:t>n</a:t>
                </a:r>
                <a:r>
                  <a:rPr lang="en-US" altLang="zh-CN" dirty="0" err="1">
                    <a:sym typeface="Symbol" panose="05050102010706020507" pitchFamily="18" charset="2"/>
                  </a:rPr>
                  <a:t></a:t>
                </a:r>
                <a:r>
                  <a:rPr lang="en-US" altLang="zh-CN" i="1" dirty="0" err="1">
                    <a:sym typeface="Symbol" panose="05050102010706020507" pitchFamily="18" charset="2"/>
                  </a:rPr>
                  <a:t>n</a:t>
                </a:r>
                <a:r>
                  <a:rPr lang="en-US" altLang="zh-CN" dirty="0">
                    <a:sym typeface="Symbol" panose="05050102010706020507" pitchFamily="18" charset="2"/>
                  </a:rPr>
                  <a:t> and orthonormal</a:t>
                </a:r>
              </a:p>
            </p:txBody>
          </p:sp>
        </mc:Choice>
        <mc:Fallback>
          <p:sp>
            <p:nvSpPr>
              <p:cNvPr id="141314" name="Rectangle 3">
                <a:extLst>
                  <a:ext uri="{FF2B5EF4-FFF2-40B4-BE49-F238E27FC236}">
                    <a16:creationId xmlns:a16="http://schemas.microsoft.com/office/drawing/2014/main" id="{93FA4701-C88E-4DC7-AB15-2883F570C4E9}"/>
                  </a:ext>
                </a:extLst>
              </p:cNvPr>
              <p:cNvSpPr>
                <a:spLocks noGrp="1" noRot="1" noChangeAspect="1" noMove="1" noResize="1" noEditPoints="1" noAdjustHandles="1" noChangeArrowheads="1" noChangeShapeType="1" noTextEdit="1"/>
              </p:cNvSpPr>
              <p:nvPr>
                <p:ph idx="1"/>
              </p:nvPr>
            </p:nvSpPr>
            <p:spPr>
              <a:blipFill>
                <a:blip r:embed="rId2"/>
                <a:stretch>
                  <a:fillRect l="-1630" t="-1750" r="-296"/>
                </a:stretch>
              </a:blipFill>
            </p:spPr>
            <p:txBody>
              <a:bodyPr/>
              <a:lstStyle/>
              <a:p>
                <a:r>
                  <a:rPr lang="zh-CN" altLang="en-US">
                    <a:noFill/>
                  </a:rPr>
                  <a:t> </a:t>
                </a:r>
              </a:p>
            </p:txBody>
          </p:sp>
        </mc:Fallback>
      </mc:AlternateContent>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6E638ADB-5D34-48C6-8E89-1695D47AE1DF}"/>
              </a:ext>
            </a:extLst>
          </p:cNvPr>
          <p:cNvSpPr>
            <a:spLocks noGrp="1" noChangeArrowheads="1"/>
          </p:cNvSpPr>
          <p:nvPr>
            <p:ph type="title"/>
          </p:nvPr>
        </p:nvSpPr>
        <p:spPr/>
        <p:txBody>
          <a:bodyPr/>
          <a:lstStyle/>
          <a:p>
            <a:r>
              <a:rPr lang="en-US" altLang="zh-CN">
                <a:sym typeface="Symbol" panose="05050102010706020507" pitchFamily="18" charset="2"/>
              </a:rPr>
              <a:t>SVD</a:t>
            </a:r>
          </a:p>
        </p:txBody>
      </p:sp>
      <mc:AlternateContent xmlns:mc="http://schemas.openxmlformats.org/markup-compatibility/2006">
        <mc:Choice xmlns:a14="http://schemas.microsoft.com/office/drawing/2010/main" Requires="a14">
          <p:sp>
            <p:nvSpPr>
              <p:cNvPr id="142338" name="Rectangle 3">
                <a:extLst>
                  <a:ext uri="{FF2B5EF4-FFF2-40B4-BE49-F238E27FC236}">
                    <a16:creationId xmlns:a16="http://schemas.microsoft.com/office/drawing/2014/main" id="{96C7ED69-2228-48B1-B1A6-83F17449BB94}"/>
                  </a:ext>
                </a:extLst>
              </p:cNvPr>
              <p:cNvSpPr>
                <a:spLocks noGrp="1" noChangeArrowheads="1"/>
              </p:cNvSpPr>
              <p:nvPr>
                <p:ph idx="1"/>
              </p:nvPr>
            </p:nvSpPr>
            <p:spPr>
              <a:xfrm>
                <a:off x="685800" y="4648200"/>
                <a:ext cx="8229600" cy="1600200"/>
              </a:xfrm>
            </p:spPr>
            <p:txBody>
              <a:bodyPr/>
              <a:lstStyle/>
              <a:p>
                <a:r>
                  <a:rPr lang="en-US" altLang="zh-CN" dirty="0"/>
                  <a:t>Treat as black box: code widely available</a:t>
                </a:r>
                <a:br>
                  <a:rPr lang="en-US" altLang="zh-CN" dirty="0"/>
                </a:br>
                <a:r>
                  <a:rPr lang="en-US" altLang="zh-CN" dirty="0"/>
                  <a:t>In NumPy: </a:t>
                </a:r>
                <a:r>
                  <a:rPr lang="en-US" altLang="zh-CN" sz="2400" b="1" dirty="0">
                    <a:latin typeface="Courier New" panose="02070309020205020404" pitchFamily="49" charset="0"/>
                  </a:rPr>
                  <a:t>[U,</a:t>
                </a:r>
                <a14:m>
                  <m:oMath xmlns:m="http://schemas.openxmlformats.org/officeDocument/2006/math">
                    <m:r>
                      <a:rPr lang="en-US" altLang="zh-CN" sz="2400" b="1" i="0" smtClean="0">
                        <a:latin typeface="Cambria Math" panose="02040503050406030204" pitchFamily="18" charset="0"/>
                        <a:sym typeface="Symbol" panose="05050102010706020507" pitchFamily="18" charset="2"/>
                      </a:rPr>
                      <m:t>𝚺</m:t>
                    </m:r>
                  </m:oMath>
                </a14:m>
                <a:r>
                  <a:rPr lang="en-US" altLang="zh-CN" sz="2400" b="1" dirty="0">
                    <a:latin typeface="Courier New" panose="02070309020205020404" pitchFamily="49" charset="0"/>
                  </a:rPr>
                  <a:t>,V]=</a:t>
                </a:r>
                <a:r>
                  <a:rPr lang="en-US" altLang="zh-CN" sz="2400" b="1" dirty="0" err="1">
                    <a:latin typeface="Courier New" panose="02070309020205020404" pitchFamily="49" charset="0"/>
                  </a:rPr>
                  <a:t>np.linalg.svd</a:t>
                </a:r>
                <a:r>
                  <a:rPr lang="en-US" altLang="zh-CN" sz="2400" b="1" dirty="0">
                    <a:latin typeface="Courier New" panose="02070309020205020404" pitchFamily="49" charset="0"/>
                  </a:rPr>
                  <a:t>(</a:t>
                </a:r>
                <a:r>
                  <a:rPr lang="en-US" altLang="zh-CN" sz="2400" b="1" dirty="0" err="1">
                    <a:latin typeface="Courier New" panose="02070309020205020404" pitchFamily="49" charset="0"/>
                  </a:rPr>
                  <a:t>A,full_matrices</a:t>
                </a:r>
                <a:r>
                  <a:rPr lang="en-US" altLang="zh-CN" sz="2400" b="1" dirty="0">
                    <a:latin typeface="Courier New" panose="02070309020205020404" pitchFamily="49" charset="0"/>
                  </a:rPr>
                  <a:t>=</a:t>
                </a:r>
                <a:r>
                  <a:rPr lang="en-US" altLang="zh-CN" sz="2400" b="1" dirty="0" err="1">
                    <a:latin typeface="Courier New" panose="02070309020205020404" pitchFamily="49" charset="0"/>
                  </a:rPr>
                  <a:t>True,compute_uv</a:t>
                </a:r>
                <a:r>
                  <a:rPr lang="en-US" altLang="zh-CN" sz="2400" b="1" dirty="0">
                    <a:latin typeface="Courier New" panose="02070309020205020404" pitchFamily="49" charset="0"/>
                  </a:rPr>
                  <a:t>=True)</a:t>
                </a:r>
                <a:endParaRPr lang="en-US" altLang="zh-CN" dirty="0"/>
              </a:p>
            </p:txBody>
          </p:sp>
        </mc:Choice>
        <mc:Fallback>
          <p:sp>
            <p:nvSpPr>
              <p:cNvPr id="142338" name="Rectangle 3">
                <a:extLst>
                  <a:ext uri="{FF2B5EF4-FFF2-40B4-BE49-F238E27FC236}">
                    <a16:creationId xmlns:a16="http://schemas.microsoft.com/office/drawing/2014/main" id="{96C7ED69-2228-48B1-B1A6-83F17449BB94}"/>
                  </a:ext>
                </a:extLst>
              </p:cNvPr>
              <p:cNvSpPr>
                <a:spLocks noGrp="1" noRot="1" noChangeAspect="1" noMove="1" noResize="1" noEditPoints="1" noAdjustHandles="1" noChangeArrowheads="1" noChangeShapeType="1" noTextEdit="1"/>
              </p:cNvSpPr>
              <p:nvPr>
                <p:ph idx="1"/>
              </p:nvPr>
            </p:nvSpPr>
            <p:spPr>
              <a:xfrm>
                <a:off x="685800" y="4648200"/>
                <a:ext cx="8229600" cy="1600200"/>
              </a:xfrm>
              <a:blipFill>
                <a:blip r:embed="rId2"/>
                <a:stretch>
                  <a:fillRect l="-1704" t="-4962" r="-593" b="-21374"/>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B3AFE66-74C0-4DE0-8D78-A4D07F260B41}"/>
              </a:ext>
            </a:extLst>
          </p:cNvPr>
          <p:cNvSpPr txBox="1"/>
          <p:nvPr/>
        </p:nvSpPr>
        <p:spPr>
          <a:xfrm>
            <a:off x="533400" y="990600"/>
            <a:ext cx="8382000" cy="3785652"/>
          </a:xfrm>
          <a:prstGeom prst="rect">
            <a:avLst/>
          </a:prstGeom>
          <a:noFill/>
        </p:spPr>
        <p:txBody>
          <a:bodyPr wrap="square">
            <a:spAutoFit/>
          </a:bodyPr>
          <a:lstStyle/>
          <a:p>
            <a:r>
              <a:rPr lang="zh-CN" altLang="en-US" dirty="0"/>
              <a:t>import numpy as np</a:t>
            </a:r>
          </a:p>
          <a:p>
            <a:endParaRPr lang="zh-CN" altLang="en-US" dirty="0"/>
          </a:p>
          <a:p>
            <a:r>
              <a:rPr lang="zh-CN" altLang="en-US" dirty="0"/>
              <a:t>A = np.array([[1, 2], [3, 4], [5, 6]])</a:t>
            </a:r>
          </a:p>
          <a:p>
            <a:r>
              <a:rPr lang="zh-CN" altLang="en-US" dirty="0"/>
              <a:t>U, s, Vh = np.linalg.svd(A, full_matrices=False)</a:t>
            </a:r>
          </a:p>
          <a:p>
            <a:endParaRPr lang="zh-CN" altLang="en-US" dirty="0"/>
          </a:p>
          <a:p>
            <a:r>
              <a:rPr lang="zh-CN" altLang="en-US" dirty="0"/>
              <a:t>print("U shape:", U.shape)      # (3, 2)</a:t>
            </a:r>
          </a:p>
          <a:p>
            <a:r>
              <a:rPr lang="zh-CN" altLang="en-US" dirty="0"/>
              <a:t>print("s shape:", s.shape)      # (2,)</a:t>
            </a:r>
          </a:p>
          <a:p>
            <a:r>
              <a:rPr lang="zh-CN" altLang="en-US" dirty="0"/>
              <a:t>print("Vh shape:", Vh.shape)    # (2, 2)</a:t>
            </a:r>
          </a:p>
          <a:p>
            <a:endParaRPr lang="zh-CN" altLang="en-US" dirty="0"/>
          </a:p>
          <a:p>
            <a:r>
              <a:rPr lang="zh-CN" altLang="en-US" dirty="0"/>
              <a:t># 重构原矩阵</a:t>
            </a:r>
          </a:p>
          <a:p>
            <a:r>
              <a:rPr lang="zh-CN" altLang="en-US" dirty="0"/>
              <a:t>A_reconstructed = U @ np.diag(s) @ Vh</a:t>
            </a:r>
          </a:p>
          <a:p>
            <a:r>
              <a:rPr lang="zh-CN" altLang="en-US" dirty="0"/>
              <a:t>print("Reconstruction close:", np.allclose(A, A_reconstructed))  # True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9DE557E6-34D8-4664-B12A-F88F530F8DF4}"/>
              </a:ext>
            </a:extLst>
          </p:cNvPr>
          <p:cNvSpPr>
            <a:spLocks noGrp="1" noChangeArrowheads="1"/>
          </p:cNvSpPr>
          <p:nvPr>
            <p:ph type="title"/>
          </p:nvPr>
        </p:nvSpPr>
        <p:spPr/>
        <p:txBody>
          <a:bodyPr/>
          <a:lstStyle/>
          <a:p>
            <a:r>
              <a:rPr lang="en-US" altLang="zh-CN"/>
              <a:t>SVD</a:t>
            </a:r>
          </a:p>
        </p:txBody>
      </p:sp>
      <mc:AlternateContent xmlns:mc="http://schemas.openxmlformats.org/markup-compatibility/2006">
        <mc:Choice xmlns:a14="http://schemas.microsoft.com/office/drawing/2010/main" Requires="a14">
          <p:sp>
            <p:nvSpPr>
              <p:cNvPr id="143362" name="Rectangle 3">
                <a:extLst>
                  <a:ext uri="{FF2B5EF4-FFF2-40B4-BE49-F238E27FC236}">
                    <a16:creationId xmlns:a16="http://schemas.microsoft.com/office/drawing/2014/main" id="{70714030-201E-44D8-8E51-58B16C950DF2}"/>
                  </a:ext>
                </a:extLst>
              </p:cNvPr>
              <p:cNvSpPr>
                <a:spLocks noGrp="1" noChangeArrowheads="1"/>
              </p:cNvSpPr>
              <p:nvPr>
                <p:ph idx="1"/>
              </p:nvPr>
            </p:nvSpPr>
            <p:spPr/>
            <p:txBody>
              <a:bodyPr/>
              <a:lstStyle/>
              <a:p>
                <a:r>
                  <a:rPr lang="en-US" altLang="zh-CN" dirty="0"/>
                  <a:t>The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t> are called the </a:t>
                </a:r>
                <a:r>
                  <a:rPr lang="en-US" altLang="zh-CN" dirty="0">
                    <a:solidFill>
                      <a:schemeClr val="tx2"/>
                    </a:solidFill>
                  </a:rPr>
                  <a:t>singular values</a:t>
                </a:r>
                <a:r>
                  <a:rPr lang="en-US" altLang="zh-CN" dirty="0"/>
                  <a:t> of </a:t>
                </a:r>
                <a:r>
                  <a:rPr lang="en-US" altLang="zh-CN" b="1" dirty="0"/>
                  <a:t>A</a:t>
                </a:r>
                <a:endParaRPr lang="en-US" altLang="zh-CN" dirty="0"/>
              </a:p>
              <a:p>
                <a:r>
                  <a:rPr lang="en-US" altLang="zh-CN" dirty="0"/>
                  <a:t>If </a:t>
                </a:r>
                <a:r>
                  <a:rPr lang="en-US" altLang="zh-CN" b="1" dirty="0"/>
                  <a:t>A</a:t>
                </a:r>
                <a:r>
                  <a:rPr lang="en-US" altLang="zh-CN" dirty="0"/>
                  <a:t> is singular, some of the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m:t>
                    </m:r>
                  </m:oMath>
                </a14:m>
                <a:r>
                  <a:rPr lang="en-US" altLang="zh-CN" dirty="0"/>
                  <a:t>will be 0</a:t>
                </a:r>
              </a:p>
              <a:p>
                <a:r>
                  <a:rPr lang="en-US" altLang="zh-CN" dirty="0"/>
                  <a:t>In general </a:t>
                </a:r>
                <a:r>
                  <a:rPr lang="en-US" altLang="zh-CN" i="1" dirty="0"/>
                  <a:t>rank</a:t>
                </a:r>
                <a:r>
                  <a:rPr lang="en-US" altLang="zh-CN" dirty="0"/>
                  <a:t>(</a:t>
                </a:r>
                <a:r>
                  <a:rPr lang="en-US" altLang="zh-CN" b="1" dirty="0"/>
                  <a:t>A</a:t>
                </a:r>
                <a:r>
                  <a:rPr lang="en-US" altLang="zh-CN" dirty="0"/>
                  <a:t>) = number of nonzero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endParaRPr lang="en-US" altLang="zh-CN" dirty="0"/>
              </a:p>
            </p:txBody>
          </p:sp>
        </mc:Choice>
        <mc:Fallback>
          <p:sp>
            <p:nvSpPr>
              <p:cNvPr id="143362" name="Rectangle 3">
                <a:extLst>
                  <a:ext uri="{FF2B5EF4-FFF2-40B4-BE49-F238E27FC236}">
                    <a16:creationId xmlns:a16="http://schemas.microsoft.com/office/drawing/2014/main" id="{70714030-201E-44D8-8E51-58B16C950DF2}"/>
                  </a:ext>
                </a:extLst>
              </p:cNvPr>
              <p:cNvSpPr>
                <a:spLocks noGrp="1" noRot="1" noChangeAspect="1" noMove="1" noResize="1" noEditPoints="1" noAdjustHandles="1" noChangeArrowheads="1" noChangeShapeType="1" noTextEdit="1"/>
              </p:cNvSpPr>
              <p:nvPr>
                <p:ph idx="1"/>
              </p:nvPr>
            </p:nvSpPr>
            <p:spPr>
              <a:blipFill>
                <a:blip r:embed="rId2"/>
                <a:stretch>
                  <a:fillRect l="-1630" t="-1750"/>
                </a:stretch>
              </a:blipFill>
            </p:spPr>
            <p:txBody>
              <a:bodyPr/>
              <a:lstStyle/>
              <a:p>
                <a:r>
                  <a:rPr lang="zh-CN" altLang="en-US">
                    <a:noFill/>
                  </a:rPr>
                  <a:t> </a:t>
                </a:r>
              </a:p>
            </p:txBody>
          </p:sp>
        </mc:Fallback>
      </mc:AlternateContent>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7DBD8F71-BACC-41F5-BC85-B6BE21413447}"/>
              </a:ext>
            </a:extLst>
          </p:cNvPr>
          <p:cNvSpPr>
            <a:spLocks noGrp="1" noChangeArrowheads="1"/>
          </p:cNvSpPr>
          <p:nvPr>
            <p:ph type="title"/>
          </p:nvPr>
        </p:nvSpPr>
        <p:spPr/>
        <p:txBody>
          <a:bodyPr/>
          <a:lstStyle/>
          <a:p>
            <a:r>
              <a:rPr lang="en-US" altLang="zh-CN"/>
              <a:t>SVD and Inverses</a:t>
            </a:r>
          </a:p>
        </p:txBody>
      </p:sp>
      <mc:AlternateContent xmlns:mc="http://schemas.openxmlformats.org/markup-compatibility/2006">
        <mc:Choice xmlns:a14="http://schemas.microsoft.com/office/drawing/2010/main" Requires="a14">
          <p:sp>
            <p:nvSpPr>
              <p:cNvPr id="144386" name="Rectangle 3">
                <a:extLst>
                  <a:ext uri="{FF2B5EF4-FFF2-40B4-BE49-F238E27FC236}">
                    <a16:creationId xmlns:a16="http://schemas.microsoft.com/office/drawing/2014/main" id="{70B829EC-7FFD-4DC6-BD6F-16190A46E236}"/>
                  </a:ext>
                </a:extLst>
              </p:cNvPr>
              <p:cNvSpPr>
                <a:spLocks noGrp="1" noChangeArrowheads="1"/>
              </p:cNvSpPr>
              <p:nvPr>
                <p:ph idx="1"/>
              </p:nvPr>
            </p:nvSpPr>
            <p:spPr>
              <a:xfrm>
                <a:off x="685800" y="1752600"/>
                <a:ext cx="8229600" cy="4800600"/>
              </a:xfrm>
            </p:spPr>
            <p:txBody>
              <a:bodyPr/>
              <a:lstStyle/>
              <a:p>
                <a:r>
                  <a:rPr lang="en-US" altLang="zh-CN" dirty="0"/>
                  <a:t>Why is SVD so useful?</a:t>
                </a:r>
              </a:p>
              <a:p>
                <a:r>
                  <a:rPr lang="en-US" altLang="zh-CN" dirty="0"/>
                  <a:t>Application #1: inverses</a:t>
                </a:r>
              </a:p>
              <a:p>
                <a:r>
                  <a:rPr lang="en-US" altLang="zh-CN" b="1" dirty="0"/>
                  <a:t>A</a:t>
                </a:r>
                <a:r>
                  <a:rPr lang="en-US" altLang="zh-CN" baseline="30000" dirty="0"/>
                  <a:t>-1</a:t>
                </a:r>
                <a:r>
                  <a:rPr lang="en-US" altLang="zh-CN" dirty="0"/>
                  <a:t>=(</a:t>
                </a:r>
                <a:r>
                  <a:rPr lang="en-US" altLang="zh-CN" b="1" dirty="0"/>
                  <a:t>V</a:t>
                </a:r>
                <a:r>
                  <a:rPr lang="en-US" altLang="zh-CN" baseline="30000" dirty="0"/>
                  <a:t>T</a:t>
                </a:r>
                <a:r>
                  <a:rPr lang="en-US" altLang="zh-CN" dirty="0"/>
                  <a:t>)</a:t>
                </a:r>
                <a:r>
                  <a:rPr lang="en-US" altLang="zh-CN" baseline="30000" dirty="0"/>
                  <a:t>-1</a:t>
                </a:r>
                <a:r>
                  <a:rPr lang="en-US" altLang="zh-CN" sz="1500" dirty="0"/>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zh-CN" baseline="30000" dirty="0"/>
                  <a:t>-1</a:t>
                </a:r>
                <a:r>
                  <a:rPr lang="en-US" altLang="zh-CN" sz="1500" dirty="0"/>
                  <a:t> </a:t>
                </a:r>
                <a:r>
                  <a:rPr lang="en-US" altLang="zh-CN" b="1" dirty="0"/>
                  <a:t>U</a:t>
                </a:r>
                <a:r>
                  <a:rPr lang="en-US" altLang="zh-CN" baseline="30000" dirty="0"/>
                  <a:t>-1</a:t>
                </a:r>
                <a:r>
                  <a:rPr lang="en-US" altLang="zh-CN" dirty="0"/>
                  <a:t> = </a:t>
                </a:r>
                <a:r>
                  <a:rPr lang="en-US" altLang="zh-CN" b="1" dirty="0"/>
                  <a:t>V</a:t>
                </a:r>
                <a:r>
                  <a:rPr lang="en-US" altLang="zh-CN" sz="1500" dirty="0"/>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zh-CN" baseline="30000" dirty="0"/>
                  <a:t>-1</a:t>
                </a:r>
                <a:r>
                  <a:rPr lang="en-US" altLang="zh-CN" sz="1500" dirty="0"/>
                  <a:t> </a:t>
                </a:r>
                <a:r>
                  <a:rPr lang="en-US" altLang="zh-CN" b="1" dirty="0"/>
                  <a:t>U</a:t>
                </a:r>
                <a:r>
                  <a:rPr lang="en-US" altLang="zh-CN" baseline="30000" dirty="0"/>
                  <a:t>T</a:t>
                </a:r>
              </a:p>
              <a:p>
                <a:pPr lvl="1"/>
                <a:r>
                  <a:rPr lang="en-US" altLang="zh-CN" dirty="0"/>
                  <a:t>Using fact that inverse = transpose for orthogonal matrices</a:t>
                </a:r>
              </a:p>
              <a:p>
                <a:pPr lvl="1"/>
                <a:r>
                  <a:rPr lang="en-US" altLang="zh-CN" dirty="0"/>
                  <a:t>Since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r>
                  <a:rPr lang="en-US" altLang="zh-CN" dirty="0"/>
                  <a:t> is diagonal</a:t>
                </a:r>
                <a:r>
                  <a:rPr lang="en-US" altLang="zh-CN" b="1" dirty="0"/>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zh-CN" baseline="30000" dirty="0"/>
                  <a:t>-1</a:t>
                </a:r>
                <a:r>
                  <a:rPr lang="en-US" altLang="zh-CN" dirty="0"/>
                  <a:t> also diagonal with reciprocals of entries of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endParaRPr lang="en-US" altLang="zh-CN" baseline="30000" dirty="0"/>
              </a:p>
            </p:txBody>
          </p:sp>
        </mc:Choice>
        <mc:Fallback>
          <p:sp>
            <p:nvSpPr>
              <p:cNvPr id="144386" name="Rectangle 3">
                <a:extLst>
                  <a:ext uri="{FF2B5EF4-FFF2-40B4-BE49-F238E27FC236}">
                    <a16:creationId xmlns:a16="http://schemas.microsoft.com/office/drawing/2014/main" id="{70B829EC-7FFD-4DC6-BD6F-16190A46E236}"/>
                  </a:ext>
                </a:extLst>
              </p:cNvPr>
              <p:cNvSpPr>
                <a:spLocks noGrp="1" noRot="1" noChangeAspect="1" noMove="1" noResize="1" noEditPoints="1" noAdjustHandles="1" noChangeArrowheads="1" noChangeShapeType="1" noTextEdit="1"/>
              </p:cNvSpPr>
              <p:nvPr>
                <p:ph idx="1"/>
              </p:nvPr>
            </p:nvSpPr>
            <p:spPr>
              <a:xfrm>
                <a:off x="685800" y="1752600"/>
                <a:ext cx="8229600" cy="4800600"/>
              </a:xfrm>
              <a:blipFill>
                <a:blip r:embed="rId3"/>
                <a:stretch>
                  <a:fillRect l="-1704" t="-1652"/>
                </a:stretch>
              </a:blipFill>
            </p:spPr>
            <p:txBody>
              <a:bodyPr/>
              <a:lstStyle/>
              <a:p>
                <a:r>
                  <a:rPr lang="zh-CN" altLang="en-US">
                    <a:noFill/>
                  </a:rPr>
                  <a:t> </a:t>
                </a:r>
              </a:p>
            </p:txBody>
          </p:sp>
        </mc:Fallback>
      </mc:AlternateContent>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E39FB077-1F3B-4D9C-AFA7-FC7CD66D76D8}"/>
              </a:ext>
            </a:extLst>
          </p:cNvPr>
          <p:cNvSpPr>
            <a:spLocks noGrp="1" noChangeArrowheads="1"/>
          </p:cNvSpPr>
          <p:nvPr>
            <p:ph type="title"/>
          </p:nvPr>
        </p:nvSpPr>
        <p:spPr/>
        <p:txBody>
          <a:bodyPr/>
          <a:lstStyle/>
          <a:p>
            <a:r>
              <a:rPr lang="en-US" altLang="zh-CN" dirty="0"/>
              <a:t>SVD and Inverses</a:t>
            </a:r>
          </a:p>
        </p:txBody>
      </p:sp>
      <mc:AlternateContent xmlns:mc="http://schemas.openxmlformats.org/markup-compatibility/2006">
        <mc:Choice xmlns:a14="http://schemas.microsoft.com/office/drawing/2010/main" Requires="a14">
          <p:sp>
            <p:nvSpPr>
              <p:cNvPr id="146434" name="Rectangle 3">
                <a:extLst>
                  <a:ext uri="{FF2B5EF4-FFF2-40B4-BE49-F238E27FC236}">
                    <a16:creationId xmlns:a16="http://schemas.microsoft.com/office/drawing/2014/main" id="{14193D09-05B9-4154-88D4-F1F1043F4868}"/>
                  </a:ext>
                </a:extLst>
              </p:cNvPr>
              <p:cNvSpPr>
                <a:spLocks noGrp="1" noChangeArrowheads="1"/>
              </p:cNvSpPr>
              <p:nvPr>
                <p:ph idx="1"/>
              </p:nvPr>
            </p:nvSpPr>
            <p:spPr>
              <a:xfrm>
                <a:off x="685800" y="1752600"/>
                <a:ext cx="7772400" cy="4800600"/>
              </a:xfrm>
            </p:spPr>
            <p:txBody>
              <a:bodyPr/>
              <a:lstStyle/>
              <a:p>
                <a:r>
                  <a:rPr lang="en-US" altLang="zh-CN" b="1" dirty="0"/>
                  <a:t>A</a:t>
                </a:r>
                <a:r>
                  <a:rPr lang="en-US" altLang="zh-CN" baseline="30000" dirty="0"/>
                  <a:t>-1</a:t>
                </a:r>
                <a:r>
                  <a:rPr lang="en-US" altLang="zh-CN" dirty="0"/>
                  <a:t>=(</a:t>
                </a:r>
                <a:r>
                  <a:rPr lang="en-US" altLang="zh-CN" b="1" dirty="0"/>
                  <a:t>V</a:t>
                </a:r>
                <a:r>
                  <a:rPr lang="en-US" altLang="zh-CN" baseline="30000" dirty="0"/>
                  <a:t>T</a:t>
                </a:r>
                <a:r>
                  <a:rPr lang="en-US" altLang="zh-CN" dirty="0"/>
                  <a:t>)</a:t>
                </a:r>
                <a:r>
                  <a:rPr lang="en-US" altLang="zh-CN" baseline="30000" dirty="0"/>
                  <a:t>-1</a:t>
                </a:r>
                <a:r>
                  <a:rPr lang="en-US" altLang="zh-CN" sz="1500" dirty="0"/>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zh-CN" baseline="30000" dirty="0"/>
                  <a:t>-1</a:t>
                </a:r>
                <a:r>
                  <a:rPr lang="en-US" altLang="zh-CN" sz="1500" dirty="0"/>
                  <a:t> </a:t>
                </a:r>
                <a:r>
                  <a:rPr lang="en-US" altLang="zh-CN" b="1" dirty="0"/>
                  <a:t>U</a:t>
                </a:r>
                <a:r>
                  <a:rPr lang="en-US" altLang="zh-CN" baseline="30000" dirty="0"/>
                  <a:t>-1</a:t>
                </a:r>
                <a:r>
                  <a:rPr lang="en-US" altLang="zh-CN" dirty="0"/>
                  <a:t> = </a:t>
                </a:r>
                <a:r>
                  <a:rPr lang="en-US" altLang="zh-CN" b="1" dirty="0"/>
                  <a:t>V</a:t>
                </a:r>
                <a:r>
                  <a:rPr lang="en-US" altLang="zh-CN" sz="1500" dirty="0"/>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zh-CN" baseline="30000" dirty="0"/>
                  <a:t>-1</a:t>
                </a:r>
                <a:r>
                  <a:rPr lang="en-US" altLang="zh-CN" sz="1500" dirty="0"/>
                  <a:t> </a:t>
                </a:r>
                <a:r>
                  <a:rPr lang="en-US" altLang="zh-CN" b="1" dirty="0"/>
                  <a:t>U</a:t>
                </a:r>
                <a:r>
                  <a:rPr lang="en-US" altLang="zh-CN" baseline="30000" dirty="0"/>
                  <a:t>T</a:t>
                </a:r>
                <a:endParaRPr lang="en-US" altLang="zh-CN" dirty="0"/>
              </a:p>
              <a:p>
                <a:r>
                  <a:rPr lang="en-US" altLang="zh-CN" dirty="0"/>
                  <a:t>This fails when some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t> are 0</a:t>
                </a:r>
              </a:p>
              <a:p>
                <a:pPr lvl="1"/>
                <a:r>
                  <a:rPr lang="en-US" altLang="zh-CN" dirty="0"/>
                  <a:t>It’s </a:t>
                </a:r>
                <a:r>
                  <a:rPr lang="en-US" altLang="zh-CN" i="1" dirty="0"/>
                  <a:t>supposed</a:t>
                </a:r>
                <a:r>
                  <a:rPr lang="en-US" altLang="zh-CN" dirty="0"/>
                  <a:t> to fail – singular matrix</a:t>
                </a:r>
              </a:p>
              <a:p>
                <a:r>
                  <a:rPr lang="en-US" altLang="zh-CN" dirty="0"/>
                  <a:t>Pseudoinverse: if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t> =0, set 1/</a:t>
                </a:r>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t> to 0 (!)</a:t>
                </a:r>
              </a:p>
              <a:p>
                <a:pPr lvl="1"/>
                <a:r>
                  <a:rPr lang="en-US" altLang="zh-CN" dirty="0"/>
                  <a:t>“Closest” matrix to inverse</a:t>
                </a:r>
              </a:p>
              <a:p>
                <a:pPr lvl="1"/>
                <a:r>
                  <a:rPr lang="en-US" altLang="zh-CN" dirty="0"/>
                  <a:t>Defined for all (even non-square, singular, etc.) matrices</a:t>
                </a:r>
              </a:p>
            </p:txBody>
          </p:sp>
        </mc:Choice>
        <mc:Fallback>
          <p:sp>
            <p:nvSpPr>
              <p:cNvPr id="146434" name="Rectangle 3">
                <a:extLst>
                  <a:ext uri="{FF2B5EF4-FFF2-40B4-BE49-F238E27FC236}">
                    <a16:creationId xmlns:a16="http://schemas.microsoft.com/office/drawing/2014/main" id="{14193D09-05B9-4154-88D4-F1F1043F4868}"/>
                  </a:ext>
                </a:extLst>
              </p:cNvPr>
              <p:cNvSpPr>
                <a:spLocks noGrp="1" noRot="1" noChangeAspect="1" noMove="1" noResize="1" noEditPoints="1" noAdjustHandles="1" noChangeArrowheads="1" noChangeShapeType="1" noTextEdit="1"/>
              </p:cNvSpPr>
              <p:nvPr>
                <p:ph idx="1"/>
              </p:nvPr>
            </p:nvSpPr>
            <p:spPr>
              <a:xfrm>
                <a:off x="685800" y="1752600"/>
                <a:ext cx="7772400" cy="4800600"/>
              </a:xfrm>
              <a:blipFill>
                <a:blip r:embed="rId2"/>
                <a:stretch>
                  <a:fillRect l="-1804" t="-1652" r="-235"/>
                </a:stretch>
              </a:blipFill>
            </p:spPr>
            <p:txBody>
              <a:bodyPr/>
              <a:lstStyle/>
              <a:p>
                <a:r>
                  <a:rPr lang="zh-CN" altLang="en-US">
                    <a:noFill/>
                  </a:rPr>
                  <a:t> </a:t>
                </a:r>
              </a:p>
            </p:txBody>
          </p:sp>
        </mc:Fallback>
      </mc:AlternateContent>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CB03A0BC-7ACA-4BAA-9E8D-6B7EE9AD8608}"/>
              </a:ext>
            </a:extLst>
          </p:cNvPr>
          <p:cNvSpPr>
            <a:spLocks noGrp="1" noChangeArrowheads="1"/>
          </p:cNvSpPr>
          <p:nvPr>
            <p:ph type="title"/>
          </p:nvPr>
        </p:nvSpPr>
        <p:spPr/>
        <p:txBody>
          <a:bodyPr/>
          <a:lstStyle/>
          <a:p>
            <a:r>
              <a:rPr lang="en-US" altLang="zh-CN"/>
              <a:t>SVD and Least Squares</a:t>
            </a:r>
          </a:p>
        </p:txBody>
      </p:sp>
      <mc:AlternateContent xmlns:mc="http://schemas.openxmlformats.org/markup-compatibility/2006">
        <mc:Choice xmlns:a14="http://schemas.microsoft.com/office/drawing/2010/main" Requires="a14">
          <p:sp>
            <p:nvSpPr>
              <p:cNvPr id="147458" name="Rectangle 3">
                <a:extLst>
                  <a:ext uri="{FF2B5EF4-FFF2-40B4-BE49-F238E27FC236}">
                    <a16:creationId xmlns:a16="http://schemas.microsoft.com/office/drawing/2014/main" id="{4CB3A124-919B-4234-AB01-BE3F02814343}"/>
                  </a:ext>
                </a:extLst>
              </p:cNvPr>
              <p:cNvSpPr>
                <a:spLocks noGrp="1" noChangeArrowheads="1"/>
              </p:cNvSpPr>
              <p:nvPr>
                <p:ph idx="1"/>
              </p:nvPr>
            </p:nvSpPr>
            <p:spPr/>
            <p:txBody>
              <a:bodyPr/>
              <a:lstStyle/>
              <a:p>
                <a:r>
                  <a:rPr lang="en-US" altLang="zh-CN" dirty="0"/>
                  <a:t>Solving </a:t>
                </a:r>
                <a:r>
                  <a:rPr lang="en-US" altLang="zh-CN" b="1" dirty="0"/>
                  <a:t>Ax</a:t>
                </a:r>
                <a:r>
                  <a:rPr lang="en-US" altLang="zh-CN" dirty="0"/>
                  <a:t>=</a:t>
                </a:r>
                <a:r>
                  <a:rPr lang="en-US" altLang="zh-CN" b="1" dirty="0"/>
                  <a:t>b</a:t>
                </a:r>
                <a:r>
                  <a:rPr lang="en-US" altLang="zh-CN" dirty="0"/>
                  <a:t> by least squares</a:t>
                </a:r>
              </a:p>
              <a:p>
                <a:r>
                  <a:rPr lang="en-US" altLang="zh-CN" b="1" dirty="0"/>
                  <a:t>x</a:t>
                </a:r>
                <a:r>
                  <a:rPr lang="en-US" altLang="zh-CN" dirty="0"/>
                  <a:t>=pseudoinverse(</a:t>
                </a:r>
                <a:r>
                  <a:rPr lang="en-US" altLang="zh-CN" b="1" dirty="0"/>
                  <a:t>A</a:t>
                </a:r>
                <a:r>
                  <a:rPr lang="en-US" altLang="zh-CN" dirty="0"/>
                  <a:t>) times </a:t>
                </a:r>
                <a:r>
                  <a:rPr lang="en-US" altLang="zh-CN" b="1" dirty="0"/>
                  <a:t>b</a:t>
                </a:r>
                <a:r>
                  <a:rPr lang="en-US" altLang="zh-CN" dirty="0"/>
                  <a:t> </a:t>
                </a:r>
              </a:p>
              <a:p>
                <a:r>
                  <a:rPr lang="en-US" altLang="zh-CN" dirty="0"/>
                  <a:t>Compute pseudoinverse using SVD</a:t>
                </a:r>
              </a:p>
              <a:p>
                <a:pPr lvl="1"/>
                <a:r>
                  <a:rPr lang="en-US" altLang="zh-CN" dirty="0"/>
                  <a:t>Lets you see if data is singular</a:t>
                </a:r>
              </a:p>
              <a:p>
                <a:pPr lvl="1"/>
                <a:r>
                  <a:rPr lang="en-US" altLang="zh-CN" dirty="0"/>
                  <a:t>Even if not singular, ratio of max to min singular values (condition number) tells you how stable the solution will be</a:t>
                </a:r>
              </a:p>
              <a:p>
                <a:pPr lvl="1"/>
                <a:r>
                  <a:rPr lang="en-US" altLang="zh-CN" dirty="0">
                    <a:solidFill>
                      <a:schemeClr val="tx2"/>
                    </a:solidFill>
                  </a:rPr>
                  <a:t>Set 1/</a:t>
                </a:r>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solidFill>
                      <a:schemeClr val="tx2"/>
                    </a:solidFill>
                  </a:rPr>
                  <a:t> to 0 if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en-US" altLang="zh-CN" dirty="0">
                    <a:solidFill>
                      <a:schemeClr val="tx2"/>
                    </a:solidFill>
                  </a:rPr>
                  <a:t> is small (even if not exactly 0)</a:t>
                </a:r>
              </a:p>
            </p:txBody>
          </p:sp>
        </mc:Choice>
        <mc:Fallback>
          <p:sp>
            <p:nvSpPr>
              <p:cNvPr id="147458" name="Rectangle 3">
                <a:extLst>
                  <a:ext uri="{FF2B5EF4-FFF2-40B4-BE49-F238E27FC236}">
                    <a16:creationId xmlns:a16="http://schemas.microsoft.com/office/drawing/2014/main" id="{4CB3A124-919B-4234-AB01-BE3F02814343}"/>
                  </a:ext>
                </a:extLst>
              </p:cNvPr>
              <p:cNvSpPr>
                <a:spLocks noGrp="1" noRot="1" noChangeAspect="1" noMove="1" noResize="1" noEditPoints="1" noAdjustHandles="1" noChangeArrowheads="1" noChangeShapeType="1" noTextEdit="1"/>
              </p:cNvSpPr>
              <p:nvPr>
                <p:ph idx="1"/>
              </p:nvPr>
            </p:nvSpPr>
            <p:spPr>
              <a:blipFill>
                <a:blip r:embed="rId2"/>
                <a:stretch>
                  <a:fillRect l="-1630" t="-1750" r="-1778"/>
                </a:stretch>
              </a:blipFill>
            </p:spPr>
            <p:txBody>
              <a:bodyPr/>
              <a:lstStyle/>
              <a:p>
                <a:r>
                  <a:rPr lang="zh-CN" altLang="en-US">
                    <a:noFill/>
                  </a:rPr>
                  <a:t> </a:t>
                </a:r>
              </a:p>
            </p:txBody>
          </p:sp>
        </mc:Fallback>
      </mc:AlternateContent>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F6283175-5340-4897-838D-2EC8C7BDC3ED}"/>
              </a:ext>
            </a:extLst>
          </p:cNvPr>
          <p:cNvSpPr>
            <a:spLocks noGrp="1" noChangeArrowheads="1"/>
          </p:cNvSpPr>
          <p:nvPr>
            <p:ph type="title"/>
          </p:nvPr>
        </p:nvSpPr>
        <p:spPr/>
        <p:txBody>
          <a:bodyPr/>
          <a:lstStyle/>
          <a:p>
            <a:r>
              <a:rPr lang="en-US" altLang="zh-CN"/>
              <a:t>SVD and Eigenvectors</a:t>
            </a:r>
          </a:p>
        </p:txBody>
      </p:sp>
      <mc:AlternateContent xmlns:mc="http://schemas.openxmlformats.org/markup-compatibility/2006">
        <mc:Choice xmlns:a14="http://schemas.microsoft.com/office/drawing/2010/main" Requires="a14">
          <p:sp>
            <p:nvSpPr>
              <p:cNvPr id="1003523" name="Rectangle 3">
                <a:extLst>
                  <a:ext uri="{FF2B5EF4-FFF2-40B4-BE49-F238E27FC236}">
                    <a16:creationId xmlns:a16="http://schemas.microsoft.com/office/drawing/2014/main" id="{8597AD03-8767-45DF-8D10-5C04FA0B45C1}"/>
                  </a:ext>
                </a:extLst>
              </p:cNvPr>
              <p:cNvSpPr>
                <a:spLocks noGrp="1" noChangeArrowheads="1"/>
              </p:cNvSpPr>
              <p:nvPr>
                <p:ph idx="1"/>
              </p:nvPr>
            </p:nvSpPr>
            <p:spPr>
              <a:xfrm>
                <a:off x="685800" y="1752600"/>
                <a:ext cx="8161338" cy="4800600"/>
              </a:xfrm>
            </p:spPr>
            <p:txBody>
              <a:bodyPr>
                <a:normAutofit/>
              </a:bodyPr>
              <a:lstStyle/>
              <a:p>
                <a:pPr>
                  <a:defRPr/>
                </a:pPr>
                <a:r>
                  <a:rPr lang="en-US" altLang="x-none" dirty="0"/>
                  <a:t>Let </a:t>
                </a:r>
                <a:r>
                  <a:rPr lang="en-US" altLang="x-none" b="1" dirty="0"/>
                  <a:t>A</a:t>
                </a:r>
                <a:r>
                  <a:rPr lang="en-US" altLang="x-none" dirty="0"/>
                  <a:t>=</a:t>
                </a:r>
                <a:r>
                  <a:rPr lang="en-US" altLang="x-none" b="1" dirty="0"/>
                  <a:t>U</a:t>
                </a:r>
                <a:r>
                  <a:rPr lang="en-US" altLang="zh-CN" b="1" dirty="0">
                    <a:sym typeface="Symbol" panose="05050102010706020507" pitchFamily="18" charset="2"/>
                  </a:rPr>
                  <a:t>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r>
                      <a:rPr lang="en-US" altLang="zh-CN" b="1" i="1" smtClean="0">
                        <a:latin typeface="Cambria Math" panose="02040503050406030204" pitchFamily="18" charset="0"/>
                        <a:sym typeface="Symbol" panose="05050102010706020507" pitchFamily="18" charset="2"/>
                      </a:rPr>
                      <m:t> </m:t>
                    </m:r>
                  </m:oMath>
                </a14:m>
                <a:r>
                  <a:rPr lang="en-US" altLang="x-none" b="1" dirty="0"/>
                  <a:t>V</a:t>
                </a:r>
                <a:r>
                  <a:rPr lang="en-US" altLang="x-none" baseline="30000" dirty="0"/>
                  <a:t>T</a:t>
                </a:r>
                <a:r>
                  <a:rPr lang="en-US" altLang="x-none" dirty="0"/>
                  <a:t>, and let </a:t>
                </a:r>
                <a:r>
                  <a:rPr lang="en-US" altLang="x-none" i="1" dirty="0"/>
                  <a:t>x</a:t>
                </a:r>
                <a:r>
                  <a:rPr lang="en-US" altLang="x-none" i="1" baseline="-25000" dirty="0"/>
                  <a:t>i</a:t>
                </a:r>
                <a:r>
                  <a:rPr lang="en-US" altLang="x-none" dirty="0"/>
                  <a:t> be </a:t>
                </a:r>
                <a:r>
                  <a:rPr lang="en-US" altLang="x-none" i="1" dirty="0" err="1">
                    <a:latin typeface="Times New Roman" charset="0"/>
                    <a:ea typeface="Times New Roman" charset="0"/>
                    <a:cs typeface="Times New Roman" charset="0"/>
                  </a:rPr>
                  <a:t>i</a:t>
                </a:r>
                <a:r>
                  <a:rPr lang="en-US" altLang="x-none" baseline="30000" dirty="0" err="1"/>
                  <a:t>th</a:t>
                </a:r>
                <a:r>
                  <a:rPr lang="en-US" altLang="x-none" dirty="0"/>
                  <a:t> column of </a:t>
                </a:r>
                <a:r>
                  <a:rPr lang="en-US" altLang="x-none" b="1" dirty="0"/>
                  <a:t>V</a:t>
                </a:r>
              </a:p>
              <a:p>
                <a:pPr>
                  <a:defRPr/>
                </a:pPr>
                <a:r>
                  <a:rPr lang="en-US" altLang="x-none" dirty="0"/>
                  <a:t>Consider </a:t>
                </a:r>
                <a:r>
                  <a:rPr lang="en-US" altLang="x-none" b="1" dirty="0"/>
                  <a:t>A</a:t>
                </a:r>
                <a:r>
                  <a:rPr lang="en-US" altLang="x-none" baseline="30000" dirty="0"/>
                  <a:t>T</a:t>
                </a:r>
                <a:r>
                  <a:rPr lang="en-US" altLang="x-none" b="1" dirty="0"/>
                  <a:t>A</a:t>
                </a:r>
                <a:r>
                  <a:rPr lang="en-US" altLang="x-none" dirty="0"/>
                  <a:t> </a:t>
                </a:r>
                <a:r>
                  <a:rPr lang="en-US" altLang="x-none" i="1" dirty="0"/>
                  <a:t>x</a:t>
                </a:r>
                <a:r>
                  <a:rPr lang="en-US" altLang="x-none" i="1" baseline="-25000" dirty="0"/>
                  <a:t>i</a:t>
                </a:r>
                <a:r>
                  <a:rPr lang="en-US" altLang="x-none" dirty="0"/>
                  <a:t>:</a:t>
                </a:r>
              </a:p>
              <a:p>
                <a:pPr marL="0" indent="0" algn="ctr">
                  <a:buNone/>
                  <a:defRPr/>
                </a:pPr>
                <a:r>
                  <a:rPr lang="en-US" altLang="x-none" b="1" dirty="0"/>
                  <a:t>A</a:t>
                </a:r>
                <a:r>
                  <a:rPr lang="en-US" altLang="x-none" baseline="30000" dirty="0"/>
                  <a:t>T</a:t>
                </a:r>
                <a:r>
                  <a:rPr lang="en-US" altLang="x-none" b="1" dirty="0"/>
                  <a:t>A</a:t>
                </a:r>
                <a:r>
                  <a:rPr lang="en-US" altLang="x-none" dirty="0"/>
                  <a:t> </a:t>
                </a:r>
                <a:r>
                  <a:rPr lang="en-US" altLang="x-none" i="1" dirty="0"/>
                  <a:t>x</a:t>
                </a:r>
                <a:r>
                  <a:rPr lang="en-US" altLang="x-none" i="1" baseline="-25000" dirty="0"/>
                  <a:t>i</a:t>
                </a:r>
                <a14:m>
                  <m:oMath xmlns:m="http://schemas.openxmlformats.org/officeDocument/2006/math">
                    <m:r>
                      <a:rPr lang="en-US" altLang="x-none" b="0" i="1" smtClean="0">
                        <a:latin typeface="Cambria Math" panose="02040503050406030204" pitchFamily="18" charset="0"/>
                      </a:rPr>
                      <m:t>=</m:t>
                    </m:r>
                    <m:sSubSup>
                      <m:sSubSupPr>
                        <m:ctrlPr>
                          <a:rPr lang="en-US" altLang="x-none" b="0" i="1" smtClean="0">
                            <a:latin typeface="Cambria Math" panose="02040503050406030204" pitchFamily="18" charset="0"/>
                          </a:rPr>
                        </m:ctrlPr>
                      </m:sSubSupPr>
                      <m:e>
                        <m:r>
                          <a:rPr lang="en-US" altLang="x-none" b="0" i="1" smtClean="0">
                            <a:latin typeface="Cambria Math" panose="02040503050406030204" pitchFamily="18" charset="0"/>
                          </a:rPr>
                          <m:t>𝜎</m:t>
                        </m:r>
                      </m:e>
                      <m:sub>
                        <m:r>
                          <a:rPr lang="en-US" altLang="x-none" b="0" i="1" smtClean="0">
                            <a:latin typeface="Cambria Math" panose="02040503050406030204" pitchFamily="18" charset="0"/>
                          </a:rPr>
                          <m:t>𝑖</m:t>
                        </m:r>
                      </m:sub>
                      <m:sup>
                        <m:r>
                          <a:rPr lang="en-US" altLang="x-none" b="0" i="1" smtClean="0">
                            <a:latin typeface="Cambria Math" panose="02040503050406030204" pitchFamily="18" charset="0"/>
                          </a:rPr>
                          <m:t>2</m:t>
                        </m:r>
                      </m:sup>
                    </m:sSubSup>
                  </m:oMath>
                </a14:m>
                <a:r>
                  <a:rPr lang="en-US" altLang="x-none" i="1" dirty="0"/>
                  <a:t>x</a:t>
                </a:r>
                <a:r>
                  <a:rPr lang="en-US" altLang="x-none" i="1" baseline="-25000" dirty="0"/>
                  <a:t>i</a:t>
                </a:r>
                <a:endParaRPr lang="en-US" altLang="x-none" dirty="0"/>
              </a:p>
              <a:p>
                <a:pPr>
                  <a:defRPr/>
                </a:pPr>
                <a:r>
                  <a:rPr lang="en-US" altLang="x-none" dirty="0"/>
                  <a:t>So elements of </a:t>
                </a:r>
                <a14:m>
                  <m:oMath xmlns:m="http://schemas.openxmlformats.org/officeDocument/2006/math">
                    <m:r>
                      <a:rPr lang="en-US" altLang="zh-CN" b="1" i="0" smtClean="0">
                        <a:latin typeface="Cambria Math" panose="02040503050406030204" pitchFamily="18" charset="0"/>
                        <a:sym typeface="Symbol" panose="05050102010706020507" pitchFamily="18" charset="2"/>
                      </a:rPr>
                      <m:t>𝚺</m:t>
                    </m:r>
                  </m:oMath>
                </a14:m>
                <a:r>
                  <a:rPr lang="en-US" altLang="x-none" dirty="0"/>
                  <a:t> are sqrt(eigenvalues) and columns of </a:t>
                </a:r>
                <a:r>
                  <a:rPr lang="en-US" altLang="x-none" b="1" dirty="0"/>
                  <a:t>V</a:t>
                </a:r>
                <a:r>
                  <a:rPr lang="en-US" altLang="x-none" dirty="0"/>
                  <a:t> are eigenvectors of </a:t>
                </a:r>
                <a:r>
                  <a:rPr lang="en-US" altLang="x-none" b="1" dirty="0"/>
                  <a:t>A</a:t>
                </a:r>
                <a:r>
                  <a:rPr lang="en-US" altLang="x-none" baseline="30000" dirty="0"/>
                  <a:t>T</a:t>
                </a:r>
                <a:r>
                  <a:rPr lang="en-US" altLang="x-none" b="1" dirty="0"/>
                  <a:t>A</a:t>
                </a:r>
              </a:p>
              <a:p>
                <a:pPr lvl="1">
                  <a:defRPr/>
                </a:pPr>
                <a:r>
                  <a:rPr lang="en-US" altLang="x-none" dirty="0"/>
                  <a:t>What we wanted for robust least squares fitting!</a:t>
                </a:r>
              </a:p>
            </p:txBody>
          </p:sp>
        </mc:Choice>
        <mc:Fallback>
          <p:sp>
            <p:nvSpPr>
              <p:cNvPr id="1003523" name="Rectangle 3">
                <a:extLst>
                  <a:ext uri="{FF2B5EF4-FFF2-40B4-BE49-F238E27FC236}">
                    <a16:creationId xmlns:a16="http://schemas.microsoft.com/office/drawing/2014/main" id="{8597AD03-8767-45DF-8D10-5C04FA0B45C1}"/>
                  </a:ext>
                </a:extLst>
              </p:cNvPr>
              <p:cNvSpPr>
                <a:spLocks noGrp="1" noRot="1" noChangeAspect="1" noMove="1" noResize="1" noEditPoints="1" noAdjustHandles="1" noChangeArrowheads="1" noChangeShapeType="1" noTextEdit="1"/>
              </p:cNvSpPr>
              <p:nvPr>
                <p:ph idx="1"/>
              </p:nvPr>
            </p:nvSpPr>
            <p:spPr>
              <a:xfrm>
                <a:off x="685800" y="1752600"/>
                <a:ext cx="8161338" cy="4800600"/>
              </a:xfrm>
              <a:blipFill>
                <a:blip r:embed="rId2"/>
                <a:stretch>
                  <a:fillRect l="-1719" t="-1779" r="-673"/>
                </a:stretch>
              </a:blipFill>
            </p:spPr>
            <p:txBody>
              <a:bodyPr/>
              <a:lstStyle/>
              <a:p>
                <a:r>
                  <a:rPr lang="zh-CN" altLang="en-US">
                    <a:noFill/>
                  </a:rPr>
                  <a:t> </a:t>
                </a:r>
              </a:p>
            </p:txBody>
          </p:sp>
        </mc:Fallback>
      </mc:AlternateContent>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CE4834ED-FF39-4D1D-A846-FACA3E606FDC}"/>
              </a:ext>
            </a:extLst>
          </p:cNvPr>
          <p:cNvSpPr>
            <a:spLocks noGrp="1" noChangeArrowheads="1"/>
          </p:cNvSpPr>
          <p:nvPr>
            <p:ph type="title"/>
          </p:nvPr>
        </p:nvSpPr>
        <p:spPr/>
        <p:txBody>
          <a:bodyPr/>
          <a:lstStyle/>
          <a:p>
            <a:r>
              <a:rPr lang="en-US" altLang="zh-CN"/>
              <a:t>SVD and Matrix Similarity</a:t>
            </a:r>
          </a:p>
        </p:txBody>
      </p:sp>
      <mc:AlternateContent xmlns:mc="http://schemas.openxmlformats.org/markup-compatibility/2006">
        <mc:Choice xmlns:a14="http://schemas.microsoft.com/office/drawing/2010/main" Requires="a14">
          <p:sp>
            <p:nvSpPr>
              <p:cNvPr id="149506" name="Rectangle 3">
                <a:extLst>
                  <a:ext uri="{FF2B5EF4-FFF2-40B4-BE49-F238E27FC236}">
                    <a16:creationId xmlns:a16="http://schemas.microsoft.com/office/drawing/2014/main" id="{A762EF7A-49A3-4932-8CF1-8400A23F0C05}"/>
                  </a:ext>
                </a:extLst>
              </p:cNvPr>
              <p:cNvSpPr>
                <a:spLocks noGrp="1" noChangeArrowheads="1"/>
              </p:cNvSpPr>
              <p:nvPr>
                <p:ph idx="1"/>
              </p:nvPr>
            </p:nvSpPr>
            <p:spPr/>
            <p:txBody>
              <a:bodyPr/>
              <a:lstStyle/>
              <a:p>
                <a:r>
                  <a:rPr lang="en-US" altLang="zh-CN" sz="2800" dirty="0"/>
                  <a:t>One common definition for the norm of a matrix is the </a:t>
                </a:r>
                <a:r>
                  <a:rPr lang="en-US" altLang="zh-CN" sz="2800" dirty="0" err="1"/>
                  <a:t>Frobenius</a:t>
                </a:r>
                <a:r>
                  <a:rPr lang="en-US" altLang="zh-CN" sz="2800" dirty="0"/>
                  <a:t> norm:</a:t>
                </a:r>
              </a:p>
              <a:p>
                <a:pPr marL="0" indent="0">
                  <a:buNone/>
                </a:pPr>
                <a14:m>
                  <m:oMathPara xmlns:m="http://schemas.openxmlformats.org/officeDocument/2006/math">
                    <m:oMathParaPr>
                      <m:jc m:val="centerGroup"/>
                    </m:oMathParaPr>
                    <m:oMath xmlns:m="http://schemas.openxmlformats.org/officeDocument/2006/math">
                      <m:r>
                        <m:rPr>
                          <m:lit/>
                        </m:rP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r>
                        <m:rPr>
                          <m:lit/>
                        </m:rP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d>
                            <m:dPr>
                              <m:begChr m:val=""/>
                              <m:endChr m:val="|"/>
                              <m:ctrlPr>
                                <a:rPr lang="en-US" altLang="zh-CN" sz="2800" b="0" i="1" smtClean="0">
                                  <a:latin typeface="Cambria Math" panose="02040503050406030204" pitchFamily="18" charset="0"/>
                                </a:rPr>
                              </m:ctrlPr>
                            </m:dPr>
                            <m:e>
                              <m:r>
                                <a:rPr lang="zh-CN" altLang="en-US" sz="2800"/>
                                <m:t>​</m:t>
                              </m:r>
                            </m:e>
                          </m:d>
                        </m:e>
                        <m:sub>
                          <m:r>
                            <a:rPr lang="en-US" altLang="zh-CN" sz="2800" b="0" i="1" smtClean="0">
                              <a:latin typeface="Cambria Math" panose="02040503050406030204" pitchFamily="18" charset="0"/>
                            </a:rPr>
                            <m:t>𝐹</m:t>
                          </m:r>
                        </m:sub>
                      </m:sSub>
                      <m:r>
                        <a:rPr lang="en-US" altLang="zh-CN" sz="2800" b="0" i="1" smtClean="0">
                          <a:latin typeface="Cambria Math" panose="02040503050406030204" pitchFamily="18" charset="0"/>
                        </a:rPr>
                        <m:t>=</m:t>
                      </m:r>
                      <m:nary>
                        <m:naryPr>
                          <m:chr m:val="∑"/>
                          <m:supHide m:val="on"/>
                          <m:ctrlPr>
                            <a:rPr lang="en-US" altLang="zh-CN" sz="2800" b="0" i="1" smtClean="0">
                              <a:latin typeface="Cambria Math" panose="02040503050406030204" pitchFamily="18" charset="0"/>
                            </a:rPr>
                          </m:ctrlPr>
                        </m:naryPr>
                        <m:sub>
                          <m:r>
                            <a:rPr lang="en-US" altLang="zh-CN" sz="2800" b="0" i="1" smtClean="0">
                              <a:latin typeface="Cambria Math" panose="02040503050406030204" pitchFamily="18" charset="0"/>
                            </a:rPr>
                            <m:t>𝑖</m:t>
                          </m:r>
                        </m:sub>
                        <m:sup/>
                        <m:e>
                          <m:nary>
                            <m:naryPr>
                              <m:chr m:val="∑"/>
                              <m:supHide m:val="on"/>
                              <m:ctrlPr>
                                <a:rPr lang="en-US" altLang="zh-CN" sz="2800" b="0" i="1" smtClean="0">
                                  <a:latin typeface="Cambria Math" panose="02040503050406030204" pitchFamily="18" charset="0"/>
                                </a:rPr>
                              </m:ctrlPr>
                            </m:naryPr>
                            <m:sub>
                              <m:r>
                                <a:rPr lang="en-US" altLang="zh-CN" sz="2800" b="0" i="1" smtClean="0">
                                  <a:latin typeface="Cambria Math" panose="02040503050406030204" pitchFamily="18" charset="0"/>
                                </a:rPr>
                                <m:t>𝑗</m:t>
                              </m:r>
                            </m:sub>
                            <m:sup/>
                            <m:e>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𝑖𝑗</m:t>
                                  </m:r>
                                </m:sub>
                                <m:sup>
                                  <m:r>
                                    <a:rPr lang="en-US" altLang="zh-CN" sz="2800" b="0" i="1" smtClean="0">
                                      <a:latin typeface="Cambria Math" panose="02040503050406030204" pitchFamily="18" charset="0"/>
                                    </a:rPr>
                                    <m:t>2</m:t>
                                  </m:r>
                                </m:sup>
                              </m:sSubSup>
                            </m:e>
                          </m:nary>
                        </m:e>
                      </m:nary>
                    </m:oMath>
                  </m:oMathPara>
                </a14:m>
                <a:endParaRPr lang="en-US" altLang="zh-CN" sz="2800" dirty="0"/>
              </a:p>
              <a:p>
                <a:r>
                  <a:rPr lang="en-US" altLang="zh-CN" sz="2800" dirty="0" err="1"/>
                  <a:t>Frobenius</a:t>
                </a:r>
                <a:r>
                  <a:rPr lang="en-US" altLang="zh-CN" sz="2800" dirty="0"/>
                  <a:t> norm can be computed from SVD</a:t>
                </a:r>
              </a:p>
              <a:p>
                <a:pPr marL="457200" lvl="1" indent="0">
                  <a:buNone/>
                </a:pPr>
                <a14:m>
                  <m:oMathPara xmlns:m="http://schemas.openxmlformats.org/officeDocument/2006/math">
                    <m:oMathParaPr>
                      <m:jc m:val="centerGroup"/>
                    </m:oMathParaPr>
                    <m:oMath xmlns:m="http://schemas.openxmlformats.org/officeDocument/2006/math">
                      <m:r>
                        <m:rPr>
                          <m:lit/>
                        </m:rP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m:rPr>
                          <m:lit/>
                        </m:rP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m:rPr>
                              <m:lit/>
                            </m:rPr>
                            <a:rPr lang="en-US" altLang="zh-CN" sz="2400" b="0" i="1" smtClean="0">
                              <a:latin typeface="Cambria Math" panose="02040503050406030204" pitchFamily="18" charset="0"/>
                            </a:rPr>
                            <m:t>|</m:t>
                          </m:r>
                        </m:e>
                        <m:sub>
                          <m:r>
                            <a:rPr lang="en-US" altLang="zh-CN" sz="2400" b="0" i="1" smtClean="0">
                              <a:latin typeface="Cambria Math" panose="02040503050406030204" pitchFamily="18" charset="0"/>
                            </a:rPr>
                            <m:t>𝐹</m:t>
                          </m:r>
                        </m:sub>
                      </m:sSub>
                      <m:r>
                        <a:rPr lang="en-US" altLang="zh-CN" sz="2400" b="0" i="1" smtClean="0">
                          <a:latin typeface="Cambria Math" panose="02040503050406030204" pitchFamily="18" charset="0"/>
                        </a:rPr>
                        <m:t>=</m:t>
                      </m:r>
                      <m:nary>
                        <m:naryPr>
                          <m:chr m:val="∑"/>
                          <m:supHide m:val="on"/>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𝑖</m:t>
                          </m:r>
                        </m:sub>
                        <m:sup/>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𝜎</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e>
                      </m:nary>
                    </m:oMath>
                  </m:oMathPara>
                </a14:m>
                <a:endParaRPr lang="en-US" altLang="zh-CN" sz="2400" dirty="0"/>
              </a:p>
              <a:p>
                <a:r>
                  <a:rPr lang="en-US" altLang="zh-CN" sz="2800" dirty="0"/>
                  <a:t>So changes to a matrix can be evaluated by looking at changes to singular values</a:t>
                </a:r>
              </a:p>
            </p:txBody>
          </p:sp>
        </mc:Choice>
        <mc:Fallback>
          <p:sp>
            <p:nvSpPr>
              <p:cNvPr id="149506" name="Rectangle 3">
                <a:extLst>
                  <a:ext uri="{FF2B5EF4-FFF2-40B4-BE49-F238E27FC236}">
                    <a16:creationId xmlns:a16="http://schemas.microsoft.com/office/drawing/2014/main" id="{A762EF7A-49A3-4932-8CF1-8400A23F0C05}"/>
                  </a:ext>
                </a:extLst>
              </p:cNvPr>
              <p:cNvSpPr>
                <a:spLocks noGrp="1" noRot="1" noChangeAspect="1" noMove="1" noResize="1" noEditPoints="1" noAdjustHandles="1" noChangeArrowheads="1" noChangeShapeType="1" noTextEdit="1"/>
              </p:cNvSpPr>
              <p:nvPr>
                <p:ph idx="1"/>
              </p:nvPr>
            </p:nvSpPr>
            <p:spPr>
              <a:blipFill>
                <a:blip r:embed="rId3"/>
                <a:stretch>
                  <a:fillRect l="-1259" t="-1480"/>
                </a:stretch>
              </a:blipFill>
            </p:spPr>
            <p:txBody>
              <a:bodyPr/>
              <a:lstStyle/>
              <a:p>
                <a:r>
                  <a:rPr lang="zh-CN" altLang="en-US">
                    <a:noFill/>
                  </a:rPr>
                  <a:t> </a:t>
                </a:r>
              </a:p>
            </p:txBody>
          </p:sp>
        </mc:Fallback>
      </mc:AlternateContent>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F5E02FF9-F596-4F1E-A222-2DB1CAB26D6C}"/>
              </a:ext>
            </a:extLst>
          </p:cNvPr>
          <p:cNvSpPr>
            <a:spLocks noGrp="1" noChangeArrowheads="1"/>
          </p:cNvSpPr>
          <p:nvPr>
            <p:ph type="title"/>
          </p:nvPr>
        </p:nvSpPr>
        <p:spPr/>
        <p:txBody>
          <a:bodyPr/>
          <a:lstStyle/>
          <a:p>
            <a:r>
              <a:rPr lang="en-US" altLang="zh-CN"/>
              <a:t>SVD and Matrix Similarity</a:t>
            </a:r>
          </a:p>
        </p:txBody>
      </p:sp>
      <mc:AlternateContent xmlns:mc="http://schemas.openxmlformats.org/markup-compatibility/2006">
        <mc:Choice xmlns:a14="http://schemas.microsoft.com/office/drawing/2010/main" Requires="a14">
          <p:sp>
            <p:nvSpPr>
              <p:cNvPr id="151554" name="Rectangle 3">
                <a:extLst>
                  <a:ext uri="{FF2B5EF4-FFF2-40B4-BE49-F238E27FC236}">
                    <a16:creationId xmlns:a16="http://schemas.microsoft.com/office/drawing/2014/main" id="{E8E4ECB6-7951-4020-8D00-8D8B35581148}"/>
                  </a:ext>
                </a:extLst>
              </p:cNvPr>
              <p:cNvSpPr>
                <a:spLocks noGrp="1" noChangeArrowheads="1"/>
              </p:cNvSpPr>
              <p:nvPr>
                <p:ph idx="1"/>
              </p:nvPr>
            </p:nvSpPr>
            <p:spPr>
              <a:xfrm>
                <a:off x="628650" y="1825625"/>
                <a:ext cx="8313738" cy="4351338"/>
              </a:xfrm>
            </p:spPr>
            <p:txBody>
              <a:bodyPr/>
              <a:lstStyle/>
              <a:p>
                <a:r>
                  <a:rPr lang="en-US" altLang="zh-CN" dirty="0"/>
                  <a:t>Suppose you want to find best rank-</a:t>
                </a:r>
                <a:r>
                  <a:rPr lang="en-US" altLang="zh-CN" i="1" dirty="0"/>
                  <a:t>k</a:t>
                </a:r>
                <a:r>
                  <a:rPr lang="en-US" altLang="zh-CN" dirty="0"/>
                  <a:t> approximation to </a:t>
                </a:r>
                <a:r>
                  <a:rPr lang="en-US" altLang="zh-CN" b="1" dirty="0"/>
                  <a:t>A</a:t>
                </a:r>
                <a:endParaRPr lang="en-US" altLang="zh-CN" dirty="0"/>
              </a:p>
              <a:p>
                <a:r>
                  <a:rPr lang="en-US" altLang="zh-CN" dirty="0"/>
                  <a:t>Answer: set all </a:t>
                </a:r>
                <a:r>
                  <a:rPr lang="en-US" altLang="zh-CN" dirty="0">
                    <a:solidFill>
                      <a:srgbClr val="FF0000"/>
                    </a:solidFill>
                  </a:rPr>
                  <a:t>but</a:t>
                </a:r>
                <a:r>
                  <a:rPr lang="en-US" altLang="zh-CN" dirty="0"/>
                  <a:t> the largest </a:t>
                </a:r>
                <a:r>
                  <a:rPr lang="en-US" altLang="zh-CN" i="1" dirty="0"/>
                  <a:t>k</a:t>
                </a:r>
                <a:r>
                  <a:rPr lang="en-US" altLang="zh-CN" dirty="0"/>
                  <a:t> singular values to zero</a:t>
                </a:r>
              </a:p>
              <a:p>
                <a:r>
                  <a:rPr lang="en-US" altLang="zh-CN" dirty="0"/>
                  <a:t>Can form compact representation by eliminating columns of </a:t>
                </a:r>
                <a:r>
                  <a:rPr lang="en-US" altLang="zh-CN" b="1" dirty="0"/>
                  <a:t>U</a:t>
                </a:r>
                <a:r>
                  <a:rPr lang="en-US" altLang="zh-CN" dirty="0"/>
                  <a:t> and </a:t>
                </a:r>
                <a:r>
                  <a:rPr lang="en-US" altLang="zh-CN" b="1" dirty="0"/>
                  <a:t>V</a:t>
                </a:r>
                <a:r>
                  <a:rPr lang="en-US" altLang="zh-CN" dirty="0"/>
                  <a:t> corresponding to zeroed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endParaRPr lang="en-US" altLang="zh-CN" dirty="0"/>
              </a:p>
            </p:txBody>
          </p:sp>
        </mc:Choice>
        <mc:Fallback>
          <p:sp>
            <p:nvSpPr>
              <p:cNvPr id="151554" name="Rectangle 3">
                <a:extLst>
                  <a:ext uri="{FF2B5EF4-FFF2-40B4-BE49-F238E27FC236}">
                    <a16:creationId xmlns:a16="http://schemas.microsoft.com/office/drawing/2014/main" id="{E8E4ECB6-7951-4020-8D00-8D8B35581148}"/>
                  </a:ext>
                </a:extLst>
              </p:cNvPr>
              <p:cNvSpPr>
                <a:spLocks noGrp="1" noRot="1" noChangeAspect="1" noMove="1" noResize="1" noEditPoints="1" noAdjustHandles="1" noChangeArrowheads="1" noChangeShapeType="1" noTextEdit="1"/>
              </p:cNvSpPr>
              <p:nvPr>
                <p:ph idx="1"/>
              </p:nvPr>
            </p:nvSpPr>
            <p:spPr>
              <a:xfrm>
                <a:off x="628650" y="1825625"/>
                <a:ext cx="8313738" cy="4351338"/>
              </a:xfrm>
              <a:blipFill>
                <a:blip r:embed="rId2"/>
                <a:stretch>
                  <a:fillRect l="-1613" t="-1821"/>
                </a:stretch>
              </a:blipFill>
            </p:spPr>
            <p:txBody>
              <a:bodyPr/>
              <a:lstStyle/>
              <a:p>
                <a:r>
                  <a:rPr lang="zh-CN" altLang="en-US">
                    <a:noFill/>
                  </a:rPr>
                  <a:t> </a:t>
                </a:r>
              </a:p>
            </p:txBody>
          </p:sp>
        </mc:Fallback>
      </mc:AlternateContent>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E474A5D3-1F82-49DA-B010-D1FDEC5C11F0}"/>
              </a:ext>
            </a:extLst>
          </p:cNvPr>
          <p:cNvSpPr>
            <a:spLocks noGrp="1" noChangeArrowheads="1"/>
          </p:cNvSpPr>
          <p:nvPr>
            <p:ph type="title"/>
          </p:nvPr>
        </p:nvSpPr>
        <p:spPr/>
        <p:txBody>
          <a:bodyPr/>
          <a:lstStyle/>
          <a:p>
            <a:r>
              <a:rPr lang="en-US" altLang="zh-CN"/>
              <a:t>SVD and PCA</a:t>
            </a:r>
          </a:p>
        </p:txBody>
      </p:sp>
      <p:sp>
        <p:nvSpPr>
          <p:cNvPr id="152578" name="Rectangle 3">
            <a:extLst>
              <a:ext uri="{FF2B5EF4-FFF2-40B4-BE49-F238E27FC236}">
                <a16:creationId xmlns:a16="http://schemas.microsoft.com/office/drawing/2014/main" id="{2A0EB14E-70EA-43E0-9925-086050967006}"/>
              </a:ext>
            </a:extLst>
          </p:cNvPr>
          <p:cNvSpPr>
            <a:spLocks noGrp="1" noChangeArrowheads="1"/>
          </p:cNvSpPr>
          <p:nvPr>
            <p:ph idx="1"/>
          </p:nvPr>
        </p:nvSpPr>
        <p:spPr>
          <a:xfrm>
            <a:off x="628650" y="1825625"/>
            <a:ext cx="8242300" cy="4351338"/>
          </a:xfrm>
        </p:spPr>
        <p:txBody>
          <a:bodyPr/>
          <a:lstStyle/>
          <a:p>
            <a:r>
              <a:rPr lang="en-US" altLang="zh-CN"/>
              <a:t>Principal Components Analysis (PCA): approximating a high-dimensional data set</a:t>
            </a:r>
            <a:r>
              <a:rPr lang="zh-CN" altLang="en-US"/>
              <a:t> </a:t>
            </a:r>
            <a:r>
              <a:rPr lang="en-US" altLang="zh-CN"/>
              <a:t>with a lower-dimensional subspace</a:t>
            </a:r>
          </a:p>
        </p:txBody>
      </p:sp>
      <p:grpSp>
        <p:nvGrpSpPr>
          <p:cNvPr id="152579" name="组 1">
            <a:extLst>
              <a:ext uri="{FF2B5EF4-FFF2-40B4-BE49-F238E27FC236}">
                <a16:creationId xmlns:a16="http://schemas.microsoft.com/office/drawing/2014/main" id="{80098681-0477-4317-BD11-36D3FAB0B789}"/>
              </a:ext>
            </a:extLst>
          </p:cNvPr>
          <p:cNvGrpSpPr>
            <a:grpSpLocks/>
          </p:cNvGrpSpPr>
          <p:nvPr/>
        </p:nvGrpSpPr>
        <p:grpSpPr bwMode="auto">
          <a:xfrm>
            <a:off x="966788" y="3554413"/>
            <a:ext cx="7567612" cy="2743200"/>
            <a:chOff x="966788" y="3553696"/>
            <a:chExt cx="7567612" cy="2743200"/>
          </a:xfrm>
        </p:grpSpPr>
        <p:grpSp>
          <p:nvGrpSpPr>
            <p:cNvPr id="152580" name="Group 4">
              <a:extLst>
                <a:ext uri="{FF2B5EF4-FFF2-40B4-BE49-F238E27FC236}">
                  <a16:creationId xmlns:a16="http://schemas.microsoft.com/office/drawing/2014/main" id="{2D1FA25B-5DFE-4470-8548-7DFAEF690DF0}"/>
                </a:ext>
              </a:extLst>
            </p:cNvPr>
            <p:cNvGrpSpPr>
              <a:grpSpLocks/>
            </p:cNvGrpSpPr>
            <p:nvPr/>
          </p:nvGrpSpPr>
          <p:grpSpPr bwMode="auto">
            <a:xfrm>
              <a:off x="3314700" y="3553696"/>
              <a:ext cx="2514600" cy="2514600"/>
              <a:chOff x="2112" y="2400"/>
              <a:chExt cx="1584" cy="1584"/>
            </a:xfrm>
          </p:grpSpPr>
          <p:sp>
            <p:nvSpPr>
              <p:cNvPr id="1007621" name="Line 5">
                <a:extLst>
                  <a:ext uri="{FF2B5EF4-FFF2-40B4-BE49-F238E27FC236}">
                    <a16:creationId xmlns:a16="http://schemas.microsoft.com/office/drawing/2014/main" id="{A6F94D78-B7B0-4B33-86E1-FF6AE87CA1A4}"/>
                  </a:ext>
                </a:extLst>
              </p:cNvPr>
              <p:cNvSpPr>
                <a:spLocks noChangeShapeType="1"/>
              </p:cNvSpPr>
              <p:nvPr/>
            </p:nvSpPr>
            <p:spPr bwMode="auto">
              <a:xfrm flipV="1">
                <a:off x="2904" y="2400"/>
                <a:ext cx="0" cy="1584"/>
              </a:xfrm>
              <a:prstGeom prst="line">
                <a:avLst/>
              </a:prstGeom>
              <a:noFill/>
              <a:ln w="25400">
                <a:solidFill>
                  <a:schemeClr val="tx1"/>
                </a:solidFill>
                <a:round/>
                <a:headEnd/>
                <a:tailEnd type="triangle" w="med" len="med"/>
              </a:ln>
              <a:effectLst>
                <a:outerShdw blurRad="63500" dist="17961" dir="2700000" algn="ctr" rotWithShape="0">
                  <a:schemeClr val="bg2">
                    <a:alpha val="74998"/>
                  </a:schemeClr>
                </a:outerShdw>
              </a:effectLst>
            </p:spPr>
            <p:txBody>
              <a:bodyPr wrap="none" anchor="ctr"/>
              <a:lstStyle/>
              <a:p>
                <a:pPr eaLnBrk="1" hangingPunct="1">
                  <a:spcBef>
                    <a:spcPct val="50000"/>
                  </a:spcBef>
                  <a:defRPr/>
                </a:pPr>
                <a:endParaRPr lang="zh-CN" altLang="en-US"/>
              </a:p>
            </p:txBody>
          </p:sp>
          <p:sp>
            <p:nvSpPr>
              <p:cNvPr id="1007622" name="Line 6">
                <a:extLst>
                  <a:ext uri="{FF2B5EF4-FFF2-40B4-BE49-F238E27FC236}">
                    <a16:creationId xmlns:a16="http://schemas.microsoft.com/office/drawing/2014/main" id="{00868824-BDE1-4967-9C29-BC49517DC1BC}"/>
                  </a:ext>
                </a:extLst>
              </p:cNvPr>
              <p:cNvSpPr>
                <a:spLocks noChangeShapeType="1"/>
              </p:cNvSpPr>
              <p:nvPr/>
            </p:nvSpPr>
            <p:spPr bwMode="auto">
              <a:xfrm rot="5400000" flipV="1">
                <a:off x="2904" y="2400"/>
                <a:ext cx="0" cy="1584"/>
              </a:xfrm>
              <a:prstGeom prst="line">
                <a:avLst/>
              </a:prstGeom>
              <a:noFill/>
              <a:ln w="25400">
                <a:solidFill>
                  <a:schemeClr val="tx1"/>
                </a:solidFill>
                <a:round/>
                <a:headEnd/>
                <a:tailEnd type="triangle" w="med" len="med"/>
              </a:ln>
              <a:effectLst>
                <a:outerShdw blurRad="63500" dist="17961" dir="2700000" algn="ctr" rotWithShape="0">
                  <a:schemeClr val="bg2">
                    <a:alpha val="74998"/>
                  </a:schemeClr>
                </a:outerShdw>
              </a:effectLst>
            </p:spPr>
            <p:txBody>
              <a:bodyPr wrap="none" anchor="ctr"/>
              <a:lstStyle/>
              <a:p>
                <a:pPr eaLnBrk="1" hangingPunct="1">
                  <a:spcBef>
                    <a:spcPct val="50000"/>
                  </a:spcBef>
                  <a:defRPr/>
                </a:pPr>
                <a:endParaRPr lang="zh-CN" altLang="en-US"/>
              </a:p>
            </p:txBody>
          </p:sp>
        </p:grpSp>
        <p:sp>
          <p:nvSpPr>
            <p:cNvPr id="1007623" name="Text Box 7">
              <a:extLst>
                <a:ext uri="{FF2B5EF4-FFF2-40B4-BE49-F238E27FC236}">
                  <a16:creationId xmlns:a16="http://schemas.microsoft.com/office/drawing/2014/main" id="{D5E832BE-0681-432B-BCF8-8973B01F1480}"/>
                </a:ext>
              </a:extLst>
            </p:cNvPr>
            <p:cNvSpPr txBox="1">
              <a:spLocks noChangeArrowheads="1"/>
            </p:cNvSpPr>
            <p:nvPr/>
          </p:nvSpPr>
          <p:spPr bwMode="auto">
            <a:xfrm>
              <a:off x="5668963" y="4909421"/>
              <a:ext cx="1570037" cy="396875"/>
            </a:xfrm>
            <a:prstGeom prst="rect">
              <a:avLst/>
            </a:prstGeom>
            <a:noFill/>
            <a:ln>
              <a:noFill/>
            </a:ln>
            <a:effectLst/>
          </p:spPr>
          <p:txBody>
            <a:bodyPr wrap="none">
              <a:spAutoFit/>
            </a:bodyPr>
            <a:lstStyle/>
            <a:p>
              <a:pPr eaLnBrk="1" hangingPunct="1">
                <a:spcBef>
                  <a:spcPct val="50000"/>
                </a:spcBef>
                <a:defRPr/>
              </a:pPr>
              <a:r>
                <a:rPr lang="en-US" altLang="x-none">
                  <a:effectLst>
                    <a:outerShdw blurRad="38100" dist="38100" dir="2700000" algn="tl">
                      <a:srgbClr val="000000"/>
                    </a:outerShdw>
                  </a:effectLst>
                </a:rPr>
                <a:t>Original axes</a:t>
              </a:r>
            </a:p>
          </p:txBody>
        </p:sp>
        <p:grpSp>
          <p:nvGrpSpPr>
            <p:cNvPr id="152582" name="Group 8">
              <a:extLst>
                <a:ext uri="{FF2B5EF4-FFF2-40B4-BE49-F238E27FC236}">
                  <a16:creationId xmlns:a16="http://schemas.microsoft.com/office/drawing/2014/main" id="{0ACB2C8D-8832-4874-B8E9-871316D6F316}"/>
                </a:ext>
              </a:extLst>
            </p:cNvPr>
            <p:cNvGrpSpPr>
              <a:grpSpLocks/>
            </p:cNvGrpSpPr>
            <p:nvPr/>
          </p:nvGrpSpPr>
          <p:grpSpPr bwMode="auto">
            <a:xfrm>
              <a:off x="2819400" y="3782296"/>
              <a:ext cx="2849563" cy="2514600"/>
              <a:chOff x="1776" y="2592"/>
              <a:chExt cx="1795" cy="1584"/>
            </a:xfrm>
          </p:grpSpPr>
          <p:sp>
            <p:nvSpPr>
              <p:cNvPr id="1007625" name="Text Box 9">
                <a:extLst>
                  <a:ext uri="{FF2B5EF4-FFF2-40B4-BE49-F238E27FC236}">
                    <a16:creationId xmlns:a16="http://schemas.microsoft.com/office/drawing/2014/main" id="{8F0776C9-C436-48D4-B220-7B7194F32AF6}"/>
                  </a:ext>
                </a:extLst>
              </p:cNvPr>
              <p:cNvSpPr txBox="1">
                <a:spLocks noChangeArrowheads="1"/>
              </p:cNvSpPr>
              <p:nvPr/>
            </p:nvSpPr>
            <p:spPr bwMode="auto">
              <a:xfrm>
                <a:off x="2304" y="3696"/>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26" name="Text Box 10">
                <a:extLst>
                  <a:ext uri="{FF2B5EF4-FFF2-40B4-BE49-F238E27FC236}">
                    <a16:creationId xmlns:a16="http://schemas.microsoft.com/office/drawing/2014/main" id="{A786286F-CD7A-435C-B2B9-25C21C8ECB05}"/>
                  </a:ext>
                </a:extLst>
              </p:cNvPr>
              <p:cNvSpPr txBox="1">
                <a:spLocks noChangeArrowheads="1"/>
              </p:cNvSpPr>
              <p:nvPr/>
            </p:nvSpPr>
            <p:spPr bwMode="auto">
              <a:xfrm>
                <a:off x="2064" y="374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27" name="Text Box 11">
                <a:extLst>
                  <a:ext uri="{FF2B5EF4-FFF2-40B4-BE49-F238E27FC236}">
                    <a16:creationId xmlns:a16="http://schemas.microsoft.com/office/drawing/2014/main" id="{C022BABF-8087-464D-85F7-8C794B80DDFA}"/>
                  </a:ext>
                </a:extLst>
              </p:cNvPr>
              <p:cNvSpPr txBox="1">
                <a:spLocks noChangeArrowheads="1"/>
              </p:cNvSpPr>
              <p:nvPr/>
            </p:nvSpPr>
            <p:spPr bwMode="auto">
              <a:xfrm>
                <a:off x="3024" y="3168"/>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28" name="Text Box 12">
                <a:extLst>
                  <a:ext uri="{FF2B5EF4-FFF2-40B4-BE49-F238E27FC236}">
                    <a16:creationId xmlns:a16="http://schemas.microsoft.com/office/drawing/2014/main" id="{E159EEE1-38ED-4907-B76D-461213422C4B}"/>
                  </a:ext>
                </a:extLst>
              </p:cNvPr>
              <p:cNvSpPr txBox="1">
                <a:spLocks noChangeArrowheads="1"/>
              </p:cNvSpPr>
              <p:nvPr/>
            </p:nvSpPr>
            <p:spPr bwMode="auto">
              <a:xfrm>
                <a:off x="2880" y="302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29" name="Text Box 13">
                <a:extLst>
                  <a:ext uri="{FF2B5EF4-FFF2-40B4-BE49-F238E27FC236}">
                    <a16:creationId xmlns:a16="http://schemas.microsoft.com/office/drawing/2014/main" id="{4745F12F-49F3-4385-91F8-708CDE28622F}"/>
                  </a:ext>
                </a:extLst>
              </p:cNvPr>
              <p:cNvSpPr txBox="1">
                <a:spLocks noChangeArrowheads="1"/>
              </p:cNvSpPr>
              <p:nvPr/>
            </p:nvSpPr>
            <p:spPr bwMode="auto">
              <a:xfrm>
                <a:off x="2880" y="283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0" name="Text Box 14">
                <a:extLst>
                  <a:ext uri="{FF2B5EF4-FFF2-40B4-BE49-F238E27FC236}">
                    <a16:creationId xmlns:a16="http://schemas.microsoft.com/office/drawing/2014/main" id="{156DB6BF-0281-4002-9DAF-6B5D8B6A0FE1}"/>
                  </a:ext>
                </a:extLst>
              </p:cNvPr>
              <p:cNvSpPr txBox="1">
                <a:spLocks noChangeArrowheads="1"/>
              </p:cNvSpPr>
              <p:nvPr/>
            </p:nvSpPr>
            <p:spPr bwMode="auto">
              <a:xfrm>
                <a:off x="3168" y="2976"/>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1" name="Text Box 15">
                <a:extLst>
                  <a:ext uri="{FF2B5EF4-FFF2-40B4-BE49-F238E27FC236}">
                    <a16:creationId xmlns:a16="http://schemas.microsoft.com/office/drawing/2014/main" id="{C0C73856-508D-4C20-B03D-8DF6006475E0}"/>
                  </a:ext>
                </a:extLst>
              </p:cNvPr>
              <p:cNvSpPr txBox="1">
                <a:spLocks noChangeArrowheads="1"/>
              </p:cNvSpPr>
              <p:nvPr/>
            </p:nvSpPr>
            <p:spPr bwMode="auto">
              <a:xfrm>
                <a:off x="3120" y="2736"/>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2" name="Text Box 16">
                <a:extLst>
                  <a:ext uri="{FF2B5EF4-FFF2-40B4-BE49-F238E27FC236}">
                    <a16:creationId xmlns:a16="http://schemas.microsoft.com/office/drawing/2014/main" id="{B859E07E-EC1A-4D88-B647-9197FA9B6724}"/>
                  </a:ext>
                </a:extLst>
              </p:cNvPr>
              <p:cNvSpPr txBox="1">
                <a:spLocks noChangeArrowheads="1"/>
              </p:cNvSpPr>
              <p:nvPr/>
            </p:nvSpPr>
            <p:spPr bwMode="auto">
              <a:xfrm>
                <a:off x="3264" y="278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3" name="Text Box 17">
                <a:extLst>
                  <a:ext uri="{FF2B5EF4-FFF2-40B4-BE49-F238E27FC236}">
                    <a16:creationId xmlns:a16="http://schemas.microsoft.com/office/drawing/2014/main" id="{6E33EFAE-C776-4373-A017-B923BCD35CC5}"/>
                  </a:ext>
                </a:extLst>
              </p:cNvPr>
              <p:cNvSpPr txBox="1">
                <a:spLocks noChangeArrowheads="1"/>
              </p:cNvSpPr>
              <p:nvPr/>
            </p:nvSpPr>
            <p:spPr bwMode="auto">
              <a:xfrm>
                <a:off x="3360" y="259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4" name="Text Box 18">
                <a:extLst>
                  <a:ext uri="{FF2B5EF4-FFF2-40B4-BE49-F238E27FC236}">
                    <a16:creationId xmlns:a16="http://schemas.microsoft.com/office/drawing/2014/main" id="{703714C8-B416-4ECF-A3A5-E3B92050E22F}"/>
                  </a:ext>
                </a:extLst>
              </p:cNvPr>
              <p:cNvSpPr txBox="1">
                <a:spLocks noChangeArrowheads="1"/>
              </p:cNvSpPr>
              <p:nvPr/>
            </p:nvSpPr>
            <p:spPr bwMode="auto">
              <a:xfrm>
                <a:off x="2496" y="307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5" name="Text Box 19">
                <a:extLst>
                  <a:ext uri="{FF2B5EF4-FFF2-40B4-BE49-F238E27FC236}">
                    <a16:creationId xmlns:a16="http://schemas.microsoft.com/office/drawing/2014/main" id="{E71EC7C5-A1DB-4361-AF00-0798FECF8792}"/>
                  </a:ext>
                </a:extLst>
              </p:cNvPr>
              <p:cNvSpPr txBox="1">
                <a:spLocks noChangeArrowheads="1"/>
              </p:cNvSpPr>
              <p:nvPr/>
            </p:nvSpPr>
            <p:spPr bwMode="auto">
              <a:xfrm>
                <a:off x="2669" y="326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6" name="Text Box 20">
                <a:extLst>
                  <a:ext uri="{FF2B5EF4-FFF2-40B4-BE49-F238E27FC236}">
                    <a16:creationId xmlns:a16="http://schemas.microsoft.com/office/drawing/2014/main" id="{CE9AB339-F31A-4379-92FD-7C17AE2AF0FD}"/>
                  </a:ext>
                </a:extLst>
              </p:cNvPr>
              <p:cNvSpPr txBox="1">
                <a:spLocks noChangeArrowheads="1"/>
              </p:cNvSpPr>
              <p:nvPr/>
            </p:nvSpPr>
            <p:spPr bwMode="auto">
              <a:xfrm>
                <a:off x="2669" y="3120"/>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7" name="Text Box 21">
                <a:extLst>
                  <a:ext uri="{FF2B5EF4-FFF2-40B4-BE49-F238E27FC236}">
                    <a16:creationId xmlns:a16="http://schemas.microsoft.com/office/drawing/2014/main" id="{5C259CA0-89DA-498E-83CF-42D3334D5ED5}"/>
                  </a:ext>
                </a:extLst>
              </p:cNvPr>
              <p:cNvSpPr txBox="1">
                <a:spLocks noChangeArrowheads="1"/>
              </p:cNvSpPr>
              <p:nvPr/>
            </p:nvSpPr>
            <p:spPr bwMode="auto">
              <a:xfrm>
                <a:off x="2774" y="331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8" name="Text Box 22">
                <a:extLst>
                  <a:ext uri="{FF2B5EF4-FFF2-40B4-BE49-F238E27FC236}">
                    <a16:creationId xmlns:a16="http://schemas.microsoft.com/office/drawing/2014/main" id="{5EF00668-96DA-41B3-A96D-5680B95A5DEA}"/>
                  </a:ext>
                </a:extLst>
              </p:cNvPr>
              <p:cNvSpPr txBox="1">
                <a:spLocks noChangeArrowheads="1"/>
              </p:cNvSpPr>
              <p:nvPr/>
            </p:nvSpPr>
            <p:spPr bwMode="auto">
              <a:xfrm>
                <a:off x="3120" y="259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39" name="Text Box 23">
                <a:extLst>
                  <a:ext uri="{FF2B5EF4-FFF2-40B4-BE49-F238E27FC236}">
                    <a16:creationId xmlns:a16="http://schemas.microsoft.com/office/drawing/2014/main" id="{D38E855A-2078-45C2-9016-EE6A3629B51E}"/>
                  </a:ext>
                </a:extLst>
              </p:cNvPr>
              <p:cNvSpPr txBox="1">
                <a:spLocks noChangeArrowheads="1"/>
              </p:cNvSpPr>
              <p:nvPr/>
            </p:nvSpPr>
            <p:spPr bwMode="auto">
              <a:xfrm>
                <a:off x="2669" y="2928"/>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0" name="Text Box 24">
                <a:extLst>
                  <a:ext uri="{FF2B5EF4-FFF2-40B4-BE49-F238E27FC236}">
                    <a16:creationId xmlns:a16="http://schemas.microsoft.com/office/drawing/2014/main" id="{7CFE3B16-905F-481A-B4E0-24E707D02270}"/>
                  </a:ext>
                </a:extLst>
              </p:cNvPr>
              <p:cNvSpPr txBox="1">
                <a:spLocks noChangeArrowheads="1"/>
              </p:cNvSpPr>
              <p:nvPr/>
            </p:nvSpPr>
            <p:spPr bwMode="auto">
              <a:xfrm>
                <a:off x="2496" y="3648"/>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1" name="Text Box 25">
                <a:extLst>
                  <a:ext uri="{FF2B5EF4-FFF2-40B4-BE49-F238E27FC236}">
                    <a16:creationId xmlns:a16="http://schemas.microsoft.com/office/drawing/2014/main" id="{3E647F93-2A88-4F61-B276-BDF4A2F807A8}"/>
                  </a:ext>
                </a:extLst>
              </p:cNvPr>
              <p:cNvSpPr txBox="1">
                <a:spLocks noChangeArrowheads="1"/>
              </p:cNvSpPr>
              <p:nvPr/>
            </p:nvSpPr>
            <p:spPr bwMode="auto">
              <a:xfrm>
                <a:off x="2256" y="3360"/>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2" name="Text Box 26">
                <a:extLst>
                  <a:ext uri="{FF2B5EF4-FFF2-40B4-BE49-F238E27FC236}">
                    <a16:creationId xmlns:a16="http://schemas.microsoft.com/office/drawing/2014/main" id="{85042F47-48EA-49B3-B7C9-59E9280BE030}"/>
                  </a:ext>
                </a:extLst>
              </p:cNvPr>
              <p:cNvSpPr txBox="1">
                <a:spLocks noChangeArrowheads="1"/>
              </p:cNvSpPr>
              <p:nvPr/>
            </p:nvSpPr>
            <p:spPr bwMode="auto">
              <a:xfrm>
                <a:off x="2352" y="350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3" name="Text Box 27">
                <a:extLst>
                  <a:ext uri="{FF2B5EF4-FFF2-40B4-BE49-F238E27FC236}">
                    <a16:creationId xmlns:a16="http://schemas.microsoft.com/office/drawing/2014/main" id="{E39E7012-BF30-4A6C-9936-AFB051531E18}"/>
                  </a:ext>
                </a:extLst>
              </p:cNvPr>
              <p:cNvSpPr txBox="1">
                <a:spLocks noChangeArrowheads="1"/>
              </p:cNvSpPr>
              <p:nvPr/>
            </p:nvSpPr>
            <p:spPr bwMode="auto">
              <a:xfrm>
                <a:off x="2669" y="3456"/>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4" name="Text Box 28">
                <a:extLst>
                  <a:ext uri="{FF2B5EF4-FFF2-40B4-BE49-F238E27FC236}">
                    <a16:creationId xmlns:a16="http://schemas.microsoft.com/office/drawing/2014/main" id="{B58545B9-255A-4057-A2E6-FE5526405218}"/>
                  </a:ext>
                </a:extLst>
              </p:cNvPr>
              <p:cNvSpPr txBox="1">
                <a:spLocks noChangeArrowheads="1"/>
              </p:cNvSpPr>
              <p:nvPr/>
            </p:nvSpPr>
            <p:spPr bwMode="auto">
              <a:xfrm>
                <a:off x="2496" y="3312"/>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5" name="Text Box 29">
                <a:extLst>
                  <a:ext uri="{FF2B5EF4-FFF2-40B4-BE49-F238E27FC236}">
                    <a16:creationId xmlns:a16="http://schemas.microsoft.com/office/drawing/2014/main" id="{A238D1A5-161C-4F64-8234-0D42A85D5208}"/>
                  </a:ext>
                </a:extLst>
              </p:cNvPr>
              <p:cNvSpPr txBox="1">
                <a:spLocks noChangeArrowheads="1"/>
              </p:cNvSpPr>
              <p:nvPr/>
            </p:nvSpPr>
            <p:spPr bwMode="auto">
              <a:xfrm>
                <a:off x="2448" y="3216"/>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6" name="Text Box 30">
                <a:extLst>
                  <a:ext uri="{FF2B5EF4-FFF2-40B4-BE49-F238E27FC236}">
                    <a16:creationId xmlns:a16="http://schemas.microsoft.com/office/drawing/2014/main" id="{31397423-A1BF-42AE-8360-0E8662F1AD63}"/>
                  </a:ext>
                </a:extLst>
              </p:cNvPr>
              <p:cNvSpPr txBox="1">
                <a:spLocks noChangeArrowheads="1"/>
              </p:cNvSpPr>
              <p:nvPr/>
            </p:nvSpPr>
            <p:spPr bwMode="auto">
              <a:xfrm>
                <a:off x="2880" y="3360"/>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7" name="Text Box 31">
                <a:extLst>
                  <a:ext uri="{FF2B5EF4-FFF2-40B4-BE49-F238E27FC236}">
                    <a16:creationId xmlns:a16="http://schemas.microsoft.com/office/drawing/2014/main" id="{EEC0C656-FBEA-4FEC-B23C-5BABF22DD346}"/>
                  </a:ext>
                </a:extLst>
              </p:cNvPr>
              <p:cNvSpPr txBox="1">
                <a:spLocks noChangeArrowheads="1"/>
              </p:cNvSpPr>
              <p:nvPr/>
            </p:nvSpPr>
            <p:spPr bwMode="auto">
              <a:xfrm>
                <a:off x="2208" y="3600"/>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8" name="Text Box 32">
                <a:extLst>
                  <a:ext uri="{FF2B5EF4-FFF2-40B4-BE49-F238E27FC236}">
                    <a16:creationId xmlns:a16="http://schemas.microsoft.com/office/drawing/2014/main" id="{2F8FAA0C-23E9-4A07-8D49-BE0D50454004}"/>
                  </a:ext>
                </a:extLst>
              </p:cNvPr>
              <p:cNvSpPr txBox="1">
                <a:spLocks noChangeArrowheads="1"/>
              </p:cNvSpPr>
              <p:nvPr/>
            </p:nvSpPr>
            <p:spPr bwMode="auto">
              <a:xfrm>
                <a:off x="2112" y="3504"/>
                <a:ext cx="211" cy="288"/>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a:t>
                </a:r>
              </a:p>
            </p:txBody>
          </p:sp>
          <p:sp>
            <p:nvSpPr>
              <p:cNvPr id="1007649" name="Text Box 33">
                <a:extLst>
                  <a:ext uri="{FF2B5EF4-FFF2-40B4-BE49-F238E27FC236}">
                    <a16:creationId xmlns:a16="http://schemas.microsoft.com/office/drawing/2014/main" id="{A40B83CD-619F-4320-9D9D-8BF63C7A1030}"/>
                  </a:ext>
                </a:extLst>
              </p:cNvPr>
              <p:cNvSpPr txBox="1">
                <a:spLocks noChangeArrowheads="1"/>
              </p:cNvSpPr>
              <p:nvPr/>
            </p:nvSpPr>
            <p:spPr bwMode="auto">
              <a:xfrm>
                <a:off x="1776" y="3926"/>
                <a:ext cx="888" cy="250"/>
              </a:xfrm>
              <a:prstGeom prst="rect">
                <a:avLst/>
              </a:prstGeom>
              <a:noFill/>
              <a:ln>
                <a:noFill/>
              </a:ln>
              <a:effectLst/>
            </p:spPr>
            <p:txBody>
              <a:bodyPr wrap="none">
                <a:spAutoFit/>
              </a:bodyPr>
              <a:lstStyle/>
              <a:p>
                <a:pPr eaLnBrk="1" hangingPunct="1">
                  <a:spcBef>
                    <a:spcPct val="50000"/>
                  </a:spcBef>
                  <a:defRPr/>
                </a:pPr>
                <a:r>
                  <a:rPr lang="en-US" altLang="x-none">
                    <a:solidFill>
                      <a:srgbClr val="00FF00"/>
                    </a:solidFill>
                    <a:effectLst>
                      <a:outerShdw blurRad="38100" dist="38100" dir="2700000" algn="tl">
                        <a:srgbClr val="000000"/>
                      </a:outerShdw>
                    </a:effectLst>
                  </a:rPr>
                  <a:t>Data points</a:t>
                </a:r>
              </a:p>
            </p:txBody>
          </p:sp>
        </p:grpSp>
        <p:grpSp>
          <p:nvGrpSpPr>
            <p:cNvPr id="152583" name="Group 34">
              <a:extLst>
                <a:ext uri="{FF2B5EF4-FFF2-40B4-BE49-F238E27FC236}">
                  <a16:creationId xmlns:a16="http://schemas.microsoft.com/office/drawing/2014/main" id="{8465C5B9-9E9D-43AA-870A-829AF1E53A45}"/>
                </a:ext>
              </a:extLst>
            </p:cNvPr>
            <p:cNvGrpSpPr>
              <a:grpSpLocks/>
            </p:cNvGrpSpPr>
            <p:nvPr/>
          </p:nvGrpSpPr>
          <p:grpSpPr bwMode="auto">
            <a:xfrm>
              <a:off x="3581400" y="3998196"/>
              <a:ext cx="4953000" cy="1676400"/>
              <a:chOff x="2256" y="2728"/>
              <a:chExt cx="3120" cy="1056"/>
            </a:xfrm>
          </p:grpSpPr>
          <p:sp>
            <p:nvSpPr>
              <p:cNvPr id="1007651" name="Line 35">
                <a:extLst>
                  <a:ext uri="{FF2B5EF4-FFF2-40B4-BE49-F238E27FC236}">
                    <a16:creationId xmlns:a16="http://schemas.microsoft.com/office/drawing/2014/main" id="{6E401430-9D7B-4DF6-93F3-14E8CDB260C8}"/>
                  </a:ext>
                </a:extLst>
              </p:cNvPr>
              <p:cNvSpPr>
                <a:spLocks noChangeShapeType="1"/>
              </p:cNvSpPr>
              <p:nvPr/>
            </p:nvSpPr>
            <p:spPr bwMode="auto">
              <a:xfrm flipV="1">
                <a:off x="2256" y="2728"/>
                <a:ext cx="1200" cy="1056"/>
              </a:xfrm>
              <a:prstGeom prst="line">
                <a:avLst/>
              </a:prstGeom>
              <a:noFill/>
              <a:ln w="25400">
                <a:solidFill>
                  <a:srgbClr val="FF0000"/>
                </a:solidFill>
                <a:round/>
                <a:headEnd/>
                <a:tailEnd type="triangle" w="med" len="med"/>
              </a:ln>
              <a:effectLst>
                <a:outerShdw blurRad="63500" dist="12700" algn="ctr" rotWithShape="0">
                  <a:schemeClr val="bg2">
                    <a:alpha val="74998"/>
                  </a:schemeClr>
                </a:outerShdw>
              </a:effectLst>
            </p:spPr>
            <p:txBody>
              <a:bodyPr wrap="none" anchor="ctr"/>
              <a:lstStyle/>
              <a:p>
                <a:pPr eaLnBrk="1" hangingPunct="1">
                  <a:spcBef>
                    <a:spcPct val="50000"/>
                  </a:spcBef>
                  <a:defRPr/>
                </a:pPr>
                <a:endParaRPr lang="zh-CN" altLang="en-US"/>
              </a:p>
            </p:txBody>
          </p:sp>
          <p:sp>
            <p:nvSpPr>
              <p:cNvPr id="1007652" name="Text Box 36">
                <a:extLst>
                  <a:ext uri="{FF2B5EF4-FFF2-40B4-BE49-F238E27FC236}">
                    <a16:creationId xmlns:a16="http://schemas.microsoft.com/office/drawing/2014/main" id="{A8BE3250-4C48-49D0-8C05-5E05CAE1271F}"/>
                  </a:ext>
                </a:extLst>
              </p:cNvPr>
              <p:cNvSpPr txBox="1">
                <a:spLocks noChangeArrowheads="1"/>
              </p:cNvSpPr>
              <p:nvPr/>
            </p:nvSpPr>
            <p:spPr bwMode="auto">
              <a:xfrm>
                <a:off x="3538" y="2798"/>
                <a:ext cx="1838" cy="250"/>
              </a:xfrm>
              <a:prstGeom prst="rect">
                <a:avLst/>
              </a:prstGeom>
              <a:noFill/>
              <a:ln>
                <a:noFill/>
              </a:ln>
              <a:effectLst/>
            </p:spPr>
            <p:txBody>
              <a:bodyPr wrap="none">
                <a:spAutoFit/>
              </a:bodyPr>
              <a:lstStyle/>
              <a:p>
                <a:pPr eaLnBrk="1" hangingPunct="1">
                  <a:spcBef>
                    <a:spcPct val="50000"/>
                  </a:spcBef>
                  <a:defRPr/>
                </a:pPr>
                <a:r>
                  <a:rPr lang="en-US" altLang="x-none">
                    <a:solidFill>
                      <a:srgbClr val="FF0000"/>
                    </a:solidFill>
                    <a:effectLst>
                      <a:outerShdw blurRad="38100" dist="38100" dir="2700000" algn="tl">
                        <a:srgbClr val="000000"/>
                      </a:outerShdw>
                    </a:effectLst>
                  </a:rPr>
                  <a:t>First principal component</a:t>
                </a:r>
              </a:p>
            </p:txBody>
          </p:sp>
        </p:grpSp>
        <p:grpSp>
          <p:nvGrpSpPr>
            <p:cNvPr id="152584" name="Group 37">
              <a:extLst>
                <a:ext uri="{FF2B5EF4-FFF2-40B4-BE49-F238E27FC236}">
                  <a16:creationId xmlns:a16="http://schemas.microsoft.com/office/drawing/2014/main" id="{71ECD873-4654-4094-8FE7-AF2214BEFEF3}"/>
                </a:ext>
              </a:extLst>
            </p:cNvPr>
            <p:cNvGrpSpPr>
              <a:grpSpLocks/>
            </p:cNvGrpSpPr>
            <p:nvPr/>
          </p:nvGrpSpPr>
          <p:grpSpPr bwMode="auto">
            <a:xfrm>
              <a:off x="966788" y="4010896"/>
              <a:ext cx="3910012" cy="1143000"/>
              <a:chOff x="609" y="2736"/>
              <a:chExt cx="2463" cy="720"/>
            </a:xfrm>
          </p:grpSpPr>
          <p:sp>
            <p:nvSpPr>
              <p:cNvPr id="1007654" name="Line 38">
                <a:extLst>
                  <a:ext uri="{FF2B5EF4-FFF2-40B4-BE49-F238E27FC236}">
                    <a16:creationId xmlns:a16="http://schemas.microsoft.com/office/drawing/2014/main" id="{7A553994-8CAA-4F5A-90E1-B600E9B31C43}"/>
                  </a:ext>
                </a:extLst>
              </p:cNvPr>
              <p:cNvSpPr>
                <a:spLocks noChangeShapeType="1"/>
              </p:cNvSpPr>
              <p:nvPr/>
            </p:nvSpPr>
            <p:spPr bwMode="auto">
              <a:xfrm rot="16200000" flipV="1">
                <a:off x="2629" y="3013"/>
                <a:ext cx="478" cy="409"/>
              </a:xfrm>
              <a:prstGeom prst="line">
                <a:avLst/>
              </a:prstGeom>
              <a:noFill/>
              <a:ln w="25400">
                <a:solidFill>
                  <a:srgbClr val="3399FF"/>
                </a:solidFill>
                <a:round/>
                <a:headEnd/>
                <a:tailEnd type="triangle" w="med" len="med"/>
              </a:ln>
              <a:effectLst>
                <a:outerShdw blurRad="63500" dist="17961" dir="8100000" algn="ctr" rotWithShape="0">
                  <a:schemeClr val="bg2">
                    <a:alpha val="74998"/>
                  </a:schemeClr>
                </a:outerShdw>
              </a:effectLst>
            </p:spPr>
            <p:txBody>
              <a:bodyPr wrap="none" anchor="ctr"/>
              <a:lstStyle/>
              <a:p>
                <a:pPr eaLnBrk="1" hangingPunct="1">
                  <a:spcBef>
                    <a:spcPct val="50000"/>
                  </a:spcBef>
                  <a:defRPr/>
                </a:pPr>
                <a:endParaRPr lang="zh-CN" altLang="en-US"/>
              </a:p>
            </p:txBody>
          </p:sp>
          <p:sp>
            <p:nvSpPr>
              <p:cNvPr id="1007655" name="Text Box 39">
                <a:extLst>
                  <a:ext uri="{FF2B5EF4-FFF2-40B4-BE49-F238E27FC236}">
                    <a16:creationId xmlns:a16="http://schemas.microsoft.com/office/drawing/2014/main" id="{CE16021F-F8F3-4300-8A44-29B0F0CDC7C3}"/>
                  </a:ext>
                </a:extLst>
              </p:cNvPr>
              <p:cNvSpPr txBox="1">
                <a:spLocks noChangeArrowheads="1"/>
              </p:cNvSpPr>
              <p:nvPr/>
            </p:nvSpPr>
            <p:spPr bwMode="auto">
              <a:xfrm>
                <a:off x="609" y="2736"/>
                <a:ext cx="2061" cy="250"/>
              </a:xfrm>
              <a:prstGeom prst="rect">
                <a:avLst/>
              </a:prstGeom>
              <a:noFill/>
              <a:ln>
                <a:noFill/>
              </a:ln>
              <a:effectLst/>
            </p:spPr>
            <p:txBody>
              <a:bodyPr wrap="none">
                <a:spAutoFit/>
              </a:bodyPr>
              <a:lstStyle/>
              <a:p>
                <a:pPr eaLnBrk="1" hangingPunct="1">
                  <a:spcBef>
                    <a:spcPct val="50000"/>
                  </a:spcBef>
                  <a:defRPr/>
                </a:pPr>
                <a:r>
                  <a:rPr lang="en-US" altLang="x-none">
                    <a:solidFill>
                      <a:srgbClr val="3399FF"/>
                    </a:solidFill>
                    <a:effectLst>
                      <a:outerShdw blurRad="38100" dist="38100" dir="2700000" algn="tl">
                        <a:srgbClr val="000000"/>
                      </a:outerShdw>
                    </a:effectLst>
                  </a:rPr>
                  <a:t>Second principal component</a:t>
                </a:r>
              </a:p>
            </p:txBody>
          </p:sp>
        </p:gr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12565693-1A21-40A1-86EF-ECD3648893D9}"/>
              </a:ext>
            </a:extLst>
          </p:cNvPr>
          <p:cNvSpPr>
            <a:spLocks noGrp="1" noChangeArrowheads="1"/>
          </p:cNvSpPr>
          <p:nvPr>
            <p:ph type="title"/>
          </p:nvPr>
        </p:nvSpPr>
        <p:spPr/>
        <p:txBody>
          <a:bodyPr/>
          <a:lstStyle/>
          <a:p>
            <a:r>
              <a:rPr lang="en-US" altLang="zh-CN"/>
              <a:t>SVD and PCA</a:t>
            </a:r>
          </a:p>
        </p:txBody>
      </p:sp>
      <mc:AlternateContent xmlns:mc="http://schemas.openxmlformats.org/markup-compatibility/2006">
        <mc:Choice xmlns:a14="http://schemas.microsoft.com/office/drawing/2010/main" Requires="a14">
          <p:sp>
            <p:nvSpPr>
              <p:cNvPr id="154626" name="Rectangle 3">
                <a:extLst>
                  <a:ext uri="{FF2B5EF4-FFF2-40B4-BE49-F238E27FC236}">
                    <a16:creationId xmlns:a16="http://schemas.microsoft.com/office/drawing/2014/main" id="{63B2F392-6B75-4A48-981A-30D237537440}"/>
                  </a:ext>
                </a:extLst>
              </p:cNvPr>
              <p:cNvSpPr>
                <a:spLocks noGrp="1" noChangeArrowheads="1"/>
              </p:cNvSpPr>
              <p:nvPr>
                <p:ph idx="1"/>
              </p:nvPr>
            </p:nvSpPr>
            <p:spPr/>
            <p:txBody>
              <a:bodyPr/>
              <a:lstStyle/>
              <a:p>
                <a:r>
                  <a:rPr lang="en-US" altLang="zh-CN" dirty="0"/>
                  <a:t>Data matrix with points as rows, take SVD</a:t>
                </a:r>
              </a:p>
              <a:p>
                <a:pPr lvl="1"/>
                <a:r>
                  <a:rPr lang="en-US" altLang="zh-CN" dirty="0"/>
                  <a:t>Subtract out mean (“whitening”)</a:t>
                </a:r>
              </a:p>
              <a:p>
                <a:r>
                  <a:rPr lang="en-US" altLang="zh-CN" dirty="0"/>
                  <a:t>Columns of </a:t>
                </a:r>
                <a:r>
                  <a:rPr lang="en-US" altLang="zh-CN" b="1" dirty="0" err="1"/>
                  <a:t>V</a:t>
                </a:r>
                <a:r>
                  <a:rPr lang="en-US" altLang="zh-CN" i="1" baseline="-25000" dirty="0" err="1"/>
                  <a:t>k</a:t>
                </a:r>
                <a:r>
                  <a:rPr lang="en-US" altLang="zh-CN" dirty="0"/>
                  <a:t> are principal components</a:t>
                </a:r>
              </a:p>
              <a:p>
                <a:r>
                  <a:rPr lang="en-US" altLang="zh-CN" dirty="0"/>
                  <a:t>Value of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m:t>
                    </m:r>
                  </m:oMath>
                </a14:m>
                <a:r>
                  <a:rPr lang="en-US" altLang="zh-CN" dirty="0"/>
                  <a:t>gives importance of each component</a:t>
                </a:r>
              </a:p>
            </p:txBody>
          </p:sp>
        </mc:Choice>
        <mc:Fallback>
          <p:sp>
            <p:nvSpPr>
              <p:cNvPr id="154626" name="Rectangle 3">
                <a:extLst>
                  <a:ext uri="{FF2B5EF4-FFF2-40B4-BE49-F238E27FC236}">
                    <a16:creationId xmlns:a16="http://schemas.microsoft.com/office/drawing/2014/main" id="{63B2F392-6B75-4A48-981A-30D237537440}"/>
                  </a:ext>
                </a:extLst>
              </p:cNvPr>
              <p:cNvSpPr>
                <a:spLocks noGrp="1" noRot="1" noChangeAspect="1" noMove="1" noResize="1" noEditPoints="1" noAdjustHandles="1" noChangeArrowheads="1" noChangeShapeType="1" noTextEdit="1"/>
              </p:cNvSpPr>
              <p:nvPr>
                <p:ph idx="1"/>
              </p:nvPr>
            </p:nvSpPr>
            <p:spPr>
              <a:blipFill>
                <a:blip r:embed="rId2"/>
                <a:stretch>
                  <a:fillRect l="-1630" t="-1750" r="-148"/>
                </a:stretch>
              </a:blipFill>
            </p:spPr>
            <p:txBody>
              <a:bodyPr/>
              <a:lstStyle/>
              <a:p>
                <a:r>
                  <a:rPr lang="zh-CN" altLang="en-US">
                    <a:noFill/>
                  </a:rPr>
                  <a:t> </a:t>
                </a:r>
              </a:p>
            </p:txBody>
          </p:sp>
        </mc:Fallback>
      </mc:AlternateContent>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标题 1">
            <a:extLst>
              <a:ext uri="{FF2B5EF4-FFF2-40B4-BE49-F238E27FC236}">
                <a16:creationId xmlns:a16="http://schemas.microsoft.com/office/drawing/2014/main" id="{06C2A059-8829-4817-8BA7-BC8C278894B1}"/>
              </a:ext>
            </a:extLst>
          </p:cNvPr>
          <p:cNvSpPr>
            <a:spLocks noGrp="1" noChangeArrowheads="1"/>
          </p:cNvSpPr>
          <p:nvPr>
            <p:ph type="title"/>
          </p:nvPr>
        </p:nvSpPr>
        <p:spPr/>
        <p:txBody>
          <a:bodyPr/>
          <a:lstStyle/>
          <a:p>
            <a:r>
              <a:rPr kumimoji="1" lang="en-US" altLang="zh-CN"/>
              <a:t>More</a:t>
            </a:r>
            <a:r>
              <a:rPr kumimoji="1" lang="zh-CN" altLang="en-US"/>
              <a:t> </a:t>
            </a:r>
            <a:r>
              <a:rPr kumimoji="1" lang="en-US" altLang="zh-CN"/>
              <a:t>reading</a:t>
            </a:r>
            <a:r>
              <a:rPr kumimoji="1" lang="zh-CN" altLang="en-US"/>
              <a:t> </a:t>
            </a:r>
            <a:r>
              <a:rPr kumimoji="1" lang="en-US" altLang="zh-CN"/>
              <a:t>for</a:t>
            </a:r>
            <a:r>
              <a:rPr kumimoji="1" lang="zh-CN" altLang="en-US"/>
              <a:t> </a:t>
            </a:r>
            <a:r>
              <a:rPr kumimoji="1" lang="en-US" altLang="zh-CN"/>
              <a:t>SVD</a:t>
            </a:r>
            <a:endParaRPr kumimoji="1" lang="zh-CN" altLang="en-US"/>
          </a:p>
        </p:txBody>
      </p:sp>
      <p:sp>
        <p:nvSpPr>
          <p:cNvPr id="155650" name="内容占位符 2">
            <a:extLst>
              <a:ext uri="{FF2B5EF4-FFF2-40B4-BE49-F238E27FC236}">
                <a16:creationId xmlns:a16="http://schemas.microsoft.com/office/drawing/2014/main" id="{1F97F081-25F0-45FB-948C-788441D047B6}"/>
              </a:ext>
            </a:extLst>
          </p:cNvPr>
          <p:cNvSpPr>
            <a:spLocks noGrp="1" noChangeArrowheads="1"/>
          </p:cNvSpPr>
          <p:nvPr>
            <p:ph idx="1"/>
          </p:nvPr>
        </p:nvSpPr>
        <p:spPr/>
        <p:txBody>
          <a:bodyPr/>
          <a:lstStyle/>
          <a:p>
            <a:r>
              <a:rPr lang="en-US" altLang="zh-CN" dirty="0" err="1"/>
              <a:t>Zhihua</a:t>
            </a:r>
            <a:r>
              <a:rPr lang="zh-CN" altLang="en-US" dirty="0"/>
              <a:t> </a:t>
            </a:r>
            <a:r>
              <a:rPr lang="en-US" altLang="zh-CN" dirty="0"/>
              <a:t>Zhang,</a:t>
            </a:r>
            <a:r>
              <a:rPr lang="zh-CN" altLang="zh-CN" dirty="0"/>
              <a:t>The Singular Value Decomposition, Applications and Beyond </a:t>
            </a:r>
            <a:r>
              <a:rPr lang="zh-CN" altLang="zh-CN" dirty="0">
                <a:hlinkClick r:id="rId2"/>
              </a:rPr>
              <a:t>http://arxiv.org/pdf/1510.08532.pdf</a:t>
            </a:r>
            <a:endParaRPr kumimoji="1" lang="zh-CN" altLang="en-US" dirty="0"/>
          </a:p>
        </p:txBody>
      </p:sp>
      <p:sp>
        <p:nvSpPr>
          <p:cNvPr id="155651" name="灯片编号占位符 3">
            <a:extLst>
              <a:ext uri="{FF2B5EF4-FFF2-40B4-BE49-F238E27FC236}">
                <a16:creationId xmlns:a16="http://schemas.microsoft.com/office/drawing/2014/main" id="{8DE49DCF-D336-4C0C-BA44-9D727611E63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F961A745-18CC-452E-8334-04BEEEFE15CA}" type="slidenum">
              <a:rPr lang="en-US" altLang="zh-CN" sz="1000" smtClean="0">
                <a:ea typeface="宋体" panose="02010600030101010101" pitchFamily="2" charset="-122"/>
              </a:rPr>
              <a:pPr>
                <a:spcBef>
                  <a:spcPct val="0"/>
                </a:spcBef>
                <a:buClrTx/>
                <a:buFontTx/>
                <a:buNone/>
              </a:pPr>
              <a:t>102</a:t>
            </a:fld>
            <a:endParaRPr lang="en-US" altLang="zh-CN" sz="100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5">
            <a:extLst>
              <a:ext uri="{FF2B5EF4-FFF2-40B4-BE49-F238E27FC236}">
                <a16:creationId xmlns:a16="http://schemas.microsoft.com/office/drawing/2014/main" id="{4BAF3F7C-330C-43F4-B11B-55AF2C5184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4813EE5-5E0F-4C47-BD61-58A7AC99F28F}" type="slidenum">
              <a:rPr lang="en-US" altLang="zh-CN" sz="1000" smtClean="0">
                <a:ea typeface="宋体" panose="02010600030101010101" pitchFamily="2" charset="-122"/>
              </a:rPr>
              <a:pPr>
                <a:spcBef>
                  <a:spcPct val="0"/>
                </a:spcBef>
                <a:buClrTx/>
                <a:buFontTx/>
                <a:buNone/>
              </a:pPr>
              <a:t>103</a:t>
            </a:fld>
            <a:endParaRPr lang="en-US" altLang="zh-CN" sz="1000">
              <a:ea typeface="宋体" panose="02010600030101010101" pitchFamily="2" charset="-122"/>
            </a:endParaRPr>
          </a:p>
        </p:txBody>
      </p:sp>
      <p:sp>
        <p:nvSpPr>
          <p:cNvPr id="156674" name="Rectangle 2">
            <a:extLst>
              <a:ext uri="{FF2B5EF4-FFF2-40B4-BE49-F238E27FC236}">
                <a16:creationId xmlns:a16="http://schemas.microsoft.com/office/drawing/2014/main" id="{247E54F4-3A41-46AE-ACE3-06B2390F245D}"/>
              </a:ext>
            </a:extLst>
          </p:cNvPr>
          <p:cNvSpPr>
            <a:spLocks noGrp="1" noChangeArrowheads="1"/>
          </p:cNvSpPr>
          <p:nvPr>
            <p:ph type="title"/>
          </p:nvPr>
        </p:nvSpPr>
        <p:spPr/>
        <p:txBody>
          <a:bodyPr/>
          <a:lstStyle/>
          <a:p>
            <a:pPr eaLnBrk="1" hangingPunct="1"/>
            <a:r>
              <a:rPr lang="zh-CN" altLang="en-US"/>
              <a:t>线性降维方法的不足</a:t>
            </a:r>
          </a:p>
        </p:txBody>
      </p:sp>
      <p:sp>
        <p:nvSpPr>
          <p:cNvPr id="693251" name="Rectangle 3">
            <a:extLst>
              <a:ext uri="{FF2B5EF4-FFF2-40B4-BE49-F238E27FC236}">
                <a16:creationId xmlns:a16="http://schemas.microsoft.com/office/drawing/2014/main" id="{1D67558A-319B-4F25-AEA0-B36616EA7DA0}"/>
              </a:ext>
            </a:extLst>
          </p:cNvPr>
          <p:cNvSpPr>
            <a:spLocks noGrp="1" noChangeArrowheads="1"/>
          </p:cNvSpPr>
          <p:nvPr>
            <p:ph type="body" idx="1"/>
          </p:nvPr>
        </p:nvSpPr>
        <p:spPr>
          <a:xfrm>
            <a:off x="457200" y="1600200"/>
            <a:ext cx="8458200" cy="5029200"/>
          </a:xfrm>
        </p:spPr>
        <p:txBody>
          <a:bodyPr/>
          <a:lstStyle/>
          <a:p>
            <a:pPr eaLnBrk="1" hangingPunct="1"/>
            <a:r>
              <a:rPr lang="zh-CN" altLang="en-US"/>
              <a:t>原始数据无法表示为特征的简单线性组合</a:t>
            </a:r>
          </a:p>
          <a:p>
            <a:pPr lvl="1" eaLnBrk="1" hangingPunct="1"/>
            <a:r>
              <a:rPr lang="zh-CN" altLang="en-US"/>
              <a:t>比如：</a:t>
            </a:r>
            <a:r>
              <a:rPr lang="en-US" altLang="zh-CN"/>
              <a:t>PCA</a:t>
            </a:r>
            <a:r>
              <a:rPr lang="zh-CN" altLang="en-US"/>
              <a:t>无法表达</a:t>
            </a:r>
            <a:r>
              <a:rPr lang="en-US" altLang="zh-CN"/>
              <a:t>Helix</a:t>
            </a:r>
            <a:r>
              <a:rPr lang="zh-CN" altLang="en-US"/>
              <a:t>曲线流形</a:t>
            </a:r>
          </a:p>
        </p:txBody>
      </p:sp>
      <p:grpSp>
        <p:nvGrpSpPr>
          <p:cNvPr id="2" name="Group 4">
            <a:extLst>
              <a:ext uri="{FF2B5EF4-FFF2-40B4-BE49-F238E27FC236}">
                <a16:creationId xmlns:a16="http://schemas.microsoft.com/office/drawing/2014/main" id="{928BC0D7-83FC-40EE-B231-482050C8F57F}"/>
              </a:ext>
            </a:extLst>
          </p:cNvPr>
          <p:cNvGrpSpPr>
            <a:grpSpLocks/>
          </p:cNvGrpSpPr>
          <p:nvPr/>
        </p:nvGrpSpPr>
        <p:grpSpPr bwMode="auto">
          <a:xfrm>
            <a:off x="2233613" y="3005138"/>
            <a:ext cx="5538787" cy="3086100"/>
            <a:chOff x="1407" y="1893"/>
            <a:chExt cx="3489" cy="1944"/>
          </a:xfrm>
        </p:grpSpPr>
        <p:sp>
          <p:nvSpPr>
            <p:cNvPr id="156677" name="Text Box 5">
              <a:extLst>
                <a:ext uri="{FF2B5EF4-FFF2-40B4-BE49-F238E27FC236}">
                  <a16:creationId xmlns:a16="http://schemas.microsoft.com/office/drawing/2014/main" id="{DCF48DB6-E783-44DB-AA9F-1FE84F6AE503}"/>
                </a:ext>
              </a:extLst>
            </p:cNvPr>
            <p:cNvSpPr txBox="1">
              <a:spLocks noChangeArrowheads="1"/>
            </p:cNvSpPr>
            <p:nvPr/>
          </p:nvSpPr>
          <p:spPr bwMode="auto">
            <a:xfrm>
              <a:off x="3610" y="2400"/>
              <a:ext cx="12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a:solidFill>
                    <a:schemeClr val="hlink"/>
                  </a:solidFill>
                </a:rPr>
                <a:t>1-D Helix</a:t>
              </a:r>
              <a:r>
                <a:rPr lang="zh-CN" altLang="en-US" sz="1800">
                  <a:solidFill>
                    <a:schemeClr val="hlink"/>
                  </a:solidFill>
                </a:rPr>
                <a:t>曲线流形</a:t>
              </a:r>
            </a:p>
          </p:txBody>
        </p:sp>
        <p:pic>
          <p:nvPicPr>
            <p:cNvPr id="156678" name="Picture 6">
              <a:extLst>
                <a:ext uri="{FF2B5EF4-FFF2-40B4-BE49-F238E27FC236}">
                  <a16:creationId xmlns:a16="http://schemas.microsoft.com/office/drawing/2014/main" id="{38A45BE3-59EB-48D9-9ED0-3A5192832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056" t="5748" r="5879" b="5161"/>
            <a:stretch>
              <a:fillRect/>
            </a:stretch>
          </p:blipFill>
          <p:spPr bwMode="auto">
            <a:xfrm>
              <a:off x="1407" y="1893"/>
              <a:ext cx="2149" cy="1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3251">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20"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edg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灯片编号占位符 6">
            <a:extLst>
              <a:ext uri="{FF2B5EF4-FFF2-40B4-BE49-F238E27FC236}">
                <a16:creationId xmlns:a16="http://schemas.microsoft.com/office/drawing/2014/main" id="{B9D173EB-B972-4D6F-99E1-E947D76E2A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08EB64B-089B-425D-9367-5149D166B858}" type="slidenum">
              <a:rPr lang="en-US" altLang="zh-CN" sz="1000" smtClean="0">
                <a:ea typeface="宋体" panose="02010600030101010101" pitchFamily="2" charset="-122"/>
              </a:rPr>
              <a:pPr>
                <a:spcBef>
                  <a:spcPct val="0"/>
                </a:spcBef>
                <a:buClrTx/>
                <a:buFontTx/>
                <a:buNone/>
              </a:pPr>
              <a:t>104</a:t>
            </a:fld>
            <a:endParaRPr lang="en-US" altLang="zh-CN" sz="1000">
              <a:ea typeface="宋体" panose="02010600030101010101" pitchFamily="2" charset="-122"/>
            </a:endParaRPr>
          </a:p>
        </p:txBody>
      </p:sp>
      <p:sp>
        <p:nvSpPr>
          <p:cNvPr id="157698" name="Rectangle 2">
            <a:extLst>
              <a:ext uri="{FF2B5EF4-FFF2-40B4-BE49-F238E27FC236}">
                <a16:creationId xmlns:a16="http://schemas.microsoft.com/office/drawing/2014/main" id="{5A0EA1D1-40FD-4E04-9F4B-6DD143D1321C}"/>
              </a:ext>
            </a:extLst>
          </p:cNvPr>
          <p:cNvSpPr>
            <a:spLocks noGrp="1" noChangeArrowheads="1"/>
          </p:cNvSpPr>
          <p:nvPr>
            <p:ph type="title"/>
          </p:nvPr>
        </p:nvSpPr>
        <p:spPr/>
        <p:txBody>
          <a:bodyPr/>
          <a:lstStyle/>
          <a:p>
            <a:pPr eaLnBrk="1" hangingPunct="1"/>
            <a:r>
              <a:rPr lang="zh-CN" altLang="en-US"/>
              <a:t>线性降维方法的不足</a:t>
            </a:r>
          </a:p>
        </p:txBody>
      </p:sp>
      <p:sp>
        <p:nvSpPr>
          <p:cNvPr id="694275" name="Rectangle 3">
            <a:extLst>
              <a:ext uri="{FF2B5EF4-FFF2-40B4-BE49-F238E27FC236}">
                <a16:creationId xmlns:a16="http://schemas.microsoft.com/office/drawing/2014/main" id="{B91FD4C8-9F7F-4E85-ADC5-45B047D04FA5}"/>
              </a:ext>
            </a:extLst>
          </p:cNvPr>
          <p:cNvSpPr>
            <a:spLocks noGrp="1" noChangeArrowheads="1"/>
          </p:cNvSpPr>
          <p:nvPr>
            <p:ph type="body" sz="half" idx="1"/>
          </p:nvPr>
        </p:nvSpPr>
        <p:spPr>
          <a:xfrm>
            <a:off x="457200" y="1600200"/>
            <a:ext cx="8686800" cy="4530725"/>
          </a:xfrm>
        </p:spPr>
        <p:txBody>
          <a:bodyPr/>
          <a:lstStyle/>
          <a:p>
            <a:pPr eaLnBrk="1" hangingPunct="1"/>
            <a:r>
              <a:rPr lang="zh-CN" altLang="en-US"/>
              <a:t>真实数据中的有用信息不能由线性特征表示</a:t>
            </a:r>
          </a:p>
          <a:p>
            <a:pPr lvl="1" eaLnBrk="1" hangingPunct="1"/>
            <a:r>
              <a:rPr lang="zh-CN" altLang="en-US"/>
              <a:t>比如：如何获取并表示多姿态人脸的姿态信息</a:t>
            </a:r>
          </a:p>
          <a:p>
            <a:pPr lvl="1" eaLnBrk="1" hangingPunct="1"/>
            <a:endParaRPr lang="zh-CN" altLang="en-US"/>
          </a:p>
          <a:p>
            <a:pPr lvl="1" eaLnBrk="1" hangingPunct="1"/>
            <a:endParaRPr lang="zh-CN" altLang="en-US"/>
          </a:p>
          <a:p>
            <a:pPr lvl="1" eaLnBrk="1" hangingPunct="1"/>
            <a:r>
              <a:rPr lang="zh-CN" altLang="en-US"/>
              <a:t>比如：如何获取运动视频序列中某个动作的对应帧</a:t>
            </a:r>
          </a:p>
        </p:txBody>
      </p:sp>
      <p:grpSp>
        <p:nvGrpSpPr>
          <p:cNvPr id="2" name="Group 4">
            <a:extLst>
              <a:ext uri="{FF2B5EF4-FFF2-40B4-BE49-F238E27FC236}">
                <a16:creationId xmlns:a16="http://schemas.microsoft.com/office/drawing/2014/main" id="{E3E24CE9-2D3C-4DB9-A3C8-F592768EFD2A}"/>
              </a:ext>
            </a:extLst>
          </p:cNvPr>
          <p:cNvGrpSpPr>
            <a:grpSpLocks noChangeAspect="1"/>
          </p:cNvGrpSpPr>
          <p:nvPr/>
        </p:nvGrpSpPr>
        <p:grpSpPr bwMode="auto">
          <a:xfrm>
            <a:off x="2430463" y="2819400"/>
            <a:ext cx="4160837" cy="757238"/>
            <a:chOff x="340" y="3401"/>
            <a:chExt cx="2887" cy="528"/>
          </a:xfrm>
        </p:grpSpPr>
        <p:graphicFrame>
          <p:nvGraphicFramePr>
            <p:cNvPr id="157706" name="Object 5">
              <a:extLst>
                <a:ext uri="{FF2B5EF4-FFF2-40B4-BE49-F238E27FC236}">
                  <a16:creationId xmlns:a16="http://schemas.microsoft.com/office/drawing/2014/main" id="{A5088B9B-D4D9-478A-9EA7-41E7E620BB42}"/>
                </a:ext>
              </a:extLst>
            </p:cNvPr>
            <p:cNvGraphicFramePr>
              <a:graphicFrameLocks noChangeAspect="1"/>
            </p:cNvGraphicFramePr>
            <p:nvPr/>
          </p:nvGraphicFramePr>
          <p:xfrm>
            <a:off x="340" y="3401"/>
            <a:ext cx="519" cy="528"/>
          </p:xfrm>
          <a:graphic>
            <a:graphicData uri="http://schemas.openxmlformats.org/presentationml/2006/ole">
              <mc:AlternateContent xmlns:mc="http://schemas.openxmlformats.org/markup-compatibility/2006">
                <mc:Choice xmlns:v="urn:schemas-microsoft-com:vml" Requires="v">
                  <p:oleObj spid="_x0000_s157735" name="Photo Editor Photo" r:id="rId3" imgW="523810" imgH="533474" progId="MSPhotoEd.3">
                    <p:embed/>
                  </p:oleObj>
                </mc:Choice>
                <mc:Fallback>
                  <p:oleObj name="Photo Editor Photo" r:id="rId3" imgW="523810" imgH="533474" progId="MSPhotoEd.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 y="3401"/>
                          <a:ext cx="519"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7707" name="Object 6">
              <a:extLst>
                <a:ext uri="{FF2B5EF4-FFF2-40B4-BE49-F238E27FC236}">
                  <a16:creationId xmlns:a16="http://schemas.microsoft.com/office/drawing/2014/main" id="{E0306DE5-2CBF-4299-A1D5-297EA940ED15}"/>
                </a:ext>
              </a:extLst>
            </p:cNvPr>
            <p:cNvGraphicFramePr>
              <a:graphicFrameLocks noChangeAspect="1"/>
            </p:cNvGraphicFramePr>
            <p:nvPr/>
          </p:nvGraphicFramePr>
          <p:xfrm>
            <a:off x="930" y="3401"/>
            <a:ext cx="518" cy="528"/>
          </p:xfrm>
          <a:graphic>
            <a:graphicData uri="http://schemas.openxmlformats.org/presentationml/2006/ole">
              <mc:AlternateContent xmlns:mc="http://schemas.openxmlformats.org/markup-compatibility/2006">
                <mc:Choice xmlns:v="urn:schemas-microsoft-com:vml" Requires="v">
                  <p:oleObj spid="_x0000_s157736" name="Photo Editor Photo" r:id="rId5" imgW="514422" imgH="523810" progId="MSPhotoEd.3">
                    <p:embed/>
                  </p:oleObj>
                </mc:Choice>
                <mc:Fallback>
                  <p:oleObj name="Photo Editor Photo" r:id="rId5" imgW="514422" imgH="523810" progId="MSPhotoEd.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 y="3401"/>
                          <a:ext cx="51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7708" name="Object 7">
              <a:extLst>
                <a:ext uri="{FF2B5EF4-FFF2-40B4-BE49-F238E27FC236}">
                  <a16:creationId xmlns:a16="http://schemas.microsoft.com/office/drawing/2014/main" id="{A97175CF-5085-4640-ABD5-B9FB6099DFFC}"/>
                </a:ext>
              </a:extLst>
            </p:cNvPr>
            <p:cNvGraphicFramePr>
              <a:graphicFrameLocks noChangeAspect="1"/>
            </p:cNvGraphicFramePr>
            <p:nvPr/>
          </p:nvGraphicFramePr>
          <p:xfrm>
            <a:off x="1519" y="3401"/>
            <a:ext cx="518" cy="528"/>
          </p:xfrm>
          <a:graphic>
            <a:graphicData uri="http://schemas.openxmlformats.org/presentationml/2006/ole">
              <mc:AlternateContent xmlns:mc="http://schemas.openxmlformats.org/markup-compatibility/2006">
                <mc:Choice xmlns:v="urn:schemas-microsoft-com:vml" Requires="v">
                  <p:oleObj spid="_x0000_s157737" name="Photo Editor Photo" r:id="rId7" imgW="514422" imgH="523810" progId="MSPhotoEd.3">
                    <p:embed/>
                  </p:oleObj>
                </mc:Choice>
                <mc:Fallback>
                  <p:oleObj name="Photo Editor Photo" r:id="rId7" imgW="514422" imgH="523810" progId="MSPhotoEd.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9" y="3401"/>
                          <a:ext cx="51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7709" name="Object 8">
              <a:extLst>
                <a:ext uri="{FF2B5EF4-FFF2-40B4-BE49-F238E27FC236}">
                  <a16:creationId xmlns:a16="http://schemas.microsoft.com/office/drawing/2014/main" id="{BF32E6D6-4ABE-486A-8B02-13ABDE1D2A11}"/>
                </a:ext>
              </a:extLst>
            </p:cNvPr>
            <p:cNvGraphicFramePr>
              <a:graphicFrameLocks noChangeAspect="1"/>
            </p:cNvGraphicFramePr>
            <p:nvPr/>
          </p:nvGraphicFramePr>
          <p:xfrm>
            <a:off x="2125" y="3401"/>
            <a:ext cx="528" cy="518"/>
          </p:xfrm>
          <a:graphic>
            <a:graphicData uri="http://schemas.openxmlformats.org/presentationml/2006/ole">
              <mc:AlternateContent xmlns:mc="http://schemas.openxmlformats.org/markup-compatibility/2006">
                <mc:Choice xmlns:v="urn:schemas-microsoft-com:vml" Requires="v">
                  <p:oleObj spid="_x0000_s157738" name="Photo Editor Photo" r:id="rId9" imgW="523810" imgH="514422" progId="MSPhotoEd.3">
                    <p:embed/>
                  </p:oleObj>
                </mc:Choice>
                <mc:Fallback>
                  <p:oleObj name="Photo Editor Photo" r:id="rId9" imgW="523810" imgH="514422" progId="MSPhotoEd.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5" y="3401"/>
                          <a:ext cx="52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7710" name="Object 9">
              <a:extLst>
                <a:ext uri="{FF2B5EF4-FFF2-40B4-BE49-F238E27FC236}">
                  <a16:creationId xmlns:a16="http://schemas.microsoft.com/office/drawing/2014/main" id="{5CC1EDAA-E7C8-4C5D-940C-05DB09C3E425}"/>
                </a:ext>
              </a:extLst>
            </p:cNvPr>
            <p:cNvGraphicFramePr>
              <a:graphicFrameLocks noChangeAspect="1"/>
            </p:cNvGraphicFramePr>
            <p:nvPr/>
          </p:nvGraphicFramePr>
          <p:xfrm>
            <a:off x="2699" y="3401"/>
            <a:ext cx="528" cy="501"/>
          </p:xfrm>
          <a:graphic>
            <a:graphicData uri="http://schemas.openxmlformats.org/presentationml/2006/ole">
              <mc:AlternateContent xmlns:mc="http://schemas.openxmlformats.org/markup-compatibility/2006">
                <mc:Choice xmlns:v="urn:schemas-microsoft-com:vml" Requires="v">
                  <p:oleObj spid="_x0000_s157739" name="Photo Editor 照片" r:id="rId11" imgW="542857" imgH="514422" progId="MSPhotoEd.3">
                    <p:embed/>
                  </p:oleObj>
                </mc:Choice>
                <mc:Fallback>
                  <p:oleObj name="Photo Editor 照片" r:id="rId11" imgW="542857" imgH="514422" progId="MSPhotoEd.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9" y="3401"/>
                          <a:ext cx="528" cy="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94282" name="Object 10">
            <a:extLst>
              <a:ext uri="{FF2B5EF4-FFF2-40B4-BE49-F238E27FC236}">
                <a16:creationId xmlns:a16="http://schemas.microsoft.com/office/drawing/2014/main" id="{0B7183C2-F19D-4BFF-A501-EA73E3E50398}"/>
              </a:ext>
            </a:extLst>
          </p:cNvPr>
          <p:cNvGraphicFramePr>
            <a:graphicFrameLocks noChangeAspect="1"/>
          </p:cNvGraphicFramePr>
          <p:nvPr>
            <p:ph sz="half" idx="2"/>
          </p:nvPr>
        </p:nvGraphicFramePr>
        <p:xfrm>
          <a:off x="533400" y="4364038"/>
          <a:ext cx="7932738" cy="1306512"/>
        </p:xfrm>
        <a:graphic>
          <a:graphicData uri="http://schemas.openxmlformats.org/presentationml/2006/ole">
            <mc:AlternateContent xmlns:mc="http://schemas.openxmlformats.org/markup-compatibility/2006">
              <mc:Choice xmlns:v="urn:schemas-microsoft-com:vml" Requires="v">
                <p:oleObj spid="_x0000_s157740" name="Photo Editor Photo" r:id="rId13" imgW="7228571" imgH="1190476" progId="MSPhotoEd.3">
                  <p:embed/>
                </p:oleObj>
              </mc:Choice>
              <mc:Fallback>
                <p:oleObj name="Photo Editor Photo" r:id="rId13" imgW="7228571" imgH="1190476" progId="MSPhotoEd.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4364038"/>
                        <a:ext cx="7932738" cy="130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1">
            <a:extLst>
              <a:ext uri="{FF2B5EF4-FFF2-40B4-BE49-F238E27FC236}">
                <a16:creationId xmlns:a16="http://schemas.microsoft.com/office/drawing/2014/main" id="{6D0F5EE1-5C01-4A38-9D15-E2EEDFB25077}"/>
              </a:ext>
            </a:extLst>
          </p:cNvPr>
          <p:cNvGrpSpPr>
            <a:grpSpLocks/>
          </p:cNvGrpSpPr>
          <p:nvPr/>
        </p:nvGrpSpPr>
        <p:grpSpPr bwMode="auto">
          <a:xfrm>
            <a:off x="565150" y="2846388"/>
            <a:ext cx="8578850" cy="3933825"/>
            <a:chOff x="356" y="1793"/>
            <a:chExt cx="5404" cy="2478"/>
          </a:xfrm>
        </p:grpSpPr>
        <p:sp>
          <p:nvSpPr>
            <p:cNvPr id="157703" name="Text Box 12">
              <a:extLst>
                <a:ext uri="{FF2B5EF4-FFF2-40B4-BE49-F238E27FC236}">
                  <a16:creationId xmlns:a16="http://schemas.microsoft.com/office/drawing/2014/main" id="{A4218A39-4C98-42C9-BCA9-6BC2E4F976FB}"/>
                </a:ext>
              </a:extLst>
            </p:cNvPr>
            <p:cNvSpPr txBox="1">
              <a:spLocks noChangeArrowheads="1"/>
            </p:cNvSpPr>
            <p:nvPr/>
          </p:nvSpPr>
          <p:spPr bwMode="auto">
            <a:xfrm>
              <a:off x="356" y="3936"/>
              <a:ext cx="1996"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None/>
              </a:pPr>
              <a:r>
                <a:rPr lang="en-US" altLang="zh-CN" sz="1400">
                  <a:ea typeface="宋体" panose="02010600030101010101" pitchFamily="2" charset="-122"/>
                </a:rPr>
                <a:t>#1 </a:t>
              </a:r>
              <a:r>
                <a:rPr lang="zh-CN" altLang="en-US" sz="1400">
                  <a:ea typeface="宋体" panose="02010600030101010101" pitchFamily="2" charset="-122"/>
                </a:rPr>
                <a:t>引自</a:t>
              </a:r>
              <a:r>
                <a:rPr lang="en-US" altLang="zh-CN" sz="1400">
                  <a:ea typeface="宋体" panose="02010600030101010101" pitchFamily="2" charset="-122"/>
                </a:rPr>
                <a:t>J.B. Tenenbaum et al. 2000</a:t>
              </a:r>
            </a:p>
            <a:p>
              <a:pPr eaLnBrk="1" hangingPunct="1">
                <a:spcBef>
                  <a:spcPct val="50000"/>
                </a:spcBef>
                <a:buClrTx/>
                <a:buFont typeface="Wingdings" panose="05000000000000000000" pitchFamily="2" charset="2"/>
                <a:buNone/>
              </a:pPr>
              <a:r>
                <a:rPr lang="en-US" altLang="zh-CN" sz="1400">
                  <a:ea typeface="宋体" panose="02010600030101010101" pitchFamily="2" charset="-122"/>
                </a:rPr>
                <a:t>#2 </a:t>
              </a:r>
              <a:r>
                <a:rPr lang="zh-CN" altLang="en-US" sz="1400">
                  <a:ea typeface="宋体" panose="02010600030101010101" pitchFamily="2" charset="-122"/>
                </a:rPr>
                <a:t>引自</a:t>
              </a:r>
              <a:r>
                <a:rPr lang="da-DK" altLang="zh-CN" sz="1400">
                  <a:ea typeface="宋体" panose="02010600030101010101" pitchFamily="2" charset="-122"/>
                </a:rPr>
                <a:t>Jenkins et. al, IROS 2002</a:t>
              </a:r>
              <a:endParaRPr lang="en-US" altLang="zh-CN" sz="1400">
                <a:ea typeface="宋体" panose="02010600030101010101" pitchFamily="2" charset="-122"/>
              </a:endParaRPr>
            </a:p>
          </p:txBody>
        </p:sp>
        <p:sp>
          <p:nvSpPr>
            <p:cNvPr id="157704" name="Text Box 13">
              <a:extLst>
                <a:ext uri="{FF2B5EF4-FFF2-40B4-BE49-F238E27FC236}">
                  <a16:creationId xmlns:a16="http://schemas.microsoft.com/office/drawing/2014/main" id="{A804AE42-AFA0-494D-9FE3-81891BE8496F}"/>
                </a:ext>
              </a:extLst>
            </p:cNvPr>
            <p:cNvSpPr txBox="1">
              <a:spLocks noChangeArrowheads="1"/>
            </p:cNvSpPr>
            <p:nvPr/>
          </p:nvSpPr>
          <p:spPr bwMode="auto">
            <a:xfrm>
              <a:off x="5280" y="2736"/>
              <a:ext cx="4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#2</a:t>
              </a:r>
              <a:endParaRPr kumimoji="1" lang="en-US" altLang="zh-CN" sz="1600">
                <a:latin typeface="Comic Sans MS" panose="030F0702030302020204" pitchFamily="66" charset="0"/>
                <a:ea typeface="宋体" panose="02010600030101010101" pitchFamily="2" charset="-122"/>
              </a:endParaRPr>
            </a:p>
          </p:txBody>
        </p:sp>
        <p:sp>
          <p:nvSpPr>
            <p:cNvPr id="157705" name="Text Box 14">
              <a:extLst>
                <a:ext uri="{FF2B5EF4-FFF2-40B4-BE49-F238E27FC236}">
                  <a16:creationId xmlns:a16="http://schemas.microsoft.com/office/drawing/2014/main" id="{9C40E245-4243-4C28-B01D-F8FA23BB99D2}"/>
                </a:ext>
              </a:extLst>
            </p:cNvPr>
            <p:cNvSpPr txBox="1">
              <a:spLocks noChangeArrowheads="1"/>
            </p:cNvSpPr>
            <p:nvPr/>
          </p:nvSpPr>
          <p:spPr bwMode="auto">
            <a:xfrm>
              <a:off x="4184" y="1793"/>
              <a:ext cx="4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a:t>
              </a:r>
              <a:endParaRPr kumimoji="1" lang="en-US" altLang="zh-CN" sz="160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4275">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23" presetClass="entr" presetSubtype="16"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p:cTn id="10" dur="500" fill="hold"/>
                                        <p:tgtEl>
                                          <p:spTgt spid="2"/>
                                        </p:tgtEl>
                                        <p:attrNameLst>
                                          <p:attrName>ppt_w</p:attrName>
                                        </p:attrNameLst>
                                      </p:cBhvr>
                                      <p:tavLst>
                                        <p:tav tm="0">
                                          <p:val>
                                            <p:fltVal val="0"/>
                                          </p:val>
                                        </p:tav>
                                        <p:tav tm="100000">
                                          <p:val>
                                            <p:strVal val="#ppt_w"/>
                                          </p:val>
                                        </p:tav>
                                      </p:tavLst>
                                    </p:anim>
                                    <p:anim calcmode="lin" valueType="num">
                                      <p:cBhvr>
                                        <p:cTn id="1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94275">
                                            <p:txEl>
                                              <p:pRg st="4" end="4"/>
                                            </p:txEl>
                                          </p:spTgt>
                                        </p:tgtEl>
                                        <p:attrNameLst>
                                          <p:attrName>style.visibility</p:attrName>
                                        </p:attrNameLst>
                                      </p:cBhvr>
                                      <p:to>
                                        <p:strVal val="visible"/>
                                      </p:to>
                                    </p:set>
                                  </p:childTnLst>
                                </p:cTn>
                              </p:par>
                            </p:childTnLst>
                          </p:cTn>
                        </p:par>
                        <p:par>
                          <p:cTn id="16" fill="hold" nodeType="afterGroup">
                            <p:stCondLst>
                              <p:cond delay="0"/>
                            </p:stCondLst>
                            <p:childTnLst>
                              <p:par>
                                <p:cTn id="17" presetID="23" presetClass="entr" presetSubtype="16" fill="hold" nodeType="afterEffect">
                                  <p:stCondLst>
                                    <p:cond delay="0"/>
                                  </p:stCondLst>
                                  <p:childTnLst>
                                    <p:set>
                                      <p:cBhvr>
                                        <p:cTn id="18" dur="1" fill="hold">
                                          <p:stCondLst>
                                            <p:cond delay="0"/>
                                          </p:stCondLst>
                                        </p:cTn>
                                        <p:tgtEl>
                                          <p:spTgt spid="694282"/>
                                        </p:tgtEl>
                                        <p:attrNameLst>
                                          <p:attrName>style.visibility</p:attrName>
                                        </p:attrNameLst>
                                      </p:cBhvr>
                                      <p:to>
                                        <p:strVal val="visible"/>
                                      </p:to>
                                    </p:set>
                                    <p:anim calcmode="lin" valueType="num">
                                      <p:cBhvr>
                                        <p:cTn id="19" dur="500" fill="hold"/>
                                        <p:tgtEl>
                                          <p:spTgt spid="694282"/>
                                        </p:tgtEl>
                                        <p:attrNameLst>
                                          <p:attrName>ppt_w</p:attrName>
                                        </p:attrNameLst>
                                      </p:cBhvr>
                                      <p:tavLst>
                                        <p:tav tm="0">
                                          <p:val>
                                            <p:fltVal val="0"/>
                                          </p:val>
                                        </p:tav>
                                        <p:tav tm="100000">
                                          <p:val>
                                            <p:strVal val="#ppt_w"/>
                                          </p:val>
                                        </p:tav>
                                      </p:tavLst>
                                    </p:anim>
                                    <p:anim calcmode="lin" valueType="num">
                                      <p:cBhvr>
                                        <p:cTn id="20" dur="500" fill="hold"/>
                                        <p:tgtEl>
                                          <p:spTgt spid="694282"/>
                                        </p:tgtEl>
                                        <p:attrNameLst>
                                          <p:attrName>ppt_h</p:attrName>
                                        </p:attrNameLst>
                                      </p:cBhvr>
                                      <p:tavLst>
                                        <p:tav tm="0">
                                          <p:val>
                                            <p:fltVal val="0"/>
                                          </p:val>
                                        </p:tav>
                                        <p:tav tm="100000">
                                          <p:val>
                                            <p:strVal val="#ppt_h"/>
                                          </p:val>
                                        </p:tav>
                                      </p:tavLst>
                                    </p:anim>
                                  </p:childTnLst>
                                </p:cTn>
                              </p:par>
                            </p:childTnLst>
                          </p:cTn>
                        </p:par>
                        <p:par>
                          <p:cTn id="21" fill="hold" nodeType="afterGroup">
                            <p:stCondLst>
                              <p:cond delay="500"/>
                            </p:stCondLst>
                            <p:childTnLst>
                              <p:par>
                                <p:cTn id="22" presetID="9"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灯片编号占位符 5">
            <a:extLst>
              <a:ext uri="{FF2B5EF4-FFF2-40B4-BE49-F238E27FC236}">
                <a16:creationId xmlns:a16="http://schemas.microsoft.com/office/drawing/2014/main" id="{2BF9F9A7-B92E-4835-93A9-87538D418A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E4B14D2-B284-4A55-A9C1-4ED72F4D39EF}" type="slidenum">
              <a:rPr lang="en-US" altLang="zh-CN" sz="1000" smtClean="0">
                <a:ea typeface="宋体" panose="02010600030101010101" pitchFamily="2" charset="-122"/>
              </a:rPr>
              <a:pPr>
                <a:spcBef>
                  <a:spcPct val="0"/>
                </a:spcBef>
                <a:buClrTx/>
                <a:buFontTx/>
                <a:buNone/>
              </a:pPr>
              <a:t>105</a:t>
            </a:fld>
            <a:endParaRPr lang="en-US" altLang="zh-CN" sz="1000">
              <a:ea typeface="宋体" panose="02010600030101010101" pitchFamily="2" charset="-122"/>
            </a:endParaRPr>
          </a:p>
        </p:txBody>
      </p:sp>
      <p:sp>
        <p:nvSpPr>
          <p:cNvPr id="158722" name="Rectangle 2">
            <a:extLst>
              <a:ext uri="{FF2B5EF4-FFF2-40B4-BE49-F238E27FC236}">
                <a16:creationId xmlns:a16="http://schemas.microsoft.com/office/drawing/2014/main" id="{6EE9FA13-9921-463A-8028-A49CDDBEA3FC}"/>
              </a:ext>
            </a:extLst>
          </p:cNvPr>
          <p:cNvSpPr>
            <a:spLocks noGrp="1" noChangeArrowheads="1"/>
          </p:cNvSpPr>
          <p:nvPr>
            <p:ph type="title"/>
          </p:nvPr>
        </p:nvSpPr>
        <p:spPr/>
        <p:txBody>
          <a:bodyPr/>
          <a:lstStyle/>
          <a:p>
            <a:pPr eaLnBrk="1" hangingPunct="1"/>
            <a:r>
              <a:rPr lang="zh-CN" altLang="en-US"/>
              <a:t>降维方法概述</a:t>
            </a:r>
          </a:p>
        </p:txBody>
      </p:sp>
      <p:sp>
        <p:nvSpPr>
          <p:cNvPr id="158723" name="Rectangle 3">
            <a:extLst>
              <a:ext uri="{FF2B5EF4-FFF2-40B4-BE49-F238E27FC236}">
                <a16:creationId xmlns:a16="http://schemas.microsoft.com/office/drawing/2014/main" id="{5006DA13-C746-45C2-BBD4-E0D2C9A30900}"/>
              </a:ext>
            </a:extLst>
          </p:cNvPr>
          <p:cNvSpPr>
            <a:spLocks noGrp="1" noChangeArrowheads="1"/>
          </p:cNvSpPr>
          <p:nvPr>
            <p:ph type="body" idx="1"/>
          </p:nvPr>
        </p:nvSpPr>
        <p:spPr>
          <a:xfrm>
            <a:off x="457200" y="1600200"/>
            <a:ext cx="8382000" cy="5029200"/>
          </a:xfrm>
        </p:spPr>
        <p:txBody>
          <a:bodyPr/>
          <a:lstStyle/>
          <a:p>
            <a:pPr eaLnBrk="1" hangingPunct="1"/>
            <a:r>
              <a:rPr lang="zh-CN" altLang="en-US" sz="2800"/>
              <a:t>线性降维</a:t>
            </a:r>
          </a:p>
          <a:p>
            <a:pPr eaLnBrk="1" hangingPunct="1"/>
            <a:r>
              <a:rPr lang="zh-CN" altLang="en-US" sz="2800"/>
              <a:t>传统非线性降维</a:t>
            </a:r>
          </a:p>
          <a:p>
            <a:pPr lvl="1" eaLnBrk="1" hangingPunct="1"/>
            <a:r>
              <a:rPr lang="zh-CN" altLang="en-US" sz="2300"/>
              <a:t>核主成分分析 </a:t>
            </a:r>
            <a:r>
              <a:rPr lang="en-US" altLang="zh-CN" sz="2300"/>
              <a:t>(KPCA) [Scholkopf, 1998]</a:t>
            </a:r>
          </a:p>
          <a:p>
            <a:pPr lvl="1" eaLnBrk="1" hangingPunct="1"/>
            <a:r>
              <a:rPr lang="zh-CN" altLang="en-US" sz="2300"/>
              <a:t>主曲线 </a:t>
            </a:r>
            <a:r>
              <a:rPr lang="en-US" altLang="zh-CN" sz="2300"/>
              <a:t>(Principal Curves) [Hastie, 1989] [Tibshirani, 1992]</a:t>
            </a:r>
          </a:p>
          <a:p>
            <a:pPr lvl="1" eaLnBrk="1" hangingPunct="1"/>
            <a:r>
              <a:rPr lang="zh-CN" altLang="en-US" sz="2300"/>
              <a:t>自组织映射 </a:t>
            </a:r>
            <a:r>
              <a:rPr lang="en-US" altLang="zh-CN" sz="2300"/>
              <a:t>(SOM) [Kohonen, 1995]</a:t>
            </a:r>
          </a:p>
          <a:p>
            <a:pPr lvl="1" eaLnBrk="1" hangingPunct="1"/>
            <a:r>
              <a:rPr lang="zh-CN" altLang="en-US" sz="2300"/>
              <a:t>产生式拓扑映射 </a:t>
            </a:r>
            <a:r>
              <a:rPr lang="en-US" altLang="zh-CN" sz="2300"/>
              <a:t>(GTM) [Bishop, 1998]</a:t>
            </a:r>
          </a:p>
          <a:p>
            <a:pPr lvl="1" eaLnBrk="1" hangingPunct="1"/>
            <a:r>
              <a:rPr lang="en-US" altLang="zh-CN" sz="2300"/>
              <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灯片编号占位符 5">
            <a:extLst>
              <a:ext uri="{FF2B5EF4-FFF2-40B4-BE49-F238E27FC236}">
                <a16:creationId xmlns:a16="http://schemas.microsoft.com/office/drawing/2014/main" id="{CEA0893F-FECD-47CD-B73F-3BF338F3C5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A878AB0F-ED77-4119-8D92-19D140C02B92}" type="slidenum">
              <a:rPr lang="en-US" altLang="zh-CN" sz="1000" smtClean="0">
                <a:ea typeface="宋体" panose="02010600030101010101" pitchFamily="2" charset="-122"/>
              </a:rPr>
              <a:pPr>
                <a:spcBef>
                  <a:spcPct val="0"/>
                </a:spcBef>
                <a:buClrTx/>
                <a:buFontTx/>
                <a:buNone/>
              </a:pPr>
              <a:t>106</a:t>
            </a:fld>
            <a:endParaRPr lang="en-US" altLang="zh-CN" sz="1000">
              <a:ea typeface="宋体" panose="02010600030101010101" pitchFamily="2" charset="-122"/>
            </a:endParaRPr>
          </a:p>
        </p:txBody>
      </p:sp>
      <p:sp>
        <p:nvSpPr>
          <p:cNvPr id="159746" name="Rectangle 2">
            <a:extLst>
              <a:ext uri="{FF2B5EF4-FFF2-40B4-BE49-F238E27FC236}">
                <a16:creationId xmlns:a16="http://schemas.microsoft.com/office/drawing/2014/main" id="{36FF8DEF-17C6-4DA9-93EC-41D9D3D368DB}"/>
              </a:ext>
            </a:extLst>
          </p:cNvPr>
          <p:cNvSpPr>
            <a:spLocks noGrp="1" noChangeArrowheads="1"/>
          </p:cNvSpPr>
          <p:nvPr>
            <p:ph type="title"/>
          </p:nvPr>
        </p:nvSpPr>
        <p:spPr/>
        <p:txBody>
          <a:bodyPr/>
          <a:lstStyle/>
          <a:p>
            <a:pPr eaLnBrk="1" hangingPunct="1"/>
            <a:r>
              <a:rPr lang="zh-CN" altLang="en-US"/>
              <a:t>降维方法概述</a:t>
            </a:r>
          </a:p>
        </p:txBody>
      </p:sp>
      <p:sp>
        <p:nvSpPr>
          <p:cNvPr id="159747" name="Rectangle 3">
            <a:extLst>
              <a:ext uri="{FF2B5EF4-FFF2-40B4-BE49-F238E27FC236}">
                <a16:creationId xmlns:a16="http://schemas.microsoft.com/office/drawing/2014/main" id="{0F534F45-053A-40F7-A9C6-778F69AC3052}"/>
              </a:ext>
            </a:extLst>
          </p:cNvPr>
          <p:cNvSpPr>
            <a:spLocks noGrp="1" noChangeArrowheads="1"/>
          </p:cNvSpPr>
          <p:nvPr>
            <p:ph type="body" idx="1"/>
          </p:nvPr>
        </p:nvSpPr>
        <p:spPr>
          <a:xfrm>
            <a:off x="457200" y="1600200"/>
            <a:ext cx="8570913" cy="5029200"/>
          </a:xfrm>
        </p:spPr>
        <p:txBody>
          <a:bodyPr/>
          <a:lstStyle/>
          <a:p>
            <a:pPr eaLnBrk="1" hangingPunct="1"/>
            <a:r>
              <a:rPr lang="zh-CN" altLang="en-US" sz="2800"/>
              <a:t>基于流形学习的非线性降维</a:t>
            </a:r>
          </a:p>
          <a:p>
            <a:pPr lvl="1" eaLnBrk="1" hangingPunct="1"/>
            <a:r>
              <a:rPr lang="zh-CN" altLang="en-US" sz="2300"/>
              <a:t>保距特征映射 </a:t>
            </a:r>
            <a:r>
              <a:rPr lang="en-US" altLang="zh-CN" sz="2300"/>
              <a:t>(ISOMAP) [Tenenbaum, 2000]</a:t>
            </a:r>
          </a:p>
          <a:p>
            <a:pPr lvl="1" eaLnBrk="1" hangingPunct="1"/>
            <a:r>
              <a:rPr lang="zh-CN" altLang="en-US" sz="2300">
                <a:solidFill>
                  <a:srgbClr val="008000"/>
                </a:solidFill>
              </a:rPr>
              <a:t>局部线性嵌入 </a:t>
            </a:r>
            <a:r>
              <a:rPr lang="en-US" altLang="zh-CN" sz="2300">
                <a:solidFill>
                  <a:srgbClr val="008000"/>
                </a:solidFill>
              </a:rPr>
              <a:t>(LLE)</a:t>
            </a:r>
            <a:r>
              <a:rPr lang="en-US" altLang="zh-CN" sz="2300"/>
              <a:t> [Roweis, 2000]</a:t>
            </a:r>
          </a:p>
          <a:p>
            <a:pPr lvl="1" eaLnBrk="1" hangingPunct="1"/>
            <a:r>
              <a:rPr lang="zh-CN" altLang="en-US" sz="2300">
                <a:solidFill>
                  <a:srgbClr val="008000"/>
                </a:solidFill>
              </a:rPr>
              <a:t>拉普拉斯特征映射 </a:t>
            </a:r>
            <a:r>
              <a:rPr lang="en-US" altLang="zh-CN" sz="2300">
                <a:solidFill>
                  <a:srgbClr val="008000"/>
                </a:solidFill>
              </a:rPr>
              <a:t>(LE, Laplacian Eigenmap) </a:t>
            </a:r>
            <a:r>
              <a:rPr lang="en-US" altLang="zh-CN" sz="2300"/>
              <a:t>[Belkin, 2001]</a:t>
            </a:r>
          </a:p>
          <a:p>
            <a:pPr lvl="1" eaLnBrk="1" hangingPunct="1"/>
            <a:r>
              <a:rPr lang="en-US" altLang="zh-CN" sz="2300"/>
              <a:t>Hessian LLE (HLLE) [Donoho, 2003]</a:t>
            </a:r>
          </a:p>
          <a:p>
            <a:pPr lvl="1" eaLnBrk="1" hangingPunct="1"/>
            <a:r>
              <a:rPr lang="zh-CN" altLang="en-US" sz="2300"/>
              <a:t>局部切空间对齐 </a:t>
            </a:r>
            <a:r>
              <a:rPr lang="en-US" altLang="zh-CN" sz="2300"/>
              <a:t>(LTSA, Local Tangent Space Alignment) [Zhang, 2004]</a:t>
            </a:r>
          </a:p>
          <a:p>
            <a:pPr lvl="1" eaLnBrk="1" hangingPunct="1"/>
            <a:r>
              <a:rPr lang="zh-CN" altLang="en-US" sz="2300"/>
              <a:t>最大方差展开 </a:t>
            </a:r>
            <a:r>
              <a:rPr lang="en-US" altLang="zh-CN" sz="2300"/>
              <a:t>(MVU/SDE, Maximum Variance Unfolding) [</a:t>
            </a:r>
            <a:r>
              <a:rPr lang="en-US" altLang="en-US"/>
              <a:t>Weinberger</a:t>
            </a:r>
            <a:r>
              <a:rPr lang="en-US" altLang="zh-CN"/>
              <a:t>, 2004</a:t>
            </a:r>
            <a:r>
              <a:rPr lang="en-US" altLang="zh-CN" sz="2300"/>
              <a:t>]</a:t>
            </a:r>
          </a:p>
          <a:p>
            <a:pPr lvl="1" eaLnBrk="1" hangingPunct="1"/>
            <a:r>
              <a:rPr lang="zh-CN" altLang="en-US" sz="2300"/>
              <a:t>局部保持映射 </a:t>
            </a:r>
            <a:r>
              <a:rPr lang="en-US" altLang="zh-CN" sz="2300"/>
              <a:t>(Locality Preserving Projections) [He, 2003]</a:t>
            </a:r>
          </a:p>
          <a:p>
            <a:pPr lvl="1" eaLnBrk="1" hangingPunct="1"/>
            <a:r>
              <a:rPr lang="en-US" altLang="zh-CN" sz="2300"/>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灯片编号占位符 5">
            <a:extLst>
              <a:ext uri="{FF2B5EF4-FFF2-40B4-BE49-F238E27FC236}">
                <a16:creationId xmlns:a16="http://schemas.microsoft.com/office/drawing/2014/main" id="{92E22227-126E-483C-86CA-65AC917D41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82A3A07B-25BD-4FFE-879F-50DDD8ECA624}" type="slidenum">
              <a:rPr lang="en-US" altLang="zh-CN" sz="1000" smtClean="0">
                <a:ea typeface="宋体" panose="02010600030101010101" pitchFamily="2" charset="-122"/>
              </a:rPr>
              <a:pPr>
                <a:spcBef>
                  <a:spcPct val="0"/>
                </a:spcBef>
                <a:buClrTx/>
                <a:buFontTx/>
                <a:buNone/>
              </a:pPr>
              <a:t>107</a:t>
            </a:fld>
            <a:endParaRPr lang="en-US" altLang="zh-CN" sz="1000">
              <a:ea typeface="宋体" panose="02010600030101010101" pitchFamily="2" charset="-122"/>
            </a:endParaRPr>
          </a:p>
        </p:txBody>
      </p:sp>
      <p:sp>
        <p:nvSpPr>
          <p:cNvPr id="160770" name="Rectangle 2">
            <a:extLst>
              <a:ext uri="{FF2B5EF4-FFF2-40B4-BE49-F238E27FC236}">
                <a16:creationId xmlns:a16="http://schemas.microsoft.com/office/drawing/2014/main" id="{3C537795-317D-4C57-8B00-E15D00E39F32}"/>
              </a:ext>
            </a:extLst>
          </p:cNvPr>
          <p:cNvSpPr>
            <a:spLocks noGrp="1" noChangeArrowheads="1"/>
          </p:cNvSpPr>
          <p:nvPr>
            <p:ph type="title"/>
          </p:nvPr>
        </p:nvSpPr>
        <p:spPr/>
        <p:txBody>
          <a:bodyPr/>
          <a:lstStyle/>
          <a:p>
            <a:pPr eaLnBrk="1" hangingPunct="1"/>
            <a:r>
              <a:rPr lang="zh-CN" altLang="en-US"/>
              <a:t>提纲</a:t>
            </a:r>
          </a:p>
        </p:txBody>
      </p:sp>
      <p:sp>
        <p:nvSpPr>
          <p:cNvPr id="160771" name="Rectangle 3">
            <a:extLst>
              <a:ext uri="{FF2B5EF4-FFF2-40B4-BE49-F238E27FC236}">
                <a16:creationId xmlns:a16="http://schemas.microsoft.com/office/drawing/2014/main" id="{0EF6E02B-429C-4009-9942-B884C5249FC4}"/>
              </a:ext>
            </a:extLst>
          </p:cNvPr>
          <p:cNvSpPr>
            <a:spLocks noGrp="1" noChangeArrowheads="1"/>
          </p:cNvSpPr>
          <p:nvPr>
            <p:ph type="body" idx="1"/>
          </p:nvPr>
        </p:nvSpPr>
        <p:spPr/>
        <p:txBody>
          <a:bodyPr/>
          <a:lstStyle/>
          <a:p>
            <a:pPr eaLnBrk="1" hangingPunct="1"/>
            <a:r>
              <a:rPr lang="zh-CN" altLang="en-US">
                <a:solidFill>
                  <a:schemeClr val="accent1"/>
                </a:solidFill>
              </a:rPr>
              <a:t>研究背景</a:t>
            </a:r>
          </a:p>
          <a:p>
            <a:pPr eaLnBrk="1" hangingPunct="1"/>
            <a:r>
              <a:rPr lang="zh-CN" altLang="en-US"/>
              <a:t>基本知识介绍</a:t>
            </a:r>
          </a:p>
          <a:p>
            <a:pPr eaLnBrk="1" hangingPunct="1"/>
            <a:r>
              <a:rPr lang="zh-CN" altLang="en-US">
                <a:solidFill>
                  <a:schemeClr val="accent1"/>
                </a:solidFill>
              </a:rPr>
              <a:t>经典方法概览</a:t>
            </a:r>
          </a:p>
          <a:p>
            <a:pPr eaLnBrk="1" hangingPunct="1"/>
            <a:r>
              <a:rPr lang="zh-CN" altLang="en-US">
                <a:solidFill>
                  <a:schemeClr val="accent1"/>
                </a:solidFill>
              </a:rPr>
              <a:t>总结讨论</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灯片编号占位符 6">
            <a:extLst>
              <a:ext uri="{FF2B5EF4-FFF2-40B4-BE49-F238E27FC236}">
                <a16:creationId xmlns:a16="http://schemas.microsoft.com/office/drawing/2014/main" id="{40E618A8-E70F-4B80-A590-749332646F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906D0C1A-88E4-4454-9156-B4B5DCACC7B4}" type="slidenum">
              <a:rPr lang="en-US" altLang="zh-CN" sz="1000" smtClean="0">
                <a:ea typeface="宋体" panose="02010600030101010101" pitchFamily="2" charset="-122"/>
              </a:rPr>
              <a:pPr>
                <a:spcBef>
                  <a:spcPct val="0"/>
                </a:spcBef>
                <a:buClrTx/>
                <a:buFontTx/>
                <a:buNone/>
              </a:pPr>
              <a:t>108</a:t>
            </a:fld>
            <a:endParaRPr lang="en-US" altLang="zh-CN" sz="1000">
              <a:ea typeface="宋体" panose="02010600030101010101" pitchFamily="2" charset="-122"/>
            </a:endParaRPr>
          </a:p>
        </p:txBody>
      </p:sp>
      <p:sp>
        <p:nvSpPr>
          <p:cNvPr id="161794" name="Rectangle 2">
            <a:extLst>
              <a:ext uri="{FF2B5EF4-FFF2-40B4-BE49-F238E27FC236}">
                <a16:creationId xmlns:a16="http://schemas.microsoft.com/office/drawing/2014/main" id="{BB5CAE38-C6A1-4DB1-B8E7-A6414FAE3A37}"/>
              </a:ext>
            </a:extLst>
          </p:cNvPr>
          <p:cNvSpPr>
            <a:spLocks noGrp="1" noChangeArrowheads="1"/>
          </p:cNvSpPr>
          <p:nvPr>
            <p:ph type="title"/>
          </p:nvPr>
        </p:nvSpPr>
        <p:spPr/>
        <p:txBody>
          <a:bodyPr/>
          <a:lstStyle/>
          <a:p>
            <a:pPr eaLnBrk="1" hangingPunct="1"/>
            <a:r>
              <a:rPr lang="zh-CN" altLang="en-US"/>
              <a:t>流形学习框架</a:t>
            </a:r>
          </a:p>
        </p:txBody>
      </p:sp>
      <p:sp>
        <p:nvSpPr>
          <p:cNvPr id="161795" name="Rectangle 3">
            <a:extLst>
              <a:ext uri="{FF2B5EF4-FFF2-40B4-BE49-F238E27FC236}">
                <a16:creationId xmlns:a16="http://schemas.microsoft.com/office/drawing/2014/main" id="{268F948B-AAA0-432F-BCE4-05FE925A21F2}"/>
              </a:ext>
            </a:extLst>
          </p:cNvPr>
          <p:cNvSpPr>
            <a:spLocks noGrp="1" noChangeArrowheads="1"/>
          </p:cNvSpPr>
          <p:nvPr>
            <p:ph type="body" sz="half" idx="1"/>
          </p:nvPr>
        </p:nvSpPr>
        <p:spPr>
          <a:xfrm>
            <a:off x="0" y="1304925"/>
            <a:ext cx="9067800" cy="4530725"/>
          </a:xfrm>
        </p:spPr>
        <p:txBody>
          <a:bodyPr/>
          <a:lstStyle/>
          <a:p>
            <a:pPr eaLnBrk="1" hangingPunct="1"/>
            <a:r>
              <a:rPr lang="zh-CN" altLang="en-US" sz="2800"/>
              <a:t>什么是流形？</a:t>
            </a:r>
          </a:p>
          <a:p>
            <a:pPr lvl="1" eaLnBrk="1" hangingPunct="1"/>
            <a:r>
              <a:rPr lang="zh-CN" altLang="en-US" sz="2300"/>
              <a:t>流形是线性子空间的一种非线性推广</a:t>
            </a:r>
          </a:p>
          <a:p>
            <a:pPr lvl="1" eaLnBrk="1" hangingPunct="1"/>
            <a:r>
              <a:rPr lang="zh-CN" altLang="en-US" sz="2300"/>
              <a:t>拓扑学角度：局部区域线性，与低维欧式空间拓扑同胚</a:t>
            </a:r>
            <a:r>
              <a:rPr lang="en-US" altLang="zh-CN" sz="2300"/>
              <a:t>(</a:t>
            </a:r>
            <a:r>
              <a:rPr lang="zh-CN" altLang="en-US" sz="2300"/>
              <a:t>连续的变换最后都能变成一样的两个物体，称为同胚</a:t>
            </a:r>
            <a:r>
              <a:rPr lang="zh-CN" altLang="zh-CN" sz="2300"/>
              <a:t>Homeomorphism)</a:t>
            </a:r>
            <a:endParaRPr lang="zh-CN" altLang="en-US" sz="2300"/>
          </a:p>
          <a:p>
            <a:pPr lvl="1" eaLnBrk="1" hangingPunct="1"/>
            <a:r>
              <a:rPr lang="zh-CN" altLang="en-US" sz="2300"/>
              <a:t>微分几何角度：有重叠</a:t>
            </a:r>
            <a:r>
              <a:rPr lang="en-US" altLang="zh-CN" sz="2300"/>
              <a:t>chart</a:t>
            </a:r>
            <a:r>
              <a:rPr lang="zh-CN" altLang="en-US" sz="2300"/>
              <a:t>的光滑过渡</a:t>
            </a:r>
            <a:r>
              <a:rPr lang="en-US" altLang="zh-CN" sz="2300"/>
              <a:t>(</a:t>
            </a:r>
            <a:r>
              <a:rPr lang="zh-CN" altLang="en-US" sz="2300"/>
              <a:t>把流体的任何一个微小的局部看作是欧几里德空间，称为一个</a:t>
            </a:r>
            <a:r>
              <a:rPr lang="zh-CN" altLang="zh-CN" sz="2300"/>
              <a:t>chart</a:t>
            </a:r>
            <a:r>
              <a:rPr lang="zh-CN" altLang="zh-CN"/>
              <a:t>)</a:t>
            </a:r>
            <a:endParaRPr lang="zh-CN" altLang="en-US" sz="2300"/>
          </a:p>
          <a:p>
            <a:pPr lvl="1" eaLnBrk="1" hangingPunct="1"/>
            <a:r>
              <a:rPr lang="zh-CN" altLang="en-US" sz="2300"/>
              <a:t>黎曼流形就是以</a:t>
            </a:r>
            <a:r>
              <a:rPr lang="zh-CN" altLang="en-US" sz="2300">
                <a:solidFill>
                  <a:schemeClr val="hlink"/>
                </a:solidFill>
              </a:rPr>
              <a:t>光滑</a:t>
            </a:r>
            <a:r>
              <a:rPr lang="zh-CN" altLang="en-US" sz="2300"/>
              <a:t>的方式在每一点的切空间上指定了</a:t>
            </a:r>
            <a:r>
              <a:rPr lang="zh-CN" altLang="en-US" sz="2300">
                <a:solidFill>
                  <a:schemeClr val="hlink"/>
                </a:solidFill>
              </a:rPr>
              <a:t>欧氏内积</a:t>
            </a:r>
            <a:r>
              <a:rPr lang="zh-CN" altLang="en-US" sz="2300"/>
              <a:t>的</a:t>
            </a:r>
            <a:r>
              <a:rPr lang="zh-CN" altLang="en-US" sz="2300">
                <a:solidFill>
                  <a:schemeClr val="hlink"/>
                </a:solidFill>
              </a:rPr>
              <a:t>微分流形</a:t>
            </a:r>
          </a:p>
        </p:txBody>
      </p:sp>
      <p:grpSp>
        <p:nvGrpSpPr>
          <p:cNvPr id="2" name="Group 4">
            <a:extLst>
              <a:ext uri="{FF2B5EF4-FFF2-40B4-BE49-F238E27FC236}">
                <a16:creationId xmlns:a16="http://schemas.microsoft.com/office/drawing/2014/main" id="{60843A64-332C-44B2-924E-8FFE0C04EA1E}"/>
              </a:ext>
            </a:extLst>
          </p:cNvPr>
          <p:cNvGrpSpPr>
            <a:grpSpLocks/>
          </p:cNvGrpSpPr>
          <p:nvPr/>
        </p:nvGrpSpPr>
        <p:grpSpPr bwMode="auto">
          <a:xfrm>
            <a:off x="1409700" y="4818063"/>
            <a:ext cx="6324600" cy="1968500"/>
            <a:chOff x="434" y="2352"/>
            <a:chExt cx="5134" cy="1872"/>
          </a:xfrm>
        </p:grpSpPr>
        <p:sp>
          <p:nvSpPr>
            <p:cNvPr id="161797" name="Text Box 5">
              <a:extLst>
                <a:ext uri="{FF2B5EF4-FFF2-40B4-BE49-F238E27FC236}">
                  <a16:creationId xmlns:a16="http://schemas.microsoft.com/office/drawing/2014/main" id="{44D2FC83-433B-497E-A958-587BA0AEF79C}"/>
                </a:ext>
              </a:extLst>
            </p:cNvPr>
            <p:cNvSpPr txBox="1">
              <a:spLocks noChangeArrowheads="1"/>
            </p:cNvSpPr>
            <p:nvPr/>
          </p:nvSpPr>
          <p:spPr bwMode="auto">
            <a:xfrm>
              <a:off x="452" y="4090"/>
              <a:ext cx="19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None/>
              </a:pPr>
              <a:r>
                <a:rPr lang="en-US" altLang="zh-CN" sz="1400">
                  <a:ea typeface="宋体" panose="02010600030101010101" pitchFamily="2" charset="-122"/>
                </a:rPr>
                <a:t>#1 </a:t>
              </a:r>
              <a:r>
                <a:rPr lang="zh-CN" altLang="en-US" sz="1400">
                  <a:ea typeface="宋体" panose="02010600030101010101" pitchFamily="2" charset="-122"/>
                </a:rPr>
                <a:t>引自</a:t>
              </a:r>
              <a:r>
                <a:rPr lang="en-US" altLang="zh-CN" sz="1400">
                  <a:ea typeface="宋体" panose="02010600030101010101" pitchFamily="2" charset="-122"/>
                </a:rPr>
                <a:t>S.T. Roweis et al. 2000</a:t>
              </a:r>
            </a:p>
          </p:txBody>
        </p:sp>
        <p:sp>
          <p:nvSpPr>
            <p:cNvPr id="161798" name="Text Box 6">
              <a:extLst>
                <a:ext uri="{FF2B5EF4-FFF2-40B4-BE49-F238E27FC236}">
                  <a16:creationId xmlns:a16="http://schemas.microsoft.com/office/drawing/2014/main" id="{31905822-047D-4D9B-8E31-E9EAF52246A7}"/>
                </a:ext>
              </a:extLst>
            </p:cNvPr>
            <p:cNvSpPr txBox="1">
              <a:spLocks noChangeArrowheads="1"/>
            </p:cNvSpPr>
            <p:nvPr/>
          </p:nvSpPr>
          <p:spPr bwMode="auto">
            <a:xfrm>
              <a:off x="5088" y="2746"/>
              <a:ext cx="4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a:t>
              </a:r>
              <a:endParaRPr kumimoji="1" lang="en-US" altLang="zh-CN" sz="1600">
                <a:latin typeface="Comic Sans MS" panose="030F0702030302020204" pitchFamily="66" charset="0"/>
                <a:ea typeface="宋体" panose="02010600030101010101" pitchFamily="2" charset="-122"/>
              </a:endParaRPr>
            </a:p>
          </p:txBody>
        </p:sp>
        <p:grpSp>
          <p:nvGrpSpPr>
            <p:cNvPr id="161799" name="Group 7">
              <a:extLst>
                <a:ext uri="{FF2B5EF4-FFF2-40B4-BE49-F238E27FC236}">
                  <a16:creationId xmlns:a16="http://schemas.microsoft.com/office/drawing/2014/main" id="{3951AC3D-32B8-403B-B770-45191171F39C}"/>
                </a:ext>
              </a:extLst>
            </p:cNvPr>
            <p:cNvGrpSpPr>
              <a:grpSpLocks/>
            </p:cNvGrpSpPr>
            <p:nvPr/>
          </p:nvGrpSpPr>
          <p:grpSpPr bwMode="auto">
            <a:xfrm>
              <a:off x="434" y="2352"/>
              <a:ext cx="4846" cy="1527"/>
              <a:chOff x="434" y="2352"/>
              <a:chExt cx="4846" cy="1527"/>
            </a:xfrm>
          </p:grpSpPr>
          <p:pic>
            <p:nvPicPr>
              <p:cNvPr id="161800" name="Picture 8" descr="lle_1">
                <a:extLst>
                  <a:ext uri="{FF2B5EF4-FFF2-40B4-BE49-F238E27FC236}">
                    <a16:creationId xmlns:a16="http://schemas.microsoft.com/office/drawing/2014/main" id="{F7B05BB9-158C-480A-8A04-F900E2B98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890" r="68494" b="63803"/>
              <a:stretch>
                <a:fillRect/>
              </a:stretch>
            </p:blipFill>
            <p:spPr bwMode="auto">
              <a:xfrm>
                <a:off x="2228" y="2488"/>
                <a:ext cx="1324" cy="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801" name="Picture 9" descr="lle_1">
                <a:extLst>
                  <a:ext uri="{FF2B5EF4-FFF2-40B4-BE49-F238E27FC236}">
                    <a16:creationId xmlns:a16="http://schemas.microsoft.com/office/drawing/2014/main" id="{573601DB-DEA1-4ADB-940F-F68A3198A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6122" r="68494" b="30823"/>
              <a:stretch>
                <a:fillRect/>
              </a:stretch>
            </p:blipFill>
            <p:spPr bwMode="auto">
              <a:xfrm>
                <a:off x="480" y="2352"/>
                <a:ext cx="1319" cy="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802" name="Picture 10" descr="lle_1">
                <a:extLst>
                  <a:ext uri="{FF2B5EF4-FFF2-40B4-BE49-F238E27FC236}">
                    <a16:creationId xmlns:a16="http://schemas.microsoft.com/office/drawing/2014/main" id="{9AF621E0-A10E-4959-A373-D17D74850C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2441" r="68494"/>
              <a:stretch>
                <a:fillRect/>
              </a:stretch>
            </p:blipFill>
            <p:spPr bwMode="auto">
              <a:xfrm>
                <a:off x="3950" y="2448"/>
                <a:ext cx="1330" cy="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803" name="Text Box 11">
                <a:extLst>
                  <a:ext uri="{FF2B5EF4-FFF2-40B4-BE49-F238E27FC236}">
                    <a16:creationId xmlns:a16="http://schemas.microsoft.com/office/drawing/2014/main" id="{31D03472-AF65-47F3-9F4F-D5CF981C1E28}"/>
                  </a:ext>
                </a:extLst>
              </p:cNvPr>
              <p:cNvSpPr txBox="1">
                <a:spLocks noChangeArrowheads="1"/>
              </p:cNvSpPr>
              <p:nvPr/>
            </p:nvSpPr>
            <p:spPr bwMode="auto">
              <a:xfrm>
                <a:off x="434" y="3648"/>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a:solidFill>
                      <a:schemeClr val="hlink"/>
                    </a:solidFill>
                  </a:rPr>
                  <a:t>Swiss-roll</a:t>
                </a:r>
                <a:endParaRPr lang="en-US" altLang="zh-CN" sz="2000">
                  <a:solidFill>
                    <a:schemeClr val="hlink"/>
                  </a:solidFill>
                  <a:ea typeface="宋体" panose="02010600030101010101" pitchFamily="2" charset="-122"/>
                </a:endParaRPr>
              </a:p>
            </p:txBody>
          </p:sp>
          <p:sp>
            <p:nvSpPr>
              <p:cNvPr id="161804" name="Text Box 12">
                <a:extLst>
                  <a:ext uri="{FF2B5EF4-FFF2-40B4-BE49-F238E27FC236}">
                    <a16:creationId xmlns:a16="http://schemas.microsoft.com/office/drawing/2014/main" id="{73B7F17C-49E7-4FFC-A11B-C2AF19CB528C}"/>
                  </a:ext>
                </a:extLst>
              </p:cNvPr>
              <p:cNvSpPr txBox="1">
                <a:spLocks noChangeArrowheads="1"/>
              </p:cNvSpPr>
              <p:nvPr/>
            </p:nvSpPr>
            <p:spPr bwMode="auto">
              <a:xfrm>
                <a:off x="2208" y="3648"/>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a:solidFill>
                      <a:schemeClr val="hlink"/>
                    </a:solidFill>
                  </a:rPr>
                  <a:t>S-curve</a:t>
                </a:r>
                <a:endParaRPr lang="en-US" altLang="zh-CN" sz="2000">
                  <a:solidFill>
                    <a:schemeClr val="hlink"/>
                  </a:solidFill>
                  <a:ea typeface="宋体" panose="02010600030101010101" pitchFamily="2" charset="-122"/>
                </a:endParaRPr>
              </a:p>
            </p:txBody>
          </p:sp>
          <p:sp>
            <p:nvSpPr>
              <p:cNvPr id="161805" name="Text Box 13">
                <a:extLst>
                  <a:ext uri="{FF2B5EF4-FFF2-40B4-BE49-F238E27FC236}">
                    <a16:creationId xmlns:a16="http://schemas.microsoft.com/office/drawing/2014/main" id="{07A8F128-DC70-484F-84EA-480217A8795E}"/>
                  </a:ext>
                </a:extLst>
              </p:cNvPr>
              <p:cNvSpPr txBox="1">
                <a:spLocks noChangeArrowheads="1"/>
              </p:cNvSpPr>
              <p:nvPr/>
            </p:nvSpPr>
            <p:spPr bwMode="auto">
              <a:xfrm>
                <a:off x="4032" y="3648"/>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a:solidFill>
                      <a:schemeClr val="hlink"/>
                    </a:solidFill>
                  </a:rPr>
                  <a:t>Fishbow</a:t>
                </a:r>
                <a:endParaRPr lang="en-US" altLang="zh-CN" sz="2000">
                  <a:solidFill>
                    <a:schemeClr val="hlink"/>
                  </a:solidFill>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41" name="灯片编号占位符 6">
            <a:extLst>
              <a:ext uri="{FF2B5EF4-FFF2-40B4-BE49-F238E27FC236}">
                <a16:creationId xmlns:a16="http://schemas.microsoft.com/office/drawing/2014/main" id="{AC32376D-37E3-4A03-BDA5-B9DF19D6B3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B802722-C969-4346-A5F2-1E1569E5A3E8}" type="slidenum">
              <a:rPr lang="en-US" altLang="zh-CN" sz="1000" smtClean="0">
                <a:ea typeface="宋体" panose="02010600030101010101" pitchFamily="2" charset="-122"/>
              </a:rPr>
              <a:pPr>
                <a:spcBef>
                  <a:spcPct val="0"/>
                </a:spcBef>
                <a:buClrTx/>
                <a:buFontTx/>
                <a:buNone/>
              </a:pPr>
              <a:t>109</a:t>
            </a:fld>
            <a:endParaRPr lang="en-US" altLang="zh-CN" sz="1000">
              <a:ea typeface="宋体" panose="02010600030101010101" pitchFamily="2" charset="-122"/>
            </a:endParaRPr>
          </a:p>
        </p:txBody>
      </p:sp>
      <p:sp>
        <p:nvSpPr>
          <p:cNvPr id="163842" name="Rectangle 2">
            <a:extLst>
              <a:ext uri="{FF2B5EF4-FFF2-40B4-BE49-F238E27FC236}">
                <a16:creationId xmlns:a16="http://schemas.microsoft.com/office/drawing/2014/main" id="{63114CE9-540A-4D56-B525-AB3B2BE5615E}"/>
              </a:ext>
            </a:extLst>
          </p:cNvPr>
          <p:cNvSpPr>
            <a:spLocks noGrp="1" noChangeArrowheads="1"/>
          </p:cNvSpPr>
          <p:nvPr>
            <p:ph type="body" sz="half" idx="1"/>
          </p:nvPr>
        </p:nvSpPr>
        <p:spPr>
          <a:xfrm>
            <a:off x="381000" y="1336675"/>
            <a:ext cx="8305800" cy="4530725"/>
          </a:xfrm>
        </p:spPr>
        <p:txBody>
          <a:bodyPr/>
          <a:lstStyle/>
          <a:p>
            <a:pPr eaLnBrk="1" hangingPunct="1"/>
            <a:r>
              <a:rPr lang="zh-CN" altLang="en-US"/>
              <a:t>流形的数学定义</a:t>
            </a:r>
          </a:p>
          <a:p>
            <a:pPr lvl="1" eaLnBrk="1" hangingPunct="1"/>
            <a:r>
              <a:rPr lang="zh-CN" altLang="en-US"/>
              <a:t>设      是一个</a:t>
            </a:r>
            <a:r>
              <a:rPr lang="en-US" altLang="zh-CN"/>
              <a:t>Hausdorff</a:t>
            </a:r>
            <a:r>
              <a:rPr lang="zh-CN" altLang="en-US"/>
              <a:t>拓扑空间，若对每一点            都有    的一个开邻域     和       的一个开子集同胚</a:t>
            </a:r>
            <a:r>
              <a:rPr lang="en-US" altLang="zh-CN"/>
              <a:t>, </a:t>
            </a:r>
            <a:r>
              <a:rPr lang="zh-CN" altLang="en-US"/>
              <a:t>则称     为     维拓扑流形</a:t>
            </a:r>
            <a:r>
              <a:rPr lang="en-US" altLang="zh-CN"/>
              <a:t>, </a:t>
            </a:r>
            <a:r>
              <a:rPr lang="zh-CN" altLang="en-US"/>
              <a:t>简称为     维流形</a:t>
            </a:r>
            <a:r>
              <a:rPr lang="en-US" altLang="zh-CN"/>
              <a:t>.</a:t>
            </a:r>
          </a:p>
        </p:txBody>
      </p:sp>
      <p:sp>
        <p:nvSpPr>
          <p:cNvPr id="163843" name="Rectangle 3">
            <a:extLst>
              <a:ext uri="{FF2B5EF4-FFF2-40B4-BE49-F238E27FC236}">
                <a16:creationId xmlns:a16="http://schemas.microsoft.com/office/drawing/2014/main" id="{94B3B1F4-B139-4E12-A021-FC9465575CAF}"/>
              </a:ext>
            </a:extLst>
          </p:cNvPr>
          <p:cNvSpPr>
            <a:spLocks noGrp="1" noChangeArrowheads="1"/>
          </p:cNvSpPr>
          <p:nvPr>
            <p:ph type="title"/>
          </p:nvPr>
        </p:nvSpPr>
        <p:spPr/>
        <p:txBody>
          <a:bodyPr/>
          <a:lstStyle/>
          <a:p>
            <a:pPr eaLnBrk="1" hangingPunct="1"/>
            <a:r>
              <a:rPr lang="zh-CN" altLang="en-US"/>
              <a:t>流形学习框架</a:t>
            </a:r>
          </a:p>
        </p:txBody>
      </p:sp>
      <p:grpSp>
        <p:nvGrpSpPr>
          <p:cNvPr id="163844" name="Group 4">
            <a:extLst>
              <a:ext uri="{FF2B5EF4-FFF2-40B4-BE49-F238E27FC236}">
                <a16:creationId xmlns:a16="http://schemas.microsoft.com/office/drawing/2014/main" id="{678F0A02-9E9B-451A-BB55-1420BCC3AD55}"/>
              </a:ext>
            </a:extLst>
          </p:cNvPr>
          <p:cNvGrpSpPr>
            <a:grpSpLocks/>
          </p:cNvGrpSpPr>
          <p:nvPr/>
        </p:nvGrpSpPr>
        <p:grpSpPr bwMode="auto">
          <a:xfrm>
            <a:off x="1600200" y="1870075"/>
            <a:ext cx="7573963" cy="1371600"/>
            <a:chOff x="1008" y="1344"/>
            <a:chExt cx="4771" cy="864"/>
          </a:xfrm>
        </p:grpSpPr>
        <p:graphicFrame>
          <p:nvGraphicFramePr>
            <p:cNvPr id="163871" name="Object 5">
              <a:extLst>
                <a:ext uri="{FF2B5EF4-FFF2-40B4-BE49-F238E27FC236}">
                  <a16:creationId xmlns:a16="http://schemas.microsoft.com/office/drawing/2014/main" id="{4B23C719-4BB8-4F91-850F-D3A5D2DD26E7}"/>
                </a:ext>
              </a:extLst>
            </p:cNvPr>
            <p:cNvGraphicFramePr>
              <a:graphicFrameLocks noChangeAspect="1"/>
            </p:cNvGraphicFramePr>
            <p:nvPr/>
          </p:nvGraphicFramePr>
          <p:xfrm>
            <a:off x="1008" y="1401"/>
            <a:ext cx="322" cy="258"/>
          </p:xfrm>
          <a:graphic>
            <a:graphicData uri="http://schemas.openxmlformats.org/presentationml/2006/ole">
              <mc:AlternateContent xmlns:mc="http://schemas.openxmlformats.org/markup-compatibility/2006">
                <mc:Choice xmlns:v="urn:schemas-microsoft-com:vml" Requires="v">
                  <p:oleObj spid="_x0000_s163911" name="Equation" r:id="rId3" imgW="0" imgH="0" progId="Equation.DSMT4">
                    <p:embed/>
                  </p:oleObj>
                </mc:Choice>
                <mc:Fallback>
                  <p:oleObj name="Equation" r:id="rId3" imgW="0" imgH="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 y="1401"/>
                          <a:ext cx="322"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2" name="Object 6">
              <a:extLst>
                <a:ext uri="{FF2B5EF4-FFF2-40B4-BE49-F238E27FC236}">
                  <a16:creationId xmlns:a16="http://schemas.microsoft.com/office/drawing/2014/main" id="{E9E9A65D-DE6B-4430-BDBA-06B0662C2F24}"/>
                </a:ext>
              </a:extLst>
            </p:cNvPr>
            <p:cNvGraphicFramePr>
              <a:graphicFrameLocks noChangeAspect="1"/>
            </p:cNvGraphicFramePr>
            <p:nvPr/>
          </p:nvGraphicFramePr>
          <p:xfrm>
            <a:off x="5088" y="1344"/>
            <a:ext cx="691" cy="324"/>
          </p:xfrm>
          <a:graphic>
            <a:graphicData uri="http://schemas.openxmlformats.org/presentationml/2006/ole">
              <mc:AlternateContent xmlns:mc="http://schemas.openxmlformats.org/markup-compatibility/2006">
                <mc:Choice xmlns:v="urn:schemas-microsoft-com:vml" Requires="v">
                  <p:oleObj spid="_x0000_s163912" name="Equation" r:id="rId5" imgW="0" imgH="0" progId="Equation.DSMT4">
                    <p:embed/>
                  </p:oleObj>
                </mc:Choice>
                <mc:Fallback>
                  <p:oleObj name="Equation" r:id="rId5" imgW="0" imgH="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8" y="1344"/>
                          <a:ext cx="691"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3" name="Object 7">
              <a:extLst>
                <a:ext uri="{FF2B5EF4-FFF2-40B4-BE49-F238E27FC236}">
                  <a16:creationId xmlns:a16="http://schemas.microsoft.com/office/drawing/2014/main" id="{15C848EE-B498-4680-B6CE-E104DC6982D2}"/>
                </a:ext>
              </a:extLst>
            </p:cNvPr>
            <p:cNvGraphicFramePr>
              <a:graphicFrameLocks noChangeAspect="1"/>
            </p:cNvGraphicFramePr>
            <p:nvPr/>
          </p:nvGraphicFramePr>
          <p:xfrm>
            <a:off x="1188" y="1680"/>
            <a:ext cx="237" cy="259"/>
          </p:xfrm>
          <a:graphic>
            <a:graphicData uri="http://schemas.openxmlformats.org/presentationml/2006/ole">
              <mc:AlternateContent xmlns:mc="http://schemas.openxmlformats.org/markup-compatibility/2006">
                <mc:Choice xmlns:v="urn:schemas-microsoft-com:vml" Requires="v">
                  <p:oleObj spid="_x0000_s163913" name="Equation" r:id="rId7" imgW="0" imgH="0" progId="Equation.DSMT4">
                    <p:embed/>
                  </p:oleObj>
                </mc:Choice>
                <mc:Fallback>
                  <p:oleObj name="Equation" r:id="rId7" imgW="0" imgH="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8" y="1680"/>
                          <a:ext cx="237"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4" name="Object 8">
              <a:extLst>
                <a:ext uri="{FF2B5EF4-FFF2-40B4-BE49-F238E27FC236}">
                  <a16:creationId xmlns:a16="http://schemas.microsoft.com/office/drawing/2014/main" id="{4E8EA069-77DA-4B35-898C-D67DC777D4DC}"/>
                </a:ext>
              </a:extLst>
            </p:cNvPr>
            <p:cNvGraphicFramePr>
              <a:graphicFrameLocks noChangeAspect="1"/>
            </p:cNvGraphicFramePr>
            <p:nvPr/>
          </p:nvGraphicFramePr>
          <p:xfrm>
            <a:off x="2773" y="1669"/>
            <a:ext cx="259" cy="281"/>
          </p:xfrm>
          <a:graphic>
            <a:graphicData uri="http://schemas.openxmlformats.org/presentationml/2006/ole">
              <mc:AlternateContent xmlns:mc="http://schemas.openxmlformats.org/markup-compatibility/2006">
                <mc:Choice xmlns:v="urn:schemas-microsoft-com:vml" Requires="v">
                  <p:oleObj spid="_x0000_s163914" name="Equation" r:id="rId9" imgW="0" imgH="0" progId="Equation.DSMT4">
                    <p:embed/>
                  </p:oleObj>
                </mc:Choice>
                <mc:Fallback>
                  <p:oleObj name="Equation" r:id="rId9" imgW="0" imgH="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3" y="1669"/>
                          <a:ext cx="259"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5" name="Object 9">
              <a:extLst>
                <a:ext uri="{FF2B5EF4-FFF2-40B4-BE49-F238E27FC236}">
                  <a16:creationId xmlns:a16="http://schemas.microsoft.com/office/drawing/2014/main" id="{E5639638-F441-44D2-953D-0B9ECFB63C29}"/>
                </a:ext>
              </a:extLst>
            </p:cNvPr>
            <p:cNvGraphicFramePr>
              <a:graphicFrameLocks noChangeAspect="1"/>
            </p:cNvGraphicFramePr>
            <p:nvPr/>
          </p:nvGraphicFramePr>
          <p:xfrm>
            <a:off x="3266" y="1640"/>
            <a:ext cx="344" cy="302"/>
          </p:xfrm>
          <a:graphic>
            <a:graphicData uri="http://schemas.openxmlformats.org/presentationml/2006/ole">
              <mc:AlternateContent xmlns:mc="http://schemas.openxmlformats.org/markup-compatibility/2006">
                <mc:Choice xmlns:v="urn:schemas-microsoft-com:vml" Requires="v">
                  <p:oleObj spid="_x0000_s163915" name="Equation" r:id="rId11" imgW="0" imgH="0" progId="Equation.DSMT4">
                    <p:embed/>
                  </p:oleObj>
                </mc:Choice>
                <mc:Fallback>
                  <p:oleObj name="Equation" r:id="rId11" imgW="0" imgH="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66" y="1640"/>
                          <a:ext cx="344"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76" name="Object 10">
              <a:extLst>
                <a:ext uri="{FF2B5EF4-FFF2-40B4-BE49-F238E27FC236}">
                  <a16:creationId xmlns:a16="http://schemas.microsoft.com/office/drawing/2014/main" id="{B171DCDE-C39E-4323-B461-B4E36E48EFB9}"/>
                </a:ext>
              </a:extLst>
            </p:cNvPr>
            <p:cNvGraphicFramePr>
              <a:graphicFrameLocks noChangeAspect="1"/>
            </p:cNvGraphicFramePr>
            <p:nvPr/>
          </p:nvGraphicFramePr>
          <p:xfrm>
            <a:off x="3895" y="1927"/>
            <a:ext cx="238" cy="281"/>
          </p:xfrm>
          <a:graphic>
            <a:graphicData uri="http://schemas.openxmlformats.org/presentationml/2006/ole">
              <mc:AlternateContent xmlns:mc="http://schemas.openxmlformats.org/markup-compatibility/2006">
                <mc:Choice xmlns:v="urn:schemas-microsoft-com:vml" Requires="v">
                  <p:oleObj spid="_x0000_s163916" name="Equation" r:id="rId13" imgW="0" imgH="0" progId="Equation.DSMT4">
                    <p:embed/>
                  </p:oleObj>
                </mc:Choice>
                <mc:Fallback>
                  <p:oleObj name="Equation" r:id="rId13" imgW="0" imgH="0"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95" y="1927"/>
                          <a:ext cx="23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7" name="Object 11">
              <a:extLst>
                <a:ext uri="{FF2B5EF4-FFF2-40B4-BE49-F238E27FC236}">
                  <a16:creationId xmlns:a16="http://schemas.microsoft.com/office/drawing/2014/main" id="{5EA63148-003B-46B0-9A4E-029343A4F386}"/>
                </a:ext>
              </a:extLst>
            </p:cNvPr>
            <p:cNvGraphicFramePr>
              <a:graphicFrameLocks noChangeAspect="1"/>
            </p:cNvGraphicFramePr>
            <p:nvPr/>
          </p:nvGraphicFramePr>
          <p:xfrm>
            <a:off x="1201" y="1912"/>
            <a:ext cx="322" cy="258"/>
          </p:xfrm>
          <a:graphic>
            <a:graphicData uri="http://schemas.openxmlformats.org/presentationml/2006/ole">
              <mc:AlternateContent xmlns:mc="http://schemas.openxmlformats.org/markup-compatibility/2006">
                <mc:Choice xmlns:v="urn:schemas-microsoft-com:vml" Requires="v">
                  <p:oleObj spid="_x0000_s163917" name="Equation" r:id="rId15" imgW="0" imgH="0" progId="Equation.DSMT4">
                    <p:embed/>
                  </p:oleObj>
                </mc:Choice>
                <mc:Fallback>
                  <p:oleObj name="Equation" r:id="rId15" imgW="0" imgH="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01" y="1912"/>
                          <a:ext cx="322"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8" name="Object 12">
              <a:extLst>
                <a:ext uri="{FF2B5EF4-FFF2-40B4-BE49-F238E27FC236}">
                  <a16:creationId xmlns:a16="http://schemas.microsoft.com/office/drawing/2014/main" id="{72F0E2D6-CE85-4025-B29A-13B25975F8DC}"/>
                </a:ext>
              </a:extLst>
            </p:cNvPr>
            <p:cNvGraphicFramePr>
              <a:graphicFrameLocks noChangeAspect="1"/>
            </p:cNvGraphicFramePr>
            <p:nvPr/>
          </p:nvGraphicFramePr>
          <p:xfrm>
            <a:off x="1722" y="1921"/>
            <a:ext cx="237" cy="281"/>
          </p:xfrm>
          <a:graphic>
            <a:graphicData uri="http://schemas.openxmlformats.org/presentationml/2006/ole">
              <mc:AlternateContent xmlns:mc="http://schemas.openxmlformats.org/markup-compatibility/2006">
                <mc:Choice xmlns:v="urn:schemas-microsoft-com:vml" Requires="v">
                  <p:oleObj spid="_x0000_s163918" name="Equation" r:id="rId17" imgW="0" imgH="0" progId="Equation.DSMT4">
                    <p:embed/>
                  </p:oleObj>
                </mc:Choice>
                <mc:Fallback>
                  <p:oleObj name="Equation" r:id="rId17" imgW="0" imgH="0" progId="Equation.DSMT4">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22" y="1921"/>
                          <a:ext cx="237"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3">
            <a:extLst>
              <a:ext uri="{FF2B5EF4-FFF2-40B4-BE49-F238E27FC236}">
                <a16:creationId xmlns:a16="http://schemas.microsoft.com/office/drawing/2014/main" id="{615D955C-E054-4E24-9B69-99CBA4F1D1CF}"/>
              </a:ext>
            </a:extLst>
          </p:cNvPr>
          <p:cNvGrpSpPr>
            <a:grpSpLocks/>
          </p:cNvGrpSpPr>
          <p:nvPr/>
        </p:nvGrpSpPr>
        <p:grpSpPr bwMode="auto">
          <a:xfrm>
            <a:off x="260350" y="3222625"/>
            <a:ext cx="8045450" cy="3586163"/>
            <a:chOff x="164" y="2030"/>
            <a:chExt cx="5068" cy="2259"/>
          </a:xfrm>
        </p:grpSpPr>
        <p:sp>
          <p:nvSpPr>
            <p:cNvPr id="163846" name="Text Box 14">
              <a:extLst>
                <a:ext uri="{FF2B5EF4-FFF2-40B4-BE49-F238E27FC236}">
                  <a16:creationId xmlns:a16="http://schemas.microsoft.com/office/drawing/2014/main" id="{0D26FB3D-ABED-4EB4-8535-46A7DC1908BD}"/>
                </a:ext>
              </a:extLst>
            </p:cNvPr>
            <p:cNvSpPr txBox="1">
              <a:spLocks noChangeArrowheads="1"/>
            </p:cNvSpPr>
            <p:nvPr/>
          </p:nvSpPr>
          <p:spPr bwMode="auto">
            <a:xfrm>
              <a:off x="164" y="4155"/>
              <a:ext cx="19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 </a:t>
              </a:r>
              <a:r>
                <a:rPr lang="zh-CN" altLang="en-US" sz="1400">
                  <a:ea typeface="宋体" panose="02010600030101010101" pitchFamily="2" charset="-122"/>
                </a:rPr>
                <a:t>引自</a:t>
              </a:r>
              <a:r>
                <a:rPr lang="en-US" altLang="zh-CN" sz="1400">
                  <a:ea typeface="宋体" panose="02010600030101010101" pitchFamily="2" charset="-122"/>
                </a:rPr>
                <a:t>M. H. Law, 2004</a:t>
              </a:r>
              <a:endParaRPr kumimoji="1" lang="en-US" altLang="zh-CN" sz="1600">
                <a:latin typeface="Comic Sans MS" panose="030F0702030302020204" pitchFamily="66" charset="0"/>
                <a:ea typeface="宋体" panose="02010600030101010101" pitchFamily="2" charset="-122"/>
              </a:endParaRPr>
            </a:p>
          </p:txBody>
        </p:sp>
        <p:sp>
          <p:nvSpPr>
            <p:cNvPr id="163847" name="Text Box 15">
              <a:extLst>
                <a:ext uri="{FF2B5EF4-FFF2-40B4-BE49-F238E27FC236}">
                  <a16:creationId xmlns:a16="http://schemas.microsoft.com/office/drawing/2014/main" id="{04223629-05BB-4246-B263-2B74C0D56B1F}"/>
                </a:ext>
              </a:extLst>
            </p:cNvPr>
            <p:cNvSpPr txBox="1">
              <a:spLocks noChangeArrowheads="1"/>
            </p:cNvSpPr>
            <p:nvPr/>
          </p:nvSpPr>
          <p:spPr bwMode="auto">
            <a:xfrm>
              <a:off x="4752" y="2313"/>
              <a:ext cx="4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a:t>
              </a:r>
              <a:endParaRPr kumimoji="1" lang="en-US" altLang="zh-CN" sz="1600">
                <a:latin typeface="Comic Sans MS" panose="030F0702030302020204" pitchFamily="66" charset="0"/>
                <a:ea typeface="宋体" panose="02010600030101010101" pitchFamily="2" charset="-122"/>
              </a:endParaRPr>
            </a:p>
          </p:txBody>
        </p:sp>
        <p:grpSp>
          <p:nvGrpSpPr>
            <p:cNvPr id="163848" name="Group 16">
              <a:extLst>
                <a:ext uri="{FF2B5EF4-FFF2-40B4-BE49-F238E27FC236}">
                  <a16:creationId xmlns:a16="http://schemas.microsoft.com/office/drawing/2014/main" id="{0F12F900-39EF-471B-9EF7-16768D3032BA}"/>
                </a:ext>
              </a:extLst>
            </p:cNvPr>
            <p:cNvGrpSpPr>
              <a:grpSpLocks/>
            </p:cNvGrpSpPr>
            <p:nvPr/>
          </p:nvGrpSpPr>
          <p:grpSpPr bwMode="auto">
            <a:xfrm>
              <a:off x="1156" y="2030"/>
              <a:ext cx="3582" cy="2194"/>
              <a:chOff x="1156" y="2064"/>
              <a:chExt cx="3582" cy="2194"/>
            </a:xfrm>
          </p:grpSpPr>
          <p:sp>
            <p:nvSpPr>
              <p:cNvPr id="163849" name="Line 17">
                <a:extLst>
                  <a:ext uri="{FF2B5EF4-FFF2-40B4-BE49-F238E27FC236}">
                    <a16:creationId xmlns:a16="http://schemas.microsoft.com/office/drawing/2014/main" id="{4E4EB915-F45A-48DF-A424-A0F3D1CF917A}"/>
                  </a:ext>
                </a:extLst>
              </p:cNvPr>
              <p:cNvSpPr>
                <a:spLocks noChangeShapeType="1"/>
              </p:cNvSpPr>
              <p:nvPr/>
            </p:nvSpPr>
            <p:spPr bwMode="auto">
              <a:xfrm>
                <a:off x="2043" y="2270"/>
                <a:ext cx="811" cy="651"/>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850" name="Freeform 18">
                <a:extLst>
                  <a:ext uri="{FF2B5EF4-FFF2-40B4-BE49-F238E27FC236}">
                    <a16:creationId xmlns:a16="http://schemas.microsoft.com/office/drawing/2014/main" id="{9B1C14AF-6F19-432C-BF53-831E0ECE17DF}"/>
                  </a:ext>
                </a:extLst>
              </p:cNvPr>
              <p:cNvSpPr>
                <a:spLocks/>
              </p:cNvSpPr>
              <p:nvPr/>
            </p:nvSpPr>
            <p:spPr bwMode="auto">
              <a:xfrm>
                <a:off x="2054" y="2064"/>
                <a:ext cx="1728" cy="322"/>
              </a:xfrm>
              <a:custGeom>
                <a:avLst/>
                <a:gdLst>
                  <a:gd name="T0" fmla="*/ 0 w 2147"/>
                  <a:gd name="T1" fmla="*/ 4 h 427"/>
                  <a:gd name="T2" fmla="*/ 4 w 2147"/>
                  <a:gd name="T3" fmla="*/ 3 h 427"/>
                  <a:gd name="T4" fmla="*/ 7 w 2147"/>
                  <a:gd name="T5" fmla="*/ 2 h 427"/>
                  <a:gd name="T6" fmla="*/ 9 w 2147"/>
                  <a:gd name="T7" fmla="*/ 2 h 427"/>
                  <a:gd name="T8" fmla="*/ 13 w 2147"/>
                  <a:gd name="T9" fmla="*/ 2 h 427"/>
                  <a:gd name="T10" fmla="*/ 15 w 2147"/>
                  <a:gd name="T11" fmla="*/ 2 h 427"/>
                  <a:gd name="T12" fmla="*/ 23 w 2147"/>
                  <a:gd name="T13" fmla="*/ 0 h 427"/>
                  <a:gd name="T14" fmla="*/ 29 w 2147"/>
                  <a:gd name="T15" fmla="*/ 2 h 427"/>
                  <a:gd name="T16" fmla="*/ 32 w 2147"/>
                  <a:gd name="T17" fmla="*/ 2 h 427"/>
                  <a:gd name="T18" fmla="*/ 35 w 2147"/>
                  <a:gd name="T19" fmla="*/ 4 h 427"/>
                  <a:gd name="T20" fmla="*/ 47 w 2147"/>
                  <a:gd name="T21" fmla="*/ 5 h 427"/>
                  <a:gd name="T22" fmla="*/ 52 w 2147"/>
                  <a:gd name="T23" fmla="*/ 5 h 427"/>
                  <a:gd name="T24" fmla="*/ 58 w 2147"/>
                  <a:gd name="T25" fmla="*/ 5 h 427"/>
                  <a:gd name="T26" fmla="*/ 64 w 2147"/>
                  <a:gd name="T27" fmla="*/ 3 h 427"/>
                  <a:gd name="T28" fmla="*/ 65 w 2147"/>
                  <a:gd name="T29" fmla="*/ 2 h 427"/>
                  <a:gd name="T30" fmla="*/ 66 w 2147"/>
                  <a:gd name="T31" fmla="*/ 2 h 427"/>
                  <a:gd name="T32" fmla="*/ 67 w 2147"/>
                  <a:gd name="T33" fmla="*/ 2 h 4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47"/>
                  <a:gd name="T52" fmla="*/ 0 h 427"/>
                  <a:gd name="T53" fmla="*/ 2147 w 2147"/>
                  <a:gd name="T54" fmla="*/ 427 h 42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47" h="427">
                    <a:moveTo>
                      <a:pt x="0" y="277"/>
                    </a:moveTo>
                    <a:cubicBezTo>
                      <a:pt x="44" y="255"/>
                      <a:pt x="90" y="236"/>
                      <a:pt x="135" y="214"/>
                    </a:cubicBezTo>
                    <a:cubicBezTo>
                      <a:pt x="170" y="197"/>
                      <a:pt x="202" y="168"/>
                      <a:pt x="237" y="150"/>
                    </a:cubicBezTo>
                    <a:cubicBezTo>
                      <a:pt x="294" y="121"/>
                      <a:pt x="224" y="169"/>
                      <a:pt x="292" y="127"/>
                    </a:cubicBezTo>
                    <a:cubicBezTo>
                      <a:pt x="320" y="109"/>
                      <a:pt x="391" y="70"/>
                      <a:pt x="411" y="56"/>
                    </a:cubicBezTo>
                    <a:cubicBezTo>
                      <a:pt x="425" y="46"/>
                      <a:pt x="450" y="27"/>
                      <a:pt x="466" y="24"/>
                    </a:cubicBezTo>
                    <a:cubicBezTo>
                      <a:pt x="546" y="8"/>
                      <a:pt x="645" y="5"/>
                      <a:pt x="726" y="0"/>
                    </a:cubicBezTo>
                    <a:cubicBezTo>
                      <a:pt x="800" y="9"/>
                      <a:pt x="872" y="30"/>
                      <a:pt x="939" y="64"/>
                    </a:cubicBezTo>
                    <a:cubicBezTo>
                      <a:pt x="971" y="103"/>
                      <a:pt x="1006" y="138"/>
                      <a:pt x="1042" y="174"/>
                    </a:cubicBezTo>
                    <a:cubicBezTo>
                      <a:pt x="1078" y="210"/>
                      <a:pt x="1093" y="256"/>
                      <a:pt x="1137" y="285"/>
                    </a:cubicBezTo>
                    <a:cubicBezTo>
                      <a:pt x="1213" y="402"/>
                      <a:pt x="1391" y="409"/>
                      <a:pt x="1515" y="427"/>
                    </a:cubicBezTo>
                    <a:cubicBezTo>
                      <a:pt x="1568" y="424"/>
                      <a:pt x="1620" y="423"/>
                      <a:pt x="1673" y="419"/>
                    </a:cubicBezTo>
                    <a:cubicBezTo>
                      <a:pt x="1749" y="413"/>
                      <a:pt x="1814" y="372"/>
                      <a:pt x="1886" y="356"/>
                    </a:cubicBezTo>
                    <a:cubicBezTo>
                      <a:pt x="1939" y="321"/>
                      <a:pt x="1996" y="295"/>
                      <a:pt x="2044" y="253"/>
                    </a:cubicBezTo>
                    <a:cubicBezTo>
                      <a:pt x="2095" y="208"/>
                      <a:pt x="2087" y="211"/>
                      <a:pt x="2123" y="158"/>
                    </a:cubicBezTo>
                    <a:cubicBezTo>
                      <a:pt x="2128" y="150"/>
                      <a:pt x="2139" y="135"/>
                      <a:pt x="2139" y="135"/>
                    </a:cubicBezTo>
                    <a:cubicBezTo>
                      <a:pt x="2142" y="127"/>
                      <a:pt x="2147" y="111"/>
                      <a:pt x="2147" y="111"/>
                    </a:cubicBezTo>
                  </a:path>
                </a:pathLst>
              </a:cu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63851" name="Freeform 19">
                <a:extLst>
                  <a:ext uri="{FF2B5EF4-FFF2-40B4-BE49-F238E27FC236}">
                    <a16:creationId xmlns:a16="http://schemas.microsoft.com/office/drawing/2014/main" id="{1E34D3DF-1243-4576-8738-9FFAC07E5A72}"/>
                  </a:ext>
                </a:extLst>
              </p:cNvPr>
              <p:cNvSpPr>
                <a:spLocks/>
              </p:cNvSpPr>
              <p:nvPr/>
            </p:nvSpPr>
            <p:spPr bwMode="auto">
              <a:xfrm>
                <a:off x="2861" y="2380"/>
                <a:ext cx="1352" cy="642"/>
              </a:xfrm>
              <a:custGeom>
                <a:avLst/>
                <a:gdLst>
                  <a:gd name="T0" fmla="*/ 0 w 1680"/>
                  <a:gd name="T1" fmla="*/ 8 h 852"/>
                  <a:gd name="T2" fmla="*/ 2 w 1680"/>
                  <a:gd name="T3" fmla="*/ 7 h 852"/>
                  <a:gd name="T4" fmla="*/ 5 w 1680"/>
                  <a:gd name="T5" fmla="*/ 6 h 852"/>
                  <a:gd name="T6" fmla="*/ 12 w 1680"/>
                  <a:gd name="T7" fmla="*/ 5 h 852"/>
                  <a:gd name="T8" fmla="*/ 19 w 1680"/>
                  <a:gd name="T9" fmla="*/ 8 h 852"/>
                  <a:gd name="T10" fmla="*/ 22 w 1680"/>
                  <a:gd name="T11" fmla="*/ 8 h 852"/>
                  <a:gd name="T12" fmla="*/ 23 w 1680"/>
                  <a:gd name="T13" fmla="*/ 9 h 852"/>
                  <a:gd name="T14" fmla="*/ 25 w 1680"/>
                  <a:gd name="T15" fmla="*/ 10 h 852"/>
                  <a:gd name="T16" fmla="*/ 27 w 1680"/>
                  <a:gd name="T17" fmla="*/ 10 h 852"/>
                  <a:gd name="T18" fmla="*/ 35 w 1680"/>
                  <a:gd name="T19" fmla="*/ 8 h 852"/>
                  <a:gd name="T20" fmla="*/ 36 w 1680"/>
                  <a:gd name="T21" fmla="*/ 8 h 852"/>
                  <a:gd name="T22" fmla="*/ 38 w 1680"/>
                  <a:gd name="T23" fmla="*/ 8 h 852"/>
                  <a:gd name="T24" fmla="*/ 39 w 1680"/>
                  <a:gd name="T25" fmla="*/ 8 h 852"/>
                  <a:gd name="T26" fmla="*/ 41 w 1680"/>
                  <a:gd name="T27" fmla="*/ 6 h 852"/>
                  <a:gd name="T28" fmla="*/ 44 w 1680"/>
                  <a:gd name="T29" fmla="*/ 6 h 852"/>
                  <a:gd name="T30" fmla="*/ 48 w 1680"/>
                  <a:gd name="T31" fmla="*/ 4 h 852"/>
                  <a:gd name="T32" fmla="*/ 51 w 1680"/>
                  <a:gd name="T33" fmla="*/ 2 h 852"/>
                  <a:gd name="T34" fmla="*/ 52 w 1680"/>
                  <a:gd name="T35" fmla="*/ 0 h 8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80"/>
                  <a:gd name="T55" fmla="*/ 0 h 852"/>
                  <a:gd name="T56" fmla="*/ 1680 w 1680"/>
                  <a:gd name="T57" fmla="*/ 852 h 8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80" h="852">
                    <a:moveTo>
                      <a:pt x="0" y="718"/>
                    </a:moveTo>
                    <a:cubicBezTo>
                      <a:pt x="25" y="678"/>
                      <a:pt x="60" y="653"/>
                      <a:pt x="94" y="623"/>
                    </a:cubicBezTo>
                    <a:cubicBezTo>
                      <a:pt x="157" y="567"/>
                      <a:pt x="118" y="585"/>
                      <a:pt x="165" y="568"/>
                    </a:cubicBezTo>
                    <a:cubicBezTo>
                      <a:pt x="245" y="507"/>
                      <a:pt x="292" y="482"/>
                      <a:pt x="386" y="449"/>
                    </a:cubicBezTo>
                    <a:cubicBezTo>
                      <a:pt x="520" y="471"/>
                      <a:pt x="540" y="581"/>
                      <a:pt x="607" y="678"/>
                    </a:cubicBezTo>
                    <a:cubicBezTo>
                      <a:pt x="626" y="736"/>
                      <a:pt x="627" y="761"/>
                      <a:pt x="686" y="789"/>
                    </a:cubicBezTo>
                    <a:cubicBezTo>
                      <a:pt x="712" y="801"/>
                      <a:pt x="728" y="821"/>
                      <a:pt x="757" y="828"/>
                    </a:cubicBezTo>
                    <a:cubicBezTo>
                      <a:pt x="770" y="831"/>
                      <a:pt x="783" y="834"/>
                      <a:pt x="796" y="836"/>
                    </a:cubicBezTo>
                    <a:cubicBezTo>
                      <a:pt x="828" y="842"/>
                      <a:pt x="891" y="852"/>
                      <a:pt x="891" y="852"/>
                    </a:cubicBezTo>
                    <a:cubicBezTo>
                      <a:pt x="1028" y="843"/>
                      <a:pt x="1042" y="836"/>
                      <a:pt x="1152" y="781"/>
                    </a:cubicBezTo>
                    <a:cubicBezTo>
                      <a:pt x="1160" y="773"/>
                      <a:pt x="1167" y="764"/>
                      <a:pt x="1175" y="757"/>
                    </a:cubicBezTo>
                    <a:cubicBezTo>
                      <a:pt x="1185" y="748"/>
                      <a:pt x="1197" y="742"/>
                      <a:pt x="1207" y="733"/>
                    </a:cubicBezTo>
                    <a:cubicBezTo>
                      <a:pt x="1230" y="710"/>
                      <a:pt x="1234" y="689"/>
                      <a:pt x="1262" y="670"/>
                    </a:cubicBezTo>
                    <a:cubicBezTo>
                      <a:pt x="1299" y="615"/>
                      <a:pt x="1278" y="634"/>
                      <a:pt x="1317" y="607"/>
                    </a:cubicBezTo>
                    <a:cubicBezTo>
                      <a:pt x="1343" y="570"/>
                      <a:pt x="1381" y="523"/>
                      <a:pt x="1420" y="497"/>
                    </a:cubicBezTo>
                    <a:cubicBezTo>
                      <a:pt x="1460" y="436"/>
                      <a:pt x="1512" y="380"/>
                      <a:pt x="1546" y="315"/>
                    </a:cubicBezTo>
                    <a:cubicBezTo>
                      <a:pt x="1572" y="265"/>
                      <a:pt x="1600" y="216"/>
                      <a:pt x="1625" y="165"/>
                    </a:cubicBezTo>
                    <a:cubicBezTo>
                      <a:pt x="1649" y="117"/>
                      <a:pt x="1642" y="38"/>
                      <a:pt x="1680" y="0"/>
                    </a:cubicBezTo>
                  </a:path>
                </a:pathLst>
              </a:cu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63852" name="Line 20">
                <a:extLst>
                  <a:ext uri="{FF2B5EF4-FFF2-40B4-BE49-F238E27FC236}">
                    <a16:creationId xmlns:a16="http://schemas.microsoft.com/office/drawing/2014/main" id="{B822D17C-39A1-45A3-8AF4-0E149F6BA8FD}"/>
                  </a:ext>
                </a:extLst>
              </p:cNvPr>
              <p:cNvSpPr>
                <a:spLocks noChangeShapeType="1"/>
              </p:cNvSpPr>
              <p:nvPr/>
            </p:nvSpPr>
            <p:spPr bwMode="auto">
              <a:xfrm>
                <a:off x="3781" y="2162"/>
                <a:ext cx="425" cy="21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853" name="Text Box 21">
                <a:extLst>
                  <a:ext uri="{FF2B5EF4-FFF2-40B4-BE49-F238E27FC236}">
                    <a16:creationId xmlns:a16="http://schemas.microsoft.com/office/drawing/2014/main" id="{7A864A3E-DDEC-406F-B4A3-B587F8462CEB}"/>
                  </a:ext>
                </a:extLst>
              </p:cNvPr>
              <p:cNvSpPr txBox="1">
                <a:spLocks noChangeArrowheads="1"/>
              </p:cNvSpPr>
              <p:nvPr/>
            </p:nvSpPr>
            <p:spPr bwMode="auto">
              <a:xfrm>
                <a:off x="2301" y="2165"/>
                <a:ext cx="32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i="1">
                    <a:latin typeface="msbm10" pitchFamily="34" charset="0"/>
                    <a:ea typeface="宋体" panose="02010600030101010101" pitchFamily="2" charset="-122"/>
                  </a:rPr>
                  <a:t>M</a:t>
                </a:r>
                <a:endParaRPr lang="en-US" altLang="zh-CN" i="1">
                  <a:latin typeface="Times New Roman" panose="02020603050405020304" pitchFamily="18" charset="0"/>
                  <a:ea typeface="宋体" panose="02010600030101010101" pitchFamily="2" charset="-122"/>
                </a:endParaRPr>
              </a:p>
            </p:txBody>
          </p:sp>
          <p:sp>
            <p:nvSpPr>
              <p:cNvPr id="163854" name="Freeform 22">
                <a:extLst>
                  <a:ext uri="{FF2B5EF4-FFF2-40B4-BE49-F238E27FC236}">
                    <a16:creationId xmlns:a16="http://schemas.microsoft.com/office/drawing/2014/main" id="{B5E95727-A161-4CE2-94AE-88AEF93EADE6}"/>
                  </a:ext>
                </a:extLst>
              </p:cNvPr>
              <p:cNvSpPr>
                <a:spLocks/>
              </p:cNvSpPr>
              <p:nvPr/>
            </p:nvSpPr>
            <p:spPr bwMode="auto">
              <a:xfrm>
                <a:off x="3407" y="2540"/>
                <a:ext cx="368" cy="202"/>
              </a:xfrm>
              <a:custGeom>
                <a:avLst/>
                <a:gdLst>
                  <a:gd name="T0" fmla="*/ 0 w 458"/>
                  <a:gd name="T1" fmla="*/ 2 h 268"/>
                  <a:gd name="T2" fmla="*/ 3 w 458"/>
                  <a:gd name="T3" fmla="*/ 2 h 268"/>
                  <a:gd name="T4" fmla="*/ 4 w 458"/>
                  <a:gd name="T5" fmla="*/ 2 h 268"/>
                  <a:gd name="T6" fmla="*/ 9 w 458"/>
                  <a:gd name="T7" fmla="*/ 2 h 268"/>
                  <a:gd name="T8" fmla="*/ 9 w 458"/>
                  <a:gd name="T9" fmla="*/ 0 h 268"/>
                  <a:gd name="T10" fmla="*/ 10 w 458"/>
                  <a:gd name="T11" fmla="*/ 2 h 268"/>
                  <a:gd name="T12" fmla="*/ 12 w 458"/>
                  <a:gd name="T13" fmla="*/ 2 h 268"/>
                  <a:gd name="T14" fmla="*/ 14 w 458"/>
                  <a:gd name="T15" fmla="*/ 2 h 268"/>
                  <a:gd name="T16" fmla="*/ 10 w 458"/>
                  <a:gd name="T17" fmla="*/ 3 h 268"/>
                  <a:gd name="T18" fmla="*/ 2 w 458"/>
                  <a:gd name="T19" fmla="*/ 4 h 268"/>
                  <a:gd name="T20" fmla="*/ 2 w 458"/>
                  <a:gd name="T21" fmla="*/ 3 h 268"/>
                  <a:gd name="T22" fmla="*/ 2 w 458"/>
                  <a:gd name="T23" fmla="*/ 2 h 268"/>
                  <a:gd name="T24" fmla="*/ 0 w 458"/>
                  <a:gd name="T25" fmla="*/ 2 h 2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8"/>
                  <a:gd name="T40" fmla="*/ 0 h 268"/>
                  <a:gd name="T41" fmla="*/ 458 w 458"/>
                  <a:gd name="T42" fmla="*/ 268 h 2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8" h="268">
                    <a:moveTo>
                      <a:pt x="0" y="23"/>
                    </a:moveTo>
                    <a:cubicBezTo>
                      <a:pt x="74" y="42"/>
                      <a:pt x="46" y="33"/>
                      <a:pt x="111" y="55"/>
                    </a:cubicBezTo>
                    <a:cubicBezTo>
                      <a:pt x="119" y="58"/>
                      <a:pt x="134" y="63"/>
                      <a:pt x="134" y="63"/>
                    </a:cubicBezTo>
                    <a:cubicBezTo>
                      <a:pt x="197" y="57"/>
                      <a:pt x="248" y="58"/>
                      <a:pt x="300" y="23"/>
                    </a:cubicBezTo>
                    <a:cubicBezTo>
                      <a:pt x="303" y="15"/>
                      <a:pt x="300" y="0"/>
                      <a:pt x="308" y="0"/>
                    </a:cubicBezTo>
                    <a:cubicBezTo>
                      <a:pt x="310" y="0"/>
                      <a:pt x="338" y="46"/>
                      <a:pt x="339" y="47"/>
                    </a:cubicBezTo>
                    <a:cubicBezTo>
                      <a:pt x="361" y="72"/>
                      <a:pt x="387" y="94"/>
                      <a:pt x="410" y="118"/>
                    </a:cubicBezTo>
                    <a:cubicBezTo>
                      <a:pt x="423" y="132"/>
                      <a:pt x="458" y="150"/>
                      <a:pt x="458" y="150"/>
                    </a:cubicBezTo>
                    <a:cubicBezTo>
                      <a:pt x="433" y="186"/>
                      <a:pt x="388" y="199"/>
                      <a:pt x="347" y="213"/>
                    </a:cubicBezTo>
                    <a:cubicBezTo>
                      <a:pt x="253" y="245"/>
                      <a:pt x="152" y="252"/>
                      <a:pt x="55" y="268"/>
                    </a:cubicBezTo>
                    <a:cubicBezTo>
                      <a:pt x="50" y="260"/>
                      <a:pt x="44" y="253"/>
                      <a:pt x="40" y="244"/>
                    </a:cubicBezTo>
                    <a:cubicBezTo>
                      <a:pt x="33" y="229"/>
                      <a:pt x="24" y="197"/>
                      <a:pt x="24" y="197"/>
                    </a:cubicBezTo>
                    <a:cubicBezTo>
                      <a:pt x="33" y="34"/>
                      <a:pt x="72" y="77"/>
                      <a:pt x="0" y="23"/>
                    </a:cubicBezTo>
                    <a:close/>
                  </a:path>
                </a:pathLst>
              </a:custGeom>
              <a:solidFill>
                <a:srgbClr val="FF9900"/>
              </a:solidFill>
              <a:ln w="19050">
                <a:solidFill>
                  <a:schemeClr val="tx1"/>
                </a:solidFill>
                <a:prstDash val="dash"/>
                <a:miter lim="800000"/>
                <a:headEnd/>
                <a:tailEnd/>
              </a:ln>
            </p:spPr>
            <p:txBody>
              <a:bodyPr wrap="none"/>
              <a:lstStyle/>
              <a:p>
                <a:endParaRPr lang="zh-CN" altLang="en-US"/>
              </a:p>
            </p:txBody>
          </p:sp>
          <p:sp>
            <p:nvSpPr>
              <p:cNvPr id="163855" name="Line 23">
                <a:extLst>
                  <a:ext uri="{FF2B5EF4-FFF2-40B4-BE49-F238E27FC236}">
                    <a16:creationId xmlns:a16="http://schemas.microsoft.com/office/drawing/2014/main" id="{314A8E81-EBA5-4194-9724-EA6D55559E49}"/>
                  </a:ext>
                </a:extLst>
              </p:cNvPr>
              <p:cNvSpPr>
                <a:spLocks noChangeShapeType="1"/>
              </p:cNvSpPr>
              <p:nvPr/>
            </p:nvSpPr>
            <p:spPr bwMode="auto">
              <a:xfrm flipV="1">
                <a:off x="2313" y="3138"/>
                <a:ext cx="0" cy="832"/>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856" name="Line 24">
                <a:extLst>
                  <a:ext uri="{FF2B5EF4-FFF2-40B4-BE49-F238E27FC236}">
                    <a16:creationId xmlns:a16="http://schemas.microsoft.com/office/drawing/2014/main" id="{1862D535-8304-4357-91AA-0378D605F56C}"/>
                  </a:ext>
                </a:extLst>
              </p:cNvPr>
              <p:cNvSpPr>
                <a:spLocks noChangeShapeType="1"/>
              </p:cNvSpPr>
              <p:nvPr/>
            </p:nvSpPr>
            <p:spPr bwMode="auto">
              <a:xfrm>
                <a:off x="2313" y="3970"/>
                <a:ext cx="927"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857" name="Text Box 25">
                <a:extLst>
                  <a:ext uri="{FF2B5EF4-FFF2-40B4-BE49-F238E27FC236}">
                    <a16:creationId xmlns:a16="http://schemas.microsoft.com/office/drawing/2014/main" id="{330633CD-C5E1-471C-8060-9425139CBA56}"/>
                  </a:ext>
                </a:extLst>
              </p:cNvPr>
              <p:cNvSpPr txBox="1">
                <a:spLocks noChangeArrowheads="1"/>
              </p:cNvSpPr>
              <p:nvPr/>
            </p:nvSpPr>
            <p:spPr bwMode="auto">
              <a:xfrm>
                <a:off x="2634" y="3970"/>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sz="2400">
                    <a:latin typeface="Times New Roman" panose="02020603050405020304" pitchFamily="18" charset="0"/>
                    <a:ea typeface="宋体" panose="02010600030101010101" pitchFamily="2" charset="-122"/>
                  </a:rPr>
                  <a:t>x</a:t>
                </a:r>
                <a:r>
                  <a:rPr lang="en-US" altLang="zh-CN" sz="2400" baseline="-25000">
                    <a:latin typeface="Times New Roman" panose="02020603050405020304" pitchFamily="18" charset="0"/>
                    <a:ea typeface="宋体" panose="02010600030101010101" pitchFamily="2" charset="-122"/>
                  </a:rPr>
                  <a:t>1</a:t>
                </a:r>
              </a:p>
            </p:txBody>
          </p:sp>
          <p:sp>
            <p:nvSpPr>
              <p:cNvPr id="163858" name="Text Box 26">
                <a:extLst>
                  <a:ext uri="{FF2B5EF4-FFF2-40B4-BE49-F238E27FC236}">
                    <a16:creationId xmlns:a16="http://schemas.microsoft.com/office/drawing/2014/main" id="{B33663A0-BC11-4288-AE4E-AFF47ABF1E09}"/>
                  </a:ext>
                </a:extLst>
              </p:cNvPr>
              <p:cNvSpPr txBox="1">
                <a:spLocks noChangeArrowheads="1"/>
              </p:cNvSpPr>
              <p:nvPr/>
            </p:nvSpPr>
            <p:spPr bwMode="auto">
              <a:xfrm>
                <a:off x="2054" y="3500"/>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sz="2400">
                    <a:latin typeface="Times New Roman" panose="02020603050405020304" pitchFamily="18" charset="0"/>
                    <a:ea typeface="宋体" panose="02010600030101010101" pitchFamily="2" charset="-122"/>
                  </a:rPr>
                  <a:t>x</a:t>
                </a:r>
                <a:r>
                  <a:rPr lang="en-US" altLang="zh-CN" sz="2400" baseline="-25000">
                    <a:latin typeface="Times New Roman" panose="02020603050405020304" pitchFamily="18" charset="0"/>
                    <a:ea typeface="宋体" panose="02010600030101010101" pitchFamily="2" charset="-122"/>
                  </a:rPr>
                  <a:t>2</a:t>
                </a:r>
              </a:p>
            </p:txBody>
          </p:sp>
          <p:sp>
            <p:nvSpPr>
              <p:cNvPr id="163859" name="Oval 27">
                <a:extLst>
                  <a:ext uri="{FF2B5EF4-FFF2-40B4-BE49-F238E27FC236}">
                    <a16:creationId xmlns:a16="http://schemas.microsoft.com/office/drawing/2014/main" id="{1A821CE0-8F84-4A83-8BBD-CF901E89694F}"/>
                  </a:ext>
                </a:extLst>
              </p:cNvPr>
              <p:cNvSpPr>
                <a:spLocks noChangeArrowheads="1"/>
              </p:cNvSpPr>
              <p:nvPr/>
            </p:nvSpPr>
            <p:spPr bwMode="auto">
              <a:xfrm>
                <a:off x="2545" y="3609"/>
                <a:ext cx="309" cy="180"/>
              </a:xfrm>
              <a:prstGeom prst="ellipse">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63860" name="Line 28">
                <a:extLst>
                  <a:ext uri="{FF2B5EF4-FFF2-40B4-BE49-F238E27FC236}">
                    <a16:creationId xmlns:a16="http://schemas.microsoft.com/office/drawing/2014/main" id="{2825BBCF-E7B9-412E-B70D-F3E58269A8A4}"/>
                  </a:ext>
                </a:extLst>
              </p:cNvPr>
              <p:cNvSpPr>
                <a:spLocks noChangeShapeType="1"/>
              </p:cNvSpPr>
              <p:nvPr/>
            </p:nvSpPr>
            <p:spPr bwMode="auto">
              <a:xfrm flipH="1">
                <a:off x="2699" y="2885"/>
                <a:ext cx="657" cy="83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861" name="Line 29">
                <a:extLst>
                  <a:ext uri="{FF2B5EF4-FFF2-40B4-BE49-F238E27FC236}">
                    <a16:creationId xmlns:a16="http://schemas.microsoft.com/office/drawing/2014/main" id="{966D3408-3D6F-4F64-BF9A-6617C2A5C1AC}"/>
                  </a:ext>
                </a:extLst>
              </p:cNvPr>
              <p:cNvSpPr>
                <a:spLocks noChangeShapeType="1"/>
              </p:cNvSpPr>
              <p:nvPr/>
            </p:nvSpPr>
            <p:spPr bwMode="auto">
              <a:xfrm flipV="1">
                <a:off x="3356" y="2641"/>
                <a:ext cx="178" cy="244"/>
              </a:xfrm>
              <a:prstGeom prst="line">
                <a:avLst/>
              </a:prstGeom>
              <a:noFill/>
              <a:ln w="38100">
                <a:solidFill>
                  <a:schemeClr val="tx1"/>
                </a:solidFill>
                <a:prstDash val="sysDot"/>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862" name="Text Box 30">
                <a:extLst>
                  <a:ext uri="{FF2B5EF4-FFF2-40B4-BE49-F238E27FC236}">
                    <a16:creationId xmlns:a16="http://schemas.microsoft.com/office/drawing/2014/main" id="{0736FC56-190C-4D76-BC4B-FF418C13C75D}"/>
                  </a:ext>
                </a:extLst>
              </p:cNvPr>
              <p:cNvSpPr txBox="1">
                <a:spLocks noChangeArrowheads="1"/>
              </p:cNvSpPr>
              <p:nvPr/>
            </p:nvSpPr>
            <p:spPr bwMode="auto">
              <a:xfrm>
                <a:off x="1156" y="3464"/>
                <a:ext cx="38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a:latin typeface="msbm10" pitchFamily="34"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2</a:t>
                </a:r>
              </a:p>
            </p:txBody>
          </p:sp>
          <p:sp>
            <p:nvSpPr>
              <p:cNvPr id="163863" name="Text Box 31">
                <a:extLst>
                  <a:ext uri="{FF2B5EF4-FFF2-40B4-BE49-F238E27FC236}">
                    <a16:creationId xmlns:a16="http://schemas.microsoft.com/office/drawing/2014/main" id="{1E8946A4-67B0-459A-832D-0D93134F76E1}"/>
                  </a:ext>
                </a:extLst>
              </p:cNvPr>
              <p:cNvSpPr txBox="1">
                <a:spLocks noChangeArrowheads="1"/>
              </p:cNvSpPr>
              <p:nvPr/>
            </p:nvSpPr>
            <p:spPr bwMode="auto">
              <a:xfrm>
                <a:off x="1156" y="2234"/>
                <a:ext cx="38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a:latin typeface="msbm10" pitchFamily="34"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n</a:t>
                </a:r>
              </a:p>
            </p:txBody>
          </p:sp>
          <p:grpSp>
            <p:nvGrpSpPr>
              <p:cNvPr id="163864" name="Group 32">
                <a:extLst>
                  <a:ext uri="{FF2B5EF4-FFF2-40B4-BE49-F238E27FC236}">
                    <a16:creationId xmlns:a16="http://schemas.microsoft.com/office/drawing/2014/main" id="{3361A837-8A68-4655-93A5-75F5831425AF}"/>
                  </a:ext>
                </a:extLst>
              </p:cNvPr>
              <p:cNvGrpSpPr>
                <a:grpSpLocks/>
              </p:cNvGrpSpPr>
              <p:nvPr/>
            </p:nvGrpSpPr>
            <p:grpSpPr bwMode="auto">
              <a:xfrm>
                <a:off x="2712" y="2596"/>
                <a:ext cx="2026" cy="1366"/>
                <a:chOff x="3232" y="1968"/>
                <a:chExt cx="2518" cy="1813"/>
              </a:xfrm>
            </p:grpSpPr>
            <p:sp>
              <p:nvSpPr>
                <p:cNvPr id="163866" name="Oval 33">
                  <a:extLst>
                    <a:ext uri="{FF2B5EF4-FFF2-40B4-BE49-F238E27FC236}">
                      <a16:creationId xmlns:a16="http://schemas.microsoft.com/office/drawing/2014/main" id="{28318BB7-9E8B-4E85-A853-9E5048F8F9C9}"/>
                    </a:ext>
                  </a:extLst>
                </p:cNvPr>
                <p:cNvSpPr>
                  <a:spLocks noChangeArrowheads="1"/>
                </p:cNvSpPr>
                <p:nvPr/>
              </p:nvSpPr>
              <p:spPr bwMode="auto">
                <a:xfrm>
                  <a:off x="4320" y="2016"/>
                  <a:ext cx="48" cy="48"/>
                </a:xfrm>
                <a:prstGeom prst="ellipse">
                  <a:avLst/>
                </a:prstGeom>
                <a:solidFill>
                  <a:srgbClr val="3333CC"/>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63867" name="Text Box 34">
                  <a:extLst>
                    <a:ext uri="{FF2B5EF4-FFF2-40B4-BE49-F238E27FC236}">
                      <a16:creationId xmlns:a16="http://schemas.microsoft.com/office/drawing/2014/main" id="{449911B4-AB93-43F4-9FFC-2622CB49E2EA}"/>
                    </a:ext>
                  </a:extLst>
                </p:cNvPr>
                <p:cNvSpPr txBox="1">
                  <a:spLocks noChangeArrowheads="1"/>
                </p:cNvSpPr>
                <p:nvPr/>
              </p:nvSpPr>
              <p:spPr bwMode="auto">
                <a:xfrm>
                  <a:off x="4302" y="1968"/>
                  <a:ext cx="250"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sz="2400" b="1">
                      <a:solidFill>
                        <a:srgbClr val="3333CC"/>
                      </a:solidFill>
                      <a:latin typeface="Times New Roman" panose="02020603050405020304" pitchFamily="18" charset="0"/>
                      <a:ea typeface="宋体" panose="02010600030101010101" pitchFamily="2" charset="-122"/>
                    </a:rPr>
                    <a:t>z</a:t>
                  </a:r>
                </a:p>
              </p:txBody>
            </p:sp>
            <p:sp>
              <p:nvSpPr>
                <p:cNvPr id="163868" name="Oval 35">
                  <a:extLst>
                    <a:ext uri="{FF2B5EF4-FFF2-40B4-BE49-F238E27FC236}">
                      <a16:creationId xmlns:a16="http://schemas.microsoft.com/office/drawing/2014/main" id="{4D17D252-70B5-4B8D-80AD-89CC4C3F11E5}"/>
                    </a:ext>
                  </a:extLst>
                </p:cNvPr>
                <p:cNvSpPr>
                  <a:spLocks noChangeArrowheads="1"/>
                </p:cNvSpPr>
                <p:nvPr/>
              </p:nvSpPr>
              <p:spPr bwMode="auto">
                <a:xfrm>
                  <a:off x="3264" y="3456"/>
                  <a:ext cx="48" cy="48"/>
                </a:xfrm>
                <a:prstGeom prst="ellipse">
                  <a:avLst/>
                </a:prstGeom>
                <a:solidFill>
                  <a:srgbClr val="3333CC"/>
                </a:solidFill>
                <a:ln w="9525">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63869" name="Text Box 36">
                  <a:extLst>
                    <a:ext uri="{FF2B5EF4-FFF2-40B4-BE49-F238E27FC236}">
                      <a16:creationId xmlns:a16="http://schemas.microsoft.com/office/drawing/2014/main" id="{B79309FE-57F7-4CF3-9E1C-597B52570A22}"/>
                    </a:ext>
                  </a:extLst>
                </p:cNvPr>
                <p:cNvSpPr txBox="1">
                  <a:spLocks noChangeArrowheads="1"/>
                </p:cNvSpPr>
                <p:nvPr/>
              </p:nvSpPr>
              <p:spPr bwMode="auto">
                <a:xfrm>
                  <a:off x="3232" y="3399"/>
                  <a:ext cx="264"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sz="2400" b="1">
                      <a:solidFill>
                        <a:srgbClr val="3333CC"/>
                      </a:solidFill>
                      <a:latin typeface="Times New Roman" panose="02020603050405020304" pitchFamily="18" charset="0"/>
                      <a:ea typeface="宋体" panose="02010600030101010101" pitchFamily="2" charset="-122"/>
                    </a:rPr>
                    <a:t>x</a:t>
                  </a:r>
                </a:p>
              </p:txBody>
            </p:sp>
            <p:sp>
              <p:nvSpPr>
                <p:cNvPr id="163870" name="Text Box 37">
                  <a:extLst>
                    <a:ext uri="{FF2B5EF4-FFF2-40B4-BE49-F238E27FC236}">
                      <a16:creationId xmlns:a16="http://schemas.microsoft.com/office/drawing/2014/main" id="{A90CD7F9-CB7C-4486-87D4-C448AE5316B0}"/>
                    </a:ext>
                  </a:extLst>
                </p:cNvPr>
                <p:cNvSpPr txBox="1">
                  <a:spLocks noChangeArrowheads="1"/>
                </p:cNvSpPr>
                <p:nvPr/>
              </p:nvSpPr>
              <p:spPr bwMode="auto">
                <a:xfrm>
                  <a:off x="3852" y="3072"/>
                  <a:ext cx="1898"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sz="2400" b="1">
                      <a:latin typeface="Times New Roman" panose="02020603050405020304" pitchFamily="18" charset="0"/>
                      <a:ea typeface="宋体" panose="02010600030101010101" pitchFamily="2" charset="-122"/>
                    </a:rPr>
                    <a:t>x</a:t>
                  </a:r>
                  <a:r>
                    <a:rPr lang="en-US" altLang="zh-CN" sz="2400">
                      <a:latin typeface="Times New Roman" panose="02020603050405020304" pitchFamily="18" charset="0"/>
                      <a:ea typeface="宋体" panose="02010600030101010101" pitchFamily="2" charset="-122"/>
                    </a:rPr>
                    <a:t>: coordinate for </a:t>
                  </a:r>
                  <a:r>
                    <a:rPr lang="en-US" altLang="zh-CN" sz="2400" b="1">
                      <a:latin typeface="Times New Roman" panose="02020603050405020304" pitchFamily="18" charset="0"/>
                      <a:ea typeface="宋体" panose="02010600030101010101" pitchFamily="2" charset="-122"/>
                    </a:rPr>
                    <a:t>z</a:t>
                  </a:r>
                </a:p>
              </p:txBody>
            </p:sp>
          </p:grpSp>
          <p:sp>
            <p:nvSpPr>
              <p:cNvPr id="163865" name="Text Box 38">
                <a:extLst>
                  <a:ext uri="{FF2B5EF4-FFF2-40B4-BE49-F238E27FC236}">
                    <a16:creationId xmlns:a16="http://schemas.microsoft.com/office/drawing/2014/main" id="{1B5168C9-1AE1-415C-A17B-8D548279F3CF}"/>
                  </a:ext>
                </a:extLst>
              </p:cNvPr>
              <p:cNvSpPr txBox="1">
                <a:spLocks noChangeArrowheads="1"/>
              </p:cNvSpPr>
              <p:nvPr/>
            </p:nvSpPr>
            <p:spPr bwMode="auto">
              <a:xfrm>
                <a:off x="3647" y="2337"/>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buClrTx/>
                  <a:buFontTx/>
                  <a:buNone/>
                </a:pPr>
                <a:r>
                  <a:rPr lang="en-US" altLang="zh-CN" i="1">
                    <a:solidFill>
                      <a:schemeClr val="hlink"/>
                    </a:solidFill>
                    <a:latin typeface="msbm10" pitchFamily="34" charset="0"/>
                    <a:ea typeface="宋体" panose="02010600030101010101" pitchFamily="2" charset="-122"/>
                  </a:rPr>
                  <a:t>U</a:t>
                </a:r>
                <a:endParaRPr lang="en-US" altLang="zh-CN" i="1">
                  <a:solidFill>
                    <a:schemeClr val="hlink"/>
                  </a:solidFill>
                  <a:latin typeface="Times New Roman" panose="02020603050405020304" pitchFamily="18" charset="0"/>
                  <a:ea typeface="宋体" panose="02010600030101010101" pitchFamily="2" charset="-122"/>
                </a:endParaRP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6">
            <a:extLst>
              <a:ext uri="{FF2B5EF4-FFF2-40B4-BE49-F238E27FC236}">
                <a16:creationId xmlns:a16="http://schemas.microsoft.com/office/drawing/2014/main" id="{3D1099A1-BED1-409F-9886-6C7BF0D55E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A69DC40D-6BD0-4A96-903A-B6716CDC8129}" type="slidenum">
              <a:rPr lang="en-US" altLang="zh-CN" sz="1000" smtClean="0">
                <a:ea typeface="宋体" panose="02010600030101010101" pitchFamily="2" charset="-122"/>
              </a:rPr>
              <a:pPr>
                <a:spcBef>
                  <a:spcPct val="0"/>
                </a:spcBef>
                <a:buClrTx/>
                <a:buFontTx/>
                <a:buNone/>
              </a:pPr>
              <a:t>110</a:t>
            </a:fld>
            <a:endParaRPr lang="en-US" altLang="zh-CN" sz="1000">
              <a:ea typeface="宋体" panose="02010600030101010101" pitchFamily="2" charset="-122"/>
            </a:endParaRPr>
          </a:p>
        </p:txBody>
      </p:sp>
      <p:sp>
        <p:nvSpPr>
          <p:cNvPr id="164866" name="Rectangle 2">
            <a:extLst>
              <a:ext uri="{FF2B5EF4-FFF2-40B4-BE49-F238E27FC236}">
                <a16:creationId xmlns:a16="http://schemas.microsoft.com/office/drawing/2014/main" id="{CAAEA8BC-34C5-4F02-8106-018892CB5205}"/>
              </a:ext>
            </a:extLst>
          </p:cNvPr>
          <p:cNvSpPr>
            <a:spLocks noGrp="1" noChangeArrowheads="1"/>
          </p:cNvSpPr>
          <p:nvPr>
            <p:ph type="body" idx="1"/>
          </p:nvPr>
        </p:nvSpPr>
        <p:spPr>
          <a:xfrm>
            <a:off x="457200" y="1447800"/>
            <a:ext cx="8458200" cy="5029200"/>
          </a:xfrm>
          <a:noFill/>
        </p:spPr>
        <p:txBody>
          <a:bodyPr/>
          <a:lstStyle/>
          <a:p>
            <a:pPr eaLnBrk="1" hangingPunct="1"/>
            <a:r>
              <a:rPr lang="zh-CN" altLang="en-US" sz="2800"/>
              <a:t>一些基本数学概念</a:t>
            </a:r>
          </a:p>
          <a:p>
            <a:pPr lvl="1" eaLnBrk="1" hangingPunct="1"/>
            <a:r>
              <a:rPr lang="zh-CN" altLang="en-US" sz="2300"/>
              <a:t>拓扑，</a:t>
            </a:r>
            <a:r>
              <a:rPr lang="en-US" altLang="zh-CN" sz="2300"/>
              <a:t>Hausdorff </a:t>
            </a:r>
            <a:r>
              <a:rPr lang="zh-CN" altLang="en-US" sz="2300"/>
              <a:t>空间，坐标卡，微分结构</a:t>
            </a:r>
          </a:p>
          <a:p>
            <a:pPr lvl="1" eaLnBrk="1" hangingPunct="1"/>
            <a:r>
              <a:rPr lang="zh-CN" altLang="en-US" sz="2300"/>
              <a:t>光滑函数，光滑映射，切向量，切空间</a:t>
            </a:r>
          </a:p>
          <a:p>
            <a:pPr lvl="1" eaLnBrk="1" hangingPunct="1"/>
            <a:r>
              <a:rPr lang="en-US" altLang="zh-CN" sz="2300"/>
              <a:t>…</a:t>
            </a:r>
          </a:p>
          <a:p>
            <a:pPr eaLnBrk="1" hangingPunct="1"/>
            <a:r>
              <a:rPr lang="zh-CN" altLang="en-US" sz="2800"/>
              <a:t>参考文献</a:t>
            </a:r>
          </a:p>
          <a:p>
            <a:pPr lvl="1" eaLnBrk="1" hangingPunct="1"/>
            <a:r>
              <a:rPr lang="zh-CN" altLang="en-US" sz="2300"/>
              <a:t>陈省身</a:t>
            </a:r>
            <a:r>
              <a:rPr lang="en-US" altLang="zh-CN" sz="2300"/>
              <a:t>, </a:t>
            </a:r>
            <a:r>
              <a:rPr lang="zh-CN" altLang="en-US" sz="2300"/>
              <a:t>陈维桓</a:t>
            </a:r>
            <a:r>
              <a:rPr lang="en-US" altLang="zh-CN" sz="2300"/>
              <a:t>, </a:t>
            </a:r>
            <a:r>
              <a:rPr lang="zh-CN" altLang="en-US" sz="2300"/>
              <a:t>微分几何讲义</a:t>
            </a:r>
            <a:r>
              <a:rPr lang="en-US" altLang="zh-CN" sz="2300"/>
              <a:t>. </a:t>
            </a:r>
            <a:r>
              <a:rPr lang="zh-CN" altLang="en-US" sz="2300"/>
              <a:t>北京大学出版社</a:t>
            </a:r>
            <a:r>
              <a:rPr lang="en-US" altLang="zh-CN" sz="2300"/>
              <a:t>, 1983</a:t>
            </a:r>
          </a:p>
          <a:p>
            <a:pPr lvl="1" eaLnBrk="1" hangingPunct="1"/>
            <a:r>
              <a:rPr lang="en-US" altLang="zh-CN" sz="2300"/>
              <a:t>M Berger, B Gostiaux. Differential Geometry: Manifolds, Curves and Surfaces, GTM115. Springer-Verlag, 1974</a:t>
            </a:r>
          </a:p>
          <a:p>
            <a:pPr lvl="1" eaLnBrk="1" hangingPunct="1"/>
            <a:r>
              <a:rPr lang="zh-CN" altLang="en-US" sz="2300"/>
              <a:t>陈维桓</a:t>
            </a:r>
            <a:r>
              <a:rPr lang="en-US" altLang="zh-CN" sz="2300"/>
              <a:t>, </a:t>
            </a:r>
            <a:r>
              <a:rPr lang="zh-CN" altLang="en-US" sz="2300"/>
              <a:t>微分流形初步</a:t>
            </a:r>
            <a:r>
              <a:rPr lang="en-US" altLang="zh-CN" sz="2300"/>
              <a:t>(</a:t>
            </a:r>
            <a:r>
              <a:rPr lang="zh-CN" altLang="en-US" sz="2300"/>
              <a:t>第二版</a:t>
            </a:r>
            <a:r>
              <a:rPr lang="en-US" altLang="zh-CN" sz="2300"/>
              <a:t>). </a:t>
            </a:r>
            <a:r>
              <a:rPr lang="zh-CN" altLang="en-US" sz="2300"/>
              <a:t>高等教育出版社</a:t>
            </a:r>
            <a:r>
              <a:rPr lang="en-US" altLang="zh-CN" sz="2300"/>
              <a:t>, 2001</a:t>
            </a:r>
          </a:p>
          <a:p>
            <a:pPr lvl="1" eaLnBrk="1" hangingPunct="1"/>
            <a:endParaRPr lang="en-US" altLang="zh-CN" sz="2300"/>
          </a:p>
        </p:txBody>
      </p:sp>
      <p:sp>
        <p:nvSpPr>
          <p:cNvPr id="164867" name="Rectangle 3">
            <a:extLst>
              <a:ext uri="{FF2B5EF4-FFF2-40B4-BE49-F238E27FC236}">
                <a16:creationId xmlns:a16="http://schemas.microsoft.com/office/drawing/2014/main" id="{957C67B4-6A28-47FF-B1EE-7905C850ACD2}"/>
              </a:ext>
            </a:extLst>
          </p:cNvPr>
          <p:cNvSpPr>
            <a:spLocks noGrp="1" noChangeArrowheads="1"/>
          </p:cNvSpPr>
          <p:nvPr>
            <p:ph type="title"/>
          </p:nvPr>
        </p:nvSpPr>
        <p:spPr/>
        <p:txBody>
          <a:bodyPr/>
          <a:lstStyle/>
          <a:p>
            <a:pPr eaLnBrk="1" hangingPunct="1"/>
            <a:r>
              <a:rPr lang="zh-CN" altLang="en-US"/>
              <a:t>流形学习框架</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灯片编号占位符 6">
            <a:extLst>
              <a:ext uri="{FF2B5EF4-FFF2-40B4-BE49-F238E27FC236}">
                <a16:creationId xmlns:a16="http://schemas.microsoft.com/office/drawing/2014/main" id="{9F4B4B90-5E47-4F0F-8CF0-0766396113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880D77E5-D3DD-4F8C-AFED-3E8027095696}" type="slidenum">
              <a:rPr lang="en-US" altLang="zh-CN" sz="1000" smtClean="0">
                <a:ea typeface="宋体" panose="02010600030101010101" pitchFamily="2" charset="-122"/>
              </a:rPr>
              <a:pPr>
                <a:spcBef>
                  <a:spcPct val="0"/>
                </a:spcBef>
                <a:buClrTx/>
                <a:buFontTx/>
                <a:buNone/>
              </a:pPr>
              <a:t>111</a:t>
            </a:fld>
            <a:endParaRPr lang="en-US" altLang="zh-CN" sz="1000">
              <a:ea typeface="宋体" panose="02010600030101010101" pitchFamily="2" charset="-122"/>
            </a:endParaRPr>
          </a:p>
        </p:txBody>
      </p:sp>
      <p:sp>
        <p:nvSpPr>
          <p:cNvPr id="699394" name="Rectangle 2">
            <a:extLst>
              <a:ext uri="{FF2B5EF4-FFF2-40B4-BE49-F238E27FC236}">
                <a16:creationId xmlns:a16="http://schemas.microsoft.com/office/drawing/2014/main" id="{E938022F-FE6C-44FF-9C71-0EE716B82A4A}"/>
              </a:ext>
            </a:extLst>
          </p:cNvPr>
          <p:cNvSpPr>
            <a:spLocks noGrp="1" noChangeArrowheads="1"/>
          </p:cNvSpPr>
          <p:nvPr>
            <p:ph type="body" idx="1"/>
          </p:nvPr>
        </p:nvSpPr>
        <p:spPr>
          <a:xfrm>
            <a:off x="457200" y="1447800"/>
            <a:ext cx="8458200" cy="5029200"/>
          </a:xfrm>
          <a:noFill/>
        </p:spPr>
        <p:txBody>
          <a:bodyPr/>
          <a:lstStyle/>
          <a:p>
            <a:pPr eaLnBrk="1" hangingPunct="1"/>
            <a:r>
              <a:rPr lang="zh-CN" altLang="en-US"/>
              <a:t>流形学习的目的</a:t>
            </a:r>
          </a:p>
          <a:p>
            <a:pPr lvl="1" eaLnBrk="1" hangingPunct="1"/>
            <a:r>
              <a:rPr lang="zh-CN" altLang="en-US"/>
              <a:t>流形学习是一种非线性的维数约简方法</a:t>
            </a:r>
          </a:p>
          <a:p>
            <a:pPr lvl="1" eaLnBrk="1" hangingPunct="1"/>
            <a:r>
              <a:rPr lang="zh-CN" altLang="en-US"/>
              <a:t>高维观察数据的变化模式本质是由少数几个隐含变量所决定的</a:t>
            </a:r>
          </a:p>
          <a:p>
            <a:pPr lvl="2" eaLnBrk="1" hangingPunct="1"/>
            <a:r>
              <a:rPr lang="zh-CN" altLang="en-US"/>
              <a:t>如：人脸采样由光线亮度、人与相机的距离、人的头部姿势、人的面部表情等因素决定</a:t>
            </a:r>
          </a:p>
          <a:p>
            <a:pPr lvl="1" eaLnBrk="1" hangingPunct="1"/>
            <a:r>
              <a:rPr lang="zh-CN" altLang="en-US"/>
              <a:t>从认知心理学的角度，心理学家认为人的认知过程是基于认知流形和拓扑连续性的</a:t>
            </a:r>
          </a:p>
        </p:txBody>
      </p:sp>
      <p:sp>
        <p:nvSpPr>
          <p:cNvPr id="165891" name="Rectangle 3">
            <a:extLst>
              <a:ext uri="{FF2B5EF4-FFF2-40B4-BE49-F238E27FC236}">
                <a16:creationId xmlns:a16="http://schemas.microsoft.com/office/drawing/2014/main" id="{081C3068-605E-49C7-900B-F0223444FCCF}"/>
              </a:ext>
            </a:extLst>
          </p:cNvPr>
          <p:cNvSpPr>
            <a:spLocks noGrp="1" noChangeArrowheads="1"/>
          </p:cNvSpPr>
          <p:nvPr>
            <p:ph type="title"/>
          </p:nvPr>
        </p:nvSpPr>
        <p:spPr/>
        <p:txBody>
          <a:bodyPr/>
          <a:lstStyle/>
          <a:p>
            <a:pPr eaLnBrk="1" hangingPunct="1"/>
            <a:r>
              <a:rPr lang="zh-CN" altLang="en-US"/>
              <a:t>流形学习框架</a:t>
            </a:r>
          </a:p>
        </p:txBody>
      </p:sp>
      <p:grpSp>
        <p:nvGrpSpPr>
          <p:cNvPr id="2" name="Group 4">
            <a:extLst>
              <a:ext uri="{FF2B5EF4-FFF2-40B4-BE49-F238E27FC236}">
                <a16:creationId xmlns:a16="http://schemas.microsoft.com/office/drawing/2014/main" id="{D9A8CA7B-A3D8-4FA8-B538-6D600B0F9B8B}"/>
              </a:ext>
            </a:extLst>
          </p:cNvPr>
          <p:cNvGrpSpPr>
            <a:grpSpLocks/>
          </p:cNvGrpSpPr>
          <p:nvPr/>
        </p:nvGrpSpPr>
        <p:grpSpPr bwMode="auto">
          <a:xfrm>
            <a:off x="228600" y="4191000"/>
            <a:ext cx="7239000" cy="2667000"/>
            <a:chOff x="144" y="2640"/>
            <a:chExt cx="4560" cy="1680"/>
          </a:xfrm>
        </p:grpSpPr>
        <p:pic>
          <p:nvPicPr>
            <p:cNvPr id="165893" name="Picture 5">
              <a:extLst>
                <a:ext uri="{FF2B5EF4-FFF2-40B4-BE49-F238E27FC236}">
                  <a16:creationId xmlns:a16="http://schemas.microsoft.com/office/drawing/2014/main" id="{634D8AA8-D710-413E-B8E8-9D5147216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3" y="2640"/>
              <a:ext cx="2043"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4" name="Text Box 6">
              <a:extLst>
                <a:ext uri="{FF2B5EF4-FFF2-40B4-BE49-F238E27FC236}">
                  <a16:creationId xmlns:a16="http://schemas.microsoft.com/office/drawing/2014/main" id="{F44683CA-E3F4-47F8-BD3C-00DB7425921B}"/>
                </a:ext>
              </a:extLst>
            </p:cNvPr>
            <p:cNvSpPr txBox="1">
              <a:spLocks noChangeArrowheads="1"/>
            </p:cNvSpPr>
            <p:nvPr/>
          </p:nvSpPr>
          <p:spPr bwMode="auto">
            <a:xfrm>
              <a:off x="144" y="4090"/>
              <a:ext cx="19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 </a:t>
              </a:r>
              <a:r>
                <a:rPr lang="zh-CN" altLang="en-US" sz="1400">
                  <a:ea typeface="宋体" panose="02010600030101010101" pitchFamily="2" charset="-122"/>
                </a:rPr>
                <a:t>引自</a:t>
              </a:r>
              <a:r>
                <a:rPr lang="en-US" altLang="zh-CN" sz="1400">
                  <a:ea typeface="宋体" panose="02010600030101010101" pitchFamily="2" charset="-122"/>
                </a:rPr>
                <a:t>Lin </a:t>
              </a:r>
              <a:r>
                <a:rPr lang="en-US" altLang="zh-CN" sz="1400" i="1">
                  <a:ea typeface="宋体" panose="02010600030101010101" pitchFamily="2" charset="-122"/>
                </a:rPr>
                <a:t>et al</a:t>
              </a:r>
              <a:r>
                <a:rPr lang="en-US" altLang="zh-CN" sz="1400">
                  <a:ea typeface="宋体" panose="02010600030101010101" pitchFamily="2" charset="-122"/>
                </a:rPr>
                <a:t>. PAMI 2008</a:t>
              </a:r>
            </a:p>
          </p:txBody>
        </p:sp>
        <p:sp>
          <p:nvSpPr>
            <p:cNvPr id="165895" name="Text Box 7">
              <a:extLst>
                <a:ext uri="{FF2B5EF4-FFF2-40B4-BE49-F238E27FC236}">
                  <a16:creationId xmlns:a16="http://schemas.microsoft.com/office/drawing/2014/main" id="{A3C8ED41-DD0B-4E55-ADCB-6AD7BE731DA6}"/>
                </a:ext>
              </a:extLst>
            </p:cNvPr>
            <p:cNvSpPr txBox="1">
              <a:spLocks noChangeArrowheads="1"/>
            </p:cNvSpPr>
            <p:nvPr/>
          </p:nvSpPr>
          <p:spPr bwMode="auto">
            <a:xfrm>
              <a:off x="4224" y="3216"/>
              <a:ext cx="4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a:t>
              </a:r>
              <a:endParaRPr kumimoji="1" lang="en-US" altLang="zh-CN" sz="160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93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93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699394">
                                            <p:txEl>
                                              <p:pRg st="3" end="3"/>
                                            </p:txEl>
                                          </p:spTgt>
                                        </p:tgtEl>
                                        <p:attrNameLst>
                                          <p:attrName>style.visibility</p:attrName>
                                        </p:attrNameLst>
                                      </p:cBhvr>
                                      <p:to>
                                        <p:strVal val="visible"/>
                                      </p:to>
                                    </p:set>
                                    <p:animEffect transition="in" filter="dissolve">
                                      <p:cBhvr>
                                        <p:cTn id="15" dur="500"/>
                                        <p:tgtEl>
                                          <p:spTgt spid="699394">
                                            <p:txEl>
                                              <p:pRg st="3" end="3"/>
                                            </p:txEl>
                                          </p:spTgt>
                                        </p:tgtEl>
                                      </p:cBhvr>
                                    </p:animEffect>
                                  </p:childTnLst>
                                </p:cTn>
                              </p:par>
                              <p:par>
                                <p:cTn id="16" presetID="17" presetClass="entr" presetSubtype="1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xit" presetSubtype="26" fill="hold" nodeType="clickEffect">
                                  <p:stCondLst>
                                    <p:cond delay="0"/>
                                  </p:stCondLst>
                                  <p:childTnLst>
                                    <p:animEffect transition="out" filter="barn(inHorizontal)">
                                      <p:cBhvr>
                                        <p:cTn id="23" dur="500"/>
                                        <p:tgtEl>
                                          <p:spTgt spid="2"/>
                                        </p:tgtEl>
                                      </p:cBhvr>
                                    </p:animEffect>
                                    <p:set>
                                      <p:cBhvr>
                                        <p:cTn id="24" dur="1" fill="hold">
                                          <p:stCondLst>
                                            <p:cond delay="499"/>
                                          </p:stCondLst>
                                        </p:cTn>
                                        <p:tgtEl>
                                          <p:spTgt spid="2"/>
                                        </p:tgtEl>
                                        <p:attrNameLst>
                                          <p:attrName>style.visibility</p:attrName>
                                        </p:attrNameLst>
                                      </p:cBhvr>
                                      <p:to>
                                        <p:strVal val="hidden"/>
                                      </p:to>
                                    </p:se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0"/>
                                          </p:stCondLst>
                                        </p:cTn>
                                        <p:tgtEl>
                                          <p:spTgt spid="69939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灯片编号占位符 6">
            <a:extLst>
              <a:ext uri="{FF2B5EF4-FFF2-40B4-BE49-F238E27FC236}">
                <a16:creationId xmlns:a16="http://schemas.microsoft.com/office/drawing/2014/main" id="{1F38427D-0C0F-4BDF-87A1-8905906461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D87FC780-B197-4AFE-8C64-2A8BBDD3FBFE}" type="slidenum">
              <a:rPr lang="en-US" altLang="zh-CN" sz="1000" smtClean="0">
                <a:ea typeface="宋体" panose="02010600030101010101" pitchFamily="2" charset="-122"/>
              </a:rPr>
              <a:pPr>
                <a:spcBef>
                  <a:spcPct val="0"/>
                </a:spcBef>
                <a:buClrTx/>
                <a:buFontTx/>
                <a:buNone/>
              </a:pPr>
              <a:t>112</a:t>
            </a:fld>
            <a:endParaRPr lang="en-US" altLang="zh-CN" sz="1000">
              <a:ea typeface="宋体" panose="02010600030101010101" pitchFamily="2" charset="-122"/>
            </a:endParaRPr>
          </a:p>
        </p:txBody>
      </p:sp>
      <p:sp>
        <p:nvSpPr>
          <p:cNvPr id="166914" name="Rectangle 3">
            <a:extLst>
              <a:ext uri="{FF2B5EF4-FFF2-40B4-BE49-F238E27FC236}">
                <a16:creationId xmlns:a16="http://schemas.microsoft.com/office/drawing/2014/main" id="{1AE1BB2D-99D7-4CEC-9A41-7BD0F0D2726B}"/>
              </a:ext>
            </a:extLst>
          </p:cNvPr>
          <p:cNvSpPr>
            <a:spLocks noGrp="1" noChangeArrowheads="1"/>
          </p:cNvSpPr>
          <p:nvPr>
            <p:ph type="title"/>
          </p:nvPr>
        </p:nvSpPr>
        <p:spPr/>
        <p:txBody>
          <a:bodyPr/>
          <a:lstStyle/>
          <a:p>
            <a:pPr eaLnBrk="1" hangingPunct="1"/>
            <a:r>
              <a:rPr lang="zh-CN" altLang="en-US"/>
              <a:t>流形学习的数学定义</a:t>
            </a:r>
          </a:p>
        </p:txBody>
      </p:sp>
      <p:sp>
        <p:nvSpPr>
          <p:cNvPr id="166915" name="Text Box 4">
            <a:extLst>
              <a:ext uri="{FF2B5EF4-FFF2-40B4-BE49-F238E27FC236}">
                <a16:creationId xmlns:a16="http://schemas.microsoft.com/office/drawing/2014/main" id="{B602C16E-13C5-4E2B-B300-897B612F0BE0}"/>
              </a:ext>
            </a:extLst>
          </p:cNvPr>
          <p:cNvSpPr txBox="1">
            <a:spLocks noChangeArrowheads="1"/>
          </p:cNvSpPr>
          <p:nvPr/>
        </p:nvSpPr>
        <p:spPr bwMode="auto">
          <a:xfrm>
            <a:off x="685800" y="1771650"/>
            <a:ext cx="78486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GB" sz="2400" b="1">
                <a:latin typeface="Times New Roman" panose="02020603050405020304" pitchFamily="18" charset="0"/>
                <a:ea typeface="宋体" panose="02010600030101010101" pitchFamily="2" charset="-122"/>
              </a:rPr>
              <a:t>设           </a:t>
            </a:r>
            <a:r>
              <a:rPr kumimoji="1" lang="en-GB" altLang="zh-CN" sz="2400" b="1">
                <a:latin typeface="Times New Roman" panose="02020603050405020304" pitchFamily="18" charset="0"/>
                <a:ea typeface="宋体" panose="02010600030101010101" pitchFamily="2" charset="-122"/>
              </a:rPr>
              <a:t>    </a:t>
            </a:r>
            <a:r>
              <a:rPr kumimoji="1" lang="zh-CN" altLang="en-GB" sz="2400" b="1">
                <a:latin typeface="Times New Roman" panose="02020603050405020304" pitchFamily="18" charset="0"/>
                <a:ea typeface="宋体" panose="02010600030101010101" pitchFamily="2" charset="-122"/>
              </a:rPr>
              <a:t>是一个低维流形</a:t>
            </a:r>
            <a:r>
              <a:rPr kumimoji="1" lang="en-GB" altLang="zh-CN" sz="2400" b="1">
                <a:latin typeface="Times New Roman" panose="02020603050405020304" pitchFamily="18" charset="0"/>
                <a:ea typeface="宋体" panose="02010600030101010101" pitchFamily="2" charset="-122"/>
              </a:rPr>
              <a:t>,                    </a:t>
            </a:r>
            <a:r>
              <a:rPr kumimoji="1" lang="zh-CN" altLang="en-GB" sz="2400" b="1">
                <a:latin typeface="Times New Roman" panose="02020603050405020304" pitchFamily="18" charset="0"/>
                <a:ea typeface="宋体" panose="02010600030101010101" pitchFamily="2" charset="-122"/>
              </a:rPr>
              <a:t>是一个光滑嵌入</a:t>
            </a:r>
            <a:r>
              <a:rPr kumimoji="1" lang="en-GB" altLang="zh-CN" sz="2400" b="1">
                <a:latin typeface="Times New Roman" panose="02020603050405020304" pitchFamily="18" charset="0"/>
                <a:ea typeface="宋体" panose="02010600030101010101" pitchFamily="2" charset="-122"/>
              </a:rPr>
              <a:t>,</a:t>
            </a:r>
          </a:p>
          <a:p>
            <a:pPr eaLnBrk="1" hangingPunct="1">
              <a:spcBef>
                <a:spcPct val="50000"/>
              </a:spcBef>
              <a:buClrTx/>
              <a:buFontTx/>
              <a:buNone/>
            </a:pPr>
            <a:r>
              <a:rPr kumimoji="1" lang="zh-CN" altLang="en-GB" sz="2400" b="1">
                <a:latin typeface="Times New Roman" panose="02020603050405020304" pitchFamily="18" charset="0"/>
                <a:ea typeface="宋体" panose="02010600030101010101" pitchFamily="2" charset="-122"/>
              </a:rPr>
              <a:t>其中 </a:t>
            </a:r>
            <a:r>
              <a:rPr kumimoji="1" lang="en-GB" altLang="zh-CN" sz="2400" b="1" i="1">
                <a:latin typeface="Times New Roman" panose="02020603050405020304" pitchFamily="18" charset="0"/>
                <a:ea typeface="宋体" panose="02010600030101010101" pitchFamily="2" charset="-122"/>
              </a:rPr>
              <a:t>D&gt;d</a:t>
            </a:r>
            <a:r>
              <a:rPr kumimoji="1" lang="en-GB" altLang="zh-CN" sz="2400" b="1">
                <a:latin typeface="Times New Roman" panose="02020603050405020304" pitchFamily="18" charset="0"/>
                <a:ea typeface="宋体" panose="02010600030101010101" pitchFamily="2" charset="-122"/>
              </a:rPr>
              <a:t> . </a:t>
            </a:r>
            <a:r>
              <a:rPr kumimoji="1" lang="zh-CN" altLang="en-GB" sz="2400" b="1">
                <a:latin typeface="Times New Roman" panose="02020603050405020304" pitchFamily="18" charset="0"/>
                <a:ea typeface="宋体" panose="02010600030101010101" pitchFamily="2" charset="-122"/>
              </a:rPr>
              <a:t>数据集       是随机生成的</a:t>
            </a:r>
            <a:r>
              <a:rPr kumimoji="1" lang="en-GB" altLang="zh-CN" sz="2400" b="1">
                <a:latin typeface="Times New Roman" panose="02020603050405020304" pitchFamily="18" charset="0"/>
                <a:ea typeface="宋体" panose="02010600030101010101" pitchFamily="2" charset="-122"/>
              </a:rPr>
              <a:t>, </a:t>
            </a:r>
            <a:r>
              <a:rPr kumimoji="1" lang="zh-CN" altLang="en-GB" sz="2400" b="1">
                <a:latin typeface="Times New Roman" panose="02020603050405020304" pitchFamily="18" charset="0"/>
                <a:ea typeface="宋体" panose="02010600030101010101" pitchFamily="2" charset="-122"/>
              </a:rPr>
              <a:t>且经过 </a:t>
            </a:r>
            <a:r>
              <a:rPr kumimoji="1" lang="en-GB" altLang="zh-CN" sz="2400" b="1" i="1">
                <a:latin typeface="Times New Roman" panose="02020603050405020304" pitchFamily="18" charset="0"/>
                <a:ea typeface="宋体" panose="02010600030101010101" pitchFamily="2" charset="-122"/>
              </a:rPr>
              <a:t>f  </a:t>
            </a:r>
            <a:r>
              <a:rPr kumimoji="1" lang="zh-CN" altLang="en-GB" sz="2400" b="1">
                <a:latin typeface="Times New Roman" panose="02020603050405020304" pitchFamily="18" charset="0"/>
                <a:ea typeface="宋体" panose="02010600030101010101" pitchFamily="2" charset="-122"/>
              </a:rPr>
              <a:t>映射为观</a:t>
            </a:r>
          </a:p>
          <a:p>
            <a:pPr eaLnBrk="1" hangingPunct="1">
              <a:spcBef>
                <a:spcPct val="50000"/>
              </a:spcBef>
              <a:buClrTx/>
              <a:buFontTx/>
              <a:buNone/>
            </a:pPr>
            <a:r>
              <a:rPr kumimoji="1" lang="zh-CN" altLang="en-GB" sz="2400" b="1">
                <a:latin typeface="Times New Roman" panose="02020603050405020304" pitchFamily="18" charset="0"/>
                <a:ea typeface="宋体" panose="02010600030101010101" pitchFamily="2" charset="-122"/>
              </a:rPr>
              <a:t>察空间的数据                     流形学习就是在给定观察样本</a:t>
            </a:r>
          </a:p>
          <a:p>
            <a:pPr eaLnBrk="1" hangingPunct="1">
              <a:spcBef>
                <a:spcPct val="50000"/>
              </a:spcBef>
              <a:buClrTx/>
              <a:buFontTx/>
              <a:buNone/>
            </a:pPr>
            <a:r>
              <a:rPr kumimoji="1" lang="zh-CN" altLang="en-GB" sz="2400" b="1">
                <a:latin typeface="Times New Roman" panose="02020603050405020304" pitchFamily="18" charset="0"/>
                <a:ea typeface="宋体" panose="02010600030101010101" pitchFamily="2" charset="-122"/>
              </a:rPr>
              <a:t>集       的条件下重构</a:t>
            </a:r>
            <a:r>
              <a:rPr kumimoji="1" lang="en-GB" altLang="zh-CN" sz="2400" b="1">
                <a:latin typeface="Times New Roman" panose="02020603050405020304" pitchFamily="18" charset="0"/>
                <a:ea typeface="宋体" panose="02010600030101010101" pitchFamily="2" charset="-122"/>
              </a:rPr>
              <a:t> </a:t>
            </a:r>
            <a:r>
              <a:rPr kumimoji="1" lang="en-GB" altLang="zh-CN" sz="2400" b="1" i="1">
                <a:latin typeface="Times New Roman" panose="02020603050405020304" pitchFamily="18" charset="0"/>
                <a:ea typeface="宋体" panose="02010600030101010101" pitchFamily="2" charset="-122"/>
              </a:rPr>
              <a:t>f</a:t>
            </a:r>
            <a:r>
              <a:rPr kumimoji="1" lang="en-US" altLang="zh-CN" sz="2400" b="1">
                <a:latin typeface="Times New Roman" panose="02020603050405020304" pitchFamily="18" charset="0"/>
                <a:ea typeface="宋体" panose="02010600030101010101" pitchFamily="2" charset="-122"/>
              </a:rPr>
              <a:t> </a:t>
            </a:r>
            <a:r>
              <a:rPr kumimoji="1" lang="zh-CN" altLang="en-GB" sz="2400" b="1">
                <a:latin typeface="Times New Roman" panose="02020603050405020304" pitchFamily="18" charset="0"/>
                <a:ea typeface="宋体" panose="02010600030101010101" pitchFamily="2" charset="-122"/>
              </a:rPr>
              <a:t>和        .</a:t>
            </a:r>
          </a:p>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V. de Silva and J. B. Tenenbaum. Global versus local methods in nonlinear dimensionality reduction . </a:t>
            </a:r>
            <a:r>
              <a:rPr kumimoji="1" lang="en-US" altLang="zh-CN" sz="2400" b="1" i="1">
                <a:latin typeface="Times New Roman" panose="02020603050405020304" pitchFamily="18" charset="0"/>
                <a:ea typeface="宋体" panose="02010600030101010101" pitchFamily="2" charset="-122"/>
              </a:rPr>
              <a:t>Neural Information Processing Systems 15 (NIPS'2002)</a:t>
            </a:r>
            <a:r>
              <a:rPr kumimoji="1" lang="en-US" altLang="zh-CN" sz="2400" b="1">
                <a:latin typeface="Times New Roman" panose="02020603050405020304" pitchFamily="18" charset="0"/>
                <a:ea typeface="宋体" panose="02010600030101010101" pitchFamily="2" charset="-122"/>
              </a:rPr>
              <a:t>, pp. 705-712, 2003.</a:t>
            </a:r>
          </a:p>
        </p:txBody>
      </p:sp>
      <p:graphicFrame>
        <p:nvGraphicFramePr>
          <p:cNvPr id="166916" name="Object 5">
            <a:extLst>
              <a:ext uri="{FF2B5EF4-FFF2-40B4-BE49-F238E27FC236}">
                <a16:creationId xmlns:a16="http://schemas.microsoft.com/office/drawing/2014/main" id="{3396AC6D-26FA-430B-9FC7-DFC90BB40CFF}"/>
              </a:ext>
            </a:extLst>
          </p:cNvPr>
          <p:cNvGraphicFramePr>
            <a:graphicFrameLocks noChangeAspect="1"/>
          </p:cNvGraphicFramePr>
          <p:nvPr/>
        </p:nvGraphicFramePr>
        <p:xfrm>
          <a:off x="1198563" y="1752600"/>
          <a:ext cx="1068387" cy="422275"/>
        </p:xfrm>
        <a:graphic>
          <a:graphicData uri="http://schemas.openxmlformats.org/presentationml/2006/ole">
            <mc:AlternateContent xmlns:mc="http://schemas.openxmlformats.org/markup-compatibility/2006">
              <mc:Choice xmlns:v="urn:schemas-microsoft-com:vml" Requires="v">
                <p:oleObj spid="_x0000_s166946" name="Equation" r:id="rId3" imgW="0" imgH="0" progId="Equation.3">
                  <p:embed/>
                </p:oleObj>
              </mc:Choice>
              <mc:Fallback>
                <p:oleObj name="Equation" r:id="rId3" imgW="0" imgH="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1752600"/>
                        <a:ext cx="106838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17" name="Object 6">
            <a:extLst>
              <a:ext uri="{FF2B5EF4-FFF2-40B4-BE49-F238E27FC236}">
                <a16:creationId xmlns:a16="http://schemas.microsoft.com/office/drawing/2014/main" id="{F32071C0-EA09-42C8-88DA-5931EBB0D707}"/>
              </a:ext>
            </a:extLst>
          </p:cNvPr>
          <p:cNvGraphicFramePr>
            <a:graphicFrameLocks noChangeAspect="1"/>
          </p:cNvGraphicFramePr>
          <p:nvPr/>
        </p:nvGraphicFramePr>
        <p:xfrm>
          <a:off x="4572000" y="1773238"/>
          <a:ext cx="1524000" cy="473075"/>
        </p:xfrm>
        <a:graphic>
          <a:graphicData uri="http://schemas.openxmlformats.org/presentationml/2006/ole">
            <mc:AlternateContent xmlns:mc="http://schemas.openxmlformats.org/markup-compatibility/2006">
              <mc:Choice xmlns:v="urn:schemas-microsoft-com:vml" Requires="v">
                <p:oleObj spid="_x0000_s166947" name="Equation" r:id="rId5" imgW="0" imgH="0" progId="Equation.3">
                  <p:embed/>
                </p:oleObj>
              </mc:Choice>
              <mc:Fallback>
                <p:oleObj name="Equation" r:id="rId5" imgW="0" imgH="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773238"/>
                        <a:ext cx="152400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18" name="Object 7">
            <a:extLst>
              <a:ext uri="{FF2B5EF4-FFF2-40B4-BE49-F238E27FC236}">
                <a16:creationId xmlns:a16="http://schemas.microsoft.com/office/drawing/2014/main" id="{5E0CEA99-E48D-4740-B7CE-EEB895FCD12D}"/>
              </a:ext>
            </a:extLst>
          </p:cNvPr>
          <p:cNvGraphicFramePr>
            <a:graphicFrameLocks noChangeAspect="1"/>
          </p:cNvGraphicFramePr>
          <p:nvPr/>
        </p:nvGraphicFramePr>
        <p:xfrm>
          <a:off x="3200400" y="2386013"/>
          <a:ext cx="533400" cy="436562"/>
        </p:xfrm>
        <a:graphic>
          <a:graphicData uri="http://schemas.openxmlformats.org/presentationml/2006/ole">
            <mc:AlternateContent xmlns:mc="http://schemas.openxmlformats.org/markup-compatibility/2006">
              <mc:Choice xmlns:v="urn:schemas-microsoft-com:vml" Requires="v">
                <p:oleObj spid="_x0000_s166948" name="Equation" r:id="rId7" imgW="0" imgH="0" progId="Equation.3">
                  <p:embed/>
                </p:oleObj>
              </mc:Choice>
              <mc:Fallback>
                <p:oleObj name="Equation" r:id="rId7" imgW="0" imgH="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2386013"/>
                        <a:ext cx="533400"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19" name="Object 8">
            <a:extLst>
              <a:ext uri="{FF2B5EF4-FFF2-40B4-BE49-F238E27FC236}">
                <a16:creationId xmlns:a16="http://schemas.microsoft.com/office/drawing/2014/main" id="{CEFCA006-2869-4BAC-9BCB-201EFBBBA833}"/>
              </a:ext>
            </a:extLst>
          </p:cNvPr>
          <p:cNvGraphicFramePr>
            <a:graphicFrameLocks noChangeAspect="1"/>
          </p:cNvGraphicFramePr>
          <p:nvPr/>
        </p:nvGraphicFramePr>
        <p:xfrm>
          <a:off x="2652713" y="2917825"/>
          <a:ext cx="1470025" cy="409575"/>
        </p:xfrm>
        <a:graphic>
          <a:graphicData uri="http://schemas.openxmlformats.org/presentationml/2006/ole">
            <mc:AlternateContent xmlns:mc="http://schemas.openxmlformats.org/markup-compatibility/2006">
              <mc:Choice xmlns:v="urn:schemas-microsoft-com:vml" Requires="v">
                <p:oleObj spid="_x0000_s166949" name="Equation" r:id="rId9" imgW="0" imgH="0" progId="Equation.3">
                  <p:embed/>
                </p:oleObj>
              </mc:Choice>
              <mc:Fallback>
                <p:oleObj name="Equation" r:id="rId9" imgW="0" imgH="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52713" y="2917825"/>
                        <a:ext cx="1470025"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20" name="Object 9">
            <a:extLst>
              <a:ext uri="{FF2B5EF4-FFF2-40B4-BE49-F238E27FC236}">
                <a16:creationId xmlns:a16="http://schemas.microsoft.com/office/drawing/2014/main" id="{9B2F598D-D17E-4C00-89C9-FDB1A2A3E3FC}"/>
              </a:ext>
            </a:extLst>
          </p:cNvPr>
          <p:cNvGraphicFramePr>
            <a:graphicFrameLocks noChangeAspect="1"/>
          </p:cNvGraphicFramePr>
          <p:nvPr/>
        </p:nvGraphicFramePr>
        <p:xfrm>
          <a:off x="1079500" y="3405188"/>
          <a:ext cx="520700" cy="425450"/>
        </p:xfrm>
        <a:graphic>
          <a:graphicData uri="http://schemas.openxmlformats.org/presentationml/2006/ole">
            <mc:AlternateContent xmlns:mc="http://schemas.openxmlformats.org/markup-compatibility/2006">
              <mc:Choice xmlns:v="urn:schemas-microsoft-com:vml" Requires="v">
                <p:oleObj spid="_x0000_s166950" name="Equation" r:id="rId11" imgW="0" imgH="0" progId="Equation.3">
                  <p:embed/>
                </p:oleObj>
              </mc:Choice>
              <mc:Fallback>
                <p:oleObj name="Equation" r:id="rId11" imgW="0" imgH="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9500" y="3405188"/>
                        <a:ext cx="52070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21" name="Object 10">
            <a:extLst>
              <a:ext uri="{FF2B5EF4-FFF2-40B4-BE49-F238E27FC236}">
                <a16:creationId xmlns:a16="http://schemas.microsoft.com/office/drawing/2014/main" id="{571DC17A-8496-4D40-94C8-FC62E22FEB84}"/>
              </a:ext>
            </a:extLst>
          </p:cNvPr>
          <p:cNvGraphicFramePr>
            <a:graphicFrameLocks noChangeAspect="1"/>
          </p:cNvGraphicFramePr>
          <p:nvPr/>
        </p:nvGraphicFramePr>
        <p:xfrm>
          <a:off x="4038600" y="3394075"/>
          <a:ext cx="533400" cy="436563"/>
        </p:xfrm>
        <a:graphic>
          <a:graphicData uri="http://schemas.openxmlformats.org/presentationml/2006/ole">
            <mc:AlternateContent xmlns:mc="http://schemas.openxmlformats.org/markup-compatibility/2006">
              <mc:Choice xmlns:v="urn:schemas-microsoft-com:vml" Requires="v">
                <p:oleObj spid="_x0000_s166951" name="Equation" r:id="rId13" imgW="0" imgH="0" progId="Equation.3">
                  <p:embed/>
                </p:oleObj>
              </mc:Choice>
              <mc:Fallback>
                <p:oleObj name="Equation" r:id="rId13" imgW="0" imgH="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3394075"/>
                        <a:ext cx="533400"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灯片编号占位符 5">
            <a:extLst>
              <a:ext uri="{FF2B5EF4-FFF2-40B4-BE49-F238E27FC236}">
                <a16:creationId xmlns:a16="http://schemas.microsoft.com/office/drawing/2014/main" id="{2071073A-23B1-4B6E-BE37-AF6F4397F5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4464BF52-2106-4A81-AF88-4806F05EA94D}" type="slidenum">
              <a:rPr lang="en-US" altLang="zh-CN" sz="1000" smtClean="0">
                <a:ea typeface="宋体" panose="02010600030101010101" pitchFamily="2" charset="-122"/>
              </a:rPr>
              <a:pPr>
                <a:spcBef>
                  <a:spcPct val="0"/>
                </a:spcBef>
                <a:buClrTx/>
                <a:buFontTx/>
                <a:buNone/>
              </a:pPr>
              <a:t>113</a:t>
            </a:fld>
            <a:endParaRPr lang="en-US" altLang="zh-CN" sz="1000">
              <a:ea typeface="宋体" panose="02010600030101010101" pitchFamily="2" charset="-122"/>
            </a:endParaRPr>
          </a:p>
        </p:txBody>
      </p:sp>
      <p:pic>
        <p:nvPicPr>
          <p:cNvPr id="831491" name="Picture 3" descr="swiss_1">
            <a:extLst>
              <a:ext uri="{FF2B5EF4-FFF2-40B4-BE49-F238E27FC236}">
                <a16:creationId xmlns:a16="http://schemas.microsoft.com/office/drawing/2014/main" id="{853550A4-44EE-4606-9680-A65B9ABFD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725613"/>
            <a:ext cx="28194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1492" name="Picture 4" descr="swiss_3">
            <a:extLst>
              <a:ext uri="{FF2B5EF4-FFF2-40B4-BE49-F238E27FC236}">
                <a16:creationId xmlns:a16="http://schemas.microsoft.com/office/drawing/2014/main" id="{EF1BAB09-45D5-4DB1-B3A7-0FB8AB8B41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1350" y="1628775"/>
            <a:ext cx="3027363"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1493" name="AutoShape 5">
            <a:extLst>
              <a:ext uri="{FF2B5EF4-FFF2-40B4-BE49-F238E27FC236}">
                <a16:creationId xmlns:a16="http://schemas.microsoft.com/office/drawing/2014/main" id="{619C2264-BF30-43C3-B6DA-EB80E0E764FB}"/>
              </a:ext>
            </a:extLst>
          </p:cNvPr>
          <p:cNvSpPr>
            <a:spLocks noChangeArrowheads="1"/>
          </p:cNvSpPr>
          <p:nvPr/>
        </p:nvSpPr>
        <p:spPr bwMode="auto">
          <a:xfrm>
            <a:off x="3492500" y="2949575"/>
            <a:ext cx="2016125" cy="215900"/>
          </a:xfrm>
          <a:prstGeom prst="rightArrow">
            <a:avLst>
              <a:gd name="adj1" fmla="val 50000"/>
              <a:gd name="adj2" fmla="val 233456"/>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831494" name="Text Box 6">
            <a:extLst>
              <a:ext uri="{FF2B5EF4-FFF2-40B4-BE49-F238E27FC236}">
                <a16:creationId xmlns:a16="http://schemas.microsoft.com/office/drawing/2014/main" id="{437BB34C-74E6-4773-B80C-F627BA59E701}"/>
              </a:ext>
            </a:extLst>
          </p:cNvPr>
          <p:cNvSpPr txBox="1">
            <a:spLocks noChangeArrowheads="1"/>
          </p:cNvSpPr>
          <p:nvPr/>
        </p:nvSpPr>
        <p:spPr bwMode="auto">
          <a:xfrm>
            <a:off x="3492500" y="2276475"/>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2400">
                <a:latin typeface="Times New Roman" panose="02020603050405020304" pitchFamily="18" charset="0"/>
                <a:ea typeface="宋体" panose="02010600030101010101" pitchFamily="2" charset="-122"/>
              </a:rPr>
              <a:t>非线性降维</a:t>
            </a:r>
          </a:p>
        </p:txBody>
      </p:sp>
      <p:sp>
        <p:nvSpPr>
          <p:cNvPr id="831495" name="AutoShape 7">
            <a:extLst>
              <a:ext uri="{FF2B5EF4-FFF2-40B4-BE49-F238E27FC236}">
                <a16:creationId xmlns:a16="http://schemas.microsoft.com/office/drawing/2014/main" id="{1DEF6BC0-571E-4989-9447-CEDEA0882E4E}"/>
              </a:ext>
            </a:extLst>
          </p:cNvPr>
          <p:cNvSpPr>
            <a:spLocks noChangeArrowheads="1"/>
          </p:cNvSpPr>
          <p:nvPr/>
        </p:nvSpPr>
        <p:spPr bwMode="auto">
          <a:xfrm>
            <a:off x="539750" y="4437063"/>
            <a:ext cx="2016125" cy="935037"/>
          </a:xfrm>
          <a:prstGeom prst="wedgeRoundRectCallout">
            <a:avLst>
              <a:gd name="adj1" fmla="val 42676"/>
              <a:gd name="adj2" fmla="val -79032"/>
              <a:gd name="adj3" fmla="val 16667"/>
            </a:avLst>
          </a:prstGeom>
          <a:solidFill>
            <a:srgbClr val="FFCC99"/>
          </a:solidFill>
          <a:ln w="12700">
            <a:solidFill>
              <a:schemeClr val="tx1"/>
            </a:solidFill>
            <a:miter lim="800000"/>
            <a:headEnd type="none" w="sm" len="sm"/>
            <a:tailEnd type="none" w="sm" len="sm"/>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kumimoji="1" lang="zh-CN" altLang="en-US" sz="2000">
                <a:latin typeface="Times New Roman" panose="02020603050405020304" pitchFamily="18" charset="0"/>
                <a:ea typeface="宋体" panose="02010600030101010101" pitchFamily="2" charset="-122"/>
              </a:rPr>
              <a:t>高维数据空间</a:t>
            </a:r>
          </a:p>
          <a:p>
            <a:pPr algn="ctr" eaLnBrk="1" hangingPunct="1">
              <a:spcBef>
                <a:spcPct val="0"/>
              </a:spcBef>
              <a:buClrTx/>
              <a:buFontTx/>
              <a:buNone/>
            </a:pPr>
            <a:r>
              <a:rPr kumimoji="1" lang="en-US" altLang="zh-CN" sz="1800">
                <a:latin typeface="Times New Roman" panose="02020603050405020304" pitchFamily="18" charset="0"/>
                <a:ea typeface="宋体" panose="02010600030101010101" pitchFamily="2" charset="-122"/>
              </a:rPr>
              <a:t>data / observation space</a:t>
            </a:r>
          </a:p>
        </p:txBody>
      </p:sp>
      <p:sp>
        <p:nvSpPr>
          <p:cNvPr id="831496" name="AutoShape 8">
            <a:extLst>
              <a:ext uri="{FF2B5EF4-FFF2-40B4-BE49-F238E27FC236}">
                <a16:creationId xmlns:a16="http://schemas.microsoft.com/office/drawing/2014/main" id="{4665FE4E-5B89-441A-B010-513745001C66}"/>
              </a:ext>
            </a:extLst>
          </p:cNvPr>
          <p:cNvSpPr>
            <a:spLocks noChangeArrowheads="1"/>
          </p:cNvSpPr>
          <p:nvPr/>
        </p:nvSpPr>
        <p:spPr bwMode="auto">
          <a:xfrm>
            <a:off x="6300788" y="4508500"/>
            <a:ext cx="2447925" cy="1008063"/>
          </a:xfrm>
          <a:prstGeom prst="wedgeRoundRectCallout">
            <a:avLst>
              <a:gd name="adj1" fmla="val -51685"/>
              <a:gd name="adj2" fmla="val -80866"/>
              <a:gd name="adj3" fmla="val 16667"/>
            </a:avLst>
          </a:prstGeom>
          <a:solidFill>
            <a:srgbClr val="FFCC99"/>
          </a:solidFill>
          <a:ln w="12700">
            <a:solidFill>
              <a:schemeClr val="tx1"/>
            </a:solidFill>
            <a:miter lim="800000"/>
            <a:headEnd type="none" w="sm" len="sm"/>
            <a:tailEnd type="none" w="sm" len="sm"/>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kumimoji="1" lang="zh-CN" altLang="en-US" sz="2000">
                <a:latin typeface="Times New Roman" panose="02020603050405020304" pitchFamily="18" charset="0"/>
                <a:ea typeface="宋体" panose="02010600030101010101" pitchFamily="2" charset="-122"/>
              </a:rPr>
              <a:t>低维嵌入空间</a:t>
            </a:r>
          </a:p>
          <a:p>
            <a:pPr algn="ctr" eaLnBrk="1" hangingPunct="1">
              <a:spcBef>
                <a:spcPct val="0"/>
              </a:spcBef>
              <a:buClrTx/>
              <a:buFontTx/>
              <a:buNone/>
            </a:pPr>
            <a:r>
              <a:rPr kumimoji="1" lang="en-US" altLang="zh-CN" sz="2000">
                <a:latin typeface="Times New Roman" panose="02020603050405020304" pitchFamily="18" charset="0"/>
                <a:ea typeface="宋体" panose="02010600030101010101" pitchFamily="2" charset="-122"/>
              </a:rPr>
              <a:t>embedding / coordinate space</a:t>
            </a:r>
          </a:p>
        </p:txBody>
      </p:sp>
      <p:sp>
        <p:nvSpPr>
          <p:cNvPr id="831497" name="Text Box 9">
            <a:extLst>
              <a:ext uri="{FF2B5EF4-FFF2-40B4-BE49-F238E27FC236}">
                <a16:creationId xmlns:a16="http://schemas.microsoft.com/office/drawing/2014/main" id="{F7D54409-ECA6-4C20-85AE-1142FE852D21}"/>
              </a:ext>
            </a:extLst>
          </p:cNvPr>
          <p:cNvSpPr txBox="1">
            <a:spLocks noChangeArrowheads="1"/>
          </p:cNvSpPr>
          <p:nvPr/>
        </p:nvSpPr>
        <p:spPr bwMode="auto">
          <a:xfrm>
            <a:off x="3419475" y="3284538"/>
            <a:ext cx="2232025" cy="915987"/>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1800">
                <a:solidFill>
                  <a:srgbClr val="FF0000"/>
                </a:solidFill>
                <a:latin typeface="Times New Roman" panose="02020603050405020304" pitchFamily="18" charset="0"/>
                <a:ea typeface="宋体" panose="02010600030101010101" pitchFamily="2" charset="-122"/>
              </a:rPr>
              <a:t>保持一定几何拓扑关系，如测地距离</a:t>
            </a:r>
            <a:r>
              <a:rPr kumimoji="1" lang="en-US" altLang="zh-CN" sz="1800">
                <a:solidFill>
                  <a:srgbClr val="FF0000"/>
                </a:solidFill>
                <a:latin typeface="Times New Roman" panose="02020603050405020304" pitchFamily="18" charset="0"/>
                <a:ea typeface="宋体" panose="02010600030101010101" pitchFamily="2" charset="-122"/>
              </a:rPr>
              <a:t>/</a:t>
            </a:r>
            <a:r>
              <a:rPr kumimoji="1" lang="zh-CN" altLang="en-US" sz="1800">
                <a:solidFill>
                  <a:srgbClr val="FF0000"/>
                </a:solidFill>
                <a:latin typeface="Times New Roman" panose="02020603050405020304" pitchFamily="18" charset="0"/>
                <a:ea typeface="宋体" panose="02010600030101010101" pitchFamily="2" charset="-122"/>
              </a:rPr>
              <a:t>邻域线性重构关系</a:t>
            </a:r>
          </a:p>
        </p:txBody>
      </p:sp>
      <p:sp>
        <p:nvSpPr>
          <p:cNvPr id="167945" name="Rectangle 11">
            <a:extLst>
              <a:ext uri="{FF2B5EF4-FFF2-40B4-BE49-F238E27FC236}">
                <a16:creationId xmlns:a16="http://schemas.microsoft.com/office/drawing/2014/main" id="{F84437A8-DEC3-41B5-9383-24DB5B2B2D38}"/>
              </a:ext>
            </a:extLst>
          </p:cNvPr>
          <p:cNvSpPr>
            <a:spLocks noGrp="1" noChangeArrowheads="1"/>
          </p:cNvSpPr>
          <p:nvPr>
            <p:ph type="title"/>
          </p:nvPr>
        </p:nvSpPr>
        <p:spPr>
          <a:noFill/>
        </p:spPr>
        <p:txBody>
          <a:bodyPr/>
          <a:lstStyle/>
          <a:p>
            <a:pPr eaLnBrk="1" hangingPunct="1"/>
            <a:r>
              <a:rPr lang="zh-CN" altLang="en-US"/>
              <a:t>流形学习示例</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31491"/>
                                        </p:tgtEl>
                                        <p:attrNameLst>
                                          <p:attrName>style.visibility</p:attrName>
                                        </p:attrNameLst>
                                      </p:cBhvr>
                                      <p:to>
                                        <p:strVal val="visible"/>
                                      </p:to>
                                    </p:set>
                                    <p:anim calcmode="lin" valueType="num">
                                      <p:cBhvr additive="base">
                                        <p:cTn id="7" dur="500" fill="hold"/>
                                        <p:tgtEl>
                                          <p:spTgt spid="831491"/>
                                        </p:tgtEl>
                                        <p:attrNameLst>
                                          <p:attrName>ppt_x</p:attrName>
                                        </p:attrNameLst>
                                      </p:cBhvr>
                                      <p:tavLst>
                                        <p:tav tm="0">
                                          <p:val>
                                            <p:strVal val="#ppt_x"/>
                                          </p:val>
                                        </p:tav>
                                        <p:tav tm="100000">
                                          <p:val>
                                            <p:strVal val="#ppt_x"/>
                                          </p:val>
                                        </p:tav>
                                      </p:tavLst>
                                    </p:anim>
                                    <p:anim calcmode="lin" valueType="num">
                                      <p:cBhvr additive="base">
                                        <p:cTn id="8" dur="500" fill="hold"/>
                                        <p:tgtEl>
                                          <p:spTgt spid="8314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31495"/>
                                        </p:tgtEl>
                                        <p:attrNameLst>
                                          <p:attrName>style.visibility</p:attrName>
                                        </p:attrNameLst>
                                      </p:cBhvr>
                                      <p:to>
                                        <p:strVal val="visible"/>
                                      </p:to>
                                    </p:set>
                                    <p:anim calcmode="lin" valueType="num">
                                      <p:cBhvr additive="base">
                                        <p:cTn id="13" dur="500" fill="hold"/>
                                        <p:tgtEl>
                                          <p:spTgt spid="831495"/>
                                        </p:tgtEl>
                                        <p:attrNameLst>
                                          <p:attrName>ppt_x</p:attrName>
                                        </p:attrNameLst>
                                      </p:cBhvr>
                                      <p:tavLst>
                                        <p:tav tm="0">
                                          <p:val>
                                            <p:strVal val="#ppt_x"/>
                                          </p:val>
                                        </p:tav>
                                        <p:tav tm="100000">
                                          <p:val>
                                            <p:strVal val="#ppt_x"/>
                                          </p:val>
                                        </p:tav>
                                      </p:tavLst>
                                    </p:anim>
                                    <p:anim calcmode="lin" valueType="num">
                                      <p:cBhvr additive="base">
                                        <p:cTn id="14" dur="500" fill="hold"/>
                                        <p:tgtEl>
                                          <p:spTgt spid="83149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831494"/>
                                        </p:tgtEl>
                                        <p:attrNameLst>
                                          <p:attrName>style.visibility</p:attrName>
                                        </p:attrNameLst>
                                      </p:cBhvr>
                                      <p:to>
                                        <p:strVal val="visible"/>
                                      </p:to>
                                    </p:set>
                                    <p:animEffect transition="in" filter="checkerboard(across)">
                                      <p:cBhvr>
                                        <p:cTn id="19" dur="500"/>
                                        <p:tgtEl>
                                          <p:spTgt spid="8314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831493"/>
                                        </p:tgtEl>
                                        <p:attrNameLst>
                                          <p:attrName>style.visibility</p:attrName>
                                        </p:attrNameLst>
                                      </p:cBhvr>
                                      <p:to>
                                        <p:strVal val="visible"/>
                                      </p:to>
                                    </p:set>
                                    <p:animEffect transition="in" filter="diamond(in)">
                                      <p:cBhvr>
                                        <p:cTn id="24" dur="2000"/>
                                        <p:tgtEl>
                                          <p:spTgt spid="83149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831497"/>
                                        </p:tgtEl>
                                        <p:attrNameLst>
                                          <p:attrName>style.visibility</p:attrName>
                                        </p:attrNameLst>
                                      </p:cBhvr>
                                      <p:to>
                                        <p:strVal val="visible"/>
                                      </p:to>
                                    </p:set>
                                    <p:animEffect transition="in" filter="box(in)">
                                      <p:cBhvr>
                                        <p:cTn id="29" dur="500"/>
                                        <p:tgtEl>
                                          <p:spTgt spid="83149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831492"/>
                                        </p:tgtEl>
                                        <p:attrNameLst>
                                          <p:attrName>style.visibility</p:attrName>
                                        </p:attrNameLst>
                                      </p:cBhvr>
                                      <p:to>
                                        <p:strVal val="visible"/>
                                      </p:to>
                                    </p:set>
                                    <p:animEffect transition="in" filter="blinds(horizontal)">
                                      <p:cBhvr>
                                        <p:cTn id="34" dur="500"/>
                                        <p:tgtEl>
                                          <p:spTgt spid="83149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831496"/>
                                        </p:tgtEl>
                                        <p:attrNameLst>
                                          <p:attrName>style.visibility</p:attrName>
                                        </p:attrNameLst>
                                      </p:cBhvr>
                                      <p:to>
                                        <p:strVal val="visible"/>
                                      </p:to>
                                    </p:set>
                                    <p:anim calcmode="lin" valueType="num">
                                      <p:cBhvr additive="base">
                                        <p:cTn id="39" dur="500" fill="hold"/>
                                        <p:tgtEl>
                                          <p:spTgt spid="831496"/>
                                        </p:tgtEl>
                                        <p:attrNameLst>
                                          <p:attrName>ppt_x</p:attrName>
                                        </p:attrNameLst>
                                      </p:cBhvr>
                                      <p:tavLst>
                                        <p:tav tm="0">
                                          <p:val>
                                            <p:strVal val="#ppt_x"/>
                                          </p:val>
                                        </p:tav>
                                        <p:tav tm="100000">
                                          <p:val>
                                            <p:strVal val="#ppt_x"/>
                                          </p:val>
                                        </p:tav>
                                      </p:tavLst>
                                    </p:anim>
                                    <p:anim calcmode="lin" valueType="num">
                                      <p:cBhvr additive="base">
                                        <p:cTn id="40" dur="500" fill="hold"/>
                                        <p:tgtEl>
                                          <p:spTgt spid="8314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3" grpId="0" animBg="1"/>
      <p:bldP spid="831494" grpId="0"/>
      <p:bldP spid="831495" grpId="0" animBg="1"/>
      <p:bldP spid="831496" grpId="0" animBg="1"/>
      <p:bldP spid="83149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灯片编号占位符 5">
            <a:extLst>
              <a:ext uri="{FF2B5EF4-FFF2-40B4-BE49-F238E27FC236}">
                <a16:creationId xmlns:a16="http://schemas.microsoft.com/office/drawing/2014/main" id="{BED7C66F-2C57-42B8-BFA6-D59CE84624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4988B3B2-2B96-4403-8E2C-349B016D2E28}" type="slidenum">
              <a:rPr lang="en-US" altLang="zh-CN" sz="1000" smtClean="0">
                <a:ea typeface="宋体" panose="02010600030101010101" pitchFamily="2" charset="-122"/>
              </a:rPr>
              <a:pPr>
                <a:spcBef>
                  <a:spcPct val="0"/>
                </a:spcBef>
                <a:buClrTx/>
                <a:buFontTx/>
                <a:buNone/>
              </a:pPr>
              <a:t>114</a:t>
            </a:fld>
            <a:endParaRPr lang="en-US" altLang="zh-CN" sz="1000">
              <a:ea typeface="宋体" panose="02010600030101010101" pitchFamily="2" charset="-122"/>
            </a:endParaRPr>
          </a:p>
        </p:txBody>
      </p:sp>
      <p:sp>
        <p:nvSpPr>
          <p:cNvPr id="169986" name="Rectangle 2">
            <a:extLst>
              <a:ext uri="{FF2B5EF4-FFF2-40B4-BE49-F238E27FC236}">
                <a16:creationId xmlns:a16="http://schemas.microsoft.com/office/drawing/2014/main" id="{0F34EA19-8423-40F6-A2CC-903C1D6BC71C}"/>
              </a:ext>
            </a:extLst>
          </p:cNvPr>
          <p:cNvSpPr>
            <a:spLocks noGrp="1" noChangeArrowheads="1"/>
          </p:cNvSpPr>
          <p:nvPr>
            <p:ph type="title"/>
          </p:nvPr>
        </p:nvSpPr>
        <p:spPr/>
        <p:txBody>
          <a:bodyPr/>
          <a:lstStyle/>
          <a:p>
            <a:pPr eaLnBrk="1" hangingPunct="1"/>
            <a:r>
              <a:rPr lang="zh-CN" altLang="en-US"/>
              <a:t>提纲</a:t>
            </a:r>
          </a:p>
        </p:txBody>
      </p:sp>
      <p:sp>
        <p:nvSpPr>
          <p:cNvPr id="169987" name="Rectangle 3">
            <a:extLst>
              <a:ext uri="{FF2B5EF4-FFF2-40B4-BE49-F238E27FC236}">
                <a16:creationId xmlns:a16="http://schemas.microsoft.com/office/drawing/2014/main" id="{60B0690A-51E2-4481-BE1B-78CB4B64D2DB}"/>
              </a:ext>
            </a:extLst>
          </p:cNvPr>
          <p:cNvSpPr>
            <a:spLocks noGrp="1" noChangeArrowheads="1"/>
          </p:cNvSpPr>
          <p:nvPr>
            <p:ph type="body" idx="1"/>
          </p:nvPr>
        </p:nvSpPr>
        <p:spPr/>
        <p:txBody>
          <a:bodyPr/>
          <a:lstStyle/>
          <a:p>
            <a:pPr eaLnBrk="1" hangingPunct="1"/>
            <a:r>
              <a:rPr lang="zh-CN" altLang="en-US">
                <a:solidFill>
                  <a:schemeClr val="accent1"/>
                </a:solidFill>
              </a:rPr>
              <a:t>研究背景</a:t>
            </a:r>
          </a:p>
          <a:p>
            <a:pPr eaLnBrk="1" hangingPunct="1"/>
            <a:r>
              <a:rPr lang="zh-CN" altLang="en-US">
                <a:solidFill>
                  <a:schemeClr val="accent1"/>
                </a:solidFill>
              </a:rPr>
              <a:t>基本知识介绍</a:t>
            </a:r>
          </a:p>
          <a:p>
            <a:pPr eaLnBrk="1" hangingPunct="1"/>
            <a:r>
              <a:rPr lang="zh-CN" altLang="en-US"/>
              <a:t>经典方法概览</a:t>
            </a:r>
          </a:p>
          <a:p>
            <a:pPr eaLnBrk="1" hangingPunct="1"/>
            <a:r>
              <a:rPr lang="zh-CN" altLang="en-US">
                <a:solidFill>
                  <a:schemeClr val="accent1"/>
                </a:solidFill>
              </a:rPr>
              <a:t>总结讨论</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灯片编号占位符 6">
            <a:extLst>
              <a:ext uri="{FF2B5EF4-FFF2-40B4-BE49-F238E27FC236}">
                <a16:creationId xmlns:a16="http://schemas.microsoft.com/office/drawing/2014/main" id="{45C9835D-7674-44B0-83C9-20D4844EF6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B0EE8851-BCC6-4349-A69C-C569822ED53D}" type="slidenum">
              <a:rPr lang="en-US" altLang="zh-CN" sz="1000" smtClean="0">
                <a:ea typeface="宋体" panose="02010600030101010101" pitchFamily="2" charset="-122"/>
              </a:rPr>
              <a:pPr>
                <a:spcBef>
                  <a:spcPct val="0"/>
                </a:spcBef>
                <a:buClrTx/>
                <a:buFontTx/>
                <a:buNone/>
              </a:pPr>
              <a:t>115</a:t>
            </a:fld>
            <a:endParaRPr lang="en-US" altLang="zh-CN" sz="1000">
              <a:ea typeface="宋体" panose="02010600030101010101" pitchFamily="2" charset="-122"/>
            </a:endParaRPr>
          </a:p>
        </p:txBody>
      </p:sp>
      <p:sp>
        <p:nvSpPr>
          <p:cNvPr id="171010" name="Rectangle 2">
            <a:extLst>
              <a:ext uri="{FF2B5EF4-FFF2-40B4-BE49-F238E27FC236}">
                <a16:creationId xmlns:a16="http://schemas.microsoft.com/office/drawing/2014/main" id="{DBAE90E7-A8AD-4806-B189-7CD6F2A6C17A}"/>
              </a:ext>
            </a:extLst>
          </p:cNvPr>
          <p:cNvSpPr>
            <a:spLocks noGrp="1" noChangeArrowheads="1"/>
          </p:cNvSpPr>
          <p:nvPr>
            <p:ph type="title"/>
          </p:nvPr>
        </p:nvSpPr>
        <p:spPr/>
        <p:txBody>
          <a:bodyPr/>
          <a:lstStyle/>
          <a:p>
            <a:pPr eaLnBrk="1" hangingPunct="1"/>
            <a:r>
              <a:rPr lang="zh-CN" altLang="en-US"/>
              <a:t>经典流形学习方法一览</a:t>
            </a:r>
          </a:p>
        </p:txBody>
      </p:sp>
      <p:graphicFrame>
        <p:nvGraphicFramePr>
          <p:cNvPr id="435257" name="Group 57">
            <a:extLst>
              <a:ext uri="{FF2B5EF4-FFF2-40B4-BE49-F238E27FC236}">
                <a16:creationId xmlns:a16="http://schemas.microsoft.com/office/drawing/2014/main" id="{3C13D411-F505-440C-A5F3-0E7D64590649}"/>
              </a:ext>
            </a:extLst>
          </p:cNvPr>
          <p:cNvGraphicFramePr>
            <a:graphicFrameLocks noGrp="1"/>
          </p:cNvGraphicFramePr>
          <p:nvPr>
            <p:ph sz="half" idx="2"/>
          </p:nvPr>
        </p:nvGraphicFramePr>
        <p:xfrm>
          <a:off x="374650" y="1541463"/>
          <a:ext cx="8442325" cy="4305303"/>
        </p:xfrm>
        <a:graphic>
          <a:graphicData uri="http://schemas.openxmlformats.org/drawingml/2006/table">
            <a:tbl>
              <a:tblPr/>
              <a:tblGrid>
                <a:gridCol w="1871663">
                  <a:extLst>
                    <a:ext uri="{9D8B030D-6E8A-4147-A177-3AD203B41FA5}">
                      <a16:colId xmlns:a16="http://schemas.microsoft.com/office/drawing/2014/main" val="4279004009"/>
                    </a:ext>
                  </a:extLst>
                </a:gridCol>
                <a:gridCol w="2638425">
                  <a:extLst>
                    <a:ext uri="{9D8B030D-6E8A-4147-A177-3AD203B41FA5}">
                      <a16:colId xmlns:a16="http://schemas.microsoft.com/office/drawing/2014/main" val="1094761513"/>
                    </a:ext>
                  </a:extLst>
                </a:gridCol>
                <a:gridCol w="1930400">
                  <a:extLst>
                    <a:ext uri="{9D8B030D-6E8A-4147-A177-3AD203B41FA5}">
                      <a16:colId xmlns:a16="http://schemas.microsoft.com/office/drawing/2014/main" val="3500932724"/>
                    </a:ext>
                  </a:extLst>
                </a:gridCol>
                <a:gridCol w="2001837">
                  <a:extLst>
                    <a:ext uri="{9D8B030D-6E8A-4147-A177-3AD203B41FA5}">
                      <a16:colId xmlns:a16="http://schemas.microsoft.com/office/drawing/2014/main" val="2415650828"/>
                    </a:ext>
                  </a:extLst>
                </a:gridCol>
              </a:tblGrid>
              <a:tr h="63658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方法简称</a:t>
                      </a:r>
                    </a:p>
                  </a:txBody>
                  <a:tcPr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ysDash"/>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所保持的几何属性</a:t>
                      </a:r>
                    </a:p>
                  </a:txBody>
                  <a:tcPr anchor="ct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ysDash"/>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全局</a:t>
                      </a: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a:t>
                      </a: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局部关系</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ysDash"/>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计算复杂度</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ysDash"/>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30829893"/>
                  </a:ext>
                </a:extLst>
              </a:tr>
              <a:tr h="45243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ISOMAP</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381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点对测地距离</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全局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非常高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2722541"/>
                  </a:ext>
                </a:extLst>
              </a:tr>
              <a:tr h="45085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LLE</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局部线性重构关系</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1303747"/>
                  </a:ext>
                </a:extLst>
              </a:tr>
              <a:tr h="45243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LE</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局部邻域相似度</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7578107"/>
                  </a:ext>
                </a:extLst>
              </a:tr>
              <a:tr h="45085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HLLE</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局部等距性</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2284848"/>
                  </a:ext>
                </a:extLst>
              </a:tr>
              <a:tr h="45243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LTSA</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局部坐标表示</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全局</a:t>
                      </a: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a:t>
                      </a: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39466378"/>
                  </a:ext>
                </a:extLst>
              </a:tr>
              <a:tr h="45085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MVU</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局部距离</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全局</a:t>
                      </a: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a:t>
                      </a: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非常高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8247599"/>
                  </a:ext>
                </a:extLst>
              </a:tr>
              <a:tr h="45243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Logmap</a:t>
                      </a:r>
                    </a:p>
                  </a:txBody>
                  <a:tcPr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测地距离与方向</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局部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非常低</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2181592"/>
                  </a:ext>
                </a:extLst>
              </a:tr>
              <a:tr h="506413">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Diffusion Maps</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diffusion</a:t>
                      </a: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距离</a:t>
                      </a:r>
                    </a:p>
                  </a:txBody>
                  <a:tcPr horzOverflow="overflow">
                    <a:lnL w="381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全局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defRPr>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rPr>
                        <a:t>中等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0953201"/>
                  </a:ext>
                </a:extLst>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灯片编号占位符 5">
            <a:extLst>
              <a:ext uri="{FF2B5EF4-FFF2-40B4-BE49-F238E27FC236}">
                <a16:creationId xmlns:a16="http://schemas.microsoft.com/office/drawing/2014/main" id="{4E7DDFE0-0997-4F12-9BEF-3AC90B265D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119EA43A-C8B3-4741-A334-4A754FF7A5DD}" type="slidenum">
              <a:rPr lang="en-US" altLang="zh-CN" sz="1000" smtClean="0">
                <a:ea typeface="宋体" panose="02010600030101010101" pitchFamily="2" charset="-122"/>
              </a:rPr>
              <a:pPr>
                <a:spcBef>
                  <a:spcPct val="0"/>
                </a:spcBef>
                <a:buClrTx/>
                <a:buFontTx/>
                <a:buNone/>
              </a:pPr>
              <a:t>116</a:t>
            </a:fld>
            <a:endParaRPr lang="en-US" altLang="zh-CN" sz="1000">
              <a:ea typeface="宋体" panose="02010600030101010101" pitchFamily="2" charset="-122"/>
            </a:endParaRPr>
          </a:p>
        </p:txBody>
      </p:sp>
      <p:sp>
        <p:nvSpPr>
          <p:cNvPr id="172034" name="Rectangle 2">
            <a:extLst>
              <a:ext uri="{FF2B5EF4-FFF2-40B4-BE49-F238E27FC236}">
                <a16:creationId xmlns:a16="http://schemas.microsoft.com/office/drawing/2014/main" id="{77249A86-36E4-4EE2-A4F3-75276198B5E5}"/>
              </a:ext>
            </a:extLst>
          </p:cNvPr>
          <p:cNvSpPr>
            <a:spLocks noGrp="1" noChangeArrowheads="1"/>
          </p:cNvSpPr>
          <p:nvPr>
            <p:ph type="title"/>
          </p:nvPr>
        </p:nvSpPr>
        <p:spPr/>
        <p:txBody>
          <a:bodyPr/>
          <a:lstStyle/>
          <a:p>
            <a:pPr eaLnBrk="1" hangingPunct="1"/>
            <a:r>
              <a:rPr lang="zh-CN" altLang="en-US"/>
              <a:t>经典方法分类结构图</a:t>
            </a:r>
          </a:p>
        </p:txBody>
      </p:sp>
      <p:pic>
        <p:nvPicPr>
          <p:cNvPr id="172035" name="Picture 3">
            <a:extLst>
              <a:ext uri="{FF2B5EF4-FFF2-40B4-BE49-F238E27FC236}">
                <a16:creationId xmlns:a16="http://schemas.microsoft.com/office/drawing/2014/main" id="{7262BCA7-FA7E-4BC8-AE65-770156EA6795}"/>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225" y="1585913"/>
            <a:ext cx="9131300" cy="4129087"/>
          </a:xfr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灯片编号占位符 3">
            <a:extLst>
              <a:ext uri="{FF2B5EF4-FFF2-40B4-BE49-F238E27FC236}">
                <a16:creationId xmlns:a16="http://schemas.microsoft.com/office/drawing/2014/main" id="{DB5CD124-C670-43CA-B349-227D5FDA16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F704EB5D-7715-4CF3-8A83-97EBDB6ECD3F}" type="slidenum">
              <a:rPr lang="en-US" altLang="zh-CN" sz="1000" smtClean="0">
                <a:ea typeface="宋体" panose="02010600030101010101" pitchFamily="2" charset="-122"/>
              </a:rPr>
              <a:pPr>
                <a:spcBef>
                  <a:spcPct val="0"/>
                </a:spcBef>
                <a:buClrTx/>
                <a:buFontTx/>
                <a:buNone/>
              </a:pPr>
              <a:t>117</a:t>
            </a:fld>
            <a:endParaRPr lang="en-US" altLang="zh-CN" sz="1000">
              <a:ea typeface="宋体" panose="02010600030101010101" pitchFamily="2" charset="-122"/>
            </a:endParaRPr>
          </a:p>
        </p:txBody>
      </p:sp>
      <p:sp>
        <p:nvSpPr>
          <p:cNvPr id="173058" name="Text Box 2">
            <a:extLst>
              <a:ext uri="{FF2B5EF4-FFF2-40B4-BE49-F238E27FC236}">
                <a16:creationId xmlns:a16="http://schemas.microsoft.com/office/drawing/2014/main" id="{813B588A-A4FA-4348-B515-EECE68D88903}"/>
              </a:ext>
            </a:extLst>
          </p:cNvPr>
          <p:cNvSpPr txBox="1">
            <a:spLocks noChangeArrowheads="1"/>
          </p:cNvSpPr>
          <p:nvPr/>
        </p:nvSpPr>
        <p:spPr bwMode="auto">
          <a:xfrm>
            <a:off x="381000" y="1524000"/>
            <a:ext cx="83058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 typeface="Wingdings" panose="05000000000000000000" pitchFamily="2" charset="2"/>
              <a:buChar char="Ø"/>
            </a:pPr>
            <a:r>
              <a:rPr lang="zh-CN" altLang="en-US" sz="2400"/>
              <a:t>局部线性嵌入</a:t>
            </a:r>
            <a:r>
              <a:rPr lang="en-US" altLang="zh-CN" sz="2400" b="1">
                <a:latin typeface="Times New Roman" panose="02020603050405020304" pitchFamily="18" charset="0"/>
                <a:ea typeface="宋体" panose="02010600030101010101" pitchFamily="2" charset="-122"/>
              </a:rPr>
              <a:t>(LLE)</a:t>
            </a:r>
          </a:p>
          <a:p>
            <a:pPr eaLnBrk="1" fontAlgn="t" hangingPunct="1">
              <a:spcBef>
                <a:spcPct val="50000"/>
              </a:spcBef>
              <a:buClrTx/>
              <a:buFontTx/>
              <a:buNone/>
            </a:pPr>
            <a:r>
              <a:rPr lang="en-US" altLang="zh-CN" sz="1800" b="1">
                <a:latin typeface="Times New Roman" panose="02020603050405020304" pitchFamily="18" charset="0"/>
                <a:ea typeface="宋体" panose="02010600030101010101" pitchFamily="2" charset="-122"/>
              </a:rPr>
              <a:t>S. T. Roweis and L. K. Saul. Nonlinear dimensionality reduction by locally linear embedding. </a:t>
            </a:r>
            <a:r>
              <a:rPr lang="en-US" altLang="zh-CN" sz="1800" b="1" i="1">
                <a:solidFill>
                  <a:srgbClr val="FF0000"/>
                </a:solidFill>
                <a:latin typeface="Times New Roman" panose="02020603050405020304" pitchFamily="18" charset="0"/>
                <a:ea typeface="宋体" panose="02010600030101010101" pitchFamily="2" charset="-122"/>
              </a:rPr>
              <a:t>Science</a:t>
            </a:r>
            <a:r>
              <a:rPr lang="en-US" altLang="zh-CN" sz="1800" b="1">
                <a:latin typeface="Times New Roman" panose="02020603050405020304" pitchFamily="18" charset="0"/>
                <a:ea typeface="宋体" panose="02010600030101010101" pitchFamily="2" charset="-122"/>
              </a:rPr>
              <a:t>, vol. 290, pp. 2323--2326, 2000.</a:t>
            </a:r>
          </a:p>
          <a:p>
            <a:pPr eaLnBrk="1" fontAlgn="t" hangingPunct="1">
              <a:spcBef>
                <a:spcPct val="50000"/>
              </a:spcBef>
              <a:buClrTx/>
              <a:buFont typeface="Wingdings" panose="05000000000000000000" pitchFamily="2" charset="2"/>
              <a:buChar char="Ø"/>
            </a:pPr>
            <a:r>
              <a:rPr lang="zh-CN" altLang="en-US" sz="2400"/>
              <a:t>拉普拉斯特征映射</a:t>
            </a:r>
            <a:r>
              <a:rPr lang="en-US" altLang="zh-CN" sz="2400" b="1">
                <a:latin typeface="Times New Roman" panose="02020603050405020304" pitchFamily="18" charset="0"/>
                <a:ea typeface="宋体" panose="02010600030101010101" pitchFamily="2" charset="-122"/>
              </a:rPr>
              <a:t>(Laplacian Eigenmap)</a:t>
            </a:r>
          </a:p>
          <a:p>
            <a:pPr eaLnBrk="1" fontAlgn="t" hangingPunct="1">
              <a:spcBef>
                <a:spcPct val="50000"/>
              </a:spcBef>
              <a:buClrTx/>
              <a:buFontTx/>
              <a:buNone/>
            </a:pPr>
            <a:r>
              <a:rPr lang="en-US" altLang="zh-CN" sz="1800" b="1">
                <a:latin typeface="Times New Roman" panose="02020603050405020304" pitchFamily="18" charset="0"/>
                <a:ea typeface="times new roma"/>
                <a:cs typeface="times new roma"/>
              </a:rPr>
              <a:t>M. Belkin, P. Niyogi, Laplacian Eigenmaps for Dimensionality Reduction and Data Representation. </a:t>
            </a:r>
            <a:r>
              <a:rPr lang="en-US" altLang="zh-CN" sz="1800" b="1" i="1">
                <a:latin typeface="Times New Roman" panose="02020603050405020304" pitchFamily="18" charset="0"/>
                <a:ea typeface="宋体" panose="02010600030101010101" pitchFamily="2" charset="-122"/>
              </a:rPr>
              <a:t>Neural Computation,</a:t>
            </a:r>
            <a:r>
              <a:rPr lang="en-US" altLang="zh-CN" sz="1800" b="1">
                <a:latin typeface="Times New Roman" panose="02020603050405020304" pitchFamily="18" charset="0"/>
                <a:ea typeface="宋体" panose="02010600030101010101" pitchFamily="2" charset="-122"/>
              </a:rPr>
              <a:t> </a:t>
            </a:r>
            <a:r>
              <a:rPr lang="en-US" altLang="zh-CN" sz="1800" b="1">
                <a:latin typeface="Times New Roman" panose="02020603050405020304" pitchFamily="18" charset="0"/>
                <a:ea typeface="times new roma"/>
                <a:cs typeface="times new roma"/>
              </a:rPr>
              <a:t>Vol. 15, Issue 6, pp</a:t>
            </a:r>
            <a:r>
              <a:rPr lang="en-US" altLang="zh-CN" sz="1800">
                <a:latin typeface="Times New Roman" panose="02020603050405020304" pitchFamily="18" charset="0"/>
                <a:ea typeface="times new roma"/>
                <a:cs typeface="times new roma"/>
              </a:rPr>
              <a:t>. </a:t>
            </a:r>
            <a:r>
              <a:rPr lang="en-US" altLang="zh-CN" sz="1800" b="1">
                <a:latin typeface="Times New Roman" panose="02020603050405020304" pitchFamily="18" charset="0"/>
                <a:ea typeface="times new roma"/>
                <a:cs typeface="times new roma"/>
              </a:rPr>
              <a:t>1373</a:t>
            </a:r>
            <a:r>
              <a:rPr lang="en-US" altLang="zh-CN" sz="1800">
                <a:latin typeface="Times New Roman" panose="02020603050405020304" pitchFamily="18" charset="0"/>
                <a:ea typeface="times new roma"/>
                <a:cs typeface="times new roma"/>
              </a:rPr>
              <a:t> –</a:t>
            </a:r>
            <a:r>
              <a:rPr lang="en-US" altLang="zh-CN" sz="1800" b="1">
                <a:latin typeface="Times New Roman" panose="02020603050405020304" pitchFamily="18" charset="0"/>
                <a:ea typeface="times new roma"/>
                <a:cs typeface="times new roma"/>
              </a:rPr>
              <a:t>1396,</a:t>
            </a:r>
            <a:r>
              <a:rPr lang="en-US" altLang="zh-CN" sz="1800">
                <a:latin typeface="Verdana" panose="020B0604030504040204" pitchFamily="34" charset="0"/>
                <a:ea typeface="times new roma"/>
                <a:cs typeface="times new roma"/>
              </a:rPr>
              <a:t> </a:t>
            </a:r>
            <a:r>
              <a:rPr lang="en-US" altLang="zh-CN" sz="1800" b="1">
                <a:latin typeface="Times New Roman" panose="02020603050405020304" pitchFamily="18" charset="0"/>
                <a:ea typeface="times new roma"/>
                <a:cs typeface="times new roma"/>
              </a:rPr>
              <a:t>2003 .</a:t>
            </a:r>
            <a:r>
              <a:rPr lang="en-US" altLang="zh-CN" sz="1800">
                <a:latin typeface="Times New Roman" panose="02020603050405020304" pitchFamily="18" charset="0"/>
                <a:ea typeface="times new roma"/>
                <a:cs typeface="times new roma"/>
              </a:rPr>
              <a:t> </a:t>
            </a:r>
            <a:endParaRPr lang="en-US" altLang="zh-CN" sz="1800">
              <a:latin typeface="Verdana" panose="020B0604030504040204" pitchFamily="34" charset="0"/>
              <a:ea typeface="times new roma"/>
              <a:cs typeface="times new roma"/>
            </a:endParaRPr>
          </a:p>
          <a:p>
            <a:pPr eaLnBrk="1" fontAlgn="t" hangingPunct="1">
              <a:spcBef>
                <a:spcPct val="50000"/>
              </a:spcBef>
              <a:buClrTx/>
              <a:buFontTx/>
              <a:buNone/>
            </a:pPr>
            <a:endParaRPr lang="en-US" altLang="zh-CN" sz="1800" b="1">
              <a:latin typeface="Times New Roman" panose="02020603050405020304" pitchFamily="18" charset="0"/>
              <a:ea typeface="宋体" panose="02010600030101010101" pitchFamily="2" charset="-122"/>
            </a:endParaRPr>
          </a:p>
        </p:txBody>
      </p:sp>
      <p:sp>
        <p:nvSpPr>
          <p:cNvPr id="173059" name="Rectangle 3">
            <a:extLst>
              <a:ext uri="{FF2B5EF4-FFF2-40B4-BE49-F238E27FC236}">
                <a16:creationId xmlns:a16="http://schemas.microsoft.com/office/drawing/2014/main" id="{0CD0A547-BFE7-4312-BE3B-F167CE6969F7}"/>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3800">
                <a:solidFill>
                  <a:schemeClr val="tx2"/>
                </a:solidFill>
              </a:rPr>
              <a:t>重点介绍的几个方法</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灯片编号占位符 5">
            <a:extLst>
              <a:ext uri="{FF2B5EF4-FFF2-40B4-BE49-F238E27FC236}">
                <a16:creationId xmlns:a16="http://schemas.microsoft.com/office/drawing/2014/main" id="{F8603602-E852-4303-AF56-04A44F3F27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5C59ADF-5D78-4906-B537-982E47119EDA}" type="slidenum">
              <a:rPr lang="en-US" altLang="zh-CN" sz="1000" smtClean="0">
                <a:ea typeface="宋体" panose="02010600030101010101" pitchFamily="2" charset="-122"/>
              </a:rPr>
              <a:pPr>
                <a:spcBef>
                  <a:spcPct val="0"/>
                </a:spcBef>
                <a:buClrTx/>
                <a:buFontTx/>
                <a:buNone/>
              </a:pPr>
              <a:t>118</a:t>
            </a:fld>
            <a:endParaRPr lang="en-US" altLang="zh-CN" sz="1000">
              <a:ea typeface="宋体" panose="02010600030101010101" pitchFamily="2" charset="-122"/>
            </a:endParaRPr>
          </a:p>
        </p:txBody>
      </p:sp>
      <p:sp>
        <p:nvSpPr>
          <p:cNvPr id="174082" name="Rectangle 2">
            <a:extLst>
              <a:ext uri="{FF2B5EF4-FFF2-40B4-BE49-F238E27FC236}">
                <a16:creationId xmlns:a16="http://schemas.microsoft.com/office/drawing/2014/main" id="{A0487928-141E-4B95-86A1-1E8CB66DC3CD}"/>
              </a:ext>
            </a:extLst>
          </p:cNvPr>
          <p:cNvSpPr>
            <a:spLocks noGrp="1" noChangeArrowheads="1"/>
          </p:cNvSpPr>
          <p:nvPr>
            <p:ph type="title"/>
          </p:nvPr>
        </p:nvSpPr>
        <p:spPr/>
        <p:txBody>
          <a:bodyPr/>
          <a:lstStyle/>
          <a:p>
            <a:pPr eaLnBrk="1" hangingPunct="1"/>
            <a:r>
              <a:rPr lang="zh-CN" altLang="en-US"/>
              <a:t>欧式距离 </a:t>
            </a:r>
            <a:r>
              <a:rPr lang="en-US" altLang="zh-CN"/>
              <a:t>vs.</a:t>
            </a:r>
            <a:r>
              <a:rPr lang="zh-CN" altLang="en-US"/>
              <a:t>测地距离</a:t>
            </a:r>
            <a:br>
              <a:rPr lang="zh-CN" altLang="en-US" sz="4000">
                <a:solidFill>
                  <a:schemeClr val="hlink"/>
                </a:solidFill>
              </a:rPr>
            </a:br>
            <a:endParaRPr lang="en-US" altLang="zh-CN"/>
          </a:p>
        </p:txBody>
      </p:sp>
      <p:sp>
        <p:nvSpPr>
          <p:cNvPr id="174083" name="Text Box 5">
            <a:extLst>
              <a:ext uri="{FF2B5EF4-FFF2-40B4-BE49-F238E27FC236}">
                <a16:creationId xmlns:a16="http://schemas.microsoft.com/office/drawing/2014/main" id="{33E8A0C6-F3F2-4356-B7A6-B6F959618B07}"/>
              </a:ext>
            </a:extLst>
          </p:cNvPr>
          <p:cNvSpPr txBox="1">
            <a:spLocks noChangeArrowheads="1"/>
          </p:cNvSpPr>
          <p:nvPr/>
        </p:nvSpPr>
        <p:spPr bwMode="auto">
          <a:xfrm>
            <a:off x="228600" y="6492875"/>
            <a:ext cx="31686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lang="en-US" altLang="zh-CN" sz="1400">
                <a:ea typeface="宋体" panose="02010600030101010101" pitchFamily="2" charset="-122"/>
              </a:rPr>
              <a:t>#1 </a:t>
            </a:r>
            <a:r>
              <a:rPr lang="zh-CN" altLang="en-US" sz="1400">
                <a:ea typeface="宋体" panose="02010600030101010101" pitchFamily="2" charset="-122"/>
              </a:rPr>
              <a:t>引自</a:t>
            </a:r>
            <a:r>
              <a:rPr lang="en-US" altLang="zh-CN" sz="1400">
                <a:ea typeface="宋体" panose="02010600030101010101" pitchFamily="2" charset="-122"/>
              </a:rPr>
              <a:t>J.B. Tenenbaum et al. 2000</a:t>
            </a:r>
          </a:p>
        </p:txBody>
      </p:sp>
      <p:grpSp>
        <p:nvGrpSpPr>
          <p:cNvPr id="3" name="Group 7">
            <a:extLst>
              <a:ext uri="{FF2B5EF4-FFF2-40B4-BE49-F238E27FC236}">
                <a16:creationId xmlns:a16="http://schemas.microsoft.com/office/drawing/2014/main" id="{73217848-5AA5-4E6B-B465-F50458AAF84C}"/>
              </a:ext>
            </a:extLst>
          </p:cNvPr>
          <p:cNvGrpSpPr>
            <a:grpSpLocks/>
          </p:cNvGrpSpPr>
          <p:nvPr/>
        </p:nvGrpSpPr>
        <p:grpSpPr bwMode="auto">
          <a:xfrm>
            <a:off x="381000" y="2786063"/>
            <a:ext cx="2087563" cy="2319337"/>
            <a:chOff x="240" y="2571"/>
            <a:chExt cx="1315" cy="1461"/>
          </a:xfrm>
        </p:grpSpPr>
        <p:graphicFrame>
          <p:nvGraphicFramePr>
            <p:cNvPr id="174093" name="Object 8">
              <a:extLst>
                <a:ext uri="{FF2B5EF4-FFF2-40B4-BE49-F238E27FC236}">
                  <a16:creationId xmlns:a16="http://schemas.microsoft.com/office/drawing/2014/main" id="{E7BA0154-D3D8-4551-9C75-D2F7B03CC9ED}"/>
                </a:ext>
              </a:extLst>
            </p:cNvPr>
            <p:cNvGraphicFramePr>
              <a:graphicFrameLocks noChangeAspect="1"/>
            </p:cNvGraphicFramePr>
            <p:nvPr/>
          </p:nvGraphicFramePr>
          <p:xfrm>
            <a:off x="240" y="2571"/>
            <a:ext cx="1315" cy="1006"/>
          </p:xfrm>
          <a:graphic>
            <a:graphicData uri="http://schemas.openxmlformats.org/presentationml/2006/ole">
              <mc:AlternateContent xmlns:mc="http://schemas.openxmlformats.org/markup-compatibility/2006">
                <mc:Choice xmlns:v="urn:schemas-microsoft-com:vml" Requires="v">
                  <p:oleObj spid="_x0000_s174107" name="Photo Editor Photo" r:id="rId3" imgW="3847619" imgH="2943636" progId="MSPhotoEd.3">
                    <p:embed/>
                  </p:oleObj>
                </mc:Choice>
                <mc:Fallback>
                  <p:oleObj name="Photo Editor Photo" r:id="rId3" imgW="3847619" imgH="2943636" progId="MSPhotoEd.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2571"/>
                          <a:ext cx="1315" cy="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94" name="Text Box 9">
              <a:extLst>
                <a:ext uri="{FF2B5EF4-FFF2-40B4-BE49-F238E27FC236}">
                  <a16:creationId xmlns:a16="http://schemas.microsoft.com/office/drawing/2014/main" id="{90A5D6D1-7388-4294-AB42-A4EFEFCDD855}"/>
                </a:ext>
              </a:extLst>
            </p:cNvPr>
            <p:cNvSpPr txBox="1">
              <a:spLocks noChangeArrowheads="1"/>
            </p:cNvSpPr>
            <p:nvPr/>
          </p:nvSpPr>
          <p:spPr bwMode="auto">
            <a:xfrm>
              <a:off x="432" y="3628"/>
              <a:ext cx="8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a:solidFill>
                    <a:schemeClr val="hlink"/>
                  </a:solidFill>
                </a:rPr>
                <a:t>欧式距离 </a:t>
              </a:r>
              <a:r>
                <a:rPr lang="en-US" altLang="zh-CN" sz="1800">
                  <a:solidFill>
                    <a:schemeClr val="hlink"/>
                  </a:solidFill>
                </a:rPr>
                <a:t>vs.</a:t>
              </a:r>
              <a:r>
                <a:rPr lang="zh-CN" altLang="en-US" sz="1800">
                  <a:solidFill>
                    <a:schemeClr val="hlink"/>
                  </a:solidFill>
                </a:rPr>
                <a:t>测地距离</a:t>
              </a:r>
            </a:p>
          </p:txBody>
        </p:sp>
      </p:grpSp>
      <p:grpSp>
        <p:nvGrpSpPr>
          <p:cNvPr id="4" name="Group 10">
            <a:extLst>
              <a:ext uri="{FF2B5EF4-FFF2-40B4-BE49-F238E27FC236}">
                <a16:creationId xmlns:a16="http://schemas.microsoft.com/office/drawing/2014/main" id="{9FA42815-86A7-4DBE-9802-9BF93CDE0174}"/>
              </a:ext>
            </a:extLst>
          </p:cNvPr>
          <p:cNvGrpSpPr>
            <a:grpSpLocks/>
          </p:cNvGrpSpPr>
          <p:nvPr/>
        </p:nvGrpSpPr>
        <p:grpSpPr bwMode="auto">
          <a:xfrm>
            <a:off x="3249613" y="2746375"/>
            <a:ext cx="2160587" cy="2390775"/>
            <a:chOff x="2047" y="2546"/>
            <a:chExt cx="1361" cy="1506"/>
          </a:xfrm>
        </p:grpSpPr>
        <p:graphicFrame>
          <p:nvGraphicFramePr>
            <p:cNvPr id="174091" name="Object 11">
              <a:extLst>
                <a:ext uri="{FF2B5EF4-FFF2-40B4-BE49-F238E27FC236}">
                  <a16:creationId xmlns:a16="http://schemas.microsoft.com/office/drawing/2014/main" id="{DA0B805F-524C-4CCB-84DB-E4CC3B311590}"/>
                </a:ext>
              </a:extLst>
            </p:cNvPr>
            <p:cNvGraphicFramePr>
              <a:graphicFrameLocks noChangeAspect="1"/>
            </p:cNvGraphicFramePr>
            <p:nvPr/>
          </p:nvGraphicFramePr>
          <p:xfrm>
            <a:off x="2047" y="2546"/>
            <a:ext cx="1361" cy="1057"/>
          </p:xfrm>
          <a:graphic>
            <a:graphicData uri="http://schemas.openxmlformats.org/presentationml/2006/ole">
              <mc:AlternateContent xmlns:mc="http://schemas.openxmlformats.org/markup-compatibility/2006">
                <mc:Choice xmlns:v="urn:schemas-microsoft-com:vml" Requires="v">
                  <p:oleObj spid="_x0000_s174108" name="Photo Editor Photo" r:id="rId5" imgW="3790476" imgH="2943636" progId="MSPhotoEd.3">
                    <p:embed/>
                  </p:oleObj>
                </mc:Choice>
                <mc:Fallback>
                  <p:oleObj name="Photo Editor Photo" r:id="rId5" imgW="3790476" imgH="2943636" progId="MSPhotoEd.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 y="2546"/>
                          <a:ext cx="1361" cy="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92" name="Text Box 12">
              <a:extLst>
                <a:ext uri="{FF2B5EF4-FFF2-40B4-BE49-F238E27FC236}">
                  <a16:creationId xmlns:a16="http://schemas.microsoft.com/office/drawing/2014/main" id="{685A3650-FFEC-49B0-B178-0893DB9AD868}"/>
                </a:ext>
              </a:extLst>
            </p:cNvPr>
            <p:cNvSpPr txBox="1">
              <a:spLocks noChangeArrowheads="1"/>
            </p:cNvSpPr>
            <p:nvPr/>
          </p:nvSpPr>
          <p:spPr bwMode="auto">
            <a:xfrm>
              <a:off x="2188" y="3648"/>
              <a:ext cx="8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a:solidFill>
                    <a:schemeClr val="hlink"/>
                  </a:solidFill>
                </a:rPr>
                <a:t>最短路径近似测地距离</a:t>
              </a:r>
            </a:p>
          </p:txBody>
        </p:sp>
      </p:grpSp>
      <p:grpSp>
        <p:nvGrpSpPr>
          <p:cNvPr id="5" name="Group 13">
            <a:extLst>
              <a:ext uri="{FF2B5EF4-FFF2-40B4-BE49-F238E27FC236}">
                <a16:creationId xmlns:a16="http://schemas.microsoft.com/office/drawing/2014/main" id="{E39C50E8-044E-4C97-A1B2-1D6FBCB2761C}"/>
              </a:ext>
            </a:extLst>
          </p:cNvPr>
          <p:cNvGrpSpPr>
            <a:grpSpLocks/>
          </p:cNvGrpSpPr>
          <p:nvPr/>
        </p:nvGrpSpPr>
        <p:grpSpPr bwMode="auto">
          <a:xfrm>
            <a:off x="6149975" y="2590800"/>
            <a:ext cx="2232025" cy="2438400"/>
            <a:chOff x="3874" y="2448"/>
            <a:chExt cx="1406" cy="1536"/>
          </a:xfrm>
        </p:grpSpPr>
        <p:graphicFrame>
          <p:nvGraphicFramePr>
            <p:cNvPr id="174089" name="Object 14">
              <a:extLst>
                <a:ext uri="{FF2B5EF4-FFF2-40B4-BE49-F238E27FC236}">
                  <a16:creationId xmlns:a16="http://schemas.microsoft.com/office/drawing/2014/main" id="{E43A84D4-8966-4FDC-B1B5-E1F44A428C5B}"/>
                </a:ext>
              </a:extLst>
            </p:cNvPr>
            <p:cNvGraphicFramePr>
              <a:graphicFrameLocks noChangeAspect="1"/>
            </p:cNvGraphicFramePr>
            <p:nvPr/>
          </p:nvGraphicFramePr>
          <p:xfrm>
            <a:off x="3874" y="2448"/>
            <a:ext cx="1406" cy="1138"/>
          </p:xfrm>
          <a:graphic>
            <a:graphicData uri="http://schemas.openxmlformats.org/presentationml/2006/ole">
              <mc:AlternateContent xmlns:mc="http://schemas.openxmlformats.org/markup-compatibility/2006">
                <mc:Choice xmlns:v="urn:schemas-microsoft-com:vml" Requires="v">
                  <p:oleObj spid="_x0000_s174109" name="Photo Editor Photo" r:id="rId7" imgW="3648584" imgH="2952381" progId="MSPhotoEd.3">
                    <p:embed/>
                  </p:oleObj>
                </mc:Choice>
                <mc:Fallback>
                  <p:oleObj name="Photo Editor Photo" r:id="rId7" imgW="3648584" imgH="2952381" progId="MSPhotoEd.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4" y="2448"/>
                          <a:ext cx="1406" cy="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90" name="Text Box 15">
              <a:extLst>
                <a:ext uri="{FF2B5EF4-FFF2-40B4-BE49-F238E27FC236}">
                  <a16:creationId xmlns:a16="http://schemas.microsoft.com/office/drawing/2014/main" id="{64746BB0-6A2D-47E3-B324-7E80C59A6B5D}"/>
                </a:ext>
              </a:extLst>
            </p:cNvPr>
            <p:cNvSpPr txBox="1">
              <a:spLocks noChangeArrowheads="1"/>
            </p:cNvSpPr>
            <p:nvPr/>
          </p:nvSpPr>
          <p:spPr bwMode="auto">
            <a:xfrm>
              <a:off x="4080" y="3753"/>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a:solidFill>
                    <a:schemeClr val="hlink"/>
                  </a:solidFill>
                </a:rPr>
                <a:t>降维嵌入空间</a:t>
              </a:r>
            </a:p>
          </p:txBody>
        </p:sp>
      </p:grpSp>
      <p:sp>
        <p:nvSpPr>
          <p:cNvPr id="527376" name="AutoShape 16">
            <a:extLst>
              <a:ext uri="{FF2B5EF4-FFF2-40B4-BE49-F238E27FC236}">
                <a16:creationId xmlns:a16="http://schemas.microsoft.com/office/drawing/2014/main" id="{2E7B7D26-9065-4565-972D-1F814897C39D}"/>
              </a:ext>
            </a:extLst>
          </p:cNvPr>
          <p:cNvSpPr>
            <a:spLocks noChangeArrowheads="1"/>
          </p:cNvSpPr>
          <p:nvPr/>
        </p:nvSpPr>
        <p:spPr bwMode="auto">
          <a:xfrm>
            <a:off x="2590800" y="3352800"/>
            <a:ext cx="546100" cy="646113"/>
          </a:xfrm>
          <a:prstGeom prst="rightArrow">
            <a:avLst>
              <a:gd name="adj1" fmla="val 50000"/>
              <a:gd name="adj2" fmla="val 25000"/>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527377" name="AutoShape 17">
            <a:extLst>
              <a:ext uri="{FF2B5EF4-FFF2-40B4-BE49-F238E27FC236}">
                <a16:creationId xmlns:a16="http://schemas.microsoft.com/office/drawing/2014/main" id="{6E9FF9C2-252A-42FD-B91D-C37F87F3DC29}"/>
              </a:ext>
            </a:extLst>
          </p:cNvPr>
          <p:cNvSpPr>
            <a:spLocks noChangeArrowheads="1"/>
          </p:cNvSpPr>
          <p:nvPr/>
        </p:nvSpPr>
        <p:spPr bwMode="auto">
          <a:xfrm>
            <a:off x="5549900" y="3352800"/>
            <a:ext cx="546100" cy="646113"/>
          </a:xfrm>
          <a:prstGeom prst="rightArrow">
            <a:avLst>
              <a:gd name="adj1" fmla="val 50000"/>
              <a:gd name="adj2" fmla="val 25000"/>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par>
                          <p:cTn id="8" fill="hold" nodeType="afterGroup">
                            <p:stCondLst>
                              <p:cond delay="500"/>
                            </p:stCondLst>
                            <p:childTnLst>
                              <p:par>
                                <p:cTn id="9" presetID="17" presetClass="entr" presetSubtype="8" fill="hold" nodeType="afterEffect">
                                  <p:stCondLst>
                                    <p:cond delay="500"/>
                                  </p:stCondLst>
                                  <p:childTnLst>
                                    <p:set>
                                      <p:cBhvr>
                                        <p:cTn id="10" dur="1" fill="hold">
                                          <p:stCondLst>
                                            <p:cond delay="0"/>
                                          </p:stCondLst>
                                        </p:cTn>
                                        <p:tgtEl>
                                          <p:spTgt spid="527376"/>
                                        </p:tgtEl>
                                        <p:attrNameLst>
                                          <p:attrName>style.visibility</p:attrName>
                                        </p:attrNameLst>
                                      </p:cBhvr>
                                      <p:to>
                                        <p:strVal val="visible"/>
                                      </p:to>
                                    </p:set>
                                    <p:anim calcmode="lin" valueType="num">
                                      <p:cBhvr>
                                        <p:cTn id="11" dur="500" fill="hold"/>
                                        <p:tgtEl>
                                          <p:spTgt spid="527376"/>
                                        </p:tgtEl>
                                        <p:attrNameLst>
                                          <p:attrName>ppt_x</p:attrName>
                                        </p:attrNameLst>
                                      </p:cBhvr>
                                      <p:tavLst>
                                        <p:tav tm="0">
                                          <p:val>
                                            <p:strVal val="#ppt_x-#ppt_w/2"/>
                                          </p:val>
                                        </p:tav>
                                        <p:tav tm="100000">
                                          <p:val>
                                            <p:strVal val="#ppt_x"/>
                                          </p:val>
                                        </p:tav>
                                      </p:tavLst>
                                    </p:anim>
                                    <p:anim calcmode="lin" valueType="num">
                                      <p:cBhvr>
                                        <p:cTn id="12" dur="500" fill="hold"/>
                                        <p:tgtEl>
                                          <p:spTgt spid="527376"/>
                                        </p:tgtEl>
                                        <p:attrNameLst>
                                          <p:attrName>ppt_y</p:attrName>
                                        </p:attrNameLst>
                                      </p:cBhvr>
                                      <p:tavLst>
                                        <p:tav tm="0">
                                          <p:val>
                                            <p:strVal val="#ppt_y"/>
                                          </p:val>
                                        </p:tav>
                                        <p:tav tm="100000">
                                          <p:val>
                                            <p:strVal val="#ppt_y"/>
                                          </p:val>
                                        </p:tav>
                                      </p:tavLst>
                                    </p:anim>
                                    <p:anim calcmode="lin" valueType="num">
                                      <p:cBhvr>
                                        <p:cTn id="13" dur="500" fill="hold"/>
                                        <p:tgtEl>
                                          <p:spTgt spid="527376"/>
                                        </p:tgtEl>
                                        <p:attrNameLst>
                                          <p:attrName>ppt_w</p:attrName>
                                        </p:attrNameLst>
                                      </p:cBhvr>
                                      <p:tavLst>
                                        <p:tav tm="0">
                                          <p:val>
                                            <p:fltVal val="0"/>
                                          </p:val>
                                        </p:tav>
                                        <p:tav tm="100000">
                                          <p:val>
                                            <p:strVal val="#ppt_w"/>
                                          </p:val>
                                        </p:tav>
                                      </p:tavLst>
                                    </p:anim>
                                    <p:anim calcmode="lin" valueType="num">
                                      <p:cBhvr>
                                        <p:cTn id="14" dur="500" fill="hold"/>
                                        <p:tgtEl>
                                          <p:spTgt spid="527376"/>
                                        </p:tgtEl>
                                        <p:attrNameLst>
                                          <p:attrName>ppt_h</p:attrName>
                                        </p:attrNameLst>
                                      </p:cBhvr>
                                      <p:tavLst>
                                        <p:tav tm="0">
                                          <p:val>
                                            <p:strVal val="#ppt_h"/>
                                          </p:val>
                                        </p:tav>
                                        <p:tav tm="100000">
                                          <p:val>
                                            <p:strVal val="#ppt_h"/>
                                          </p:val>
                                        </p:tav>
                                      </p:tavLst>
                                    </p:anim>
                                  </p:childTnLst>
                                </p:cTn>
                              </p:par>
                            </p:childTnLst>
                          </p:cTn>
                        </p:par>
                        <p:par>
                          <p:cTn id="15" fill="hold" nodeType="afterGroup">
                            <p:stCondLst>
                              <p:cond delay="1500"/>
                            </p:stCondLst>
                            <p:childTnLst>
                              <p:par>
                                <p:cTn id="16" presetID="5"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checkerboard(across)">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nodeType="clickEffect">
                                  <p:stCondLst>
                                    <p:cond delay="0"/>
                                  </p:stCondLst>
                                  <p:childTnLst>
                                    <p:set>
                                      <p:cBhvr>
                                        <p:cTn id="22" dur="1" fill="hold">
                                          <p:stCondLst>
                                            <p:cond delay="0"/>
                                          </p:stCondLst>
                                        </p:cTn>
                                        <p:tgtEl>
                                          <p:spTgt spid="527377"/>
                                        </p:tgtEl>
                                        <p:attrNameLst>
                                          <p:attrName>style.visibility</p:attrName>
                                        </p:attrNameLst>
                                      </p:cBhvr>
                                      <p:to>
                                        <p:strVal val="visible"/>
                                      </p:to>
                                    </p:set>
                                    <p:anim calcmode="lin" valueType="num">
                                      <p:cBhvr>
                                        <p:cTn id="23" dur="500" fill="hold"/>
                                        <p:tgtEl>
                                          <p:spTgt spid="527377"/>
                                        </p:tgtEl>
                                        <p:attrNameLst>
                                          <p:attrName>ppt_x</p:attrName>
                                        </p:attrNameLst>
                                      </p:cBhvr>
                                      <p:tavLst>
                                        <p:tav tm="0">
                                          <p:val>
                                            <p:strVal val="#ppt_x-#ppt_w/2"/>
                                          </p:val>
                                        </p:tav>
                                        <p:tav tm="100000">
                                          <p:val>
                                            <p:strVal val="#ppt_x"/>
                                          </p:val>
                                        </p:tav>
                                      </p:tavLst>
                                    </p:anim>
                                    <p:anim calcmode="lin" valueType="num">
                                      <p:cBhvr>
                                        <p:cTn id="24" dur="500" fill="hold"/>
                                        <p:tgtEl>
                                          <p:spTgt spid="527377"/>
                                        </p:tgtEl>
                                        <p:attrNameLst>
                                          <p:attrName>ppt_y</p:attrName>
                                        </p:attrNameLst>
                                      </p:cBhvr>
                                      <p:tavLst>
                                        <p:tav tm="0">
                                          <p:val>
                                            <p:strVal val="#ppt_y"/>
                                          </p:val>
                                        </p:tav>
                                        <p:tav tm="100000">
                                          <p:val>
                                            <p:strVal val="#ppt_y"/>
                                          </p:val>
                                        </p:tav>
                                      </p:tavLst>
                                    </p:anim>
                                    <p:anim calcmode="lin" valueType="num">
                                      <p:cBhvr>
                                        <p:cTn id="25" dur="500" fill="hold"/>
                                        <p:tgtEl>
                                          <p:spTgt spid="527377"/>
                                        </p:tgtEl>
                                        <p:attrNameLst>
                                          <p:attrName>ppt_w</p:attrName>
                                        </p:attrNameLst>
                                      </p:cBhvr>
                                      <p:tavLst>
                                        <p:tav tm="0">
                                          <p:val>
                                            <p:fltVal val="0"/>
                                          </p:val>
                                        </p:tav>
                                        <p:tav tm="100000">
                                          <p:val>
                                            <p:strVal val="#ppt_w"/>
                                          </p:val>
                                        </p:tav>
                                      </p:tavLst>
                                    </p:anim>
                                    <p:anim calcmode="lin" valueType="num">
                                      <p:cBhvr>
                                        <p:cTn id="26" dur="500" fill="hold"/>
                                        <p:tgtEl>
                                          <p:spTgt spid="527377"/>
                                        </p:tgtEl>
                                        <p:attrNameLst>
                                          <p:attrName>ppt_h</p:attrName>
                                        </p:attrNameLst>
                                      </p:cBhvr>
                                      <p:tavLst>
                                        <p:tav tm="0">
                                          <p:val>
                                            <p:strVal val="#ppt_h"/>
                                          </p:val>
                                        </p:tav>
                                        <p:tav tm="100000">
                                          <p:val>
                                            <p:strVal val="#ppt_h"/>
                                          </p:val>
                                        </p:tav>
                                      </p:tavLst>
                                    </p:anim>
                                  </p:childTnLst>
                                </p:cTn>
                              </p:par>
                            </p:childTnLst>
                          </p:cTn>
                        </p:par>
                        <p:par>
                          <p:cTn id="27" fill="hold" nodeType="afterGroup">
                            <p:stCondLst>
                              <p:cond delay="500"/>
                            </p:stCondLst>
                            <p:childTnLst>
                              <p:par>
                                <p:cTn id="28" presetID="5" presetClass="entr" presetSubtype="10"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heckerboard(across)">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76" grpId="0" animBg="1"/>
      <p:bldP spid="527377"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灯片编号占位符 3">
            <a:extLst>
              <a:ext uri="{FF2B5EF4-FFF2-40B4-BE49-F238E27FC236}">
                <a16:creationId xmlns:a16="http://schemas.microsoft.com/office/drawing/2014/main" id="{3E0883A6-7ABA-4573-87B1-45D2ACB354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7FBA0E0-E1C0-4F79-83C5-005E34129741}" type="slidenum">
              <a:rPr lang="en-US" altLang="zh-CN" sz="1000" smtClean="0">
                <a:ea typeface="宋体" panose="02010600030101010101" pitchFamily="2" charset="-122"/>
              </a:rPr>
              <a:pPr>
                <a:spcBef>
                  <a:spcPct val="0"/>
                </a:spcBef>
                <a:buClrTx/>
                <a:buFontTx/>
                <a:buNone/>
              </a:pPr>
              <a:t>119</a:t>
            </a:fld>
            <a:endParaRPr lang="en-US" altLang="zh-CN" sz="1000">
              <a:ea typeface="宋体" panose="02010600030101010101" pitchFamily="2" charset="-122"/>
            </a:endParaRPr>
          </a:p>
        </p:txBody>
      </p:sp>
      <p:sp>
        <p:nvSpPr>
          <p:cNvPr id="175106" name="Text Box 2">
            <a:extLst>
              <a:ext uri="{FF2B5EF4-FFF2-40B4-BE49-F238E27FC236}">
                <a16:creationId xmlns:a16="http://schemas.microsoft.com/office/drawing/2014/main" id="{7B51A9E7-F90F-4053-A3B5-1772E9AAE046}"/>
              </a:ext>
            </a:extLst>
          </p:cNvPr>
          <p:cNvSpPr txBox="1">
            <a:spLocks noChangeArrowheads="1"/>
          </p:cNvSpPr>
          <p:nvPr/>
        </p:nvSpPr>
        <p:spPr bwMode="auto">
          <a:xfrm>
            <a:off x="381000" y="1524000"/>
            <a:ext cx="83058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 typeface="Wingdings" panose="05000000000000000000" pitchFamily="2" charset="2"/>
              <a:buChar char="Ø"/>
            </a:pPr>
            <a:r>
              <a:rPr lang="zh-CN" altLang="en-US" sz="2400">
                <a:solidFill>
                  <a:srgbClr val="00B050"/>
                </a:solidFill>
              </a:rPr>
              <a:t>局部线性嵌入</a:t>
            </a:r>
            <a:r>
              <a:rPr lang="en-US" altLang="zh-CN" sz="2400" b="1">
                <a:solidFill>
                  <a:srgbClr val="00B050"/>
                </a:solidFill>
                <a:latin typeface="Times New Roman" panose="02020603050405020304" pitchFamily="18" charset="0"/>
                <a:ea typeface="宋体" panose="02010600030101010101" pitchFamily="2" charset="-122"/>
              </a:rPr>
              <a:t>(LLE)</a:t>
            </a:r>
          </a:p>
          <a:p>
            <a:pPr eaLnBrk="1" fontAlgn="t" hangingPunct="1">
              <a:spcBef>
                <a:spcPct val="50000"/>
              </a:spcBef>
              <a:buClrTx/>
              <a:buFontTx/>
              <a:buNone/>
            </a:pPr>
            <a:r>
              <a:rPr lang="en-US" altLang="zh-CN" sz="1800" b="1">
                <a:solidFill>
                  <a:srgbClr val="00B050"/>
                </a:solidFill>
                <a:latin typeface="Times New Roman" panose="02020603050405020304" pitchFamily="18" charset="0"/>
                <a:ea typeface="宋体" panose="02010600030101010101" pitchFamily="2" charset="-122"/>
              </a:rPr>
              <a:t>S. T. Roweis and L. K. Saul. Nonlinear dimensionality reduction by locally linear embedding. </a:t>
            </a:r>
            <a:r>
              <a:rPr lang="en-US" altLang="zh-CN" sz="1800" b="1" i="1">
                <a:solidFill>
                  <a:srgbClr val="00B050"/>
                </a:solidFill>
                <a:latin typeface="Times New Roman" panose="02020603050405020304" pitchFamily="18" charset="0"/>
                <a:ea typeface="宋体" panose="02010600030101010101" pitchFamily="2" charset="-122"/>
              </a:rPr>
              <a:t>Science</a:t>
            </a:r>
            <a:r>
              <a:rPr lang="en-US" altLang="zh-CN" sz="1800" b="1">
                <a:solidFill>
                  <a:srgbClr val="00B050"/>
                </a:solidFill>
                <a:latin typeface="Times New Roman" panose="02020603050405020304" pitchFamily="18" charset="0"/>
                <a:ea typeface="宋体" panose="02010600030101010101" pitchFamily="2" charset="-122"/>
              </a:rPr>
              <a:t>, vol. 290, pp. 2323--2326, 2000.</a:t>
            </a:r>
          </a:p>
          <a:p>
            <a:pPr eaLnBrk="1" fontAlgn="t" hangingPunct="1">
              <a:spcBef>
                <a:spcPct val="50000"/>
              </a:spcBef>
              <a:buClrTx/>
              <a:buFont typeface="Wingdings" panose="05000000000000000000" pitchFamily="2" charset="2"/>
              <a:buChar char="Ø"/>
            </a:pPr>
            <a:r>
              <a:rPr lang="zh-CN" altLang="en-US" sz="2400"/>
              <a:t>拉普拉斯特征映射</a:t>
            </a:r>
            <a:r>
              <a:rPr lang="en-US" altLang="zh-CN" sz="2400" b="1">
                <a:latin typeface="Times New Roman" panose="02020603050405020304" pitchFamily="18" charset="0"/>
                <a:ea typeface="宋体" panose="02010600030101010101" pitchFamily="2" charset="-122"/>
              </a:rPr>
              <a:t>(Laplacian Eigenmap)</a:t>
            </a:r>
          </a:p>
          <a:p>
            <a:pPr eaLnBrk="1" fontAlgn="t" hangingPunct="1">
              <a:spcBef>
                <a:spcPct val="50000"/>
              </a:spcBef>
              <a:buClrTx/>
              <a:buFontTx/>
              <a:buNone/>
            </a:pPr>
            <a:r>
              <a:rPr lang="en-US" altLang="zh-CN" sz="1800" b="1">
                <a:latin typeface="Times New Roman" panose="02020603050405020304" pitchFamily="18" charset="0"/>
                <a:ea typeface="times new roma"/>
                <a:cs typeface="times new roma"/>
              </a:rPr>
              <a:t>M. Belkin, P. Niyogi, Laplacian Eigenmaps for Dimensionality Reduction and Data Representation. </a:t>
            </a:r>
            <a:r>
              <a:rPr lang="en-US" altLang="zh-CN" sz="1800" b="1" i="1">
                <a:latin typeface="Times New Roman" panose="02020603050405020304" pitchFamily="18" charset="0"/>
                <a:ea typeface="宋体" panose="02010600030101010101" pitchFamily="2" charset="-122"/>
              </a:rPr>
              <a:t>Neural Computation,</a:t>
            </a:r>
            <a:r>
              <a:rPr lang="en-US" altLang="zh-CN" sz="1800" b="1">
                <a:latin typeface="Times New Roman" panose="02020603050405020304" pitchFamily="18" charset="0"/>
                <a:ea typeface="宋体" panose="02010600030101010101" pitchFamily="2" charset="-122"/>
              </a:rPr>
              <a:t> </a:t>
            </a:r>
            <a:r>
              <a:rPr lang="en-US" altLang="zh-CN" sz="1800" b="1">
                <a:latin typeface="Times New Roman" panose="02020603050405020304" pitchFamily="18" charset="0"/>
                <a:ea typeface="times new roma"/>
                <a:cs typeface="times new roma"/>
              </a:rPr>
              <a:t>Vol. 15, Issue 6, pp</a:t>
            </a:r>
            <a:r>
              <a:rPr lang="en-US" altLang="zh-CN" sz="1800">
                <a:latin typeface="Times New Roman" panose="02020603050405020304" pitchFamily="18" charset="0"/>
                <a:ea typeface="times new roma"/>
                <a:cs typeface="times new roma"/>
              </a:rPr>
              <a:t>. </a:t>
            </a:r>
            <a:r>
              <a:rPr lang="en-US" altLang="zh-CN" sz="1800" b="1">
                <a:latin typeface="Times New Roman" panose="02020603050405020304" pitchFamily="18" charset="0"/>
                <a:ea typeface="times new roma"/>
                <a:cs typeface="times new roma"/>
              </a:rPr>
              <a:t>1373</a:t>
            </a:r>
            <a:r>
              <a:rPr lang="en-US" altLang="zh-CN" sz="1800">
                <a:latin typeface="Times New Roman" panose="02020603050405020304" pitchFamily="18" charset="0"/>
                <a:ea typeface="times new roma"/>
                <a:cs typeface="times new roma"/>
              </a:rPr>
              <a:t> –</a:t>
            </a:r>
            <a:r>
              <a:rPr lang="en-US" altLang="zh-CN" sz="1800" b="1">
                <a:latin typeface="Times New Roman" panose="02020603050405020304" pitchFamily="18" charset="0"/>
                <a:ea typeface="times new roma"/>
                <a:cs typeface="times new roma"/>
              </a:rPr>
              <a:t>1396,</a:t>
            </a:r>
            <a:r>
              <a:rPr lang="en-US" altLang="zh-CN" sz="1800">
                <a:latin typeface="Verdana" panose="020B0604030504040204" pitchFamily="34" charset="0"/>
                <a:ea typeface="times new roma"/>
                <a:cs typeface="times new roma"/>
              </a:rPr>
              <a:t> </a:t>
            </a:r>
            <a:r>
              <a:rPr lang="en-US" altLang="zh-CN" sz="1800" b="1">
                <a:latin typeface="Times New Roman" panose="02020603050405020304" pitchFamily="18" charset="0"/>
                <a:ea typeface="times new roma"/>
                <a:cs typeface="times new roma"/>
              </a:rPr>
              <a:t>2003 .</a:t>
            </a:r>
            <a:r>
              <a:rPr lang="en-US" altLang="zh-CN" sz="1800">
                <a:latin typeface="Times New Roman" panose="02020603050405020304" pitchFamily="18" charset="0"/>
                <a:ea typeface="times new roma"/>
                <a:cs typeface="times new roma"/>
              </a:rPr>
              <a:t> </a:t>
            </a:r>
            <a:endParaRPr lang="en-US" altLang="zh-CN" sz="1800">
              <a:latin typeface="Verdana" panose="020B0604030504040204" pitchFamily="34" charset="0"/>
              <a:ea typeface="times new roma"/>
              <a:cs typeface="times new roma"/>
            </a:endParaRPr>
          </a:p>
          <a:p>
            <a:pPr eaLnBrk="1" fontAlgn="t" hangingPunct="1">
              <a:spcBef>
                <a:spcPct val="50000"/>
              </a:spcBef>
              <a:buClrTx/>
              <a:buFontTx/>
              <a:buNone/>
            </a:pPr>
            <a:endParaRPr lang="en-US" altLang="zh-CN" sz="1800" b="1">
              <a:latin typeface="Times New Roman" panose="02020603050405020304" pitchFamily="18" charset="0"/>
              <a:ea typeface="宋体" panose="02010600030101010101" pitchFamily="2" charset="-122"/>
            </a:endParaRPr>
          </a:p>
        </p:txBody>
      </p:sp>
      <p:sp>
        <p:nvSpPr>
          <p:cNvPr id="175107" name="Rectangle 3">
            <a:extLst>
              <a:ext uri="{FF2B5EF4-FFF2-40B4-BE49-F238E27FC236}">
                <a16:creationId xmlns:a16="http://schemas.microsoft.com/office/drawing/2014/main" id="{859C5E76-AA40-46F4-AC81-0C06CB1B12E6}"/>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3800">
                <a:solidFill>
                  <a:schemeClr val="tx2"/>
                </a:solidFill>
              </a:rPr>
              <a:t>重点介绍的几个方法</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灯片编号占位符 6">
            <a:extLst>
              <a:ext uri="{FF2B5EF4-FFF2-40B4-BE49-F238E27FC236}">
                <a16:creationId xmlns:a16="http://schemas.microsoft.com/office/drawing/2014/main" id="{F92F63A9-0F5B-4826-9059-86959127D3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9CEF485-168D-4C4B-8200-8E0D670F85C8}" type="slidenum">
              <a:rPr lang="en-US" altLang="zh-CN" sz="1000" smtClean="0">
                <a:ea typeface="宋体" panose="02010600030101010101" pitchFamily="2" charset="-122"/>
              </a:rPr>
              <a:pPr>
                <a:spcBef>
                  <a:spcPct val="0"/>
                </a:spcBef>
                <a:buClrTx/>
                <a:buFontTx/>
                <a:buNone/>
              </a:pPr>
              <a:t>120</a:t>
            </a:fld>
            <a:endParaRPr lang="en-US" altLang="zh-CN" sz="1000">
              <a:ea typeface="宋体" panose="02010600030101010101" pitchFamily="2" charset="-122"/>
            </a:endParaRPr>
          </a:p>
        </p:txBody>
      </p:sp>
      <p:sp>
        <p:nvSpPr>
          <p:cNvPr id="176130" name="Rectangle 2">
            <a:extLst>
              <a:ext uri="{FF2B5EF4-FFF2-40B4-BE49-F238E27FC236}">
                <a16:creationId xmlns:a16="http://schemas.microsoft.com/office/drawing/2014/main" id="{441C63F1-D3BA-448D-A2F8-FB57BD0DB421}"/>
              </a:ext>
            </a:extLst>
          </p:cNvPr>
          <p:cNvSpPr>
            <a:spLocks noGrp="1" noChangeArrowheads="1"/>
          </p:cNvSpPr>
          <p:nvPr>
            <p:ph type="title"/>
          </p:nvPr>
        </p:nvSpPr>
        <p:spPr/>
        <p:txBody>
          <a:bodyPr/>
          <a:lstStyle/>
          <a:p>
            <a:pPr eaLnBrk="1" hangingPunct="1"/>
            <a:r>
              <a:rPr lang="zh-CN" altLang="en-US"/>
              <a:t>代表性算法</a:t>
            </a:r>
            <a:r>
              <a:rPr lang="en-US" altLang="zh-CN"/>
              <a:t>-1</a:t>
            </a:r>
          </a:p>
        </p:txBody>
      </p:sp>
      <p:sp>
        <p:nvSpPr>
          <p:cNvPr id="176131" name="Rectangle 3">
            <a:extLst>
              <a:ext uri="{FF2B5EF4-FFF2-40B4-BE49-F238E27FC236}">
                <a16:creationId xmlns:a16="http://schemas.microsoft.com/office/drawing/2014/main" id="{90215431-5C3A-4AA7-979A-1A722E626770}"/>
              </a:ext>
            </a:extLst>
          </p:cNvPr>
          <p:cNvSpPr>
            <a:spLocks noGrp="1" noChangeArrowheads="1"/>
          </p:cNvSpPr>
          <p:nvPr>
            <p:ph type="body" sz="half" idx="1"/>
          </p:nvPr>
        </p:nvSpPr>
        <p:spPr>
          <a:xfrm>
            <a:off x="381000" y="1489075"/>
            <a:ext cx="7315200" cy="4530725"/>
          </a:xfrm>
        </p:spPr>
        <p:txBody>
          <a:bodyPr/>
          <a:lstStyle/>
          <a:p>
            <a:pPr eaLnBrk="1" hangingPunct="1"/>
            <a:r>
              <a:rPr lang="en-US" altLang="zh-CN"/>
              <a:t>LLE (Locally linear embedding)</a:t>
            </a:r>
          </a:p>
          <a:p>
            <a:pPr lvl="1" eaLnBrk="1" hangingPunct="1"/>
            <a:r>
              <a:rPr lang="zh-CN" altLang="en-US"/>
              <a:t>显式利用“局部线性”的假设</a:t>
            </a:r>
          </a:p>
          <a:p>
            <a:pPr lvl="1" eaLnBrk="1" hangingPunct="1"/>
            <a:r>
              <a:rPr lang="zh-CN" altLang="en-US"/>
              <a:t>保持</a:t>
            </a:r>
            <a:r>
              <a:rPr lang="zh-CN" altLang="en-US">
                <a:solidFill>
                  <a:srgbClr val="3333FF"/>
                </a:solidFill>
              </a:rPr>
              <a:t>局部</a:t>
            </a:r>
            <a:r>
              <a:rPr lang="zh-CN" altLang="en-US"/>
              <a:t>邻域几何结构 </a:t>
            </a:r>
            <a:r>
              <a:rPr lang="en-US" altLang="zh-CN"/>
              <a:t>– </a:t>
            </a:r>
            <a:r>
              <a:rPr lang="zh-CN" altLang="en-US"/>
              <a:t>重构权重</a:t>
            </a:r>
          </a:p>
          <a:p>
            <a:pPr lvl="1" eaLnBrk="1" hangingPunct="1"/>
            <a:r>
              <a:rPr lang="zh-CN" altLang="en-US"/>
              <a:t>权重对样本集的几何变换具有不变性</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灯片编号占位符 5">
            <a:extLst>
              <a:ext uri="{FF2B5EF4-FFF2-40B4-BE49-F238E27FC236}">
                <a16:creationId xmlns:a16="http://schemas.microsoft.com/office/drawing/2014/main" id="{56874833-DD77-4866-8576-AA97ED3257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02E83F9-5591-45FC-9736-B7123E7656A2}" type="slidenum">
              <a:rPr lang="en-US" altLang="zh-CN" sz="1000" smtClean="0">
                <a:ea typeface="宋体" panose="02010600030101010101" pitchFamily="2" charset="-122"/>
              </a:rPr>
              <a:pPr>
                <a:spcBef>
                  <a:spcPct val="0"/>
                </a:spcBef>
                <a:buClrTx/>
                <a:buFontTx/>
                <a:buNone/>
              </a:pPr>
              <a:t>121</a:t>
            </a:fld>
            <a:endParaRPr lang="en-US" altLang="zh-CN" sz="1000">
              <a:ea typeface="宋体" panose="02010600030101010101" pitchFamily="2" charset="-122"/>
            </a:endParaRPr>
          </a:p>
        </p:txBody>
      </p:sp>
      <p:sp>
        <p:nvSpPr>
          <p:cNvPr id="177154" name="Rectangle 2">
            <a:extLst>
              <a:ext uri="{FF2B5EF4-FFF2-40B4-BE49-F238E27FC236}">
                <a16:creationId xmlns:a16="http://schemas.microsoft.com/office/drawing/2014/main" id="{CB3C9DAD-1742-4C32-8F89-706CFC7F5497}"/>
              </a:ext>
            </a:extLst>
          </p:cNvPr>
          <p:cNvSpPr>
            <a:spLocks noGrp="1" noChangeArrowheads="1"/>
          </p:cNvSpPr>
          <p:nvPr>
            <p:ph type="title"/>
          </p:nvPr>
        </p:nvSpPr>
        <p:spPr/>
        <p:txBody>
          <a:bodyPr/>
          <a:lstStyle/>
          <a:p>
            <a:pPr eaLnBrk="1" hangingPunct="1"/>
            <a:r>
              <a:rPr lang="zh-CN" altLang="en-US"/>
              <a:t>代表性算法</a:t>
            </a:r>
            <a:r>
              <a:rPr lang="en-US" altLang="zh-CN"/>
              <a:t>-1</a:t>
            </a:r>
          </a:p>
        </p:txBody>
      </p:sp>
      <p:sp>
        <p:nvSpPr>
          <p:cNvPr id="177155" name="Rectangle 3">
            <a:extLst>
              <a:ext uri="{FF2B5EF4-FFF2-40B4-BE49-F238E27FC236}">
                <a16:creationId xmlns:a16="http://schemas.microsoft.com/office/drawing/2014/main" id="{52A3AB84-A04D-4205-8E18-72C2D30C3C56}"/>
              </a:ext>
            </a:extLst>
          </p:cNvPr>
          <p:cNvSpPr>
            <a:spLocks noGrp="1" noChangeArrowheads="1"/>
          </p:cNvSpPr>
          <p:nvPr>
            <p:ph type="body" idx="1"/>
          </p:nvPr>
        </p:nvSpPr>
        <p:spPr>
          <a:xfrm>
            <a:off x="457200" y="1447800"/>
            <a:ext cx="8458200" cy="5029200"/>
          </a:xfrm>
        </p:spPr>
        <p:txBody>
          <a:bodyPr/>
          <a:lstStyle/>
          <a:p>
            <a:pPr eaLnBrk="1" hangingPunct="1"/>
            <a:r>
              <a:rPr lang="en-US" altLang="zh-CN"/>
              <a:t>LLE (Locally linear embedding)</a:t>
            </a:r>
          </a:p>
          <a:p>
            <a:pPr lvl="1" eaLnBrk="1" hangingPunct="1"/>
            <a:r>
              <a:rPr lang="zh-CN" altLang="en-US"/>
              <a:t>前提假设</a:t>
            </a:r>
          </a:p>
          <a:p>
            <a:pPr lvl="2" eaLnBrk="1" hangingPunct="1"/>
            <a:r>
              <a:rPr lang="zh-CN" altLang="en-US"/>
              <a:t>采样数据所在的低维流形在局部是线性的</a:t>
            </a:r>
          </a:p>
          <a:p>
            <a:pPr lvl="2" eaLnBrk="1" hangingPunct="1"/>
            <a:r>
              <a:rPr lang="zh-CN" altLang="en-US"/>
              <a:t>每个采样点均可以利用其近邻样本进行线性重构表示</a:t>
            </a:r>
          </a:p>
          <a:p>
            <a:pPr lvl="1" eaLnBrk="1" hangingPunct="1"/>
            <a:r>
              <a:rPr lang="zh-CN" altLang="en-US"/>
              <a:t>学习目标</a:t>
            </a:r>
          </a:p>
          <a:p>
            <a:pPr lvl="2" eaLnBrk="1" hangingPunct="1"/>
            <a:r>
              <a:rPr lang="zh-CN" altLang="en-US"/>
              <a:t>低维空间中保持每个邻域中的重构权值不变</a:t>
            </a:r>
          </a:p>
          <a:p>
            <a:pPr lvl="2" eaLnBrk="1" hangingPunct="1"/>
            <a:r>
              <a:rPr lang="zh-CN" altLang="en-US"/>
              <a:t>在嵌入映射为局部线性的条件下，最小化重构误差</a:t>
            </a:r>
          </a:p>
          <a:p>
            <a:pPr lvl="2" eaLnBrk="1" hangingPunct="1"/>
            <a:r>
              <a:rPr lang="zh-CN" altLang="en-US"/>
              <a:t>最终形式化为特征值分解问题</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灯片编号占位符 5">
            <a:extLst>
              <a:ext uri="{FF2B5EF4-FFF2-40B4-BE49-F238E27FC236}">
                <a16:creationId xmlns:a16="http://schemas.microsoft.com/office/drawing/2014/main" id="{B2610B9F-4D8E-4CFB-B6EA-B45DC7E173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86D9361-A3D0-4FD1-89E9-ED35C780A045}" type="slidenum">
              <a:rPr lang="en-US" altLang="zh-CN" sz="1000" smtClean="0">
                <a:ea typeface="宋体" panose="02010600030101010101" pitchFamily="2" charset="-122"/>
              </a:rPr>
              <a:pPr>
                <a:spcBef>
                  <a:spcPct val="0"/>
                </a:spcBef>
                <a:buClrTx/>
                <a:buFontTx/>
                <a:buNone/>
              </a:pPr>
              <a:t>122</a:t>
            </a:fld>
            <a:endParaRPr lang="en-US" altLang="zh-CN" sz="1000">
              <a:ea typeface="宋体" panose="02010600030101010101" pitchFamily="2" charset="-122"/>
            </a:endParaRPr>
          </a:p>
        </p:txBody>
      </p:sp>
      <p:pic>
        <p:nvPicPr>
          <p:cNvPr id="178178" name="Picture 2">
            <a:extLst>
              <a:ext uri="{FF2B5EF4-FFF2-40B4-BE49-F238E27FC236}">
                <a16:creationId xmlns:a16="http://schemas.microsoft.com/office/drawing/2014/main" id="{2B1565D2-E0CA-466F-B69D-CF0FE900C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1109663"/>
            <a:ext cx="7956550" cy="559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79" name="Text Box 3">
            <a:extLst>
              <a:ext uri="{FF2B5EF4-FFF2-40B4-BE49-F238E27FC236}">
                <a16:creationId xmlns:a16="http://schemas.microsoft.com/office/drawing/2014/main" id="{8F26DA9A-F469-4657-A975-0B5006425D3C}"/>
              </a:ext>
            </a:extLst>
          </p:cNvPr>
          <p:cNvSpPr txBox="1">
            <a:spLocks noChangeArrowheads="1"/>
          </p:cNvSpPr>
          <p:nvPr/>
        </p:nvSpPr>
        <p:spPr bwMode="auto">
          <a:xfrm>
            <a:off x="2771775" y="304800"/>
            <a:ext cx="4343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Tx/>
              <a:buNone/>
            </a:pPr>
            <a:r>
              <a:rPr lang="en-US" altLang="zh-CN" sz="4000" b="1">
                <a:latin typeface="Times New Roman" panose="02020603050405020304" pitchFamily="18" charset="0"/>
                <a:ea typeface="宋体" panose="02010600030101010101" pitchFamily="2" charset="-122"/>
              </a:rPr>
              <a:t>LLE</a:t>
            </a:r>
            <a:r>
              <a:rPr lang="zh-CN" altLang="en-US" sz="4000" b="1">
                <a:latin typeface="Times New Roman" panose="02020603050405020304" pitchFamily="18" charset="0"/>
                <a:ea typeface="宋体" panose="02010600030101010101" pitchFamily="2" charset="-122"/>
              </a:rPr>
              <a:t>算法示意图</a:t>
            </a:r>
          </a:p>
        </p:txBody>
      </p:sp>
      <p:sp>
        <p:nvSpPr>
          <p:cNvPr id="178180" name="文本框 5">
            <a:extLst>
              <a:ext uri="{FF2B5EF4-FFF2-40B4-BE49-F238E27FC236}">
                <a16:creationId xmlns:a16="http://schemas.microsoft.com/office/drawing/2014/main" id="{EC819517-8BAF-468F-AA6A-1F8213379433}"/>
              </a:ext>
            </a:extLst>
          </p:cNvPr>
          <p:cNvSpPr txBox="1">
            <a:spLocks noChangeArrowheads="1"/>
          </p:cNvSpPr>
          <p:nvPr/>
        </p:nvSpPr>
        <p:spPr bwMode="auto">
          <a:xfrm>
            <a:off x="7620000" y="2689225"/>
            <a:ext cx="152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000" b="1">
                <a:solidFill>
                  <a:srgbClr val="121212"/>
                </a:solidFill>
                <a:latin typeface="-apple-system"/>
                <a:ea typeface="宋体" panose="02010600030101010101" pitchFamily="2" charset="-122"/>
              </a:rPr>
              <a:t>高维空间近邻线性重构</a:t>
            </a:r>
            <a:endParaRPr lang="zh-CN" altLang="en-US" sz="2000">
              <a:solidFill>
                <a:schemeClr val="hlink"/>
              </a:solidFill>
              <a:ea typeface="宋体" panose="02010600030101010101" pitchFamily="2" charset="-122"/>
            </a:endParaRPr>
          </a:p>
        </p:txBody>
      </p:sp>
      <p:sp>
        <p:nvSpPr>
          <p:cNvPr id="178181" name="文本框 7">
            <a:extLst>
              <a:ext uri="{FF2B5EF4-FFF2-40B4-BE49-F238E27FC236}">
                <a16:creationId xmlns:a16="http://schemas.microsoft.com/office/drawing/2014/main" id="{5FB13C8F-A240-4307-825C-A49643CE1B29}"/>
              </a:ext>
            </a:extLst>
          </p:cNvPr>
          <p:cNvSpPr txBox="1">
            <a:spLocks noChangeArrowheads="1"/>
          </p:cNvSpPr>
          <p:nvPr/>
        </p:nvSpPr>
        <p:spPr bwMode="auto">
          <a:xfrm>
            <a:off x="5715000" y="5616575"/>
            <a:ext cx="2390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000" b="1">
                <a:solidFill>
                  <a:srgbClr val="121212"/>
                </a:solidFill>
                <a:latin typeface="-apple-system"/>
                <a:ea typeface="宋体" panose="02010600030101010101" pitchFamily="2" charset="-122"/>
              </a:rPr>
              <a:t>低维空间嵌入表示保持近邻关系</a:t>
            </a:r>
            <a:endParaRPr lang="zh-CN" altLang="en-US" sz="2000">
              <a:solidFill>
                <a:schemeClr val="hlink"/>
              </a:solidFill>
              <a:ea typeface="宋体" panose="02010600030101010101" pitchFamily="2" charset="-122"/>
            </a:endParaRPr>
          </a:p>
        </p:txBody>
      </p:sp>
    </p:spTree>
  </p:cSld>
  <p:clrMapOvr>
    <a:masterClrMapping/>
  </p:clrMapOvr>
  <p:transition>
    <p:checke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灯片编号占位符 1">
            <a:extLst>
              <a:ext uri="{FF2B5EF4-FFF2-40B4-BE49-F238E27FC236}">
                <a16:creationId xmlns:a16="http://schemas.microsoft.com/office/drawing/2014/main" id="{8981340E-F495-487F-9EA5-EDC92D9F09B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19E749A-374C-4D3D-9EC9-F67BE4F8A660}" type="slidenum">
              <a:rPr lang="en-US" altLang="zh-CN" sz="1000" smtClean="0">
                <a:ea typeface="宋体" panose="02010600030101010101" pitchFamily="2" charset="-122"/>
              </a:rPr>
              <a:pPr>
                <a:spcBef>
                  <a:spcPct val="0"/>
                </a:spcBef>
                <a:buClrTx/>
                <a:buFontTx/>
                <a:buNone/>
              </a:pPr>
              <a:t>123</a:t>
            </a:fld>
            <a:endParaRPr lang="en-US" altLang="zh-CN" sz="1000">
              <a:ea typeface="宋体" panose="02010600030101010101" pitchFamily="2" charset="-122"/>
            </a:endParaRPr>
          </a:p>
        </p:txBody>
      </p:sp>
      <p:pic>
        <p:nvPicPr>
          <p:cNvPr id="180226" name="图片 3">
            <a:extLst>
              <a:ext uri="{FF2B5EF4-FFF2-40B4-BE49-F238E27FC236}">
                <a16:creationId xmlns:a16="http://schemas.microsoft.com/office/drawing/2014/main" id="{E6289C10-B867-4214-84CF-471864A2E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00213"/>
            <a:ext cx="3810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7" name="图片 4">
            <a:extLst>
              <a:ext uri="{FF2B5EF4-FFF2-40B4-BE49-F238E27FC236}">
                <a16:creationId xmlns:a16="http://schemas.microsoft.com/office/drawing/2014/main" id="{CAF67613-2C1E-4A31-99CF-6237A2B30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3452813"/>
            <a:ext cx="4572000"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8" name="Text Box 2">
            <a:extLst>
              <a:ext uri="{FF2B5EF4-FFF2-40B4-BE49-F238E27FC236}">
                <a16:creationId xmlns:a16="http://schemas.microsoft.com/office/drawing/2014/main" id="{7EEAFDAC-6DEE-4D89-AD84-1BE7FC93B07F}"/>
              </a:ext>
            </a:extLst>
          </p:cNvPr>
          <p:cNvSpPr txBox="1">
            <a:spLocks noChangeArrowheads="1"/>
          </p:cNvSpPr>
          <p:nvPr/>
        </p:nvSpPr>
        <p:spPr bwMode="auto">
          <a:xfrm>
            <a:off x="457200" y="304800"/>
            <a:ext cx="441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Tx/>
              <a:buNone/>
            </a:pPr>
            <a:r>
              <a:rPr lang="en-US" altLang="zh-CN" sz="4000" b="1">
                <a:latin typeface="Times New Roman" panose="02020603050405020304" pitchFamily="18" charset="0"/>
                <a:ea typeface="宋体" panose="02010600030101010101" pitchFamily="2" charset="-122"/>
              </a:rPr>
              <a:t>LLE</a:t>
            </a:r>
            <a:r>
              <a:rPr lang="zh-CN" altLang="en-US" sz="4000" b="1">
                <a:latin typeface="Times New Roman" panose="02020603050405020304" pitchFamily="18" charset="0"/>
                <a:ea typeface="宋体" panose="02010600030101010101" pitchFamily="2" charset="-122"/>
              </a:rPr>
              <a:t>算法流程</a:t>
            </a:r>
            <a:r>
              <a:rPr lang="zh-CN" altLang="en-US" b="1">
                <a:solidFill>
                  <a:schemeClr val="tx2"/>
                </a:solidFill>
                <a:latin typeface="Times New Roman" panose="02020603050405020304" pitchFamily="18" charset="0"/>
                <a:ea typeface="宋体" panose="02010600030101010101" pitchFamily="2" charset="-122"/>
              </a:rPr>
              <a:t>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灯片编号占位符 1">
            <a:extLst>
              <a:ext uri="{FF2B5EF4-FFF2-40B4-BE49-F238E27FC236}">
                <a16:creationId xmlns:a16="http://schemas.microsoft.com/office/drawing/2014/main" id="{D39030F4-DC3E-4B53-B269-ECE0A26C095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1F142357-FC9E-4A25-A219-21642C92B49D}" type="slidenum">
              <a:rPr lang="en-US" altLang="zh-CN" sz="1000" smtClean="0">
                <a:ea typeface="宋体" panose="02010600030101010101" pitchFamily="2" charset="-122"/>
              </a:rPr>
              <a:pPr>
                <a:spcBef>
                  <a:spcPct val="0"/>
                </a:spcBef>
                <a:buClrTx/>
                <a:buFontTx/>
                <a:buNone/>
              </a:pPr>
              <a:t>124</a:t>
            </a:fld>
            <a:endParaRPr lang="en-US" altLang="zh-CN" sz="1000">
              <a:ea typeface="宋体" panose="02010600030101010101" pitchFamily="2" charset="-122"/>
            </a:endParaRPr>
          </a:p>
        </p:txBody>
      </p:sp>
      <p:pic>
        <p:nvPicPr>
          <p:cNvPr id="6" name="图片 5">
            <a:extLst>
              <a:ext uri="{FF2B5EF4-FFF2-40B4-BE49-F238E27FC236}">
                <a16:creationId xmlns:a16="http://schemas.microsoft.com/office/drawing/2014/main" id="{9F94D4F6-583F-4EEB-84EE-575A6176E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1200"/>
            <a:ext cx="312420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51" name="图片 2">
            <a:extLst>
              <a:ext uri="{FF2B5EF4-FFF2-40B4-BE49-F238E27FC236}">
                <a16:creationId xmlns:a16="http://schemas.microsoft.com/office/drawing/2014/main" id="{D6149567-B97D-4443-8983-B130E0392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
            <a:ext cx="62484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7AE88F1-9A19-4683-A8B2-9CEAD090E7C4}"/>
              </a:ext>
            </a:extLst>
          </p:cNvPr>
          <p:cNvSpPr txBox="1">
            <a:spLocks noChangeArrowheads="1"/>
          </p:cNvSpPr>
          <p:nvPr/>
        </p:nvSpPr>
        <p:spPr bwMode="auto">
          <a:xfrm>
            <a:off x="1219200" y="1600200"/>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zh-CN" altLang="en-US" sz="2000">
                <a:solidFill>
                  <a:schemeClr val="hlink"/>
                </a:solidFill>
                <a:ea typeface="宋体" panose="02010600030101010101" pitchFamily="2" charset="-122"/>
              </a:rPr>
              <a:t>矩阵表达</a:t>
            </a:r>
          </a:p>
        </p:txBody>
      </p:sp>
      <p:pic>
        <p:nvPicPr>
          <p:cNvPr id="8" name="图片 7">
            <a:extLst>
              <a:ext uri="{FF2B5EF4-FFF2-40B4-BE49-F238E27FC236}">
                <a16:creationId xmlns:a16="http://schemas.microsoft.com/office/drawing/2014/main" id="{CAD1C6E4-8C10-4EDB-B6CB-C384712029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1575" y="1566863"/>
            <a:ext cx="312420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54" name="右箭头 8">
            <a:extLst>
              <a:ext uri="{FF2B5EF4-FFF2-40B4-BE49-F238E27FC236}">
                <a16:creationId xmlns:a16="http://schemas.microsoft.com/office/drawing/2014/main" id="{DA34992C-432C-491E-A60C-1BF0436F9F66}"/>
              </a:ext>
            </a:extLst>
          </p:cNvPr>
          <p:cNvSpPr>
            <a:spLocks noChangeArrowheads="1"/>
          </p:cNvSpPr>
          <p:nvPr/>
        </p:nvSpPr>
        <p:spPr bwMode="auto">
          <a:xfrm>
            <a:off x="4191000" y="1371600"/>
            <a:ext cx="1066800" cy="428625"/>
          </a:xfrm>
          <a:prstGeom prst="rightArrow">
            <a:avLst>
              <a:gd name="adj1" fmla="val 50000"/>
              <a:gd name="adj2" fmla="val 5000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nchor="ct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2000">
              <a:solidFill>
                <a:schemeClr val="hlink"/>
              </a:solidFill>
              <a:ea typeface="宋体" panose="02010600030101010101" pitchFamily="2" charset="-122"/>
            </a:endParaRPr>
          </a:p>
        </p:txBody>
      </p:sp>
      <p:sp>
        <p:nvSpPr>
          <p:cNvPr id="10" name="下箭头 9">
            <a:extLst>
              <a:ext uri="{FF2B5EF4-FFF2-40B4-BE49-F238E27FC236}">
                <a16:creationId xmlns:a16="http://schemas.microsoft.com/office/drawing/2014/main" id="{3C77C860-0164-41A6-829E-073A7969F163}"/>
              </a:ext>
            </a:extLst>
          </p:cNvPr>
          <p:cNvSpPr/>
          <p:nvPr/>
        </p:nvSpPr>
        <p:spPr bwMode="auto">
          <a:xfrm rot="18569565">
            <a:off x="4728369" y="1000919"/>
            <a:ext cx="269875" cy="849313"/>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pic>
        <p:nvPicPr>
          <p:cNvPr id="11" name="图片 10">
            <a:extLst>
              <a:ext uri="{FF2B5EF4-FFF2-40B4-BE49-F238E27FC236}">
                <a16:creationId xmlns:a16="http://schemas.microsoft.com/office/drawing/2014/main" id="{F51F0ECB-D61C-4C76-8DE9-16E394F2BB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3586163"/>
            <a:ext cx="6869113" cy="177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下箭头 11">
            <a:extLst>
              <a:ext uri="{FF2B5EF4-FFF2-40B4-BE49-F238E27FC236}">
                <a16:creationId xmlns:a16="http://schemas.microsoft.com/office/drawing/2014/main" id="{ECA4AEA6-286B-4689-9051-ED997AFE759B}"/>
              </a:ext>
            </a:extLst>
          </p:cNvPr>
          <p:cNvSpPr/>
          <p:nvPr/>
        </p:nvSpPr>
        <p:spPr bwMode="auto">
          <a:xfrm>
            <a:off x="3910013" y="3163888"/>
            <a:ext cx="561975" cy="530225"/>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ln>
                <a:solidFill>
                  <a:sysClr val="windowText" lastClr="000000"/>
                </a:solidFill>
              </a:ln>
            </a:endParaRPr>
          </a:p>
        </p:txBody>
      </p:sp>
      <p:pic>
        <p:nvPicPr>
          <p:cNvPr id="13" name="图片 12">
            <a:extLst>
              <a:ext uri="{FF2B5EF4-FFF2-40B4-BE49-F238E27FC236}">
                <a16:creationId xmlns:a16="http://schemas.microsoft.com/office/drawing/2014/main" id="{63940327-6E4F-4E31-9770-D92E54EF55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5638800"/>
            <a:ext cx="30099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下箭头 13">
            <a:extLst>
              <a:ext uri="{FF2B5EF4-FFF2-40B4-BE49-F238E27FC236}">
                <a16:creationId xmlns:a16="http://schemas.microsoft.com/office/drawing/2014/main" id="{C37CBE44-CB05-4312-AB23-618FE1B07D20}"/>
              </a:ext>
            </a:extLst>
          </p:cNvPr>
          <p:cNvSpPr/>
          <p:nvPr/>
        </p:nvSpPr>
        <p:spPr bwMode="auto">
          <a:xfrm>
            <a:off x="4367213" y="5256213"/>
            <a:ext cx="409575" cy="317500"/>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ln>
                <a:solidFill>
                  <a:sysClr val="windowText" lastClr="000000"/>
                </a:solidFill>
              </a:ln>
            </a:endParaRPr>
          </a:p>
        </p:txBody>
      </p:sp>
      <p:pic>
        <p:nvPicPr>
          <p:cNvPr id="15" name="图片 14">
            <a:extLst>
              <a:ext uri="{FF2B5EF4-FFF2-40B4-BE49-F238E27FC236}">
                <a16:creationId xmlns:a16="http://schemas.microsoft.com/office/drawing/2014/main" id="{FE0688EE-08D2-4211-B14F-539F9A93CD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6303963"/>
            <a:ext cx="387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下箭头 15">
            <a:extLst>
              <a:ext uri="{FF2B5EF4-FFF2-40B4-BE49-F238E27FC236}">
                <a16:creationId xmlns:a16="http://schemas.microsoft.com/office/drawing/2014/main" id="{A16E1B7F-1540-491C-AB2B-70AC3DC08D2B}"/>
              </a:ext>
            </a:extLst>
          </p:cNvPr>
          <p:cNvSpPr/>
          <p:nvPr/>
        </p:nvSpPr>
        <p:spPr bwMode="auto">
          <a:xfrm>
            <a:off x="4387850" y="6045200"/>
            <a:ext cx="411163" cy="317500"/>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ln>
                <a:solidFill>
                  <a:sysClr val="windowText" lastClr="00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2" grpId="0" animBg="1"/>
      <p:bldP spid="14" grpId="0" animBg="1"/>
      <p:bldP spid="1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灯片编号占位符 3">
            <a:extLst>
              <a:ext uri="{FF2B5EF4-FFF2-40B4-BE49-F238E27FC236}">
                <a16:creationId xmlns:a16="http://schemas.microsoft.com/office/drawing/2014/main" id="{D726771F-F366-4ABF-AA3C-A58F4A52A8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B1D58B14-3E9B-4824-9E98-064EB6A4A2C5}" type="slidenum">
              <a:rPr lang="en-US" altLang="zh-CN" sz="1000" smtClean="0">
                <a:ea typeface="宋体" panose="02010600030101010101" pitchFamily="2" charset="-122"/>
              </a:rPr>
              <a:pPr>
                <a:spcBef>
                  <a:spcPct val="0"/>
                </a:spcBef>
                <a:buClrTx/>
                <a:buFontTx/>
                <a:buNone/>
              </a:pPr>
              <a:t>125</a:t>
            </a:fld>
            <a:endParaRPr lang="en-US" altLang="zh-CN" sz="1000">
              <a:ea typeface="宋体" panose="02010600030101010101" pitchFamily="2" charset="-122"/>
            </a:endParaRPr>
          </a:p>
        </p:txBody>
      </p:sp>
      <p:pic>
        <p:nvPicPr>
          <p:cNvPr id="183298" name="图片 1">
            <a:extLst>
              <a:ext uri="{FF2B5EF4-FFF2-40B4-BE49-F238E27FC236}">
                <a16:creationId xmlns:a16="http://schemas.microsoft.com/office/drawing/2014/main" id="{C4B9E397-253F-44DB-B549-6D3EF5EEE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600200"/>
            <a:ext cx="29845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299" name="图片 12">
            <a:extLst>
              <a:ext uri="{FF2B5EF4-FFF2-40B4-BE49-F238E27FC236}">
                <a16:creationId xmlns:a16="http://schemas.microsoft.com/office/drawing/2014/main" id="{0718D1F5-6F67-46F9-963A-B280DCC2F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685800"/>
            <a:ext cx="3873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0" name="文本框 13">
            <a:extLst>
              <a:ext uri="{FF2B5EF4-FFF2-40B4-BE49-F238E27FC236}">
                <a16:creationId xmlns:a16="http://schemas.microsoft.com/office/drawing/2014/main" id="{D7C8D2EB-51E1-4EC8-A7F3-6196CEC5EF82}"/>
              </a:ext>
            </a:extLst>
          </p:cNvPr>
          <p:cNvSpPr txBox="1">
            <a:spLocks noChangeArrowheads="1"/>
          </p:cNvSpPr>
          <p:nvPr/>
        </p:nvSpPr>
        <p:spPr bwMode="auto">
          <a:xfrm>
            <a:off x="1371600" y="1676400"/>
            <a:ext cx="696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kumimoji="1" lang="zh-CN" altLang="en-US" sz="2000">
                <a:solidFill>
                  <a:schemeClr val="hlink"/>
                </a:solidFill>
                <a:ea typeface="宋体" panose="02010600030101010101" pitchFamily="2" charset="-122"/>
              </a:rPr>
              <a:t>求导</a:t>
            </a:r>
          </a:p>
        </p:txBody>
      </p:sp>
      <p:pic>
        <p:nvPicPr>
          <p:cNvPr id="3" name="图片 2">
            <a:extLst>
              <a:ext uri="{FF2B5EF4-FFF2-40B4-BE49-F238E27FC236}">
                <a16:creationId xmlns:a16="http://schemas.microsoft.com/office/drawing/2014/main" id="{9AF0F249-57F3-456A-BBF5-D4241ED216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638" y="3287713"/>
            <a:ext cx="5791200"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灯片编号占位符 3">
            <a:extLst>
              <a:ext uri="{FF2B5EF4-FFF2-40B4-BE49-F238E27FC236}">
                <a16:creationId xmlns:a16="http://schemas.microsoft.com/office/drawing/2014/main" id="{18590684-4AD0-45AE-A13D-2D6CBB6A624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E5D2A5A-3873-4ACF-AF8A-88DE5642AB61}" type="slidenum">
              <a:rPr lang="en-US" altLang="zh-CN" sz="1000" smtClean="0">
                <a:ea typeface="宋体" panose="02010600030101010101" pitchFamily="2" charset="-122"/>
              </a:rPr>
              <a:pPr>
                <a:spcBef>
                  <a:spcPct val="0"/>
                </a:spcBef>
                <a:buClrTx/>
                <a:buFontTx/>
                <a:buNone/>
              </a:pPr>
              <a:t>126</a:t>
            </a:fld>
            <a:endParaRPr lang="en-US" altLang="zh-CN" sz="1000">
              <a:ea typeface="宋体" panose="02010600030101010101" pitchFamily="2" charset="-122"/>
            </a:endParaRPr>
          </a:p>
        </p:txBody>
      </p:sp>
      <p:pic>
        <p:nvPicPr>
          <p:cNvPr id="184322" name="图片 3">
            <a:extLst>
              <a:ext uri="{FF2B5EF4-FFF2-40B4-BE49-F238E27FC236}">
                <a16:creationId xmlns:a16="http://schemas.microsoft.com/office/drawing/2014/main" id="{8C37A7EF-1309-4895-B42E-21B3DC163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04800"/>
            <a:ext cx="5029200"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1116D61B-CEC0-41CF-A340-4405357937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 y="2898775"/>
            <a:ext cx="4443413" cy="1506538"/>
          </a:xfrm>
          <a:prstGeom prst="rect">
            <a:avLst/>
          </a:prstGeom>
          <a:noFill/>
          <a:ln w="9525">
            <a:solidFill>
              <a:srgbClr val="5959FF"/>
            </a:solidFill>
            <a:miter lim="800000"/>
            <a:headEnd/>
            <a:tailEnd/>
          </a:ln>
          <a:extLst>
            <a:ext uri="{909E8E84-426E-40DD-AFC4-6F175D3DCCD1}">
              <a14:hiddenFill xmlns:a14="http://schemas.microsoft.com/office/drawing/2010/main">
                <a:solidFill>
                  <a:srgbClr val="FFFFFF"/>
                </a:solidFill>
              </a14:hiddenFill>
            </a:ext>
          </a:extLst>
        </p:spPr>
      </p:pic>
      <p:sp>
        <p:nvSpPr>
          <p:cNvPr id="9" name="下箭头 8">
            <a:extLst>
              <a:ext uri="{FF2B5EF4-FFF2-40B4-BE49-F238E27FC236}">
                <a16:creationId xmlns:a16="http://schemas.microsoft.com/office/drawing/2014/main" id="{307790BB-3DC6-431C-8CB2-A11A76240E82}"/>
              </a:ext>
            </a:extLst>
          </p:cNvPr>
          <p:cNvSpPr/>
          <p:nvPr/>
        </p:nvSpPr>
        <p:spPr bwMode="auto">
          <a:xfrm>
            <a:off x="3986213" y="2133600"/>
            <a:ext cx="409575" cy="319088"/>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ln>
                <a:solidFill>
                  <a:sysClr val="windowText" lastClr="000000"/>
                </a:solidFill>
              </a:ln>
            </a:endParaRPr>
          </a:p>
        </p:txBody>
      </p:sp>
      <p:pic>
        <p:nvPicPr>
          <p:cNvPr id="6" name="图片 5">
            <a:extLst>
              <a:ext uri="{FF2B5EF4-FFF2-40B4-BE49-F238E27FC236}">
                <a16:creationId xmlns:a16="http://schemas.microsoft.com/office/drawing/2014/main" id="{B956C3A1-4CB0-4164-B8BF-15E5BFC1B10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916488" y="2438400"/>
            <a:ext cx="4075112" cy="2219325"/>
          </a:xfrm>
          <a:prstGeom prst="rect">
            <a:avLst/>
          </a:prstGeom>
          <a:noFill/>
          <a:ln w="9525">
            <a:solidFill>
              <a:srgbClr val="5959FF"/>
            </a:solidFill>
            <a:miter lim="800000"/>
            <a:headEnd/>
            <a:tailEnd/>
          </a:ln>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732FBF3E-6388-4AF4-82F0-61A10E1FC5D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5038725"/>
            <a:ext cx="2895600" cy="1703388"/>
          </a:xfrm>
          <a:prstGeom prst="rect">
            <a:avLst/>
          </a:prstGeom>
          <a:noFill/>
          <a:ln w="9525">
            <a:solidFill>
              <a:srgbClr val="5959FF"/>
            </a:solidFill>
            <a:miter lim="800000"/>
            <a:headEnd/>
            <a:tailEnd/>
          </a:ln>
          <a:extLst>
            <a:ext uri="{909E8E84-426E-40DD-AFC4-6F175D3DCCD1}">
              <a14:hiddenFill xmlns:a14="http://schemas.microsoft.com/office/drawing/2010/main">
                <a:solidFill>
                  <a:srgbClr val="FFFFFF"/>
                </a:solidFill>
              </a14:hiddenFill>
            </a:ext>
          </a:extLst>
        </p:spPr>
      </p:pic>
      <p:sp>
        <p:nvSpPr>
          <p:cNvPr id="8" name="右箭头 7">
            <a:extLst>
              <a:ext uri="{FF2B5EF4-FFF2-40B4-BE49-F238E27FC236}">
                <a16:creationId xmlns:a16="http://schemas.microsoft.com/office/drawing/2014/main" id="{F42AED84-F5DA-4C62-B539-DA274887C3BF}"/>
              </a:ext>
            </a:extLst>
          </p:cNvPr>
          <p:cNvSpPr/>
          <p:nvPr/>
        </p:nvSpPr>
        <p:spPr bwMode="auto">
          <a:xfrm>
            <a:off x="4594225" y="3463925"/>
            <a:ext cx="228600" cy="228600"/>
          </a:xfrm>
          <a:prstGeom prst="right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sp>
        <p:nvSpPr>
          <p:cNvPr id="15" name="下箭头 14">
            <a:extLst>
              <a:ext uri="{FF2B5EF4-FFF2-40B4-BE49-F238E27FC236}">
                <a16:creationId xmlns:a16="http://schemas.microsoft.com/office/drawing/2014/main" id="{BFC3DCDA-1C7C-4904-B41E-717EAD16B6D4}"/>
              </a:ext>
            </a:extLst>
          </p:cNvPr>
          <p:cNvSpPr/>
          <p:nvPr/>
        </p:nvSpPr>
        <p:spPr bwMode="auto">
          <a:xfrm>
            <a:off x="7010400" y="4684713"/>
            <a:ext cx="304800" cy="317500"/>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ln>
                <a:solidFill>
                  <a:sysClr val="windowText" lastClr="000000"/>
                </a:solidFill>
              </a:ln>
            </a:endParaRPr>
          </a:p>
        </p:txBody>
      </p:sp>
      <p:sp>
        <p:nvSpPr>
          <p:cNvPr id="16" name="右箭头 15">
            <a:extLst>
              <a:ext uri="{FF2B5EF4-FFF2-40B4-BE49-F238E27FC236}">
                <a16:creationId xmlns:a16="http://schemas.microsoft.com/office/drawing/2014/main" id="{3CEE6F10-7CE6-4E27-9E26-A7E8C066BC1B}"/>
              </a:ext>
            </a:extLst>
          </p:cNvPr>
          <p:cNvSpPr/>
          <p:nvPr/>
        </p:nvSpPr>
        <p:spPr bwMode="auto">
          <a:xfrm rot="10963814">
            <a:off x="5387975" y="5776913"/>
            <a:ext cx="228600" cy="228600"/>
          </a:xfrm>
          <a:prstGeom prst="rightArrow">
            <a:avLst/>
          </a:prstGeom>
          <a:solidFill>
            <a:schemeClr val="accent1">
              <a:lumMod val="50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pic>
        <p:nvPicPr>
          <p:cNvPr id="10" name="图片 9">
            <a:extLst>
              <a:ext uri="{FF2B5EF4-FFF2-40B4-BE49-F238E27FC236}">
                <a16:creationId xmlns:a16="http://schemas.microsoft.com/office/drawing/2014/main" id="{7100FDB5-D930-4EA1-9959-60DF030C1B4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8263" y="5545138"/>
            <a:ext cx="5195887" cy="690562"/>
          </a:xfrm>
          <a:prstGeom prst="rect">
            <a:avLst/>
          </a:prstGeom>
          <a:noFill/>
          <a:ln w="9525">
            <a:solidFill>
              <a:srgbClr val="5959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5" grpId="0" animBg="1"/>
      <p:bldP spid="1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灯片编号占位符 3">
            <a:extLst>
              <a:ext uri="{FF2B5EF4-FFF2-40B4-BE49-F238E27FC236}">
                <a16:creationId xmlns:a16="http://schemas.microsoft.com/office/drawing/2014/main" id="{177C45F7-1934-4B2F-AC77-7969A8225C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B04C740-3BEB-4051-86CF-662A877BFA80}" type="slidenum">
              <a:rPr lang="en-US" altLang="zh-CN" sz="1000" smtClean="0">
                <a:ea typeface="宋体" panose="02010600030101010101" pitchFamily="2" charset="-122"/>
              </a:rPr>
              <a:pPr>
                <a:spcBef>
                  <a:spcPct val="0"/>
                </a:spcBef>
                <a:buClrTx/>
                <a:buFontTx/>
                <a:buNone/>
              </a:pPr>
              <a:t>127</a:t>
            </a:fld>
            <a:endParaRPr lang="en-US" altLang="zh-CN" sz="1000">
              <a:ea typeface="宋体" panose="02010600030101010101" pitchFamily="2" charset="-122"/>
            </a:endParaRPr>
          </a:p>
        </p:txBody>
      </p:sp>
      <p:pic>
        <p:nvPicPr>
          <p:cNvPr id="186370" name="Picture 3" descr="lle-big">
            <a:extLst>
              <a:ext uri="{FF2B5EF4-FFF2-40B4-BE49-F238E27FC236}">
                <a16:creationId xmlns:a16="http://schemas.microsoft.com/office/drawing/2014/main" id="{201297B4-8F42-4787-9F75-E897C8F37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438400"/>
            <a:ext cx="76200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1" name="Rectangle 4">
            <a:extLst>
              <a:ext uri="{FF2B5EF4-FFF2-40B4-BE49-F238E27FC236}">
                <a16:creationId xmlns:a16="http://schemas.microsoft.com/office/drawing/2014/main" id="{E1928DD1-4715-4740-A3E3-0ACEFC8F7CA0}"/>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3800">
                <a:solidFill>
                  <a:schemeClr val="tx2"/>
                </a:solidFill>
                <a:ea typeface="宋体" panose="02010600030101010101" pitchFamily="2" charset="-122"/>
              </a:rPr>
              <a:t>LLE</a:t>
            </a:r>
            <a:r>
              <a:rPr lang="zh-CN" altLang="en-US" sz="3800">
                <a:solidFill>
                  <a:schemeClr val="tx2"/>
                </a:solidFill>
              </a:rPr>
              <a:t>实验结果</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灯片编号占位符 5">
            <a:extLst>
              <a:ext uri="{FF2B5EF4-FFF2-40B4-BE49-F238E27FC236}">
                <a16:creationId xmlns:a16="http://schemas.microsoft.com/office/drawing/2014/main" id="{B5B64F09-B781-4DE1-B5D3-6024ED507D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37F78F8E-4DF4-4B25-8BA5-63D322C4933B}" type="slidenum">
              <a:rPr lang="en-US" altLang="zh-CN" sz="1000" smtClean="0">
                <a:ea typeface="宋体" panose="02010600030101010101" pitchFamily="2" charset="-122"/>
              </a:rPr>
              <a:pPr>
                <a:spcBef>
                  <a:spcPct val="0"/>
                </a:spcBef>
                <a:buClrTx/>
                <a:buFontTx/>
                <a:buNone/>
              </a:pPr>
              <a:t>128</a:t>
            </a:fld>
            <a:endParaRPr lang="en-US" altLang="zh-CN" sz="1000">
              <a:ea typeface="宋体" panose="02010600030101010101" pitchFamily="2" charset="-122"/>
            </a:endParaRPr>
          </a:p>
        </p:txBody>
      </p:sp>
      <p:pic>
        <p:nvPicPr>
          <p:cNvPr id="187394" name="Picture 2">
            <a:extLst>
              <a:ext uri="{FF2B5EF4-FFF2-40B4-BE49-F238E27FC236}">
                <a16:creationId xmlns:a16="http://schemas.microsoft.com/office/drawing/2014/main" id="{5E9A126E-0CA4-4CAE-A157-610F17088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981075"/>
            <a:ext cx="59817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5" name="Rectangle 3">
            <a:extLst>
              <a:ext uri="{FF2B5EF4-FFF2-40B4-BE49-F238E27FC236}">
                <a16:creationId xmlns:a16="http://schemas.microsoft.com/office/drawing/2014/main" id="{0637895E-5C7A-44E6-A725-56D7B385FAF0}"/>
              </a:ext>
            </a:extLst>
          </p:cNvPr>
          <p:cNvSpPr>
            <a:spLocks noChangeArrowheads="1"/>
          </p:cNvSpPr>
          <p:nvPr/>
        </p:nvSpPr>
        <p:spPr bwMode="auto">
          <a:xfrm>
            <a:off x="3048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3800">
                <a:solidFill>
                  <a:schemeClr val="tx2"/>
                </a:solidFill>
                <a:ea typeface="宋体" panose="02010600030101010101" pitchFamily="2" charset="-122"/>
              </a:rPr>
              <a:t>LLE</a:t>
            </a:r>
            <a:r>
              <a:rPr lang="zh-CN" altLang="en-US" sz="3800">
                <a:solidFill>
                  <a:schemeClr val="tx2"/>
                </a:solidFill>
              </a:rPr>
              <a:t>实验结果</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5">
            <a:extLst>
              <a:ext uri="{FF2B5EF4-FFF2-40B4-BE49-F238E27FC236}">
                <a16:creationId xmlns:a16="http://schemas.microsoft.com/office/drawing/2014/main" id="{8BA5F4D9-CD07-4CE7-A630-DEAE954CDE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4A2F448C-D2A4-46BE-96B2-EF7BAE935656}" type="slidenum">
              <a:rPr lang="en-US" altLang="zh-CN" sz="1000" smtClean="0">
                <a:ea typeface="宋体" panose="02010600030101010101" pitchFamily="2" charset="-122"/>
              </a:rPr>
              <a:pPr>
                <a:spcBef>
                  <a:spcPct val="0"/>
                </a:spcBef>
                <a:buClrTx/>
                <a:buFontTx/>
                <a:buNone/>
              </a:pPr>
              <a:t>129</a:t>
            </a:fld>
            <a:endParaRPr lang="en-US" altLang="zh-CN" sz="1000">
              <a:ea typeface="宋体" panose="02010600030101010101" pitchFamily="2" charset="-122"/>
            </a:endParaRPr>
          </a:p>
        </p:txBody>
      </p:sp>
      <p:pic>
        <p:nvPicPr>
          <p:cNvPr id="188418" name="Picture 2">
            <a:extLst>
              <a:ext uri="{FF2B5EF4-FFF2-40B4-BE49-F238E27FC236}">
                <a16:creationId xmlns:a16="http://schemas.microsoft.com/office/drawing/2014/main" id="{5117B1E5-382B-4B49-9DA9-EBE4878CD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723106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19" name="Rectangle 3">
            <a:extLst>
              <a:ext uri="{FF2B5EF4-FFF2-40B4-BE49-F238E27FC236}">
                <a16:creationId xmlns:a16="http://schemas.microsoft.com/office/drawing/2014/main" id="{992E3D82-A295-4D9E-8DF7-FAECE82835A1}"/>
              </a:ext>
            </a:extLst>
          </p:cNvPr>
          <p:cNvSpPr>
            <a:spLocks noChangeArrowheads="1"/>
          </p:cNvSpPr>
          <p:nvPr/>
        </p:nvSpPr>
        <p:spPr bwMode="auto">
          <a:xfrm>
            <a:off x="3048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3800">
                <a:solidFill>
                  <a:schemeClr val="tx2"/>
                </a:solidFill>
                <a:ea typeface="宋体" panose="02010600030101010101" pitchFamily="2" charset="-122"/>
              </a:rPr>
              <a:t>LLE</a:t>
            </a:r>
            <a:r>
              <a:rPr lang="zh-CN" altLang="en-US" sz="3800">
                <a:solidFill>
                  <a:schemeClr val="tx2"/>
                </a:solidFill>
              </a:rPr>
              <a:t>实验结果</a:t>
            </a:r>
          </a:p>
        </p:txBody>
      </p:sp>
      <p:sp>
        <p:nvSpPr>
          <p:cNvPr id="188420" name="Text Box 4">
            <a:extLst>
              <a:ext uri="{FF2B5EF4-FFF2-40B4-BE49-F238E27FC236}">
                <a16:creationId xmlns:a16="http://schemas.microsoft.com/office/drawing/2014/main" id="{5049DFA8-EEA4-4ABF-87DF-291E6C591005}"/>
              </a:ext>
            </a:extLst>
          </p:cNvPr>
          <p:cNvSpPr txBox="1">
            <a:spLocks noChangeArrowheads="1"/>
          </p:cNvSpPr>
          <p:nvPr/>
        </p:nvSpPr>
        <p:spPr bwMode="auto">
          <a:xfrm>
            <a:off x="2590800" y="6019800"/>
            <a:ext cx="396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1">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a:solidFill>
                  <a:schemeClr val="hlink"/>
                </a:solidFill>
              </a:rPr>
              <a:t>邻域参数的影响</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1" name="灯片编号占位符 5">
            <a:extLst>
              <a:ext uri="{FF2B5EF4-FFF2-40B4-BE49-F238E27FC236}">
                <a16:creationId xmlns:a16="http://schemas.microsoft.com/office/drawing/2014/main" id="{FBA26F45-B3FA-4427-88F2-2F617A68EE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46A7115-AF13-48B6-8E79-8A60CA385B37}" type="slidenum">
              <a:rPr lang="en-US" altLang="zh-CN" sz="1000" smtClean="0">
                <a:ea typeface="宋体" panose="02010600030101010101" pitchFamily="2" charset="-122"/>
              </a:rPr>
              <a:pPr>
                <a:spcBef>
                  <a:spcPct val="0"/>
                </a:spcBef>
                <a:buClrTx/>
                <a:buFontTx/>
                <a:buNone/>
              </a:pPr>
              <a:t>130</a:t>
            </a:fld>
            <a:endParaRPr lang="en-US" altLang="zh-CN" sz="1000">
              <a:ea typeface="宋体" panose="02010600030101010101" pitchFamily="2" charset="-122"/>
            </a:endParaRPr>
          </a:p>
        </p:txBody>
      </p:sp>
      <p:sp>
        <p:nvSpPr>
          <p:cNvPr id="189442" name="Text Box 3">
            <a:extLst>
              <a:ext uri="{FF2B5EF4-FFF2-40B4-BE49-F238E27FC236}">
                <a16:creationId xmlns:a16="http://schemas.microsoft.com/office/drawing/2014/main" id="{FDCFE299-E07C-43D3-88B9-3119EA3E9927}"/>
              </a:ext>
            </a:extLst>
          </p:cNvPr>
          <p:cNvSpPr txBox="1">
            <a:spLocks noChangeArrowheads="1"/>
          </p:cNvSpPr>
          <p:nvPr/>
        </p:nvSpPr>
        <p:spPr bwMode="auto">
          <a:xfrm>
            <a:off x="1295400" y="5715000"/>
            <a:ext cx="1163638"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None/>
            </a:pPr>
            <a:r>
              <a:rPr lang="en-US" altLang="zh-CN" sz="1600">
                <a:latin typeface="Times New Roman" panose="02020603050405020304" pitchFamily="18" charset="0"/>
                <a:ea typeface="宋体" panose="02010600030101010101" pitchFamily="2" charset="-122"/>
              </a:rPr>
              <a:t>Figure from</a:t>
            </a:r>
          </a:p>
          <a:p>
            <a:pPr eaLnBrk="1" hangingPunct="1">
              <a:buClrTx/>
              <a:buFontTx/>
              <a:buNone/>
            </a:pPr>
            <a:r>
              <a:rPr lang="en-US" altLang="zh-CN" sz="1600">
                <a:latin typeface="Times New Roman" panose="02020603050405020304" pitchFamily="18" charset="0"/>
                <a:ea typeface="宋体" panose="02010600030101010101" pitchFamily="2" charset="-122"/>
              </a:rPr>
              <a:t>LLE paper</a:t>
            </a:r>
          </a:p>
        </p:txBody>
      </p:sp>
      <p:pic>
        <p:nvPicPr>
          <p:cNvPr id="189443" name="Picture 4" descr="se4909069003">
            <a:extLst>
              <a:ext uri="{FF2B5EF4-FFF2-40B4-BE49-F238E27FC236}">
                <a16:creationId xmlns:a16="http://schemas.microsoft.com/office/drawing/2014/main" id="{3A0A845B-828D-4726-8297-D29AFED70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609600"/>
            <a:ext cx="6019800" cy="620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4" name="Rectangle 6">
            <a:extLst>
              <a:ext uri="{FF2B5EF4-FFF2-40B4-BE49-F238E27FC236}">
                <a16:creationId xmlns:a16="http://schemas.microsoft.com/office/drawing/2014/main" id="{33F73127-D4BE-43E8-B70C-AFC78AA6306E}"/>
              </a:ext>
            </a:extLst>
          </p:cNvPr>
          <p:cNvSpPr>
            <a:spLocks noChangeArrowheads="1"/>
          </p:cNvSpPr>
          <p:nvPr/>
        </p:nvSpPr>
        <p:spPr bwMode="auto">
          <a:xfrm>
            <a:off x="3048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3800">
                <a:solidFill>
                  <a:schemeClr val="tx2"/>
                </a:solidFill>
                <a:ea typeface="宋体" panose="02010600030101010101" pitchFamily="2" charset="-122"/>
              </a:rPr>
              <a:t>LLE</a:t>
            </a:r>
            <a:r>
              <a:rPr lang="zh-CN" altLang="en-US" sz="3800">
                <a:solidFill>
                  <a:schemeClr val="tx2"/>
                </a:solidFill>
              </a:rPr>
              <a:t>实验结果</a:t>
            </a: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0465" name="灯片编号占位符 5">
            <a:extLst>
              <a:ext uri="{FF2B5EF4-FFF2-40B4-BE49-F238E27FC236}">
                <a16:creationId xmlns:a16="http://schemas.microsoft.com/office/drawing/2014/main" id="{352E3564-7FE0-424E-B02F-E8F9CC943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D4DCE106-415E-4727-BA4E-F09CB6104F2F}" type="slidenum">
              <a:rPr lang="en-US" altLang="zh-CN" sz="1000" smtClean="0">
                <a:ea typeface="宋体" panose="02010600030101010101" pitchFamily="2" charset="-122"/>
              </a:rPr>
              <a:pPr>
                <a:spcBef>
                  <a:spcPct val="0"/>
                </a:spcBef>
                <a:buClrTx/>
                <a:buFontTx/>
                <a:buNone/>
              </a:pPr>
              <a:t>131</a:t>
            </a:fld>
            <a:endParaRPr lang="en-US" altLang="zh-CN" sz="1000">
              <a:ea typeface="宋体" panose="02010600030101010101" pitchFamily="2" charset="-122"/>
            </a:endParaRPr>
          </a:p>
        </p:txBody>
      </p:sp>
      <p:pic>
        <p:nvPicPr>
          <p:cNvPr id="190466" name="Picture 3" descr="lipsex1">
            <a:extLst>
              <a:ext uri="{FF2B5EF4-FFF2-40B4-BE49-F238E27FC236}">
                <a16:creationId xmlns:a16="http://schemas.microsoft.com/office/drawing/2014/main" id="{5BCB524C-B04F-4B01-9186-6A2D941BC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09800"/>
            <a:ext cx="3808413" cy="380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0467" name="Picture 4" descr="lipsex2">
            <a:extLst>
              <a:ext uri="{FF2B5EF4-FFF2-40B4-BE49-F238E27FC236}">
                <a16:creationId xmlns:a16="http://schemas.microsoft.com/office/drawing/2014/main" id="{49E0BAE4-CAB9-4279-B601-6BC2C55F9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09800"/>
            <a:ext cx="3808413" cy="380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68" name="Rectangle 6">
            <a:extLst>
              <a:ext uri="{FF2B5EF4-FFF2-40B4-BE49-F238E27FC236}">
                <a16:creationId xmlns:a16="http://schemas.microsoft.com/office/drawing/2014/main" id="{6E90F59E-C2FA-48ED-9A95-2201AE9B5DFA}"/>
              </a:ext>
            </a:extLst>
          </p:cNvPr>
          <p:cNvSpPr>
            <a:spLocks noChangeArrowheads="1"/>
          </p:cNvSpPr>
          <p:nvPr/>
        </p:nvSpPr>
        <p:spPr bwMode="auto">
          <a:xfrm>
            <a:off x="3048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3800">
                <a:solidFill>
                  <a:schemeClr val="tx2"/>
                </a:solidFill>
                <a:ea typeface="宋体" panose="02010600030101010101" pitchFamily="2" charset="-122"/>
              </a:rPr>
              <a:t>LLE</a:t>
            </a:r>
            <a:r>
              <a:rPr lang="zh-CN" altLang="en-US" sz="3800">
                <a:solidFill>
                  <a:schemeClr val="tx2"/>
                </a:solidFill>
              </a:rPr>
              <a:t>实验结果</a:t>
            </a: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灯片编号占位符 5">
            <a:extLst>
              <a:ext uri="{FF2B5EF4-FFF2-40B4-BE49-F238E27FC236}">
                <a16:creationId xmlns:a16="http://schemas.microsoft.com/office/drawing/2014/main" id="{D730C4E8-5EE2-4268-A196-7B55718914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99997BD-B655-4885-8551-7F8E20AFCD2B}" type="slidenum">
              <a:rPr lang="en-US" altLang="zh-CN" sz="1000" smtClean="0">
                <a:ea typeface="宋体" panose="02010600030101010101" pitchFamily="2" charset="-122"/>
              </a:rPr>
              <a:pPr>
                <a:spcBef>
                  <a:spcPct val="0"/>
                </a:spcBef>
                <a:buClrTx/>
                <a:buFontTx/>
                <a:buNone/>
              </a:pPr>
              <a:t>132</a:t>
            </a:fld>
            <a:endParaRPr lang="en-US" altLang="zh-CN" sz="1000">
              <a:ea typeface="宋体" panose="02010600030101010101" pitchFamily="2" charset="-122"/>
            </a:endParaRPr>
          </a:p>
        </p:txBody>
      </p:sp>
      <p:sp>
        <p:nvSpPr>
          <p:cNvPr id="191490" name="Rectangle 2">
            <a:extLst>
              <a:ext uri="{FF2B5EF4-FFF2-40B4-BE49-F238E27FC236}">
                <a16:creationId xmlns:a16="http://schemas.microsoft.com/office/drawing/2014/main" id="{BE9E1DD0-D59A-4F33-9806-08BBE9D562E8}"/>
              </a:ext>
            </a:extLst>
          </p:cNvPr>
          <p:cNvSpPr>
            <a:spLocks noGrp="1" noChangeArrowheads="1"/>
          </p:cNvSpPr>
          <p:nvPr>
            <p:ph type="title"/>
          </p:nvPr>
        </p:nvSpPr>
        <p:spPr/>
        <p:txBody>
          <a:bodyPr/>
          <a:lstStyle/>
          <a:p>
            <a:pPr eaLnBrk="1" hangingPunct="1"/>
            <a:r>
              <a:rPr lang="zh-CN" altLang="en-US"/>
              <a:t>代表性算法</a:t>
            </a:r>
            <a:r>
              <a:rPr lang="en-US" altLang="zh-CN"/>
              <a:t>-1</a:t>
            </a:r>
          </a:p>
        </p:txBody>
      </p:sp>
      <p:sp>
        <p:nvSpPr>
          <p:cNvPr id="191491" name="Rectangle 3">
            <a:extLst>
              <a:ext uri="{FF2B5EF4-FFF2-40B4-BE49-F238E27FC236}">
                <a16:creationId xmlns:a16="http://schemas.microsoft.com/office/drawing/2014/main" id="{771CA0E0-9384-4B8C-BE0A-7AFE70D909E4}"/>
              </a:ext>
            </a:extLst>
          </p:cNvPr>
          <p:cNvSpPr>
            <a:spLocks noGrp="1" noChangeArrowheads="1"/>
          </p:cNvSpPr>
          <p:nvPr>
            <p:ph type="body" idx="1"/>
          </p:nvPr>
        </p:nvSpPr>
        <p:spPr>
          <a:xfrm>
            <a:off x="457200" y="1447800"/>
            <a:ext cx="8458200" cy="5029200"/>
          </a:xfrm>
        </p:spPr>
        <p:txBody>
          <a:bodyPr/>
          <a:lstStyle/>
          <a:p>
            <a:pPr eaLnBrk="1" hangingPunct="1"/>
            <a:r>
              <a:rPr lang="en-US" altLang="zh-CN"/>
              <a:t>LLE (Locally linear embedding)</a:t>
            </a:r>
          </a:p>
          <a:p>
            <a:pPr lvl="1" eaLnBrk="1" hangingPunct="1"/>
            <a:r>
              <a:rPr lang="zh-CN" altLang="en-US"/>
              <a:t>优点</a:t>
            </a:r>
          </a:p>
          <a:p>
            <a:pPr lvl="2" eaLnBrk="1" hangingPunct="1"/>
            <a:r>
              <a:rPr lang="zh-CN" altLang="en-US"/>
              <a:t>算法可以学习任意维的局部线性的低维流形</a:t>
            </a:r>
          </a:p>
          <a:p>
            <a:pPr lvl="2" eaLnBrk="1" hangingPunct="1"/>
            <a:r>
              <a:rPr lang="zh-CN" altLang="en-US"/>
              <a:t>算法归结为稀疏矩阵特征值计算，计算复杂度相对较小</a:t>
            </a:r>
          </a:p>
          <a:p>
            <a:pPr lvl="1" eaLnBrk="1" hangingPunct="1"/>
            <a:r>
              <a:rPr lang="zh-CN" altLang="en-US"/>
              <a:t>缺点</a:t>
            </a:r>
          </a:p>
          <a:p>
            <a:pPr lvl="2" eaLnBrk="1" hangingPunct="1"/>
            <a:r>
              <a:rPr lang="zh-CN" altLang="en-US"/>
              <a:t>算法所学习的流形只能是不闭合的</a:t>
            </a:r>
          </a:p>
          <a:p>
            <a:pPr lvl="2" eaLnBrk="1" hangingPunct="1"/>
            <a:r>
              <a:rPr lang="zh-CN" altLang="en-US"/>
              <a:t>算法要求样本在流形上是稠密采样的</a:t>
            </a:r>
          </a:p>
          <a:p>
            <a:pPr lvl="2" eaLnBrk="1" hangingPunct="1"/>
            <a:r>
              <a:rPr lang="zh-CN" altLang="en-US"/>
              <a:t>算法对样本中的</a:t>
            </a:r>
            <a:r>
              <a:rPr lang="zh-CN" altLang="en-US">
                <a:solidFill>
                  <a:schemeClr val="hlink"/>
                </a:solidFill>
              </a:rPr>
              <a:t>噪声和邻域参数</a:t>
            </a:r>
            <a:r>
              <a:rPr lang="zh-CN" altLang="en-US"/>
              <a:t>比较敏感</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灯片编号占位符 3">
            <a:extLst>
              <a:ext uri="{FF2B5EF4-FFF2-40B4-BE49-F238E27FC236}">
                <a16:creationId xmlns:a16="http://schemas.microsoft.com/office/drawing/2014/main" id="{E859B8B1-BD30-430D-BB53-2C470FEDF5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0BB05B6-A4D9-4995-A7A5-4C4A56CC2FFD}" type="slidenum">
              <a:rPr lang="en-US" altLang="zh-CN" sz="1000" smtClean="0">
                <a:ea typeface="宋体" panose="02010600030101010101" pitchFamily="2" charset="-122"/>
              </a:rPr>
              <a:pPr>
                <a:spcBef>
                  <a:spcPct val="0"/>
                </a:spcBef>
                <a:buClrTx/>
                <a:buFontTx/>
                <a:buNone/>
              </a:pPr>
              <a:t>133</a:t>
            </a:fld>
            <a:endParaRPr lang="en-US" altLang="zh-CN" sz="1000">
              <a:ea typeface="宋体" panose="02010600030101010101" pitchFamily="2" charset="-122"/>
            </a:endParaRPr>
          </a:p>
        </p:txBody>
      </p:sp>
      <p:sp>
        <p:nvSpPr>
          <p:cNvPr id="192514" name="Text Box 2">
            <a:extLst>
              <a:ext uri="{FF2B5EF4-FFF2-40B4-BE49-F238E27FC236}">
                <a16:creationId xmlns:a16="http://schemas.microsoft.com/office/drawing/2014/main" id="{AE07B7DF-A267-448E-8FE0-7BF97D2176D6}"/>
              </a:ext>
            </a:extLst>
          </p:cNvPr>
          <p:cNvSpPr txBox="1">
            <a:spLocks noChangeArrowheads="1"/>
          </p:cNvSpPr>
          <p:nvPr/>
        </p:nvSpPr>
        <p:spPr bwMode="auto">
          <a:xfrm>
            <a:off x="381000" y="1524000"/>
            <a:ext cx="83058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 typeface="Wingdings" panose="05000000000000000000" pitchFamily="2" charset="2"/>
              <a:buChar char="Ø"/>
            </a:pPr>
            <a:r>
              <a:rPr lang="zh-CN" altLang="en-US" sz="2400"/>
              <a:t>局部线性嵌入</a:t>
            </a:r>
            <a:r>
              <a:rPr lang="en-US" altLang="zh-CN" sz="2400" b="1">
                <a:latin typeface="Times New Roman" panose="02020603050405020304" pitchFamily="18" charset="0"/>
                <a:ea typeface="宋体" panose="02010600030101010101" pitchFamily="2" charset="-122"/>
              </a:rPr>
              <a:t>(LLE)</a:t>
            </a:r>
          </a:p>
          <a:p>
            <a:pPr eaLnBrk="1" fontAlgn="t" hangingPunct="1">
              <a:spcBef>
                <a:spcPct val="50000"/>
              </a:spcBef>
              <a:buClrTx/>
              <a:buFontTx/>
              <a:buNone/>
            </a:pPr>
            <a:r>
              <a:rPr lang="en-US" altLang="zh-CN" sz="1800" b="1">
                <a:latin typeface="Times New Roman" panose="02020603050405020304" pitchFamily="18" charset="0"/>
                <a:ea typeface="宋体" panose="02010600030101010101" pitchFamily="2" charset="-122"/>
              </a:rPr>
              <a:t>S. T. Roweis and L. K. Saul. Nonlinear dimensionality reduction by locally linear embedding. </a:t>
            </a:r>
            <a:r>
              <a:rPr lang="en-US" altLang="zh-CN" sz="1800" b="1" i="1">
                <a:latin typeface="Times New Roman" panose="02020603050405020304" pitchFamily="18" charset="0"/>
                <a:ea typeface="宋体" panose="02010600030101010101" pitchFamily="2" charset="-122"/>
              </a:rPr>
              <a:t>Science</a:t>
            </a:r>
            <a:r>
              <a:rPr lang="en-US" altLang="zh-CN" sz="1800" b="1">
                <a:latin typeface="Times New Roman" panose="02020603050405020304" pitchFamily="18" charset="0"/>
                <a:ea typeface="宋体" panose="02010600030101010101" pitchFamily="2" charset="-122"/>
              </a:rPr>
              <a:t>, vol. 290, pp. 2323--2326, 2000.</a:t>
            </a:r>
          </a:p>
          <a:p>
            <a:pPr eaLnBrk="1" fontAlgn="t" hangingPunct="1">
              <a:spcBef>
                <a:spcPct val="50000"/>
              </a:spcBef>
              <a:buClrTx/>
              <a:buFont typeface="Wingdings" panose="05000000000000000000" pitchFamily="2" charset="2"/>
              <a:buChar char="Ø"/>
            </a:pPr>
            <a:r>
              <a:rPr lang="zh-CN" altLang="en-US" sz="2400">
                <a:solidFill>
                  <a:srgbClr val="008000"/>
                </a:solidFill>
              </a:rPr>
              <a:t>拉普拉斯特征映射</a:t>
            </a:r>
            <a:r>
              <a:rPr lang="en-US" altLang="zh-CN" sz="2400" b="1">
                <a:solidFill>
                  <a:srgbClr val="008000"/>
                </a:solidFill>
                <a:latin typeface="Times New Roman" panose="02020603050405020304" pitchFamily="18" charset="0"/>
                <a:ea typeface="宋体" panose="02010600030101010101" pitchFamily="2" charset="-122"/>
              </a:rPr>
              <a:t>(Laplacian Eigenmap)</a:t>
            </a:r>
          </a:p>
          <a:p>
            <a:pPr eaLnBrk="1" fontAlgn="t" hangingPunct="1">
              <a:spcBef>
                <a:spcPct val="50000"/>
              </a:spcBef>
              <a:buClrTx/>
              <a:buFontTx/>
              <a:buNone/>
            </a:pPr>
            <a:r>
              <a:rPr lang="en-US" altLang="zh-CN" sz="1800" b="1">
                <a:solidFill>
                  <a:srgbClr val="008000"/>
                </a:solidFill>
                <a:latin typeface="Times New Roman" panose="02020603050405020304" pitchFamily="18" charset="0"/>
                <a:ea typeface="times new roma"/>
                <a:cs typeface="times new roma"/>
              </a:rPr>
              <a:t>M. Belkin, P. Niyogi, Laplacian Eigenmaps for Dimensionality Reduction and Data Representation. </a:t>
            </a:r>
            <a:r>
              <a:rPr lang="en-US" altLang="zh-CN" sz="1800" b="1" i="1">
                <a:solidFill>
                  <a:srgbClr val="008000"/>
                </a:solidFill>
                <a:latin typeface="Times New Roman" panose="02020603050405020304" pitchFamily="18" charset="0"/>
                <a:ea typeface="宋体" panose="02010600030101010101" pitchFamily="2" charset="-122"/>
              </a:rPr>
              <a:t>Neural Computation,</a:t>
            </a:r>
            <a:r>
              <a:rPr lang="en-US" altLang="zh-CN" sz="1800" b="1">
                <a:solidFill>
                  <a:srgbClr val="008000"/>
                </a:solidFill>
                <a:latin typeface="Times New Roman" panose="02020603050405020304" pitchFamily="18" charset="0"/>
                <a:ea typeface="宋体" panose="02010600030101010101" pitchFamily="2" charset="-122"/>
              </a:rPr>
              <a:t> </a:t>
            </a:r>
            <a:r>
              <a:rPr lang="en-US" altLang="zh-CN" sz="1800" b="1">
                <a:solidFill>
                  <a:srgbClr val="008000"/>
                </a:solidFill>
                <a:latin typeface="Times New Roman" panose="02020603050405020304" pitchFamily="18" charset="0"/>
                <a:ea typeface="times new roma"/>
                <a:cs typeface="times new roma"/>
              </a:rPr>
              <a:t>Vol. 15, Issue 6, pp</a:t>
            </a:r>
            <a:r>
              <a:rPr lang="en-US" altLang="zh-CN" sz="1800">
                <a:solidFill>
                  <a:srgbClr val="008000"/>
                </a:solidFill>
                <a:latin typeface="Times New Roman" panose="02020603050405020304" pitchFamily="18" charset="0"/>
                <a:ea typeface="times new roma"/>
                <a:cs typeface="times new roma"/>
              </a:rPr>
              <a:t>. </a:t>
            </a:r>
            <a:r>
              <a:rPr lang="en-US" altLang="zh-CN" sz="1800" b="1">
                <a:solidFill>
                  <a:srgbClr val="008000"/>
                </a:solidFill>
                <a:latin typeface="Times New Roman" panose="02020603050405020304" pitchFamily="18" charset="0"/>
                <a:ea typeface="times new roma"/>
                <a:cs typeface="times new roma"/>
              </a:rPr>
              <a:t>1373</a:t>
            </a:r>
            <a:r>
              <a:rPr lang="en-US" altLang="zh-CN" sz="1800">
                <a:solidFill>
                  <a:srgbClr val="008000"/>
                </a:solidFill>
                <a:latin typeface="Times New Roman" panose="02020603050405020304" pitchFamily="18" charset="0"/>
                <a:ea typeface="times new roma"/>
                <a:cs typeface="times new roma"/>
              </a:rPr>
              <a:t> –</a:t>
            </a:r>
            <a:r>
              <a:rPr lang="en-US" altLang="zh-CN" sz="1800" b="1">
                <a:solidFill>
                  <a:srgbClr val="008000"/>
                </a:solidFill>
                <a:latin typeface="Times New Roman" panose="02020603050405020304" pitchFamily="18" charset="0"/>
                <a:ea typeface="times new roma"/>
                <a:cs typeface="times new roma"/>
              </a:rPr>
              <a:t>1396,</a:t>
            </a:r>
            <a:r>
              <a:rPr lang="en-US" altLang="zh-CN" sz="1800">
                <a:solidFill>
                  <a:srgbClr val="008000"/>
                </a:solidFill>
                <a:latin typeface="Verdana" panose="020B0604030504040204" pitchFamily="34" charset="0"/>
                <a:ea typeface="times new roma"/>
                <a:cs typeface="times new roma"/>
              </a:rPr>
              <a:t> </a:t>
            </a:r>
            <a:r>
              <a:rPr lang="en-US" altLang="zh-CN" sz="1800" b="1">
                <a:solidFill>
                  <a:srgbClr val="008000"/>
                </a:solidFill>
                <a:latin typeface="Times New Roman" panose="02020603050405020304" pitchFamily="18" charset="0"/>
                <a:ea typeface="times new roma"/>
                <a:cs typeface="times new roma"/>
              </a:rPr>
              <a:t>2003 .</a:t>
            </a:r>
            <a:r>
              <a:rPr lang="en-US" altLang="zh-CN" sz="1800">
                <a:solidFill>
                  <a:srgbClr val="008000"/>
                </a:solidFill>
                <a:latin typeface="Times New Roman" panose="02020603050405020304" pitchFamily="18" charset="0"/>
                <a:ea typeface="times new roma"/>
                <a:cs typeface="times new roma"/>
              </a:rPr>
              <a:t> </a:t>
            </a:r>
            <a:endParaRPr lang="en-US" altLang="zh-CN" sz="1800">
              <a:solidFill>
                <a:srgbClr val="008000"/>
              </a:solidFill>
              <a:latin typeface="Verdana" panose="020B0604030504040204" pitchFamily="34" charset="0"/>
              <a:ea typeface="times new roma"/>
              <a:cs typeface="times new roma"/>
            </a:endParaRPr>
          </a:p>
          <a:p>
            <a:pPr eaLnBrk="1" fontAlgn="t" hangingPunct="1">
              <a:spcBef>
                <a:spcPct val="50000"/>
              </a:spcBef>
              <a:buClrTx/>
              <a:buFontTx/>
              <a:buNone/>
            </a:pPr>
            <a:endParaRPr lang="en-US" altLang="zh-CN" sz="1800" b="1">
              <a:solidFill>
                <a:srgbClr val="008000"/>
              </a:solidFill>
              <a:latin typeface="Times New Roman" panose="02020603050405020304" pitchFamily="18" charset="0"/>
              <a:ea typeface="宋体" panose="02010600030101010101" pitchFamily="2" charset="-122"/>
            </a:endParaRPr>
          </a:p>
        </p:txBody>
      </p:sp>
      <p:sp>
        <p:nvSpPr>
          <p:cNvPr id="192515" name="Rectangle 3">
            <a:extLst>
              <a:ext uri="{FF2B5EF4-FFF2-40B4-BE49-F238E27FC236}">
                <a16:creationId xmlns:a16="http://schemas.microsoft.com/office/drawing/2014/main" id="{494B6303-69E1-4719-9D7F-C71546C6B0CD}"/>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3800">
                <a:solidFill>
                  <a:schemeClr val="tx2"/>
                </a:solidFill>
              </a:rPr>
              <a:t>重点介绍的几个方法</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灯片编号占位符 5">
            <a:extLst>
              <a:ext uri="{FF2B5EF4-FFF2-40B4-BE49-F238E27FC236}">
                <a16:creationId xmlns:a16="http://schemas.microsoft.com/office/drawing/2014/main" id="{9DDDECB8-41A5-4E46-BD35-5F39371F7D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ACA00BC8-A7A3-4F38-8F69-DF7CC51177F3}" type="slidenum">
              <a:rPr lang="en-US" altLang="zh-CN" sz="1000" smtClean="0">
                <a:ea typeface="宋体" panose="02010600030101010101" pitchFamily="2" charset="-122"/>
              </a:rPr>
              <a:pPr>
                <a:spcBef>
                  <a:spcPct val="0"/>
                </a:spcBef>
                <a:buClrTx/>
                <a:buFontTx/>
                <a:buNone/>
              </a:pPr>
              <a:t>134</a:t>
            </a:fld>
            <a:endParaRPr lang="en-US" altLang="zh-CN" sz="1000">
              <a:ea typeface="宋体" panose="02010600030101010101" pitchFamily="2" charset="-122"/>
            </a:endParaRPr>
          </a:p>
        </p:txBody>
      </p:sp>
      <p:sp>
        <p:nvSpPr>
          <p:cNvPr id="193538" name="Rectangle 2">
            <a:extLst>
              <a:ext uri="{FF2B5EF4-FFF2-40B4-BE49-F238E27FC236}">
                <a16:creationId xmlns:a16="http://schemas.microsoft.com/office/drawing/2014/main" id="{B3E43390-9FC3-4A76-875E-5B5C35254B8A}"/>
              </a:ext>
            </a:extLst>
          </p:cNvPr>
          <p:cNvSpPr>
            <a:spLocks noGrp="1" noChangeArrowheads="1"/>
          </p:cNvSpPr>
          <p:nvPr>
            <p:ph type="title"/>
          </p:nvPr>
        </p:nvSpPr>
        <p:spPr/>
        <p:txBody>
          <a:bodyPr/>
          <a:lstStyle/>
          <a:p>
            <a:pPr eaLnBrk="1" hangingPunct="1"/>
            <a:r>
              <a:rPr lang="zh-CN" altLang="en-US"/>
              <a:t>代表性算法</a:t>
            </a:r>
            <a:r>
              <a:rPr lang="en-US" altLang="zh-CN"/>
              <a:t>-2</a:t>
            </a:r>
          </a:p>
        </p:txBody>
      </p:sp>
      <p:sp>
        <p:nvSpPr>
          <p:cNvPr id="193539" name="Rectangle 3">
            <a:extLst>
              <a:ext uri="{FF2B5EF4-FFF2-40B4-BE49-F238E27FC236}">
                <a16:creationId xmlns:a16="http://schemas.microsoft.com/office/drawing/2014/main" id="{BB54CA00-9B52-4C7A-A6C5-D586B9A14BBB}"/>
              </a:ext>
            </a:extLst>
          </p:cNvPr>
          <p:cNvSpPr>
            <a:spLocks noGrp="1" noChangeArrowheads="1"/>
          </p:cNvSpPr>
          <p:nvPr>
            <p:ph type="body" idx="1"/>
          </p:nvPr>
        </p:nvSpPr>
        <p:spPr>
          <a:xfrm>
            <a:off x="457200" y="1447800"/>
            <a:ext cx="8305800" cy="5029200"/>
          </a:xfrm>
        </p:spPr>
        <p:txBody>
          <a:bodyPr/>
          <a:lstStyle/>
          <a:p>
            <a:pPr eaLnBrk="1" hangingPunct="1"/>
            <a:r>
              <a:rPr lang="en-US" altLang="zh-CN"/>
              <a:t>LE (Laplacian Eigenmap)</a:t>
            </a:r>
          </a:p>
          <a:p>
            <a:pPr lvl="1" eaLnBrk="1" hangingPunct="1"/>
            <a:r>
              <a:rPr lang="zh-CN" altLang="en-US"/>
              <a:t>基本思想：在高维空间中离得很近的点投影到低维空间中的象也应该离得很近</a:t>
            </a:r>
            <a:r>
              <a:rPr lang="en-US" altLang="zh-CN"/>
              <a:t>.</a:t>
            </a:r>
          </a:p>
          <a:p>
            <a:pPr lvl="1" eaLnBrk="1" hangingPunct="1"/>
            <a:r>
              <a:rPr lang="zh-CN" altLang="en-US"/>
              <a:t>直观思想：希望相互间有关系的点（在图中相连的点）在降维后的空间中尽可能的靠近。</a:t>
            </a:r>
            <a:endParaRPr lang="en-US" altLang="zh-CN"/>
          </a:p>
          <a:p>
            <a:pPr lvl="1" eaLnBrk="1" hangingPunct="1"/>
            <a:r>
              <a:rPr lang="zh-CN" altLang="en-US"/>
              <a:t>求解方法：求解图拉普拉斯算子的广义特征值问题</a:t>
            </a:r>
            <a:r>
              <a:rPr lang="en-US" altLang="zh-CN"/>
              <a:t>.</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灯片编号占位符 1">
            <a:extLst>
              <a:ext uri="{FF2B5EF4-FFF2-40B4-BE49-F238E27FC236}">
                <a16:creationId xmlns:a16="http://schemas.microsoft.com/office/drawing/2014/main" id="{BF7E92CA-1A4E-4C3E-B368-ADB48663D7A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7A5CB05-DB09-4272-8E82-53BCD9BEAFC0}" type="slidenum">
              <a:rPr lang="en-US" altLang="zh-CN" sz="1000" smtClean="0">
                <a:ea typeface="宋体" panose="02010600030101010101" pitchFamily="2" charset="-122"/>
              </a:rPr>
              <a:pPr>
                <a:spcBef>
                  <a:spcPct val="0"/>
                </a:spcBef>
                <a:buClrTx/>
                <a:buFontTx/>
                <a:buNone/>
              </a:pPr>
              <a:t>135</a:t>
            </a:fld>
            <a:endParaRPr lang="en-US" altLang="zh-CN" sz="1000">
              <a:ea typeface="宋体" panose="02010600030101010101" pitchFamily="2" charset="-122"/>
            </a:endParaRPr>
          </a:p>
        </p:txBody>
      </p:sp>
      <p:sp>
        <p:nvSpPr>
          <p:cNvPr id="3" name="标题 1">
            <a:extLst>
              <a:ext uri="{FF2B5EF4-FFF2-40B4-BE49-F238E27FC236}">
                <a16:creationId xmlns:a16="http://schemas.microsoft.com/office/drawing/2014/main" id="{162A9CD8-6064-4543-9538-1D28F59775D2}"/>
              </a:ext>
            </a:extLst>
          </p:cNvPr>
          <p:cNvSpPr txBox="1">
            <a:spLocks/>
          </p:cNvSpPr>
          <p:nvPr/>
        </p:nvSpPr>
        <p:spPr>
          <a:xfrm>
            <a:off x="457200" y="274638"/>
            <a:ext cx="8229600" cy="114300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pitchFamily="34" charset="0"/>
                <a:ea typeface="黑体" pitchFamily="49" charset="-122"/>
              </a:defRPr>
            </a:lvl2pPr>
            <a:lvl3pPr algn="l" rtl="0" eaLnBrk="0" fontAlgn="base" hangingPunct="0">
              <a:spcBef>
                <a:spcPct val="0"/>
              </a:spcBef>
              <a:spcAft>
                <a:spcPct val="0"/>
              </a:spcAft>
              <a:defRPr sz="3800">
                <a:solidFill>
                  <a:schemeClr val="tx2"/>
                </a:solidFill>
                <a:latin typeface="Arial" pitchFamily="34" charset="0"/>
                <a:ea typeface="黑体" pitchFamily="49" charset="-122"/>
              </a:defRPr>
            </a:lvl3pPr>
            <a:lvl4pPr algn="l" rtl="0" eaLnBrk="0" fontAlgn="base" hangingPunct="0">
              <a:spcBef>
                <a:spcPct val="0"/>
              </a:spcBef>
              <a:spcAft>
                <a:spcPct val="0"/>
              </a:spcAft>
              <a:defRPr sz="3800">
                <a:solidFill>
                  <a:schemeClr val="tx2"/>
                </a:solidFill>
                <a:latin typeface="Arial" pitchFamily="34" charset="0"/>
                <a:ea typeface="黑体" pitchFamily="49" charset="-122"/>
              </a:defRPr>
            </a:lvl4pPr>
            <a:lvl5pPr algn="l" rtl="0" eaLnBrk="0" fontAlgn="base" hangingPunct="0">
              <a:spcBef>
                <a:spcPct val="0"/>
              </a:spcBef>
              <a:spcAft>
                <a:spcPct val="0"/>
              </a:spcAft>
              <a:defRPr sz="3800">
                <a:solidFill>
                  <a:schemeClr val="tx2"/>
                </a:solidFill>
                <a:latin typeface="Arial" pitchFamily="34" charset="0"/>
                <a:ea typeface="黑体" pitchFamily="49" charset="-122"/>
              </a:defRPr>
            </a:lvl5pPr>
            <a:lvl6pPr marL="457200" algn="l" rtl="0" fontAlgn="base">
              <a:spcBef>
                <a:spcPct val="0"/>
              </a:spcBef>
              <a:spcAft>
                <a:spcPct val="0"/>
              </a:spcAft>
              <a:defRPr sz="3800">
                <a:solidFill>
                  <a:schemeClr val="tx2"/>
                </a:solidFill>
                <a:latin typeface="Arial" pitchFamily="34" charset="0"/>
                <a:ea typeface="黑体" pitchFamily="49" charset="-122"/>
              </a:defRPr>
            </a:lvl6pPr>
            <a:lvl7pPr marL="914400" algn="l" rtl="0" fontAlgn="base">
              <a:spcBef>
                <a:spcPct val="0"/>
              </a:spcBef>
              <a:spcAft>
                <a:spcPct val="0"/>
              </a:spcAft>
              <a:defRPr sz="3800">
                <a:solidFill>
                  <a:schemeClr val="tx2"/>
                </a:solidFill>
                <a:latin typeface="Arial" pitchFamily="34" charset="0"/>
                <a:ea typeface="黑体" pitchFamily="49" charset="-122"/>
              </a:defRPr>
            </a:lvl7pPr>
            <a:lvl8pPr marL="1371600" algn="l" rtl="0" fontAlgn="base">
              <a:spcBef>
                <a:spcPct val="0"/>
              </a:spcBef>
              <a:spcAft>
                <a:spcPct val="0"/>
              </a:spcAft>
              <a:defRPr sz="3800">
                <a:solidFill>
                  <a:schemeClr val="tx2"/>
                </a:solidFill>
                <a:latin typeface="Arial" pitchFamily="34" charset="0"/>
                <a:ea typeface="黑体" pitchFamily="49" charset="-122"/>
              </a:defRPr>
            </a:lvl8pPr>
            <a:lvl9pPr marL="1828800" algn="l" rtl="0" fontAlgn="base">
              <a:spcBef>
                <a:spcPct val="0"/>
              </a:spcBef>
              <a:spcAft>
                <a:spcPct val="0"/>
              </a:spcAft>
              <a:defRPr sz="3800">
                <a:solidFill>
                  <a:schemeClr val="tx2"/>
                </a:solidFill>
                <a:latin typeface="Arial" pitchFamily="34" charset="0"/>
                <a:ea typeface="黑体" pitchFamily="49" charset="-122"/>
              </a:defRPr>
            </a:lvl9pPr>
          </a:lstStyle>
          <a:p>
            <a:pPr>
              <a:defRPr/>
            </a:pPr>
            <a:r>
              <a:rPr kumimoji="1" lang="zh-CN" altLang="en-US" kern="0"/>
              <a:t>图</a:t>
            </a:r>
            <a:endParaRPr kumimoji="1" lang="zh-CN" altLang="en-US" kern="0" dirty="0"/>
          </a:p>
        </p:txBody>
      </p:sp>
      <p:sp>
        <p:nvSpPr>
          <p:cNvPr id="4" name="Rectangle 3">
            <a:extLst>
              <a:ext uri="{FF2B5EF4-FFF2-40B4-BE49-F238E27FC236}">
                <a16:creationId xmlns:a16="http://schemas.microsoft.com/office/drawing/2014/main" id="{DF3F922C-7303-44CC-AB69-2F2DF11DC620}"/>
              </a:ext>
            </a:extLst>
          </p:cNvPr>
          <p:cNvSpPr txBox="1">
            <a:spLocks noChangeArrowheads="1"/>
          </p:cNvSpPr>
          <p:nvPr/>
        </p:nvSpPr>
        <p:spPr>
          <a:xfrm>
            <a:off x="457200" y="1447800"/>
            <a:ext cx="8610600" cy="5029200"/>
          </a:xfrm>
          <a:prstGeom prst="rect">
            <a:avLst/>
          </a:prstGeom>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r>
              <a:rPr lang="zh-CN" altLang="en-US"/>
              <a:t>从输入样本点</a:t>
            </a:r>
            <a:r>
              <a:rPr lang="en-US" altLang="zh-CN"/>
              <a:t>X</a:t>
            </a:r>
            <a:r>
              <a:rPr lang="zh-CN" altLang="en-US"/>
              <a:t>构建一个近邻图</a:t>
            </a:r>
            <a:r>
              <a:rPr lang="en-US" altLang="zh-CN"/>
              <a:t>, </a:t>
            </a:r>
            <a:r>
              <a:rPr lang="zh-CN" altLang="en-US"/>
              <a:t>图的顶点为样本点</a:t>
            </a:r>
            <a:r>
              <a:rPr lang="en-US" altLang="zh-CN"/>
              <a:t>, </a:t>
            </a:r>
            <a:r>
              <a:rPr lang="zh-CN" altLang="en-US"/>
              <a:t>离得 很近两点用边相连 </a:t>
            </a:r>
            <a:r>
              <a:rPr lang="en-US" altLang="zh-CN"/>
              <a:t>(</a:t>
            </a:r>
            <a:r>
              <a:rPr lang="zh-CN" altLang="zh-CN"/>
              <a:t>K</a:t>
            </a:r>
            <a:r>
              <a:rPr lang="zh-CN" altLang="en-US"/>
              <a:t>近邻或      邻域</a:t>
            </a:r>
            <a:r>
              <a:rPr lang="en-US" altLang="zh-CN"/>
              <a:t>).</a:t>
            </a:r>
          </a:p>
        </p:txBody>
      </p:sp>
      <p:pic>
        <p:nvPicPr>
          <p:cNvPr id="194564" name="图片 4">
            <a:extLst>
              <a:ext uri="{FF2B5EF4-FFF2-40B4-BE49-F238E27FC236}">
                <a16:creationId xmlns:a16="http://schemas.microsoft.com/office/drawing/2014/main" id="{4AC51C86-D53C-4646-A966-7BE948DA27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50" y="3105150"/>
            <a:ext cx="3873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4565" name="Object 4">
            <a:extLst>
              <a:ext uri="{FF2B5EF4-FFF2-40B4-BE49-F238E27FC236}">
                <a16:creationId xmlns:a16="http://schemas.microsoft.com/office/drawing/2014/main" id="{F2391C1A-6129-4CE2-A434-D86D80D86829}"/>
              </a:ext>
            </a:extLst>
          </p:cNvPr>
          <p:cNvGraphicFramePr>
            <a:graphicFrameLocks noChangeAspect="1"/>
          </p:cNvGraphicFramePr>
          <p:nvPr/>
        </p:nvGraphicFramePr>
        <p:xfrm>
          <a:off x="8229600" y="2057400"/>
          <a:ext cx="415925" cy="457200"/>
        </p:xfrm>
        <a:graphic>
          <a:graphicData uri="http://schemas.openxmlformats.org/presentationml/2006/ole">
            <mc:AlternateContent xmlns:mc="http://schemas.openxmlformats.org/markup-compatibility/2006">
              <mc:Choice xmlns:v="urn:schemas-microsoft-com:vml" Requires="v">
                <p:oleObj spid="_x0000_s194581" name="Equation" r:id="rId5" imgW="0" imgH="0" progId="Equation.3">
                  <p:embed/>
                </p:oleObj>
              </mc:Choice>
              <mc:Fallback>
                <p:oleObj name="Equation" r:id="rId5" imgW="0" imgH="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0" y="2057400"/>
                        <a:ext cx="41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图片 10">
            <a:extLst>
              <a:ext uri="{FF2B5EF4-FFF2-40B4-BE49-F238E27FC236}">
                <a16:creationId xmlns:a16="http://schemas.microsoft.com/office/drawing/2014/main" id="{51E1F2BE-CACD-42B9-A643-57C29E844E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4060825"/>
            <a:ext cx="1752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a:extLst>
              <a:ext uri="{FF2B5EF4-FFF2-40B4-BE49-F238E27FC236}">
                <a16:creationId xmlns:a16="http://schemas.microsoft.com/office/drawing/2014/main" id="{9AC67131-1854-458C-8549-490021550F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4391025"/>
            <a:ext cx="28575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下箭头 13">
            <a:extLst>
              <a:ext uri="{FF2B5EF4-FFF2-40B4-BE49-F238E27FC236}">
                <a16:creationId xmlns:a16="http://schemas.microsoft.com/office/drawing/2014/main" id="{1046673F-5C4D-401B-B7C4-8D146A579E7E}"/>
              </a:ext>
            </a:extLst>
          </p:cNvPr>
          <p:cNvSpPr/>
          <p:nvPr/>
        </p:nvSpPr>
        <p:spPr bwMode="auto">
          <a:xfrm>
            <a:off x="4191000" y="3783013"/>
            <a:ext cx="381000" cy="325437"/>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sp>
        <p:nvSpPr>
          <p:cNvPr id="15" name="下箭头 14">
            <a:extLst>
              <a:ext uri="{FF2B5EF4-FFF2-40B4-BE49-F238E27FC236}">
                <a16:creationId xmlns:a16="http://schemas.microsoft.com/office/drawing/2014/main" id="{59B3BDE7-8A13-4E6C-8288-C18AC52C607A}"/>
              </a:ext>
            </a:extLst>
          </p:cNvPr>
          <p:cNvSpPr/>
          <p:nvPr/>
        </p:nvSpPr>
        <p:spPr bwMode="auto">
          <a:xfrm>
            <a:off x="4191000" y="5084763"/>
            <a:ext cx="381000" cy="325437"/>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pic>
        <p:nvPicPr>
          <p:cNvPr id="17" name="图片 16">
            <a:extLst>
              <a:ext uri="{FF2B5EF4-FFF2-40B4-BE49-F238E27FC236}">
                <a16:creationId xmlns:a16="http://schemas.microsoft.com/office/drawing/2014/main" id="{8722DD77-4E9E-46DB-8849-98FBC81DE9B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5562600"/>
            <a:ext cx="16764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a:extLst>
              <a:ext uri="{FF2B5EF4-FFF2-40B4-BE49-F238E27FC236}">
                <a16:creationId xmlns:a16="http://schemas.microsoft.com/office/drawing/2014/main" id="{44FDA3AC-F8B7-4C28-B8CF-FD69F6B4A0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7350" y="6384925"/>
            <a:ext cx="30734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下箭头 19">
            <a:extLst>
              <a:ext uri="{FF2B5EF4-FFF2-40B4-BE49-F238E27FC236}">
                <a16:creationId xmlns:a16="http://schemas.microsoft.com/office/drawing/2014/main" id="{F1815C35-5E03-4796-8DF2-4B3DAFAA47CE}"/>
              </a:ext>
            </a:extLst>
          </p:cNvPr>
          <p:cNvSpPr/>
          <p:nvPr/>
        </p:nvSpPr>
        <p:spPr bwMode="auto">
          <a:xfrm>
            <a:off x="4191000" y="6075363"/>
            <a:ext cx="381000" cy="325437"/>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0" grpId="0" animBg="1"/>
      <p:bldP spid="20" grpId="1"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灯片编号占位符 1">
            <a:extLst>
              <a:ext uri="{FF2B5EF4-FFF2-40B4-BE49-F238E27FC236}">
                <a16:creationId xmlns:a16="http://schemas.microsoft.com/office/drawing/2014/main" id="{918F20BD-7409-414C-B1AD-F13EBDA1695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D0C69C26-AC0C-4A93-994B-3017BBBB9E01}" type="slidenum">
              <a:rPr lang="en-US" altLang="zh-CN" sz="1000" smtClean="0">
                <a:ea typeface="宋体" panose="02010600030101010101" pitchFamily="2" charset="-122"/>
              </a:rPr>
              <a:pPr>
                <a:spcBef>
                  <a:spcPct val="0"/>
                </a:spcBef>
                <a:buClrTx/>
                <a:buFontTx/>
                <a:buNone/>
              </a:pPr>
              <a:t>136</a:t>
            </a:fld>
            <a:endParaRPr lang="en-US" altLang="zh-CN" sz="1000">
              <a:ea typeface="宋体" panose="02010600030101010101" pitchFamily="2" charset="-122"/>
            </a:endParaRPr>
          </a:p>
        </p:txBody>
      </p:sp>
      <p:sp>
        <p:nvSpPr>
          <p:cNvPr id="3" name="标题 1">
            <a:extLst>
              <a:ext uri="{FF2B5EF4-FFF2-40B4-BE49-F238E27FC236}">
                <a16:creationId xmlns:a16="http://schemas.microsoft.com/office/drawing/2014/main" id="{6F112B94-1312-439F-A6A8-BF61D6525108}"/>
              </a:ext>
            </a:extLst>
          </p:cNvPr>
          <p:cNvSpPr txBox="1">
            <a:spLocks/>
          </p:cNvSpPr>
          <p:nvPr/>
        </p:nvSpPr>
        <p:spPr>
          <a:xfrm>
            <a:off x="457200" y="274638"/>
            <a:ext cx="8229600" cy="114300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pitchFamily="34" charset="0"/>
                <a:ea typeface="黑体" pitchFamily="49" charset="-122"/>
              </a:defRPr>
            </a:lvl2pPr>
            <a:lvl3pPr algn="l" rtl="0" eaLnBrk="0" fontAlgn="base" hangingPunct="0">
              <a:spcBef>
                <a:spcPct val="0"/>
              </a:spcBef>
              <a:spcAft>
                <a:spcPct val="0"/>
              </a:spcAft>
              <a:defRPr sz="3800">
                <a:solidFill>
                  <a:schemeClr val="tx2"/>
                </a:solidFill>
                <a:latin typeface="Arial" pitchFamily="34" charset="0"/>
                <a:ea typeface="黑体" pitchFamily="49" charset="-122"/>
              </a:defRPr>
            </a:lvl3pPr>
            <a:lvl4pPr algn="l" rtl="0" eaLnBrk="0" fontAlgn="base" hangingPunct="0">
              <a:spcBef>
                <a:spcPct val="0"/>
              </a:spcBef>
              <a:spcAft>
                <a:spcPct val="0"/>
              </a:spcAft>
              <a:defRPr sz="3800">
                <a:solidFill>
                  <a:schemeClr val="tx2"/>
                </a:solidFill>
                <a:latin typeface="Arial" pitchFamily="34" charset="0"/>
                <a:ea typeface="黑体" pitchFamily="49" charset="-122"/>
              </a:defRPr>
            </a:lvl4pPr>
            <a:lvl5pPr algn="l" rtl="0" eaLnBrk="0" fontAlgn="base" hangingPunct="0">
              <a:spcBef>
                <a:spcPct val="0"/>
              </a:spcBef>
              <a:spcAft>
                <a:spcPct val="0"/>
              </a:spcAft>
              <a:defRPr sz="3800">
                <a:solidFill>
                  <a:schemeClr val="tx2"/>
                </a:solidFill>
                <a:latin typeface="Arial" pitchFamily="34" charset="0"/>
                <a:ea typeface="黑体" pitchFamily="49" charset="-122"/>
              </a:defRPr>
            </a:lvl5pPr>
            <a:lvl6pPr marL="457200" algn="l" rtl="0" fontAlgn="base">
              <a:spcBef>
                <a:spcPct val="0"/>
              </a:spcBef>
              <a:spcAft>
                <a:spcPct val="0"/>
              </a:spcAft>
              <a:defRPr sz="3800">
                <a:solidFill>
                  <a:schemeClr val="tx2"/>
                </a:solidFill>
                <a:latin typeface="Arial" pitchFamily="34" charset="0"/>
                <a:ea typeface="黑体" pitchFamily="49" charset="-122"/>
              </a:defRPr>
            </a:lvl6pPr>
            <a:lvl7pPr marL="914400" algn="l" rtl="0" fontAlgn="base">
              <a:spcBef>
                <a:spcPct val="0"/>
              </a:spcBef>
              <a:spcAft>
                <a:spcPct val="0"/>
              </a:spcAft>
              <a:defRPr sz="3800">
                <a:solidFill>
                  <a:schemeClr val="tx2"/>
                </a:solidFill>
                <a:latin typeface="Arial" pitchFamily="34" charset="0"/>
                <a:ea typeface="黑体" pitchFamily="49" charset="-122"/>
              </a:defRPr>
            </a:lvl7pPr>
            <a:lvl8pPr marL="1371600" algn="l" rtl="0" fontAlgn="base">
              <a:spcBef>
                <a:spcPct val="0"/>
              </a:spcBef>
              <a:spcAft>
                <a:spcPct val="0"/>
              </a:spcAft>
              <a:defRPr sz="3800">
                <a:solidFill>
                  <a:schemeClr val="tx2"/>
                </a:solidFill>
                <a:latin typeface="Arial" pitchFamily="34" charset="0"/>
                <a:ea typeface="黑体" pitchFamily="49" charset="-122"/>
              </a:defRPr>
            </a:lvl8pPr>
            <a:lvl9pPr marL="1828800" algn="l" rtl="0" fontAlgn="base">
              <a:spcBef>
                <a:spcPct val="0"/>
              </a:spcBef>
              <a:spcAft>
                <a:spcPct val="0"/>
              </a:spcAft>
              <a:defRPr sz="3800">
                <a:solidFill>
                  <a:schemeClr val="tx2"/>
                </a:solidFill>
                <a:latin typeface="Arial" pitchFamily="34" charset="0"/>
                <a:ea typeface="黑体" pitchFamily="49" charset="-122"/>
              </a:defRPr>
            </a:lvl9pPr>
          </a:lstStyle>
          <a:p>
            <a:pPr>
              <a:defRPr/>
            </a:pPr>
            <a:r>
              <a:rPr lang="en-US" altLang="zh-CN" sz="3600" b="1" dirty="0">
                <a:latin typeface="Times New Roman" panose="02020603050405020304" pitchFamily="18" charset="0"/>
                <a:ea typeface="宋体" panose="02010600030101010101" pitchFamily="2" charset="-122"/>
              </a:rPr>
              <a:t>Laplacian Eigenmap </a:t>
            </a:r>
            <a:endParaRPr kumimoji="1" lang="zh-CN" altLang="en-US" kern="0" dirty="0"/>
          </a:p>
        </p:txBody>
      </p:sp>
      <p:sp>
        <p:nvSpPr>
          <p:cNvPr id="4" name="Rectangle 3">
            <a:extLst>
              <a:ext uri="{FF2B5EF4-FFF2-40B4-BE49-F238E27FC236}">
                <a16:creationId xmlns:a16="http://schemas.microsoft.com/office/drawing/2014/main" id="{04E77F8E-C91C-4DC5-9FA3-86C8003DCF76}"/>
              </a:ext>
            </a:extLst>
          </p:cNvPr>
          <p:cNvSpPr txBox="1">
            <a:spLocks noChangeArrowheads="1"/>
          </p:cNvSpPr>
          <p:nvPr/>
        </p:nvSpPr>
        <p:spPr>
          <a:xfrm>
            <a:off x="457200" y="1447800"/>
            <a:ext cx="8610600" cy="5029200"/>
          </a:xfrm>
          <a:prstGeom prst="rect">
            <a:avLst/>
          </a:prstGeom>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r>
              <a:rPr lang="zh-CN" altLang="en-US"/>
              <a:t>希望在图中相连的点在降维后的空间中尽可能的靠近</a:t>
            </a:r>
            <a:endParaRPr lang="en-US" altLang="zh-CN"/>
          </a:p>
        </p:txBody>
      </p:sp>
      <p:pic>
        <p:nvPicPr>
          <p:cNvPr id="196612" name="图片 7">
            <a:extLst>
              <a:ext uri="{FF2B5EF4-FFF2-40B4-BE49-F238E27FC236}">
                <a16:creationId xmlns:a16="http://schemas.microsoft.com/office/drawing/2014/main" id="{AD342F47-B4A0-4577-97FE-5808D83A4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552700"/>
            <a:ext cx="27559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下箭头 15">
            <a:extLst>
              <a:ext uri="{FF2B5EF4-FFF2-40B4-BE49-F238E27FC236}">
                <a16:creationId xmlns:a16="http://schemas.microsoft.com/office/drawing/2014/main" id="{79FCD485-D6D4-400A-A1A1-8070F7C9D427}"/>
              </a:ext>
            </a:extLst>
          </p:cNvPr>
          <p:cNvSpPr/>
          <p:nvPr/>
        </p:nvSpPr>
        <p:spPr bwMode="auto">
          <a:xfrm>
            <a:off x="4381500" y="3570288"/>
            <a:ext cx="381000" cy="327025"/>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pic>
        <p:nvPicPr>
          <p:cNvPr id="10" name="图片 9">
            <a:extLst>
              <a:ext uri="{FF2B5EF4-FFF2-40B4-BE49-F238E27FC236}">
                <a16:creationId xmlns:a16="http://schemas.microsoft.com/office/drawing/2014/main" id="{4C1941AB-6499-420E-81DF-D4D31001DC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3962400"/>
            <a:ext cx="70612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线连接符 17">
            <a:extLst>
              <a:ext uri="{FF2B5EF4-FFF2-40B4-BE49-F238E27FC236}">
                <a16:creationId xmlns:a16="http://schemas.microsoft.com/office/drawing/2014/main" id="{296ADDBB-1C2E-4352-BC7B-BAD4905DE625}"/>
              </a:ext>
            </a:extLst>
          </p:cNvPr>
          <p:cNvCxnSpPr>
            <a:cxnSpLocks/>
          </p:cNvCxnSpPr>
          <p:nvPr/>
        </p:nvCxnSpPr>
        <p:spPr bwMode="auto">
          <a:xfrm>
            <a:off x="3657600" y="3429000"/>
            <a:ext cx="1828800" cy="0"/>
          </a:xfrm>
          <a:prstGeom prst="line">
            <a:avLst/>
          </a:prstGeom>
          <a:noFill/>
          <a:ln w="38100" cap="flat" cmpd="sng" algn="ctr">
            <a:solidFill>
              <a:schemeClr val="accent1">
                <a:lumMod val="50000"/>
              </a:schemeClr>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灯片编号占位符 1">
            <a:extLst>
              <a:ext uri="{FF2B5EF4-FFF2-40B4-BE49-F238E27FC236}">
                <a16:creationId xmlns:a16="http://schemas.microsoft.com/office/drawing/2014/main" id="{4EAFFCC0-644A-497F-B6B0-1A7C985E2FA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7ACBE235-8E04-47F6-9A2C-A6CDD6551C8C}" type="slidenum">
              <a:rPr lang="en-US" altLang="zh-CN" sz="1000" smtClean="0">
                <a:ea typeface="宋体" panose="02010600030101010101" pitchFamily="2" charset="-122"/>
              </a:rPr>
              <a:pPr>
                <a:spcBef>
                  <a:spcPct val="0"/>
                </a:spcBef>
                <a:buClrTx/>
                <a:buFontTx/>
                <a:buNone/>
              </a:pPr>
              <a:t>137</a:t>
            </a:fld>
            <a:endParaRPr lang="en-US" altLang="zh-CN" sz="1000">
              <a:ea typeface="宋体" panose="02010600030101010101" pitchFamily="2" charset="-122"/>
            </a:endParaRPr>
          </a:p>
        </p:txBody>
      </p:sp>
      <p:sp>
        <p:nvSpPr>
          <p:cNvPr id="3" name="标题 1">
            <a:extLst>
              <a:ext uri="{FF2B5EF4-FFF2-40B4-BE49-F238E27FC236}">
                <a16:creationId xmlns:a16="http://schemas.microsoft.com/office/drawing/2014/main" id="{B1AE818D-B4B5-414A-8086-15E3EE929B35}"/>
              </a:ext>
            </a:extLst>
          </p:cNvPr>
          <p:cNvSpPr txBox="1">
            <a:spLocks/>
          </p:cNvSpPr>
          <p:nvPr/>
        </p:nvSpPr>
        <p:spPr>
          <a:xfrm>
            <a:off x="457200" y="274638"/>
            <a:ext cx="8229600" cy="114300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pitchFamily="34" charset="0"/>
                <a:ea typeface="黑体" pitchFamily="49" charset="-122"/>
              </a:defRPr>
            </a:lvl2pPr>
            <a:lvl3pPr algn="l" rtl="0" eaLnBrk="0" fontAlgn="base" hangingPunct="0">
              <a:spcBef>
                <a:spcPct val="0"/>
              </a:spcBef>
              <a:spcAft>
                <a:spcPct val="0"/>
              </a:spcAft>
              <a:defRPr sz="3800">
                <a:solidFill>
                  <a:schemeClr val="tx2"/>
                </a:solidFill>
                <a:latin typeface="Arial" pitchFamily="34" charset="0"/>
                <a:ea typeface="黑体" pitchFamily="49" charset="-122"/>
              </a:defRPr>
            </a:lvl3pPr>
            <a:lvl4pPr algn="l" rtl="0" eaLnBrk="0" fontAlgn="base" hangingPunct="0">
              <a:spcBef>
                <a:spcPct val="0"/>
              </a:spcBef>
              <a:spcAft>
                <a:spcPct val="0"/>
              </a:spcAft>
              <a:defRPr sz="3800">
                <a:solidFill>
                  <a:schemeClr val="tx2"/>
                </a:solidFill>
                <a:latin typeface="Arial" pitchFamily="34" charset="0"/>
                <a:ea typeface="黑体" pitchFamily="49" charset="-122"/>
              </a:defRPr>
            </a:lvl4pPr>
            <a:lvl5pPr algn="l" rtl="0" eaLnBrk="0" fontAlgn="base" hangingPunct="0">
              <a:spcBef>
                <a:spcPct val="0"/>
              </a:spcBef>
              <a:spcAft>
                <a:spcPct val="0"/>
              </a:spcAft>
              <a:defRPr sz="3800">
                <a:solidFill>
                  <a:schemeClr val="tx2"/>
                </a:solidFill>
                <a:latin typeface="Arial" pitchFamily="34" charset="0"/>
                <a:ea typeface="黑体" pitchFamily="49" charset="-122"/>
              </a:defRPr>
            </a:lvl5pPr>
            <a:lvl6pPr marL="457200" algn="l" rtl="0" fontAlgn="base">
              <a:spcBef>
                <a:spcPct val="0"/>
              </a:spcBef>
              <a:spcAft>
                <a:spcPct val="0"/>
              </a:spcAft>
              <a:defRPr sz="3800">
                <a:solidFill>
                  <a:schemeClr val="tx2"/>
                </a:solidFill>
                <a:latin typeface="Arial" pitchFamily="34" charset="0"/>
                <a:ea typeface="黑体" pitchFamily="49" charset="-122"/>
              </a:defRPr>
            </a:lvl6pPr>
            <a:lvl7pPr marL="914400" algn="l" rtl="0" fontAlgn="base">
              <a:spcBef>
                <a:spcPct val="0"/>
              </a:spcBef>
              <a:spcAft>
                <a:spcPct val="0"/>
              </a:spcAft>
              <a:defRPr sz="3800">
                <a:solidFill>
                  <a:schemeClr val="tx2"/>
                </a:solidFill>
                <a:latin typeface="Arial" pitchFamily="34" charset="0"/>
                <a:ea typeface="黑体" pitchFamily="49" charset="-122"/>
              </a:defRPr>
            </a:lvl7pPr>
            <a:lvl8pPr marL="1371600" algn="l" rtl="0" fontAlgn="base">
              <a:spcBef>
                <a:spcPct val="0"/>
              </a:spcBef>
              <a:spcAft>
                <a:spcPct val="0"/>
              </a:spcAft>
              <a:defRPr sz="3800">
                <a:solidFill>
                  <a:schemeClr val="tx2"/>
                </a:solidFill>
                <a:latin typeface="Arial" pitchFamily="34" charset="0"/>
                <a:ea typeface="黑体" pitchFamily="49" charset="-122"/>
              </a:defRPr>
            </a:lvl8pPr>
            <a:lvl9pPr marL="1828800" algn="l" rtl="0" fontAlgn="base">
              <a:spcBef>
                <a:spcPct val="0"/>
              </a:spcBef>
              <a:spcAft>
                <a:spcPct val="0"/>
              </a:spcAft>
              <a:defRPr sz="3800">
                <a:solidFill>
                  <a:schemeClr val="tx2"/>
                </a:solidFill>
                <a:latin typeface="Arial" pitchFamily="34" charset="0"/>
                <a:ea typeface="黑体" pitchFamily="49" charset="-122"/>
              </a:defRPr>
            </a:lvl9pPr>
          </a:lstStyle>
          <a:p>
            <a:pPr>
              <a:defRPr/>
            </a:pPr>
            <a:r>
              <a:rPr lang="en-US" altLang="zh-CN" sz="3600" b="1" dirty="0">
                <a:latin typeface="Times New Roman" panose="02020603050405020304" pitchFamily="18" charset="0"/>
                <a:ea typeface="宋体" panose="02010600030101010101" pitchFamily="2" charset="-122"/>
              </a:rPr>
              <a:t>Laplacian Eigenmap </a:t>
            </a:r>
            <a:endParaRPr kumimoji="1" lang="zh-CN" altLang="en-US" kern="0" dirty="0"/>
          </a:p>
        </p:txBody>
      </p:sp>
      <p:sp>
        <p:nvSpPr>
          <p:cNvPr id="4" name="Rectangle 3">
            <a:extLst>
              <a:ext uri="{FF2B5EF4-FFF2-40B4-BE49-F238E27FC236}">
                <a16:creationId xmlns:a16="http://schemas.microsoft.com/office/drawing/2014/main" id="{243AC7E6-7D1C-4499-B07D-8BEACDBC8F8D}"/>
              </a:ext>
            </a:extLst>
          </p:cNvPr>
          <p:cNvSpPr txBox="1">
            <a:spLocks noChangeArrowheads="1"/>
          </p:cNvSpPr>
          <p:nvPr/>
        </p:nvSpPr>
        <p:spPr>
          <a:xfrm>
            <a:off x="457200" y="1447800"/>
            <a:ext cx="8610600" cy="5029200"/>
          </a:xfrm>
          <a:prstGeom prst="rect">
            <a:avLst/>
          </a:prstGeom>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r>
              <a:rPr lang="zh-CN" altLang="en-US"/>
              <a:t>希望在图中相连的点在降维后的空间中尽可能的靠近</a:t>
            </a:r>
            <a:endParaRPr lang="en-US" altLang="zh-CN"/>
          </a:p>
        </p:txBody>
      </p:sp>
      <p:pic>
        <p:nvPicPr>
          <p:cNvPr id="198660" name="图片 7">
            <a:extLst>
              <a:ext uri="{FF2B5EF4-FFF2-40B4-BE49-F238E27FC236}">
                <a16:creationId xmlns:a16="http://schemas.microsoft.com/office/drawing/2014/main" id="{B4A8836A-DB10-4D84-8B6F-BDCF48704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552700"/>
            <a:ext cx="27559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下箭头 15">
            <a:extLst>
              <a:ext uri="{FF2B5EF4-FFF2-40B4-BE49-F238E27FC236}">
                <a16:creationId xmlns:a16="http://schemas.microsoft.com/office/drawing/2014/main" id="{8BAD5DD3-C6E8-43B1-A9FC-6589F76B3A92}"/>
              </a:ext>
            </a:extLst>
          </p:cNvPr>
          <p:cNvSpPr/>
          <p:nvPr/>
        </p:nvSpPr>
        <p:spPr bwMode="auto">
          <a:xfrm>
            <a:off x="4178300" y="3590925"/>
            <a:ext cx="381000" cy="325438"/>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cxnSp>
        <p:nvCxnSpPr>
          <p:cNvPr id="18" name="直线连接符 17">
            <a:extLst>
              <a:ext uri="{FF2B5EF4-FFF2-40B4-BE49-F238E27FC236}">
                <a16:creationId xmlns:a16="http://schemas.microsoft.com/office/drawing/2014/main" id="{12AF7D32-EE5F-4F3A-A6AF-D97A6DA3EDD1}"/>
              </a:ext>
            </a:extLst>
          </p:cNvPr>
          <p:cNvCxnSpPr>
            <a:cxnSpLocks/>
          </p:cNvCxnSpPr>
          <p:nvPr/>
        </p:nvCxnSpPr>
        <p:spPr bwMode="auto">
          <a:xfrm>
            <a:off x="3124200" y="3429000"/>
            <a:ext cx="2362200" cy="0"/>
          </a:xfrm>
          <a:prstGeom prst="line">
            <a:avLst/>
          </a:prstGeom>
          <a:noFill/>
          <a:ln w="38100" cap="flat" cmpd="sng" algn="ctr">
            <a:solidFill>
              <a:schemeClr val="accent1">
                <a:lumMod val="50000"/>
              </a:schemeClr>
            </a:solidFill>
            <a:prstDash val="solid"/>
            <a:round/>
            <a:headEnd type="none" w="med" len="med"/>
            <a:tailEnd type="none" w="med" len="med"/>
          </a:ln>
          <a:effectLst/>
        </p:spPr>
      </p:cxnSp>
      <p:pic>
        <p:nvPicPr>
          <p:cNvPr id="7" name="图片 6">
            <a:extLst>
              <a:ext uri="{FF2B5EF4-FFF2-40B4-BE49-F238E27FC236}">
                <a16:creationId xmlns:a16="http://schemas.microsoft.com/office/drawing/2014/main" id="{5A559EF2-7E06-48D3-8A03-3FD4553FA6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7400" y="3930650"/>
            <a:ext cx="2108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下箭头 11">
            <a:extLst>
              <a:ext uri="{FF2B5EF4-FFF2-40B4-BE49-F238E27FC236}">
                <a16:creationId xmlns:a16="http://schemas.microsoft.com/office/drawing/2014/main" id="{B32A4F83-8A25-4C28-89CF-D9BD18C7CBD0}"/>
              </a:ext>
            </a:extLst>
          </p:cNvPr>
          <p:cNvSpPr/>
          <p:nvPr/>
        </p:nvSpPr>
        <p:spPr bwMode="auto">
          <a:xfrm>
            <a:off x="4178300" y="4684713"/>
            <a:ext cx="381000" cy="325437"/>
          </a:xfrm>
          <a:prstGeom prst="downArrow">
            <a:avLst/>
          </a:prstGeom>
          <a:solidFill>
            <a:schemeClr val="accent1">
              <a:lumMod val="75000"/>
            </a:schemeClr>
          </a:solidFill>
          <a:ln w="9525" cap="flat" cmpd="sng" algn="ctr">
            <a:noFill/>
            <a:prstDash val="solid"/>
            <a:round/>
            <a:headEnd type="none" w="med" len="med"/>
            <a:tailEnd type="none" w="med" len="med"/>
          </a:ln>
          <a:effectLst/>
        </p:spPr>
        <p:txBody>
          <a:bodyPr anchor="ctr" anchorCtr="1">
            <a:spAutoFit/>
          </a:bodyPr>
          <a:lstStyle/>
          <a:p>
            <a:pPr eaLnBrk="1" hangingPunct="1">
              <a:spcBef>
                <a:spcPct val="50000"/>
              </a:spcBef>
              <a:defRPr/>
            </a:pPr>
            <a:endParaRPr lang="zh-CN" altLang="en-US"/>
          </a:p>
        </p:txBody>
      </p:sp>
      <p:pic>
        <p:nvPicPr>
          <p:cNvPr id="11" name="图片 10">
            <a:extLst>
              <a:ext uri="{FF2B5EF4-FFF2-40B4-BE49-F238E27FC236}">
                <a16:creationId xmlns:a16="http://schemas.microsoft.com/office/drawing/2014/main" id="{15F2B09F-76F2-4E42-BEF9-310DFB5BB3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6450" y="5056188"/>
            <a:ext cx="185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3991585-D39D-4DF2-A947-6F0335D46DE9}"/>
              </a:ext>
            </a:extLst>
          </p:cNvPr>
          <p:cNvSpPr txBox="1">
            <a:spLocks noChangeArrowheads="1"/>
          </p:cNvSpPr>
          <p:nvPr/>
        </p:nvSpPr>
        <p:spPr bwMode="auto">
          <a:xfrm>
            <a:off x="1147763" y="6059488"/>
            <a:ext cx="6848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hlink"/>
                </a:solidFill>
                <a:latin typeface="Arial" panose="020B0604020202020204" pitchFamily="34" charset="0"/>
                <a:ea typeface="宋体" panose="02010600030101010101" pitchFamily="2" charset="-122"/>
              </a:defRPr>
            </a:lvl1pPr>
            <a:lvl2pPr marL="742950" indent="-285750">
              <a:defRPr sz="2000">
                <a:solidFill>
                  <a:schemeClr val="hlink"/>
                </a:solidFill>
                <a:latin typeface="Arial" panose="020B0604020202020204" pitchFamily="34" charset="0"/>
                <a:ea typeface="宋体" panose="02010600030101010101" pitchFamily="2" charset="-122"/>
              </a:defRPr>
            </a:lvl2pPr>
            <a:lvl3pPr marL="1143000" indent="-228600">
              <a:defRPr sz="2000">
                <a:solidFill>
                  <a:schemeClr val="hlink"/>
                </a:solidFill>
                <a:latin typeface="Arial" panose="020B0604020202020204" pitchFamily="34" charset="0"/>
                <a:ea typeface="宋体" panose="02010600030101010101" pitchFamily="2" charset="-122"/>
              </a:defRPr>
            </a:lvl3pPr>
            <a:lvl4pPr marL="1600200" indent="-228600">
              <a:defRPr sz="2000">
                <a:solidFill>
                  <a:schemeClr val="hlink"/>
                </a:solidFill>
                <a:latin typeface="Arial" panose="020B0604020202020204" pitchFamily="34" charset="0"/>
                <a:ea typeface="宋体" panose="02010600030101010101" pitchFamily="2" charset="-122"/>
              </a:defRPr>
            </a:lvl4pPr>
            <a:lvl5pPr marL="2057400" indent="-228600">
              <a:defRPr sz="2000">
                <a:solidFill>
                  <a:schemeClr val="hlink"/>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hlink"/>
                </a:solidFill>
                <a:latin typeface="Arial" panose="020B0604020202020204" pitchFamily="34" charset="0"/>
                <a:ea typeface="宋体" panose="02010600030101010101" pitchFamily="2" charset="-122"/>
              </a:defRPr>
            </a:lvl9pPr>
          </a:lstStyle>
          <a:p>
            <a:r>
              <a:rPr lang="zh-CN" altLang="en-US">
                <a:solidFill>
                  <a:srgbClr val="121212"/>
                </a:solidFill>
                <a:latin typeface="-apple-system"/>
              </a:rPr>
              <a:t>该优化问题的解由广义特征分解的最小特征值对应的解给出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2" grpId="0" animBg="1"/>
      <p:bldP spid="5" grpId="0"/>
    </p:bld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0705" name="灯片编号占位符 3">
            <a:extLst>
              <a:ext uri="{FF2B5EF4-FFF2-40B4-BE49-F238E27FC236}">
                <a16:creationId xmlns:a16="http://schemas.microsoft.com/office/drawing/2014/main" id="{323EA783-55FE-491F-A270-0E28DB8D07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B3C95CAB-7FA6-46B3-AB19-C4B937F5B8E9}" type="slidenum">
              <a:rPr lang="en-US" altLang="zh-CN" sz="1000" smtClean="0">
                <a:ea typeface="宋体" panose="02010600030101010101" pitchFamily="2" charset="-122"/>
              </a:rPr>
              <a:pPr>
                <a:spcBef>
                  <a:spcPct val="0"/>
                </a:spcBef>
                <a:buClrTx/>
                <a:buFontTx/>
                <a:buNone/>
              </a:pPr>
              <a:t>138</a:t>
            </a:fld>
            <a:endParaRPr lang="en-US" altLang="zh-CN" sz="1000">
              <a:ea typeface="宋体" panose="02010600030101010101" pitchFamily="2" charset="-122"/>
            </a:endParaRPr>
          </a:p>
        </p:txBody>
      </p:sp>
      <p:graphicFrame>
        <p:nvGraphicFramePr>
          <p:cNvPr id="200706" name="Object 2">
            <a:extLst>
              <a:ext uri="{FF2B5EF4-FFF2-40B4-BE49-F238E27FC236}">
                <a16:creationId xmlns:a16="http://schemas.microsoft.com/office/drawing/2014/main" id="{A6C27611-437E-448C-BDC3-37418F322D39}"/>
              </a:ext>
            </a:extLst>
          </p:cNvPr>
          <p:cNvGraphicFramePr>
            <a:graphicFrameLocks noChangeAspect="1"/>
          </p:cNvGraphicFramePr>
          <p:nvPr/>
        </p:nvGraphicFramePr>
        <p:xfrm>
          <a:off x="1039813" y="2079625"/>
          <a:ext cx="7924800" cy="4662488"/>
        </p:xfrm>
        <a:graphic>
          <a:graphicData uri="http://schemas.openxmlformats.org/presentationml/2006/ole">
            <mc:AlternateContent xmlns:mc="http://schemas.openxmlformats.org/markup-compatibility/2006">
              <mc:Choice xmlns:v="urn:schemas-microsoft-com:vml" Requires="v">
                <p:oleObj spid="_x0000_s200712" name="位图图像" r:id="rId3" imgW="6149873" imgH="3619814" progId="Paint.Picture">
                  <p:embed/>
                </p:oleObj>
              </mc:Choice>
              <mc:Fallback>
                <p:oleObj name="位图图像" r:id="rId3" imgW="6149873" imgH="3619814"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813" y="2079625"/>
                        <a:ext cx="7924800" cy="46624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07" name="Text Box 3">
            <a:extLst>
              <a:ext uri="{FF2B5EF4-FFF2-40B4-BE49-F238E27FC236}">
                <a16:creationId xmlns:a16="http://schemas.microsoft.com/office/drawing/2014/main" id="{144B5556-F919-4814-BDD8-06CE575AF253}"/>
              </a:ext>
            </a:extLst>
          </p:cNvPr>
          <p:cNvSpPr txBox="1">
            <a:spLocks noChangeArrowheads="1"/>
          </p:cNvSpPr>
          <p:nvPr/>
        </p:nvSpPr>
        <p:spPr bwMode="auto">
          <a:xfrm>
            <a:off x="1258888" y="1203325"/>
            <a:ext cx="7253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fontAlgn="t" hangingPunct="1">
              <a:spcBef>
                <a:spcPct val="50000"/>
              </a:spcBef>
              <a:buClrTx/>
              <a:buFontTx/>
              <a:buNone/>
            </a:pPr>
            <a:r>
              <a:rPr lang="en-US" altLang="zh-CN" sz="3600" b="1">
                <a:latin typeface="Times New Roman" panose="02020603050405020304" pitchFamily="18" charset="0"/>
                <a:ea typeface="宋体" panose="02010600030101010101" pitchFamily="2" charset="-122"/>
              </a:rPr>
              <a:t>Laplacian Eigenmap</a:t>
            </a:r>
            <a:r>
              <a:rPr lang="zh-CN" altLang="en-US" sz="3600" b="1">
                <a:latin typeface="Times New Roman" panose="02020603050405020304" pitchFamily="18" charset="0"/>
                <a:ea typeface="宋体" panose="02010600030101010101" pitchFamily="2" charset="-122"/>
              </a:rPr>
              <a:t>实验结果</a:t>
            </a:r>
            <a:r>
              <a:rPr lang="en-US" altLang="zh-CN" sz="3600" b="1">
                <a:latin typeface="Times New Roman" panose="02020603050405020304" pitchFamily="18" charset="0"/>
                <a:ea typeface="宋体" panose="02010600030101010101" pitchFamily="2" charset="-122"/>
              </a:rPr>
              <a:t>(1)</a:t>
            </a: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1729" name="灯片编号占位符 5">
            <a:extLst>
              <a:ext uri="{FF2B5EF4-FFF2-40B4-BE49-F238E27FC236}">
                <a16:creationId xmlns:a16="http://schemas.microsoft.com/office/drawing/2014/main" id="{D3E27010-754F-47B0-A927-2D4DC4ECA8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A61A6202-95EC-4498-B7C4-A9EC5FA8E926}" type="slidenum">
              <a:rPr lang="en-US" altLang="zh-CN" sz="1000" smtClean="0">
                <a:ea typeface="宋体" panose="02010600030101010101" pitchFamily="2" charset="-122"/>
              </a:rPr>
              <a:pPr>
                <a:spcBef>
                  <a:spcPct val="0"/>
                </a:spcBef>
                <a:buClrTx/>
                <a:buFontTx/>
                <a:buNone/>
              </a:pPr>
              <a:t>139</a:t>
            </a:fld>
            <a:endParaRPr lang="en-US" altLang="zh-CN" sz="1000">
              <a:ea typeface="宋体" panose="02010600030101010101" pitchFamily="2" charset="-122"/>
            </a:endParaRPr>
          </a:p>
        </p:txBody>
      </p:sp>
      <p:pic>
        <p:nvPicPr>
          <p:cNvPr id="201730" name="Picture 2">
            <a:extLst>
              <a:ext uri="{FF2B5EF4-FFF2-40B4-BE49-F238E27FC236}">
                <a16:creationId xmlns:a16="http://schemas.microsoft.com/office/drawing/2014/main" id="{511BC437-5E15-4F21-9163-58F50B1832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995488"/>
            <a:ext cx="5832475"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1" name="Rectangle 3">
            <a:extLst>
              <a:ext uri="{FF2B5EF4-FFF2-40B4-BE49-F238E27FC236}">
                <a16:creationId xmlns:a16="http://schemas.microsoft.com/office/drawing/2014/main" id="{463BEC49-E4D6-4042-ABE1-DF61AC632196}"/>
              </a:ext>
            </a:extLst>
          </p:cNvPr>
          <p:cNvSpPr>
            <a:spLocks noChangeArrowheads="1"/>
          </p:cNvSpPr>
          <p:nvPr/>
        </p:nvSpPr>
        <p:spPr bwMode="auto">
          <a:xfrm>
            <a:off x="1138238" y="5949950"/>
            <a:ext cx="77549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2400" b="1">
                <a:latin typeface="Times New Roman" panose="02020603050405020304" pitchFamily="18" charset="0"/>
                <a:ea typeface="宋体" panose="02010600030101010101" pitchFamily="2" charset="-122"/>
              </a:rPr>
              <a:t>300 most frequent words of the Brown corpus represented</a:t>
            </a:r>
          </a:p>
          <a:p>
            <a:pPr eaLnBrk="1" hangingPunct="1">
              <a:spcBef>
                <a:spcPct val="0"/>
              </a:spcBef>
              <a:buClrTx/>
              <a:buFontTx/>
              <a:buNone/>
            </a:pPr>
            <a:r>
              <a:rPr lang="en-US" altLang="zh-CN" sz="2400" b="1">
                <a:latin typeface="Times New Roman" panose="02020603050405020304" pitchFamily="18" charset="0"/>
                <a:ea typeface="宋体" panose="02010600030101010101" pitchFamily="2" charset="-122"/>
              </a:rPr>
              <a:t> in the spectral domain</a:t>
            </a:r>
          </a:p>
        </p:txBody>
      </p:sp>
      <p:sp>
        <p:nvSpPr>
          <p:cNvPr id="201732" name="Rectangle 4">
            <a:extLst>
              <a:ext uri="{FF2B5EF4-FFF2-40B4-BE49-F238E27FC236}">
                <a16:creationId xmlns:a16="http://schemas.microsoft.com/office/drawing/2014/main" id="{1472D4D9-586C-4EBB-8183-83A44A373936}"/>
              </a:ext>
            </a:extLst>
          </p:cNvPr>
          <p:cNvSpPr>
            <a:spLocks noChangeArrowheads="1"/>
          </p:cNvSpPr>
          <p:nvPr/>
        </p:nvSpPr>
        <p:spPr bwMode="auto">
          <a:xfrm>
            <a:off x="1187450" y="1143000"/>
            <a:ext cx="72009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lgn="ctr" eaLnBrk="1" fontAlgn="t" hangingPunct="1">
              <a:spcBef>
                <a:spcPct val="50000"/>
              </a:spcBef>
              <a:buClrTx/>
              <a:buFontTx/>
              <a:buNone/>
            </a:pPr>
            <a:r>
              <a:rPr lang="en-US" altLang="zh-CN" sz="4000" b="1">
                <a:latin typeface="Times New Roman" panose="02020603050405020304" pitchFamily="18" charset="0"/>
                <a:ea typeface="宋体" panose="02010600030101010101" pitchFamily="2" charset="-122"/>
              </a:rPr>
              <a:t>Laplacian Eigenmap</a:t>
            </a:r>
            <a:r>
              <a:rPr lang="zh-CN" altLang="zh-CN" sz="4000" b="1">
                <a:latin typeface="Times New Roman" panose="02020603050405020304" pitchFamily="18" charset="0"/>
                <a:ea typeface="宋体" panose="02010600030101010101" pitchFamily="2" charset="-122"/>
              </a:rPr>
              <a:t>实验结果</a:t>
            </a:r>
            <a:r>
              <a:rPr lang="en-US" altLang="zh-CN" sz="4000" b="1">
                <a:latin typeface="Times New Roman" panose="02020603050405020304" pitchFamily="18" charset="0"/>
                <a:ea typeface="宋体" panose="02010600030101010101" pitchFamily="2" charset="-122"/>
              </a:rPr>
              <a:t>(2)</a:t>
            </a: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灯片编号占位符 5">
            <a:extLst>
              <a:ext uri="{FF2B5EF4-FFF2-40B4-BE49-F238E27FC236}">
                <a16:creationId xmlns:a16="http://schemas.microsoft.com/office/drawing/2014/main" id="{A03C19D2-A430-42A0-8055-5AD10C61AE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4A76B88-D7D7-474F-8DAC-CDE4D0F9C333}" type="slidenum">
              <a:rPr lang="en-US" altLang="zh-CN" sz="1000" smtClean="0">
                <a:ea typeface="宋体" panose="02010600030101010101" pitchFamily="2" charset="-122"/>
              </a:rPr>
              <a:pPr>
                <a:spcBef>
                  <a:spcPct val="0"/>
                </a:spcBef>
                <a:buClrTx/>
                <a:buFontTx/>
                <a:buNone/>
              </a:pPr>
              <a:t>140</a:t>
            </a:fld>
            <a:endParaRPr lang="en-US" altLang="zh-CN" sz="1000">
              <a:ea typeface="宋体" panose="02010600030101010101" pitchFamily="2" charset="-122"/>
            </a:endParaRPr>
          </a:p>
        </p:txBody>
      </p:sp>
      <p:sp>
        <p:nvSpPr>
          <p:cNvPr id="202754" name="Rectangle 2">
            <a:extLst>
              <a:ext uri="{FF2B5EF4-FFF2-40B4-BE49-F238E27FC236}">
                <a16:creationId xmlns:a16="http://schemas.microsoft.com/office/drawing/2014/main" id="{DF0CC8C0-9E58-4900-8912-9D1A749A1811}"/>
              </a:ext>
            </a:extLst>
          </p:cNvPr>
          <p:cNvSpPr>
            <a:spLocks noGrp="1" noChangeArrowheads="1"/>
          </p:cNvSpPr>
          <p:nvPr>
            <p:ph type="title"/>
          </p:nvPr>
        </p:nvSpPr>
        <p:spPr/>
        <p:txBody>
          <a:bodyPr/>
          <a:lstStyle/>
          <a:p>
            <a:pPr eaLnBrk="1" hangingPunct="1"/>
            <a:r>
              <a:rPr lang="zh-CN" altLang="en-US"/>
              <a:t>代表性算法</a:t>
            </a:r>
            <a:r>
              <a:rPr lang="en-US" altLang="zh-CN"/>
              <a:t>-2</a:t>
            </a:r>
          </a:p>
        </p:txBody>
      </p:sp>
      <p:sp>
        <p:nvSpPr>
          <p:cNvPr id="202755" name="Rectangle 3">
            <a:extLst>
              <a:ext uri="{FF2B5EF4-FFF2-40B4-BE49-F238E27FC236}">
                <a16:creationId xmlns:a16="http://schemas.microsoft.com/office/drawing/2014/main" id="{B50234BC-8563-4434-8C7B-52A903D18575}"/>
              </a:ext>
            </a:extLst>
          </p:cNvPr>
          <p:cNvSpPr>
            <a:spLocks noGrp="1" noChangeArrowheads="1"/>
          </p:cNvSpPr>
          <p:nvPr>
            <p:ph type="body" idx="1"/>
          </p:nvPr>
        </p:nvSpPr>
        <p:spPr>
          <a:xfrm>
            <a:off x="457200" y="1447800"/>
            <a:ext cx="8305800" cy="5029200"/>
          </a:xfrm>
        </p:spPr>
        <p:txBody>
          <a:bodyPr/>
          <a:lstStyle/>
          <a:p>
            <a:pPr eaLnBrk="1" hangingPunct="1"/>
            <a:r>
              <a:rPr lang="en-US" altLang="zh-CN"/>
              <a:t>LE (Laplacian Eigenmap)</a:t>
            </a:r>
          </a:p>
          <a:p>
            <a:pPr lvl="1" eaLnBrk="1" hangingPunct="1"/>
            <a:r>
              <a:rPr lang="zh-CN" altLang="en-US"/>
              <a:t>优点</a:t>
            </a:r>
          </a:p>
          <a:p>
            <a:pPr lvl="2" eaLnBrk="1" hangingPunct="1"/>
            <a:r>
              <a:rPr lang="zh-CN" altLang="en-US"/>
              <a:t>算法是局部非线性方法，与谱图理论有很紧密的联系</a:t>
            </a:r>
            <a:r>
              <a:rPr lang="en-US" altLang="zh-CN"/>
              <a:t>.</a:t>
            </a:r>
          </a:p>
          <a:p>
            <a:pPr lvl="2" eaLnBrk="1" hangingPunct="1"/>
            <a:r>
              <a:rPr lang="zh-CN" altLang="en-US"/>
              <a:t>算法通过求解稀疏矩阵的特征值问题解析地求出整体最优解，效率非常高</a:t>
            </a:r>
          </a:p>
          <a:p>
            <a:pPr lvl="2" eaLnBrk="1" hangingPunct="1"/>
            <a:r>
              <a:rPr lang="zh-CN" altLang="en-US"/>
              <a:t>算法使原空间中离得很近的点在低维空间也离得很近</a:t>
            </a:r>
            <a:r>
              <a:rPr lang="en-US" altLang="zh-CN"/>
              <a:t>, </a:t>
            </a:r>
            <a:r>
              <a:rPr lang="zh-CN" altLang="en-US"/>
              <a:t>可以用于聚类</a:t>
            </a:r>
          </a:p>
          <a:p>
            <a:pPr lvl="1" eaLnBrk="1" hangingPunct="1"/>
            <a:r>
              <a:rPr lang="zh-CN" altLang="en-US"/>
              <a:t>缺点</a:t>
            </a:r>
          </a:p>
          <a:p>
            <a:pPr lvl="2" eaLnBrk="1" hangingPunct="1"/>
            <a:r>
              <a:rPr lang="zh-CN" altLang="en-US"/>
              <a:t>同样对算法参数和数据采样密度较敏感</a:t>
            </a:r>
          </a:p>
          <a:p>
            <a:pPr lvl="2" eaLnBrk="1" hangingPunct="1"/>
            <a:r>
              <a:rPr lang="zh-CN" altLang="en-US"/>
              <a:t>不能有效保持流形的全局几何结构</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灯片编号占位符 5">
            <a:extLst>
              <a:ext uri="{FF2B5EF4-FFF2-40B4-BE49-F238E27FC236}">
                <a16:creationId xmlns:a16="http://schemas.microsoft.com/office/drawing/2014/main" id="{1AB54D88-23A3-486C-864C-DEEFC19642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42B55AA9-6631-4891-A8DD-DC14DF7FFB3E}" type="slidenum">
              <a:rPr lang="en-US" altLang="zh-CN" sz="1000" smtClean="0">
                <a:ea typeface="宋体" panose="02010600030101010101" pitchFamily="2" charset="-122"/>
              </a:rPr>
              <a:pPr>
                <a:spcBef>
                  <a:spcPct val="0"/>
                </a:spcBef>
                <a:buClrTx/>
                <a:buFontTx/>
                <a:buNone/>
              </a:pPr>
              <a:t>141</a:t>
            </a:fld>
            <a:endParaRPr lang="en-US" altLang="zh-CN" sz="1000">
              <a:ea typeface="宋体" panose="02010600030101010101" pitchFamily="2" charset="-122"/>
            </a:endParaRPr>
          </a:p>
        </p:txBody>
      </p:sp>
      <p:sp>
        <p:nvSpPr>
          <p:cNvPr id="203778" name="Rectangle 2">
            <a:extLst>
              <a:ext uri="{FF2B5EF4-FFF2-40B4-BE49-F238E27FC236}">
                <a16:creationId xmlns:a16="http://schemas.microsoft.com/office/drawing/2014/main" id="{F4A4CFB9-FAFC-49E6-B1D7-CD263CFA02AC}"/>
              </a:ext>
            </a:extLst>
          </p:cNvPr>
          <p:cNvSpPr>
            <a:spLocks noGrp="1" noChangeArrowheads="1"/>
          </p:cNvSpPr>
          <p:nvPr>
            <p:ph type="title"/>
          </p:nvPr>
        </p:nvSpPr>
        <p:spPr/>
        <p:txBody>
          <a:bodyPr/>
          <a:lstStyle/>
          <a:p>
            <a:pPr eaLnBrk="1" hangingPunct="1"/>
            <a:r>
              <a:rPr lang="zh-CN" altLang="en-US"/>
              <a:t>提纲</a:t>
            </a:r>
          </a:p>
        </p:txBody>
      </p:sp>
      <p:sp>
        <p:nvSpPr>
          <p:cNvPr id="203779" name="Rectangle 3">
            <a:extLst>
              <a:ext uri="{FF2B5EF4-FFF2-40B4-BE49-F238E27FC236}">
                <a16:creationId xmlns:a16="http://schemas.microsoft.com/office/drawing/2014/main" id="{239FDC38-26DE-4417-BA81-00FA9C50B255}"/>
              </a:ext>
            </a:extLst>
          </p:cNvPr>
          <p:cNvSpPr>
            <a:spLocks noGrp="1" noChangeArrowheads="1"/>
          </p:cNvSpPr>
          <p:nvPr>
            <p:ph type="body" idx="1"/>
          </p:nvPr>
        </p:nvSpPr>
        <p:spPr/>
        <p:txBody>
          <a:bodyPr/>
          <a:lstStyle/>
          <a:p>
            <a:pPr eaLnBrk="1" hangingPunct="1"/>
            <a:r>
              <a:rPr lang="zh-CN" altLang="en-US">
                <a:solidFill>
                  <a:schemeClr val="accent1"/>
                </a:solidFill>
              </a:rPr>
              <a:t>研究背景</a:t>
            </a:r>
          </a:p>
          <a:p>
            <a:pPr eaLnBrk="1" hangingPunct="1"/>
            <a:r>
              <a:rPr lang="zh-CN" altLang="en-US">
                <a:solidFill>
                  <a:schemeClr val="accent1"/>
                </a:solidFill>
              </a:rPr>
              <a:t>基本知识介绍</a:t>
            </a:r>
          </a:p>
          <a:p>
            <a:pPr eaLnBrk="1" hangingPunct="1"/>
            <a:r>
              <a:rPr lang="zh-CN" altLang="en-US">
                <a:solidFill>
                  <a:schemeClr val="accent1"/>
                </a:solidFill>
              </a:rPr>
              <a:t>经典方法概览</a:t>
            </a:r>
          </a:p>
          <a:p>
            <a:pPr eaLnBrk="1" hangingPunct="1"/>
            <a:r>
              <a:rPr lang="zh-CN" altLang="en-US"/>
              <a:t>总结讨论</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灯片编号占位符 5">
            <a:extLst>
              <a:ext uri="{FF2B5EF4-FFF2-40B4-BE49-F238E27FC236}">
                <a16:creationId xmlns:a16="http://schemas.microsoft.com/office/drawing/2014/main" id="{1F87EA0D-77B1-4CEA-8609-9204A23450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76159F8-81EB-43F3-A316-60138121965B}" type="slidenum">
              <a:rPr lang="en-US" altLang="zh-CN" sz="1000" smtClean="0">
                <a:ea typeface="宋体" panose="02010600030101010101" pitchFamily="2" charset="-122"/>
              </a:rPr>
              <a:pPr>
                <a:spcBef>
                  <a:spcPct val="0"/>
                </a:spcBef>
                <a:buClrTx/>
                <a:buFontTx/>
                <a:buNone/>
              </a:pPr>
              <a:t>142</a:t>
            </a:fld>
            <a:endParaRPr lang="en-US" altLang="zh-CN" sz="1000">
              <a:ea typeface="宋体" panose="02010600030101010101" pitchFamily="2" charset="-122"/>
            </a:endParaRPr>
          </a:p>
        </p:txBody>
      </p:sp>
      <p:sp>
        <p:nvSpPr>
          <p:cNvPr id="204802" name="Rectangle 2">
            <a:extLst>
              <a:ext uri="{FF2B5EF4-FFF2-40B4-BE49-F238E27FC236}">
                <a16:creationId xmlns:a16="http://schemas.microsoft.com/office/drawing/2014/main" id="{B838F005-0863-4BA7-8C1F-3BF344C1A4FC}"/>
              </a:ext>
            </a:extLst>
          </p:cNvPr>
          <p:cNvSpPr>
            <a:spLocks noGrp="1" noChangeArrowheads="1"/>
          </p:cNvSpPr>
          <p:nvPr>
            <p:ph type="title"/>
          </p:nvPr>
        </p:nvSpPr>
        <p:spPr/>
        <p:txBody>
          <a:bodyPr/>
          <a:lstStyle/>
          <a:p>
            <a:pPr eaLnBrk="1" hangingPunct="1"/>
            <a:r>
              <a:rPr lang="zh-CN" altLang="en-US"/>
              <a:t>经典方法小结</a:t>
            </a:r>
          </a:p>
        </p:txBody>
      </p:sp>
      <p:sp>
        <p:nvSpPr>
          <p:cNvPr id="204803" name="Rectangle 3">
            <a:extLst>
              <a:ext uri="{FF2B5EF4-FFF2-40B4-BE49-F238E27FC236}">
                <a16:creationId xmlns:a16="http://schemas.microsoft.com/office/drawing/2014/main" id="{E150FB48-54E6-4B07-ADCD-DF1D784DCDDF}"/>
              </a:ext>
            </a:extLst>
          </p:cNvPr>
          <p:cNvSpPr>
            <a:spLocks noGrp="1" noChangeArrowheads="1"/>
          </p:cNvSpPr>
          <p:nvPr>
            <p:ph type="body" idx="1"/>
          </p:nvPr>
        </p:nvSpPr>
        <p:spPr>
          <a:xfrm>
            <a:off x="457200" y="1447800"/>
            <a:ext cx="8458200" cy="5029200"/>
          </a:xfrm>
        </p:spPr>
        <p:txBody>
          <a:bodyPr/>
          <a:lstStyle/>
          <a:p>
            <a:pPr eaLnBrk="1" hangingPunct="1"/>
            <a:r>
              <a:rPr lang="zh-CN" altLang="en-US" sz="2800">
                <a:latin typeface="黑体" panose="02010609060101010101" pitchFamily="49" charset="-122"/>
              </a:rPr>
              <a:t>优点</a:t>
            </a:r>
          </a:p>
          <a:p>
            <a:pPr lvl="1" eaLnBrk="1" hangingPunct="1"/>
            <a:r>
              <a:rPr lang="zh-CN" altLang="en-US" sz="2300">
                <a:latin typeface="黑体" panose="02010609060101010101" pitchFamily="49" charset="-122"/>
              </a:rPr>
              <a:t>非参数：不需要对流形的很多参数作假设</a:t>
            </a:r>
          </a:p>
          <a:p>
            <a:pPr lvl="1" eaLnBrk="1" hangingPunct="1"/>
            <a:r>
              <a:rPr lang="zh-CN" altLang="en-US" sz="2300">
                <a:latin typeface="黑体" panose="02010609060101010101" pitchFamily="49" charset="-122"/>
              </a:rPr>
              <a:t>非线性：基于流形内在几何结构</a:t>
            </a:r>
            <a:r>
              <a:rPr lang="zh-CN" altLang="en-US" sz="2300"/>
              <a:t>，体现现实数据的本质</a:t>
            </a:r>
          </a:p>
          <a:p>
            <a:pPr lvl="1" eaLnBrk="1" hangingPunct="1"/>
            <a:r>
              <a:rPr lang="zh-CN" altLang="en-US" sz="2300"/>
              <a:t>求解简单：转化为</a:t>
            </a:r>
            <a:r>
              <a:rPr lang="zh-CN" altLang="en-US" sz="2300">
                <a:latin typeface="黑体" panose="02010609060101010101" pitchFamily="49" charset="-122"/>
              </a:rPr>
              <a:t>求解优化问题，通常采用</a:t>
            </a:r>
            <a:r>
              <a:rPr lang="zh-CN" altLang="en-US" sz="2300"/>
              <a:t>特征值分解，而不需要采用迭代算法</a:t>
            </a:r>
          </a:p>
          <a:p>
            <a:pPr eaLnBrk="1" hangingPunct="1"/>
            <a:r>
              <a:rPr lang="zh-CN" altLang="en-US" sz="2800"/>
              <a:t>缺点</a:t>
            </a:r>
          </a:p>
          <a:p>
            <a:pPr lvl="1" eaLnBrk="1" hangingPunct="1"/>
            <a:r>
              <a:rPr lang="zh-CN" altLang="en-US" sz="2300"/>
              <a:t>对观察数据存在流形结构的假设</a:t>
            </a:r>
          </a:p>
          <a:p>
            <a:pPr lvl="1" eaLnBrk="1" hangingPunct="1"/>
            <a:r>
              <a:rPr lang="zh-CN" altLang="en-US" sz="2300"/>
              <a:t>需要调节较多的算法参数，如</a:t>
            </a:r>
            <a:r>
              <a:rPr lang="en-US" altLang="zh-CN" sz="2300"/>
              <a:t>k-NN</a:t>
            </a:r>
            <a:r>
              <a:rPr lang="zh-CN" altLang="en-US" sz="2300"/>
              <a:t>的邻域参数</a:t>
            </a:r>
            <a:r>
              <a:rPr lang="en-US" altLang="zh-CN" sz="2300"/>
              <a:t>k</a:t>
            </a:r>
          </a:p>
          <a:p>
            <a:pPr lvl="1" eaLnBrk="1" hangingPunct="1"/>
            <a:r>
              <a:rPr lang="zh-CN" altLang="en-US" sz="2300"/>
              <a:t>对数据采样稠密性、均匀性以及噪声数据的敏感性</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灯片编号占位符 5">
            <a:extLst>
              <a:ext uri="{FF2B5EF4-FFF2-40B4-BE49-F238E27FC236}">
                <a16:creationId xmlns:a16="http://schemas.microsoft.com/office/drawing/2014/main" id="{87EA162F-FAE5-4F32-B3F9-6DE9413DE3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E36AA917-BFC6-4985-8D7F-817B4FDC688A}" type="slidenum">
              <a:rPr lang="en-US" altLang="zh-CN" sz="1000" smtClean="0">
                <a:ea typeface="宋体" panose="02010600030101010101" pitchFamily="2" charset="-122"/>
              </a:rPr>
              <a:pPr>
                <a:spcBef>
                  <a:spcPct val="0"/>
                </a:spcBef>
                <a:buClrTx/>
                <a:buFontTx/>
                <a:buNone/>
              </a:pPr>
              <a:t>143</a:t>
            </a:fld>
            <a:endParaRPr lang="en-US" altLang="zh-CN" sz="1000">
              <a:ea typeface="宋体" panose="02010600030101010101" pitchFamily="2" charset="-122"/>
            </a:endParaRPr>
          </a:p>
        </p:txBody>
      </p:sp>
      <p:sp>
        <p:nvSpPr>
          <p:cNvPr id="205826" name="Rectangle 2">
            <a:extLst>
              <a:ext uri="{FF2B5EF4-FFF2-40B4-BE49-F238E27FC236}">
                <a16:creationId xmlns:a16="http://schemas.microsoft.com/office/drawing/2014/main" id="{770B8E5E-6422-468D-8C1A-484D909752A3}"/>
              </a:ext>
            </a:extLst>
          </p:cNvPr>
          <p:cNvSpPr>
            <a:spLocks noGrp="1" noChangeArrowheads="1"/>
          </p:cNvSpPr>
          <p:nvPr>
            <p:ph type="title"/>
          </p:nvPr>
        </p:nvSpPr>
        <p:spPr/>
        <p:txBody>
          <a:bodyPr/>
          <a:lstStyle/>
          <a:p>
            <a:pPr eaLnBrk="1" hangingPunct="1"/>
            <a:r>
              <a:rPr lang="zh-CN" altLang="en-US"/>
              <a:t>参考文献</a:t>
            </a:r>
          </a:p>
        </p:txBody>
      </p:sp>
      <p:sp>
        <p:nvSpPr>
          <p:cNvPr id="205827" name="Rectangle 3">
            <a:extLst>
              <a:ext uri="{FF2B5EF4-FFF2-40B4-BE49-F238E27FC236}">
                <a16:creationId xmlns:a16="http://schemas.microsoft.com/office/drawing/2014/main" id="{8B6C735D-FD46-487E-9B93-9C916F46A81E}"/>
              </a:ext>
            </a:extLst>
          </p:cNvPr>
          <p:cNvSpPr>
            <a:spLocks noGrp="1" noChangeArrowheads="1"/>
          </p:cNvSpPr>
          <p:nvPr>
            <p:ph type="body" idx="1"/>
          </p:nvPr>
        </p:nvSpPr>
        <p:spPr>
          <a:xfrm>
            <a:off x="457200" y="1447800"/>
            <a:ext cx="8229600" cy="5181600"/>
          </a:xfrm>
        </p:spPr>
        <p:txBody>
          <a:bodyPr/>
          <a:lstStyle/>
          <a:p>
            <a:pPr eaLnBrk="1" hangingPunct="1">
              <a:lnSpc>
                <a:spcPct val="80000"/>
              </a:lnSpc>
            </a:pPr>
            <a:r>
              <a:rPr lang="en-US" altLang="zh-CN" sz="1800">
                <a:ea typeface="宋体" panose="02010600030101010101" pitchFamily="2" charset="-122"/>
              </a:rPr>
              <a:t>Roweis, S. T. and L. K. Saul (2000). "Nonlinear dimensionality reduction by locally linear embedding " </a:t>
            </a:r>
            <a:r>
              <a:rPr lang="en-US" altLang="zh-CN" sz="1800" u="sng">
                <a:ea typeface="宋体" panose="02010600030101010101" pitchFamily="2" charset="-122"/>
              </a:rPr>
              <a:t>Science</a:t>
            </a:r>
            <a:r>
              <a:rPr lang="en-US" altLang="zh-CN" sz="1800">
                <a:ea typeface="宋体" panose="02010600030101010101" pitchFamily="2" charset="-122"/>
              </a:rPr>
              <a:t> </a:t>
            </a:r>
            <a:r>
              <a:rPr lang="en-US" altLang="zh-CN" sz="1800" b="1">
                <a:ea typeface="宋体" panose="02010600030101010101" pitchFamily="2" charset="-122"/>
              </a:rPr>
              <a:t>290</a:t>
            </a:r>
            <a:r>
              <a:rPr lang="en-US" altLang="zh-CN" sz="1800">
                <a:ea typeface="宋体" panose="02010600030101010101" pitchFamily="2" charset="-122"/>
              </a:rPr>
              <a:t>(5500): 2323-2326.</a:t>
            </a:r>
          </a:p>
          <a:p>
            <a:pPr eaLnBrk="1" hangingPunct="1">
              <a:lnSpc>
                <a:spcPct val="80000"/>
              </a:lnSpc>
              <a:buFont typeface="Wingdings" panose="05000000000000000000" pitchFamily="2" charset="2"/>
              <a:buNone/>
            </a:pPr>
            <a:r>
              <a:rPr lang="en-US" altLang="zh-CN" sz="1800">
                <a:ea typeface="宋体" panose="02010600030101010101" pitchFamily="2" charset="-122"/>
              </a:rPr>
              <a:t>	</a:t>
            </a:r>
          </a:p>
          <a:p>
            <a:pPr eaLnBrk="1" hangingPunct="1">
              <a:lnSpc>
                <a:spcPct val="80000"/>
              </a:lnSpc>
            </a:pPr>
            <a:r>
              <a:rPr lang="en-US" altLang="zh-CN" sz="1800">
                <a:ea typeface="宋体" panose="02010600030101010101" pitchFamily="2" charset="-122"/>
              </a:rPr>
              <a:t>Tenenbaum, J. B., V. de Silva, et al. (2000). "A global geometric framework for nonlinear dimensionality reduction " </a:t>
            </a:r>
            <a:r>
              <a:rPr lang="en-US" altLang="zh-CN" sz="1800" u="sng">
                <a:ea typeface="宋体" panose="02010600030101010101" pitchFamily="2" charset="-122"/>
              </a:rPr>
              <a:t>Science</a:t>
            </a:r>
            <a:r>
              <a:rPr lang="en-US" altLang="zh-CN" sz="1800">
                <a:ea typeface="宋体" panose="02010600030101010101" pitchFamily="2" charset="-122"/>
              </a:rPr>
              <a:t> </a:t>
            </a:r>
            <a:r>
              <a:rPr lang="en-US" altLang="zh-CN" sz="1800" b="1">
                <a:ea typeface="宋体" panose="02010600030101010101" pitchFamily="2" charset="-122"/>
              </a:rPr>
              <a:t>290</a:t>
            </a:r>
            <a:r>
              <a:rPr lang="en-US" altLang="zh-CN" sz="1800">
                <a:ea typeface="宋体" panose="02010600030101010101" pitchFamily="2" charset="-122"/>
              </a:rPr>
              <a:t>(5500): 2319-2323.</a:t>
            </a:r>
          </a:p>
          <a:p>
            <a:pPr eaLnBrk="1" hangingPunct="1">
              <a:lnSpc>
                <a:spcPct val="80000"/>
              </a:lnSpc>
            </a:pPr>
            <a:endParaRPr lang="en-US" altLang="zh-CN" sz="1800">
              <a:ea typeface="宋体" panose="02010600030101010101" pitchFamily="2" charset="-122"/>
            </a:endParaRPr>
          </a:p>
          <a:p>
            <a:pPr eaLnBrk="1" hangingPunct="1">
              <a:lnSpc>
                <a:spcPct val="80000"/>
              </a:lnSpc>
            </a:pPr>
            <a:r>
              <a:rPr lang="en-US" altLang="zh-CN" sz="1800">
                <a:ea typeface="宋体" panose="02010600030101010101" pitchFamily="2" charset="-122"/>
              </a:rPr>
              <a:t>Vlachos, M., C. Domeniconi, et al. (2002). "Non-linear dimensionality reduction techniques for classification and visualization." </a:t>
            </a:r>
            <a:r>
              <a:rPr lang="en-US" altLang="zh-CN" sz="1800" u="sng">
                <a:ea typeface="宋体" panose="02010600030101010101" pitchFamily="2" charset="-122"/>
              </a:rPr>
              <a:t>Proc. of 8th SIGKDD, Edmonton, Canada</a:t>
            </a:r>
            <a:r>
              <a:rPr lang="en-US" altLang="zh-CN" sz="1800">
                <a:ea typeface="宋体" panose="02010600030101010101" pitchFamily="2" charset="-122"/>
              </a:rPr>
              <a:t>.</a:t>
            </a:r>
          </a:p>
          <a:p>
            <a:pPr eaLnBrk="1" hangingPunct="1">
              <a:lnSpc>
                <a:spcPct val="80000"/>
              </a:lnSpc>
              <a:buFont typeface="Wingdings" panose="05000000000000000000" pitchFamily="2" charset="2"/>
              <a:buNone/>
            </a:pPr>
            <a:endParaRPr lang="en-US" altLang="zh-CN" sz="1800">
              <a:ea typeface="宋体" panose="02010600030101010101" pitchFamily="2" charset="-122"/>
            </a:endParaRPr>
          </a:p>
          <a:p>
            <a:pPr eaLnBrk="1" hangingPunct="1">
              <a:lnSpc>
                <a:spcPct val="80000"/>
              </a:lnSpc>
            </a:pPr>
            <a:r>
              <a:rPr lang="en-US" altLang="zh-CN" sz="1800">
                <a:ea typeface="宋体" panose="02010600030101010101" pitchFamily="2" charset="-122"/>
              </a:rPr>
              <a:t>de Silva, V. and Tenenbaum, J. (2003). “Global versus local methods for nonlinear dimensionality reduction”, Advances in Neural Information Processing Systems,15.</a:t>
            </a:r>
          </a:p>
          <a:p>
            <a:pPr eaLnBrk="1" hangingPunct="1">
              <a:lnSpc>
                <a:spcPct val="80000"/>
              </a:lnSpc>
            </a:pPr>
            <a:endParaRPr lang="en-US" altLang="zh-CN" sz="1800">
              <a:ea typeface="宋体" panose="02010600030101010101" pitchFamily="2" charset="-122"/>
            </a:endParaRPr>
          </a:p>
          <a:p>
            <a:pPr eaLnBrk="1" hangingPunct="1">
              <a:lnSpc>
                <a:spcPct val="80000"/>
              </a:lnSpc>
            </a:pPr>
            <a:r>
              <a:rPr lang="en-US" altLang="zh-CN" sz="1800">
                <a:ea typeface="宋体" panose="02010600030101010101" pitchFamily="2" charset="-122"/>
              </a:rPr>
              <a:t>Law, Martin. </a:t>
            </a:r>
            <a:r>
              <a:rPr lang="en-US" altLang="zh-CN" sz="1800"/>
              <a:t>Nonlinear Dimensionality Reduction and Manifold Learning. 2005.</a:t>
            </a:r>
            <a:endParaRPr lang="en-US" altLang="zh-CN" sz="1800">
              <a:ea typeface="宋体" panose="02010600030101010101" pitchFamily="2" charset="-122"/>
            </a:endParaRPr>
          </a:p>
          <a:p>
            <a:pPr eaLnBrk="1" hangingPunct="1">
              <a:lnSpc>
                <a:spcPct val="80000"/>
              </a:lnSpc>
            </a:pPr>
            <a:endParaRPr lang="en-US" altLang="zh-CN" sz="1800">
              <a:ea typeface="宋体" panose="02010600030101010101" pitchFamily="2" charset="-122"/>
            </a:endParaRPr>
          </a:p>
          <a:p>
            <a:pPr eaLnBrk="1" hangingPunct="1">
              <a:lnSpc>
                <a:spcPct val="80000"/>
              </a:lnSpc>
            </a:pPr>
            <a:r>
              <a:rPr lang="en-US" altLang="zh-CN" sz="1800">
                <a:ea typeface="宋体" panose="02010600030101010101" pitchFamily="2" charset="-122"/>
              </a:rPr>
              <a:t>Lin, Zhouchen. A Glance over Manifold Learning. 2008.</a:t>
            </a:r>
          </a:p>
          <a:p>
            <a:pPr eaLnBrk="1" hangingPunct="1">
              <a:lnSpc>
                <a:spcPct val="80000"/>
              </a:lnSpc>
            </a:pPr>
            <a:endParaRPr lang="en-US" altLang="zh-CN" sz="1800">
              <a:ea typeface="宋体" panose="02010600030101010101" pitchFamily="2" charset="-122"/>
            </a:endParaRPr>
          </a:p>
          <a:p>
            <a:pPr eaLnBrk="1" hangingPunct="1">
              <a:lnSpc>
                <a:spcPct val="80000"/>
              </a:lnSpc>
            </a:pPr>
            <a:r>
              <a:rPr lang="zh-CN" altLang="en-US" sz="1800">
                <a:ea typeface="宋体" panose="02010600030101010101" pitchFamily="2" charset="-122"/>
              </a:rPr>
              <a:t>杨剑</a:t>
            </a:r>
            <a:r>
              <a:rPr lang="en-US" altLang="zh-CN" sz="1800">
                <a:ea typeface="宋体" panose="02010600030101010101" pitchFamily="2" charset="-122"/>
              </a:rPr>
              <a:t>. </a:t>
            </a:r>
            <a:r>
              <a:rPr lang="zh-CN" altLang="en-US" sz="1800">
                <a:ea typeface="宋体" panose="02010600030101010101" pitchFamily="2" charset="-122"/>
              </a:rPr>
              <a:t>流形学习问题</a:t>
            </a:r>
            <a:r>
              <a:rPr lang="en-US" altLang="zh-CN" sz="1800">
                <a:ea typeface="宋体" panose="02010600030101010101" pitchFamily="2" charset="-122"/>
              </a:rPr>
              <a:t>. 2004.</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灯片编号占位符 5">
            <a:extLst>
              <a:ext uri="{FF2B5EF4-FFF2-40B4-BE49-F238E27FC236}">
                <a16:creationId xmlns:a16="http://schemas.microsoft.com/office/drawing/2014/main" id="{CEEB8299-C188-4F98-A536-0E86BDEDFA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9FCD8FF9-B5C7-4357-88EE-EC965FFD1076}" type="slidenum">
              <a:rPr lang="en-US" altLang="zh-CN" sz="1000" smtClean="0">
                <a:ea typeface="宋体" panose="02010600030101010101" pitchFamily="2" charset="-122"/>
              </a:rPr>
              <a:pPr>
                <a:spcBef>
                  <a:spcPct val="0"/>
                </a:spcBef>
                <a:buClrTx/>
                <a:buFontTx/>
                <a:buNone/>
              </a:pPr>
              <a:t>144</a:t>
            </a:fld>
            <a:endParaRPr lang="en-US" altLang="zh-CN" sz="1000">
              <a:ea typeface="宋体" panose="02010600030101010101" pitchFamily="2" charset="-122"/>
            </a:endParaRPr>
          </a:p>
        </p:txBody>
      </p:sp>
      <p:sp>
        <p:nvSpPr>
          <p:cNvPr id="206850" name="Rectangle 2">
            <a:extLst>
              <a:ext uri="{FF2B5EF4-FFF2-40B4-BE49-F238E27FC236}">
                <a16:creationId xmlns:a16="http://schemas.microsoft.com/office/drawing/2014/main" id="{AE2DE1FA-56B1-41D7-B02F-6B5C51D0642A}"/>
              </a:ext>
            </a:extLst>
          </p:cNvPr>
          <p:cNvSpPr>
            <a:spLocks noGrp="1" noChangeArrowheads="1"/>
          </p:cNvSpPr>
          <p:nvPr>
            <p:ph type="body" idx="1"/>
          </p:nvPr>
        </p:nvSpPr>
        <p:spPr>
          <a:xfrm>
            <a:off x="539750" y="2781300"/>
            <a:ext cx="8077200" cy="1041400"/>
          </a:xfrm>
        </p:spPr>
        <p:txBody>
          <a:bodyPr/>
          <a:lstStyle/>
          <a:p>
            <a:pPr algn="ctr" eaLnBrk="1" hangingPunct="1">
              <a:buFont typeface="Wingdings" panose="05000000000000000000" pitchFamily="2" charset="2"/>
              <a:buNone/>
            </a:pPr>
            <a:r>
              <a:rPr lang="zh-CN" altLang="en-US" sz="4000" dirty="0"/>
              <a:t>谢谢！</a:t>
            </a:r>
          </a:p>
        </p:txBody>
      </p:sp>
    </p:spTree>
  </p:cSld>
  <p:clrMapOvr>
    <a:masterClrMapping/>
  </p:clrMapOvr>
</p:sld>
</file>

<file path=ppt/theme/theme1.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1"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000" b="0" i="0" u="none" strike="noStrike" cap="none" normalizeH="0" baseline="0" smtClean="0">
            <a:ln>
              <a:noFill/>
            </a:ln>
            <a:solidFill>
              <a:schemeClr val="hlink"/>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1"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000" b="0" i="0" u="none" strike="noStrike" cap="none" normalizeH="0" baseline="0" smtClean="0">
            <a:ln>
              <a:noFill/>
            </a:ln>
            <a:solidFill>
              <a:schemeClr val="hlink"/>
            </a:solidFill>
            <a:effectLst/>
            <a:latin typeface="Arial" pitchFamily="34" charset="0"/>
            <a:ea typeface="宋体" pitchFamily="2" charset="-122"/>
          </a:defRPr>
        </a:defPPr>
      </a:lst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Watermark</Template>
  <TotalTime>25223</TotalTime>
  <Words>6207</Words>
  <Application>Microsoft Office PowerPoint</Application>
  <PresentationFormat>全屏显示(4:3)</PresentationFormat>
  <Paragraphs>1038</Paragraphs>
  <Slides>144</Slides>
  <Notes>44</Notes>
  <HiddenSlides>11</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6</vt:i4>
      </vt:variant>
      <vt:variant>
        <vt:lpstr>幻灯片标题</vt:lpstr>
      </vt:variant>
      <vt:variant>
        <vt:i4>144</vt:i4>
      </vt:variant>
    </vt:vector>
  </HeadingPairs>
  <TitlesOfParts>
    <vt:vector size="167" baseType="lpstr">
      <vt:lpstr>Arial</vt:lpstr>
      <vt:lpstr>宋体</vt:lpstr>
      <vt:lpstr>黑体</vt:lpstr>
      <vt:lpstr>Wingdings</vt:lpstr>
      <vt:lpstr>Times New Roman</vt:lpstr>
      <vt:lpstr>-apple-system</vt:lpstr>
      <vt:lpstr>Tahoma</vt:lpstr>
      <vt:lpstr>Symbol</vt:lpstr>
      <vt:lpstr>Courier New</vt:lpstr>
      <vt:lpstr>Comic Sans MS</vt:lpstr>
      <vt:lpstr>msbm10</vt:lpstr>
      <vt:lpstr>times new roma</vt:lpstr>
      <vt:lpstr>Verdana</vt:lpstr>
      <vt:lpstr>Calibri</vt:lpstr>
      <vt:lpstr>PMingLiU</vt:lpstr>
      <vt:lpstr>Cambria Math</vt:lpstr>
      <vt:lpstr>Watermark</vt:lpstr>
      <vt:lpstr>Microsoft Word 图片</vt:lpstr>
      <vt:lpstr>Microsoft 公式 3.0</vt:lpstr>
      <vt:lpstr>Microsoft Photo Editor 3.0 Photo</vt:lpstr>
      <vt:lpstr>Microsoft Photo Editor 3.0 照片</vt:lpstr>
      <vt:lpstr>MathType 5.0 Equation</vt:lpstr>
      <vt:lpstr>位图图像</vt:lpstr>
      <vt:lpstr>降维之PCA与SVD</vt:lpstr>
      <vt:lpstr>提纲</vt:lpstr>
      <vt:lpstr>提纲</vt:lpstr>
      <vt:lpstr>从降维问题说起</vt:lpstr>
      <vt:lpstr>从降维问题说起</vt:lpstr>
      <vt:lpstr>从降维问题说起</vt:lpstr>
      <vt:lpstr>从降维问题说起</vt:lpstr>
      <vt:lpstr>降维方法概述</vt:lpstr>
      <vt:lpstr>线性降维方法</vt:lpstr>
      <vt:lpstr>PCA</vt:lpstr>
      <vt:lpstr>PCA</vt:lpstr>
      <vt:lpstr>Warning of Math</vt:lpstr>
      <vt:lpstr>PCA</vt:lpstr>
      <vt:lpstr>PowerPoint 演示文稿</vt:lpstr>
      <vt:lpstr>PowerPoint 演示文稿</vt:lpstr>
      <vt:lpstr>PowerPoint 演示文稿</vt:lpstr>
      <vt:lpstr>End of Warning</vt:lpstr>
      <vt:lpstr>PCA的数学原理</vt:lpstr>
      <vt:lpstr>数据的向量表示与降维</vt:lpstr>
      <vt:lpstr>降维</vt:lpstr>
      <vt:lpstr>向量表示与基变换</vt:lpstr>
      <vt:lpstr>向量表示与基变换（续）</vt:lpstr>
      <vt:lpstr>向量表示与基变换（续）</vt:lpstr>
      <vt:lpstr>向量表示与基变换（续）</vt:lpstr>
      <vt:lpstr>向量表示与基变换（续）</vt:lpstr>
      <vt:lpstr>向量表示与基变换（续）</vt:lpstr>
      <vt:lpstr>向量表示与基变换（续）</vt:lpstr>
      <vt:lpstr>Milestone</vt:lpstr>
      <vt:lpstr>一个具体的例子</vt:lpstr>
      <vt:lpstr>PowerPoint 演示文稿</vt:lpstr>
      <vt:lpstr>方差</vt:lpstr>
      <vt:lpstr>存在的问题</vt:lpstr>
      <vt:lpstr>去除冗余</vt:lpstr>
      <vt:lpstr>矩阵表示</vt:lpstr>
      <vt:lpstr>协方差矩阵对角化</vt:lpstr>
      <vt:lpstr>协方差矩阵对角化</vt:lpstr>
      <vt:lpstr>实对称矩阵对角化</vt:lpstr>
      <vt:lpstr>实对称矩阵对角化</vt:lpstr>
      <vt:lpstr>实对称矩阵对角化</vt:lpstr>
      <vt:lpstr>PCA算法步骤</vt:lpstr>
      <vt:lpstr>PowerPoint 演示文稿</vt:lpstr>
      <vt:lpstr>PCA – Another Point of View</vt:lpstr>
      <vt:lpstr>PCA – Another Point of View</vt:lpstr>
      <vt:lpstr>PowerPoint 演示文稿</vt:lpstr>
      <vt:lpstr>PowerPoint 演示文稿</vt:lpstr>
      <vt:lpstr>PowerPoint 演示文稿</vt:lpstr>
      <vt:lpstr>PowerPoint 演示文稿</vt:lpstr>
      <vt:lpstr>PowerPoint 演示文稿</vt:lpstr>
      <vt:lpstr>PowerPoint 演示文稿</vt:lpstr>
      <vt:lpstr>PCA </vt:lpstr>
      <vt:lpstr>PCA - MNIST</vt:lpstr>
      <vt:lpstr>PCA - Face</vt:lpstr>
      <vt:lpstr>线性降维方法</vt:lpstr>
      <vt:lpstr>Weakness of PCA</vt:lpstr>
      <vt:lpstr>Weakness of PCA</vt:lpstr>
      <vt:lpstr>线性降维方法</vt:lpstr>
      <vt:lpstr>降维方法概述</vt:lpstr>
      <vt:lpstr>SVD的原理与几何意义</vt:lpstr>
      <vt:lpstr>PCA的缺陷</vt:lpstr>
      <vt:lpstr>SVD</vt:lpstr>
      <vt:lpstr>线性变换的几何意义</vt:lpstr>
      <vt:lpstr>线性变换的几何意义（续）</vt:lpstr>
      <vt:lpstr>线性变换的几何意义（续）</vt:lpstr>
      <vt:lpstr>线性变换的几何意义（续）</vt:lpstr>
      <vt:lpstr>线性变换的几何意义（续）</vt:lpstr>
      <vt:lpstr>线性变换的几何意义（续）</vt:lpstr>
      <vt:lpstr>线性变换的几何意义（续）</vt:lpstr>
      <vt:lpstr>线性变换的几何意义（续）</vt:lpstr>
      <vt:lpstr>线性变换的几何意义（续）</vt:lpstr>
      <vt:lpstr>奇异值分解</vt:lpstr>
      <vt:lpstr>奇异值分解（续）</vt:lpstr>
      <vt:lpstr>奇异值分解（续）</vt:lpstr>
      <vt:lpstr>奇异值分解（续）</vt:lpstr>
      <vt:lpstr>奇异值分解（续）</vt:lpstr>
      <vt:lpstr>奇异值分解（续）</vt:lpstr>
      <vt:lpstr>奇异值分解（续）</vt:lpstr>
      <vt:lpstr>奇异值分解（续）</vt:lpstr>
      <vt:lpstr>实例1</vt:lpstr>
      <vt:lpstr>实例1</vt:lpstr>
      <vt:lpstr>实例2</vt:lpstr>
      <vt:lpstr>实例2</vt:lpstr>
      <vt:lpstr>实例2</vt:lpstr>
      <vt:lpstr>实例2</vt:lpstr>
      <vt:lpstr>实例2</vt:lpstr>
      <vt:lpstr>实例3</vt:lpstr>
      <vt:lpstr>实例3</vt:lpstr>
      <vt:lpstr>实例3</vt:lpstr>
      <vt:lpstr>实例3</vt:lpstr>
      <vt:lpstr>实例3</vt:lpstr>
      <vt:lpstr>Singular Value Decomposition</vt:lpstr>
      <vt:lpstr>Singular Value Decomposition (SVD)</vt:lpstr>
      <vt:lpstr>SVD</vt:lpstr>
      <vt:lpstr>SVD</vt:lpstr>
      <vt:lpstr>SVD and Inverses</vt:lpstr>
      <vt:lpstr>SVD and Inverses</vt:lpstr>
      <vt:lpstr>SVD and Least Squares</vt:lpstr>
      <vt:lpstr>SVD and Eigenvectors</vt:lpstr>
      <vt:lpstr>SVD and Matrix Similarity</vt:lpstr>
      <vt:lpstr>SVD and Matrix Similarity</vt:lpstr>
      <vt:lpstr>SVD and PCA</vt:lpstr>
      <vt:lpstr>SVD and PCA</vt:lpstr>
      <vt:lpstr>More reading for SVD</vt:lpstr>
      <vt:lpstr>线性降维方法的不足</vt:lpstr>
      <vt:lpstr>线性降维方法的不足</vt:lpstr>
      <vt:lpstr>降维方法概述</vt:lpstr>
      <vt:lpstr>降维方法概述</vt:lpstr>
      <vt:lpstr>提纲</vt:lpstr>
      <vt:lpstr>流形学习框架</vt:lpstr>
      <vt:lpstr>流形学习框架</vt:lpstr>
      <vt:lpstr>流形学习框架</vt:lpstr>
      <vt:lpstr>流形学习框架</vt:lpstr>
      <vt:lpstr>流形学习的数学定义</vt:lpstr>
      <vt:lpstr>流形学习示例</vt:lpstr>
      <vt:lpstr>提纲</vt:lpstr>
      <vt:lpstr>经典流形学习方法一览</vt:lpstr>
      <vt:lpstr>经典方法分类结构图</vt:lpstr>
      <vt:lpstr>PowerPoint 演示文稿</vt:lpstr>
      <vt:lpstr>欧式距离 vs.测地距离 </vt:lpstr>
      <vt:lpstr>PowerPoint 演示文稿</vt:lpstr>
      <vt:lpstr>代表性算法-1</vt:lpstr>
      <vt:lpstr>代表性算法-1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代表性算法-1</vt:lpstr>
      <vt:lpstr>PowerPoint 演示文稿</vt:lpstr>
      <vt:lpstr>代表性算法-2</vt:lpstr>
      <vt:lpstr>PowerPoint 演示文稿</vt:lpstr>
      <vt:lpstr>PowerPoint 演示文稿</vt:lpstr>
      <vt:lpstr>PowerPoint 演示文稿</vt:lpstr>
      <vt:lpstr>PowerPoint 演示文稿</vt:lpstr>
      <vt:lpstr>PowerPoint 演示文稿</vt:lpstr>
      <vt:lpstr>代表性算法-2</vt:lpstr>
      <vt:lpstr>提纲</vt:lpstr>
      <vt:lpstr>经典方法小结</vt:lpstr>
      <vt:lpstr>参考文献</vt:lpstr>
      <vt:lpstr>PowerPoint 演示文稿</vt:lpstr>
    </vt:vector>
  </TitlesOfParts>
  <Company>njtu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刘绍辉</cp:lastModifiedBy>
  <cp:revision>1340</cp:revision>
  <dcterms:created xsi:type="dcterms:W3CDTF">2009-12-24T09:55:58Z</dcterms:created>
  <dcterms:modified xsi:type="dcterms:W3CDTF">2026-03-31T12:32:52Z</dcterms:modified>
</cp:coreProperties>
</file>